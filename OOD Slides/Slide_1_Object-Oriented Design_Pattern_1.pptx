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56" r:id="rId2"/>
    <p:sldId id="257" r:id="rId3"/>
    <p:sldId id="336" r:id="rId4"/>
    <p:sldId id="309" r:id="rId5"/>
    <p:sldId id="365" r:id="rId6"/>
    <p:sldId id="366" r:id="rId7"/>
    <p:sldId id="367" r:id="rId8"/>
    <p:sldId id="342" r:id="rId9"/>
    <p:sldId id="384" r:id="rId10"/>
    <p:sldId id="344" r:id="rId11"/>
    <p:sldId id="343" r:id="rId12"/>
    <p:sldId id="385" r:id="rId13"/>
    <p:sldId id="386" r:id="rId14"/>
    <p:sldId id="387" r:id="rId15"/>
    <p:sldId id="388" r:id="rId16"/>
    <p:sldId id="389" r:id="rId17"/>
    <p:sldId id="391" r:id="rId18"/>
    <p:sldId id="345" r:id="rId19"/>
    <p:sldId id="393" r:id="rId20"/>
    <p:sldId id="394" r:id="rId21"/>
    <p:sldId id="395" r:id="rId22"/>
    <p:sldId id="396" r:id="rId23"/>
    <p:sldId id="392" r:id="rId24"/>
    <p:sldId id="397" r:id="rId25"/>
    <p:sldId id="398" r:id="rId26"/>
    <p:sldId id="363" r:id="rId27"/>
    <p:sldId id="399" r:id="rId28"/>
    <p:sldId id="400" r:id="rId29"/>
    <p:sldId id="401" r:id="rId30"/>
    <p:sldId id="402" r:id="rId31"/>
    <p:sldId id="403" r:id="rId32"/>
    <p:sldId id="404" r:id="rId33"/>
    <p:sldId id="405" r:id="rId34"/>
    <p:sldId id="406" r:id="rId35"/>
    <p:sldId id="377" r:id="rId36"/>
    <p:sldId id="408" r:id="rId37"/>
    <p:sldId id="409" r:id="rId38"/>
    <p:sldId id="407" r:id="rId39"/>
    <p:sldId id="410" r:id="rId40"/>
    <p:sldId id="411" r:id="rId41"/>
    <p:sldId id="379" r:id="rId42"/>
    <p:sldId id="337" r:id="rId43"/>
    <p:sldId id="348" r:id="rId44"/>
    <p:sldId id="338" r:id="rId45"/>
    <p:sldId id="353" r:id="rId46"/>
    <p:sldId id="354" r:id="rId47"/>
    <p:sldId id="374" r:id="rId48"/>
    <p:sldId id="372" r:id="rId49"/>
    <p:sldId id="339" r:id="rId50"/>
    <p:sldId id="355" r:id="rId51"/>
    <p:sldId id="356" r:id="rId52"/>
    <p:sldId id="349" r:id="rId53"/>
    <p:sldId id="358" r:id="rId54"/>
    <p:sldId id="359" r:id="rId55"/>
    <p:sldId id="413" r:id="rId56"/>
    <p:sldId id="412" r:id="rId57"/>
    <p:sldId id="360" r:id="rId58"/>
    <p:sldId id="361" r:id="rId59"/>
    <p:sldId id="357" r:id="rId60"/>
    <p:sldId id="368" r:id="rId61"/>
    <p:sldId id="362" r:id="rId62"/>
    <p:sldId id="416" r:id="rId63"/>
    <p:sldId id="414" r:id="rId64"/>
    <p:sldId id="415" r:id="rId65"/>
    <p:sldId id="350" r:id="rId66"/>
    <p:sldId id="347" r:id="rId67"/>
    <p:sldId id="382" r:id="rId68"/>
    <p:sldId id="381" r:id="rId69"/>
    <p:sldId id="383" r:id="rId70"/>
    <p:sldId id="417" r:id="rId71"/>
    <p:sldId id="369" r:id="rId72"/>
    <p:sldId id="375" r:id="rId73"/>
    <p:sldId id="371" r:id="rId74"/>
    <p:sldId id="373" r:id="rId75"/>
    <p:sldId id="376"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4181" autoAdjust="0"/>
  </p:normalViewPr>
  <p:slideViewPr>
    <p:cSldViewPr>
      <p:cViewPr varScale="1">
        <p:scale>
          <a:sx n="135" d="100"/>
          <a:sy n="135" d="100"/>
        </p:scale>
        <p:origin x="2540" y="9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88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4B0601-F296-42D9-A69B-4895C0FEFABA}" type="datetimeFigureOut">
              <a:rPr lang="en-US" smtClean="0"/>
              <a:t>7/22/2026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211DCF-9C25-4121-98B8-1A71B48A30E8}" type="slidenum">
              <a:rPr lang="en-US" smtClean="0"/>
              <a:t>‹#›</a:t>
            </a:fld>
            <a:endParaRPr lang="en-US"/>
          </a:p>
        </p:txBody>
      </p:sp>
    </p:spTree>
    <p:extLst>
      <p:ext uri="{BB962C8B-B14F-4D97-AF65-F5344CB8AC3E}">
        <p14:creationId xmlns:p14="http://schemas.microsoft.com/office/powerpoint/2010/main" val="878882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1" dirty="0"/>
              <a:t>Object-Oriented Analysis and Design:</a:t>
            </a:r>
            <a:r>
              <a:rPr lang="en-US" altLang="ja-JP" dirty="0"/>
              <a:t> Good software design begins before coding. After establishing the initial software requirements, design practices involve two main activities: conceptual design and technical design, importance of design and object-oriented thinking, and how to design software using techniques like CRC cards.</a:t>
            </a:r>
            <a:endParaRPr lang="en-US" dirty="0"/>
          </a:p>
        </p:txBody>
      </p:sp>
      <p:sp>
        <p:nvSpPr>
          <p:cNvPr id="4" name="Slide Number Placeholder 3"/>
          <p:cNvSpPr>
            <a:spLocks noGrp="1"/>
          </p:cNvSpPr>
          <p:nvPr>
            <p:ph type="sldNum" sz="quarter" idx="10"/>
          </p:nvPr>
        </p:nvSpPr>
        <p:spPr/>
        <p:txBody>
          <a:bodyPr/>
          <a:lstStyle/>
          <a:p>
            <a:fld id="{93211DCF-9C25-4121-98B8-1A71B48A30E8}" type="slidenum">
              <a:rPr lang="en-US" smtClean="0"/>
              <a:t>1</a:t>
            </a:fld>
            <a:endParaRPr lang="en-US"/>
          </a:p>
        </p:txBody>
      </p:sp>
    </p:spTree>
    <p:extLst>
      <p:ext uri="{BB962C8B-B14F-4D97-AF65-F5344CB8AC3E}">
        <p14:creationId xmlns:p14="http://schemas.microsoft.com/office/powerpoint/2010/main" val="3823056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a:t>
            </a:fld>
            <a:endParaRPr lang="en-US"/>
          </a:p>
        </p:txBody>
      </p:sp>
    </p:spTree>
    <p:extLst>
      <p:ext uri="{BB962C8B-B14F-4D97-AF65-F5344CB8AC3E}">
        <p14:creationId xmlns:p14="http://schemas.microsoft.com/office/powerpoint/2010/main" val="1425828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a:t>
            </a:fld>
            <a:endParaRPr lang="en-US"/>
          </a:p>
        </p:txBody>
      </p:sp>
    </p:spTree>
    <p:extLst>
      <p:ext uri="{BB962C8B-B14F-4D97-AF65-F5344CB8AC3E}">
        <p14:creationId xmlns:p14="http://schemas.microsoft.com/office/powerpoint/2010/main" val="898411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a:t>
            </a:fld>
            <a:endParaRPr lang="en-US"/>
          </a:p>
        </p:txBody>
      </p:sp>
    </p:spTree>
    <p:extLst>
      <p:ext uri="{BB962C8B-B14F-4D97-AF65-F5344CB8AC3E}">
        <p14:creationId xmlns:p14="http://schemas.microsoft.com/office/powerpoint/2010/main" val="2878241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6</a:t>
            </a:fld>
            <a:endParaRPr lang="en-US"/>
          </a:p>
        </p:txBody>
      </p:sp>
    </p:spTree>
    <p:extLst>
      <p:ext uri="{BB962C8B-B14F-4D97-AF65-F5344CB8AC3E}">
        <p14:creationId xmlns:p14="http://schemas.microsoft.com/office/powerpoint/2010/main" val="930900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7</a:t>
            </a:fld>
            <a:endParaRPr lang="en-US"/>
          </a:p>
        </p:txBody>
      </p:sp>
    </p:spTree>
    <p:extLst>
      <p:ext uri="{BB962C8B-B14F-4D97-AF65-F5344CB8AC3E}">
        <p14:creationId xmlns:p14="http://schemas.microsoft.com/office/powerpoint/2010/main" val="1634428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8</a:t>
            </a:fld>
            <a:endParaRPr lang="en-US"/>
          </a:p>
        </p:txBody>
      </p:sp>
    </p:spTree>
    <p:extLst>
      <p:ext uri="{BB962C8B-B14F-4D97-AF65-F5344CB8AC3E}">
        <p14:creationId xmlns:p14="http://schemas.microsoft.com/office/powerpoint/2010/main" val="46094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AA0C-3789-D160-4DC1-C09AAAB36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E6E6A-1F67-4949-4141-039497813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0DF197-15CF-26D2-8B62-D7B10CE0D518}"/>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14D959F8-D299-EE2C-1F9D-2D2C8C12FD6C}"/>
              </a:ext>
            </a:extLst>
          </p:cNvPr>
          <p:cNvSpPr>
            <a:spLocks noGrp="1"/>
          </p:cNvSpPr>
          <p:nvPr>
            <p:ph type="sldNum" sz="quarter" idx="5"/>
          </p:nvPr>
        </p:nvSpPr>
        <p:spPr/>
        <p:txBody>
          <a:bodyPr/>
          <a:lstStyle/>
          <a:p>
            <a:fld id="{93211DCF-9C25-4121-98B8-1A71B48A30E8}" type="slidenum">
              <a:rPr lang="en-US" smtClean="0"/>
              <a:t>9</a:t>
            </a:fld>
            <a:endParaRPr lang="en-US"/>
          </a:p>
        </p:txBody>
      </p:sp>
    </p:spTree>
    <p:extLst>
      <p:ext uri="{BB962C8B-B14F-4D97-AF65-F5344CB8AC3E}">
        <p14:creationId xmlns:p14="http://schemas.microsoft.com/office/powerpoint/2010/main" val="2771475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10</a:t>
            </a:fld>
            <a:endParaRPr lang="en-US"/>
          </a:p>
        </p:txBody>
      </p:sp>
    </p:spTree>
    <p:extLst>
      <p:ext uri="{BB962C8B-B14F-4D97-AF65-F5344CB8AC3E}">
        <p14:creationId xmlns:p14="http://schemas.microsoft.com/office/powerpoint/2010/main" val="2321348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Citizen – people who live in Dhaka</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House – where citizens live</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Housing Authority – allocates houses</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Garbage Bin – where waste is stored</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Garbage Truck – collects garbage</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Traffic Signal – controls vehicles</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Vehicle – moves through the city</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City Authority System – central controller</a:t>
            </a:r>
            <a:endParaRPr lang="en-US" sz="1400" dirty="0">
              <a:solidFill>
                <a:srgbClr val="00B0F0"/>
              </a:solidFill>
              <a:latin typeface="Times New Roman" panose="02020603050405020304" pitchFamily="18" charset="0"/>
              <a:cs typeface="Times New Roman" panose="02020603050405020304" pitchFamily="18" charset="0"/>
            </a:endParaRPr>
          </a:p>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11</a:t>
            </a:fld>
            <a:endParaRPr lang="en-US"/>
          </a:p>
        </p:txBody>
      </p:sp>
    </p:spTree>
    <p:extLst>
      <p:ext uri="{BB962C8B-B14F-4D97-AF65-F5344CB8AC3E}">
        <p14:creationId xmlns:p14="http://schemas.microsoft.com/office/powerpoint/2010/main" val="411796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BA7DB-5F28-2EA4-999B-37F335AB8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6BEDD-5E29-9420-68E6-B06610F83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3A9C2-99D5-7218-B5C2-AD07AFD3A732}"/>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341F1321-B7F1-9ECE-8FDE-BA7BF09AB664}"/>
              </a:ext>
            </a:extLst>
          </p:cNvPr>
          <p:cNvSpPr>
            <a:spLocks noGrp="1"/>
          </p:cNvSpPr>
          <p:nvPr>
            <p:ph type="sldNum" sz="quarter" idx="5"/>
          </p:nvPr>
        </p:nvSpPr>
        <p:spPr/>
        <p:txBody>
          <a:bodyPr/>
          <a:lstStyle/>
          <a:p>
            <a:fld id="{93211DCF-9C25-4121-98B8-1A71B48A30E8}" type="slidenum">
              <a:rPr lang="en-US" smtClean="0"/>
              <a:t>12</a:t>
            </a:fld>
            <a:endParaRPr lang="en-US"/>
          </a:p>
        </p:txBody>
      </p:sp>
    </p:spTree>
    <p:extLst>
      <p:ext uri="{BB962C8B-B14F-4D97-AF65-F5344CB8AC3E}">
        <p14:creationId xmlns:p14="http://schemas.microsoft.com/office/powerpoint/2010/main" val="1824724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31ECF-5FC7-2A50-4523-37A300D18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E42F9-8E27-0631-46E6-10946CCCB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12EC8-437E-4CA3-6B62-B2A14FE718CD}"/>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644D664E-7451-4B49-BBD6-8A62C7C6C0ED}"/>
              </a:ext>
            </a:extLst>
          </p:cNvPr>
          <p:cNvSpPr>
            <a:spLocks noGrp="1"/>
          </p:cNvSpPr>
          <p:nvPr>
            <p:ph type="sldNum" sz="quarter" idx="5"/>
          </p:nvPr>
        </p:nvSpPr>
        <p:spPr/>
        <p:txBody>
          <a:bodyPr/>
          <a:lstStyle/>
          <a:p>
            <a:fld id="{93211DCF-9C25-4121-98B8-1A71B48A30E8}" type="slidenum">
              <a:rPr lang="en-US" smtClean="0"/>
              <a:t>13</a:t>
            </a:fld>
            <a:endParaRPr lang="en-US"/>
          </a:p>
        </p:txBody>
      </p:sp>
    </p:spTree>
    <p:extLst>
      <p:ext uri="{BB962C8B-B14F-4D97-AF65-F5344CB8AC3E}">
        <p14:creationId xmlns:p14="http://schemas.microsoft.com/office/powerpoint/2010/main" val="1840561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0928C-C74F-598C-6CBF-8CDD244D9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919E4-60CA-DB83-E778-4A8DC372B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B3E06-C3A8-431B-DB4C-A4EA1ACB657D}"/>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1C91C27B-70A3-0B59-39C8-05C1EFEC8BBD}"/>
              </a:ext>
            </a:extLst>
          </p:cNvPr>
          <p:cNvSpPr>
            <a:spLocks noGrp="1"/>
          </p:cNvSpPr>
          <p:nvPr>
            <p:ph type="sldNum" sz="quarter" idx="5"/>
          </p:nvPr>
        </p:nvSpPr>
        <p:spPr/>
        <p:txBody>
          <a:bodyPr/>
          <a:lstStyle/>
          <a:p>
            <a:fld id="{93211DCF-9C25-4121-98B8-1A71B48A30E8}" type="slidenum">
              <a:rPr lang="en-US" smtClean="0"/>
              <a:t>14</a:t>
            </a:fld>
            <a:endParaRPr lang="en-US"/>
          </a:p>
        </p:txBody>
      </p:sp>
    </p:spTree>
    <p:extLst>
      <p:ext uri="{BB962C8B-B14F-4D97-AF65-F5344CB8AC3E}">
        <p14:creationId xmlns:p14="http://schemas.microsoft.com/office/powerpoint/2010/main" val="2689254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8C356-D31D-F549-F941-A9E8C9BE7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BC65D-0DCB-C117-613B-C2F90519F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DFE8C-F47E-11D2-5A6B-37E7B4676844}"/>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FA35A6CB-62D2-45C3-DBC6-D2975DCBD9CA}"/>
              </a:ext>
            </a:extLst>
          </p:cNvPr>
          <p:cNvSpPr>
            <a:spLocks noGrp="1"/>
          </p:cNvSpPr>
          <p:nvPr>
            <p:ph type="sldNum" sz="quarter" idx="5"/>
          </p:nvPr>
        </p:nvSpPr>
        <p:spPr/>
        <p:txBody>
          <a:bodyPr/>
          <a:lstStyle/>
          <a:p>
            <a:fld id="{93211DCF-9C25-4121-98B8-1A71B48A30E8}" type="slidenum">
              <a:rPr lang="en-US" smtClean="0"/>
              <a:t>15</a:t>
            </a:fld>
            <a:endParaRPr lang="en-US"/>
          </a:p>
        </p:txBody>
      </p:sp>
    </p:spTree>
    <p:extLst>
      <p:ext uri="{BB962C8B-B14F-4D97-AF65-F5344CB8AC3E}">
        <p14:creationId xmlns:p14="http://schemas.microsoft.com/office/powerpoint/2010/main" val="3559473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547B-36A8-6889-93A6-B250E8388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FCD0B-7301-B2D9-A488-5798C1ABB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3E42D-15F1-9B20-5C33-AAB636EB5ED3}"/>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E0A3C170-A02F-795D-1F83-28A33D9D13EF}"/>
              </a:ext>
            </a:extLst>
          </p:cNvPr>
          <p:cNvSpPr>
            <a:spLocks noGrp="1"/>
          </p:cNvSpPr>
          <p:nvPr>
            <p:ph type="sldNum" sz="quarter" idx="5"/>
          </p:nvPr>
        </p:nvSpPr>
        <p:spPr/>
        <p:txBody>
          <a:bodyPr/>
          <a:lstStyle/>
          <a:p>
            <a:fld id="{93211DCF-9C25-4121-98B8-1A71B48A30E8}" type="slidenum">
              <a:rPr lang="en-US" smtClean="0"/>
              <a:t>16</a:t>
            </a:fld>
            <a:endParaRPr lang="en-US"/>
          </a:p>
        </p:txBody>
      </p:sp>
    </p:spTree>
    <p:extLst>
      <p:ext uri="{BB962C8B-B14F-4D97-AF65-F5344CB8AC3E}">
        <p14:creationId xmlns:p14="http://schemas.microsoft.com/office/powerpoint/2010/main" val="688833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C63D0-808C-5604-6FE2-8FEA79453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838F2-0892-F93E-B744-75B08E3AD7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CF0E6-9A72-BAA8-A414-105FBD6313AB}"/>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FDC0ED16-B230-2B7D-BDC9-7E240E652DA4}"/>
              </a:ext>
            </a:extLst>
          </p:cNvPr>
          <p:cNvSpPr>
            <a:spLocks noGrp="1"/>
          </p:cNvSpPr>
          <p:nvPr>
            <p:ph type="sldNum" sz="quarter" idx="5"/>
          </p:nvPr>
        </p:nvSpPr>
        <p:spPr/>
        <p:txBody>
          <a:bodyPr/>
          <a:lstStyle/>
          <a:p>
            <a:fld id="{93211DCF-9C25-4121-98B8-1A71B48A30E8}" type="slidenum">
              <a:rPr lang="en-US" smtClean="0"/>
              <a:t>17</a:t>
            </a:fld>
            <a:endParaRPr lang="en-US"/>
          </a:p>
        </p:txBody>
      </p:sp>
    </p:spTree>
    <p:extLst>
      <p:ext uri="{BB962C8B-B14F-4D97-AF65-F5344CB8AC3E}">
        <p14:creationId xmlns:p14="http://schemas.microsoft.com/office/powerpoint/2010/main" val="459032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Citizen | +-----------------+ | - </a:t>
            </a:r>
            <a:r>
              <a:rPr lang="en-US" dirty="0" err="1"/>
              <a:t>citizenId</a:t>
            </a:r>
            <a:r>
              <a:rPr lang="en-US" dirty="0"/>
              <a:t>: int| | - name: String | | - income: double| | - </a:t>
            </a:r>
            <a:r>
              <a:rPr lang="en-US" dirty="0" err="1"/>
              <a:t>familySize</a:t>
            </a:r>
            <a:r>
              <a:rPr lang="en-US" dirty="0"/>
              <a:t>: int| | - address: String| +-----------------+ | +</a:t>
            </a:r>
            <a:r>
              <a:rPr lang="en-US" dirty="0" err="1"/>
              <a:t>applyHousing</a:t>
            </a:r>
            <a:r>
              <a:rPr lang="en-US" dirty="0"/>
              <a:t>(): void | | +</a:t>
            </a:r>
            <a:r>
              <a:rPr lang="en-US" dirty="0" err="1"/>
              <a:t>reportGarbage</a:t>
            </a:r>
            <a:r>
              <a:rPr lang="en-US" dirty="0"/>
              <a:t>(): void| | +</a:t>
            </a:r>
            <a:r>
              <a:rPr lang="en-US" dirty="0" err="1"/>
              <a:t>reportTraffic</a:t>
            </a:r>
            <a:r>
              <a:rPr lang="en-US" dirty="0"/>
              <a:t>(): void| +-----------------+ +-------------------+ | House | +-------------------+ | - </a:t>
            </a:r>
            <a:r>
              <a:rPr lang="en-US" dirty="0" err="1"/>
              <a:t>houseId</a:t>
            </a:r>
            <a:r>
              <a:rPr lang="en-US" dirty="0"/>
              <a:t>: int | | - location: String| | - size: int | | - </a:t>
            </a:r>
            <a:r>
              <a:rPr lang="en-US" dirty="0" err="1"/>
              <a:t>allocatedTo</a:t>
            </a:r>
            <a:r>
              <a:rPr lang="en-US" dirty="0"/>
              <a:t>: Citizen | +-------------------+ | +</a:t>
            </a:r>
            <a:r>
              <a:rPr lang="en-US" dirty="0" err="1"/>
              <a:t>assignCitizen</a:t>
            </a:r>
            <a:r>
              <a:rPr lang="en-US" dirty="0"/>
              <a:t>(</a:t>
            </a:r>
            <a:r>
              <a:rPr lang="en-US" dirty="0" err="1"/>
              <a:t>c:Citizen</a:t>
            </a:r>
            <a:r>
              <a:rPr lang="en-US" dirty="0"/>
              <a:t>): void | +-------------------+ +------------------------+ | </a:t>
            </a:r>
            <a:r>
              <a:rPr lang="en-US" dirty="0" err="1"/>
              <a:t>HousingAuthority</a:t>
            </a:r>
            <a:r>
              <a:rPr lang="en-US" dirty="0"/>
              <a:t> | +------------------------+ | - </a:t>
            </a:r>
            <a:r>
              <a:rPr lang="en-US" dirty="0" err="1"/>
              <a:t>authorityId</a:t>
            </a:r>
            <a:r>
              <a:rPr lang="en-US" dirty="0"/>
              <a:t>: int | | - name: String | +------------------------+ | +</a:t>
            </a:r>
            <a:r>
              <a:rPr lang="en-US" dirty="0" err="1"/>
              <a:t>reviewApplication</a:t>
            </a:r>
            <a:r>
              <a:rPr lang="en-US" dirty="0"/>
              <a:t>(</a:t>
            </a:r>
            <a:r>
              <a:rPr lang="en-US" dirty="0" err="1"/>
              <a:t>c:Citizen</a:t>
            </a:r>
            <a:r>
              <a:rPr lang="en-US" dirty="0"/>
              <a:t>): void| | +</a:t>
            </a:r>
            <a:r>
              <a:rPr lang="en-US" dirty="0" err="1"/>
              <a:t>allocateHouse</a:t>
            </a:r>
            <a:r>
              <a:rPr lang="en-US" dirty="0"/>
              <a:t>(</a:t>
            </a:r>
            <a:r>
              <a:rPr lang="en-US" dirty="0" err="1"/>
              <a:t>c:Citizen</a:t>
            </a:r>
            <a:r>
              <a:rPr lang="en-US" dirty="0"/>
              <a:t>, h:House): void| +------------------------+ +------------------------+ | </a:t>
            </a:r>
            <a:r>
              <a:rPr lang="en-US" dirty="0" err="1"/>
              <a:t>GarbageBin</a:t>
            </a:r>
            <a:r>
              <a:rPr lang="en-US" dirty="0"/>
              <a:t> | +------------------------+ | - </a:t>
            </a:r>
            <a:r>
              <a:rPr lang="en-US" dirty="0" err="1"/>
              <a:t>binId</a:t>
            </a:r>
            <a:r>
              <a:rPr lang="en-US" dirty="0"/>
              <a:t>: int | | - location: String | | - status: String | +------------------------+ | +</a:t>
            </a:r>
            <a:r>
              <a:rPr lang="en-US" dirty="0" err="1"/>
              <a:t>updateStatus</a:t>
            </a:r>
            <a:r>
              <a:rPr lang="en-US" dirty="0"/>
              <a:t>(): void | +------------------------+ +------------------------+ | </a:t>
            </a:r>
            <a:r>
              <a:rPr lang="en-US" dirty="0" err="1"/>
              <a:t>GarbageTruck</a:t>
            </a:r>
            <a:r>
              <a:rPr lang="en-US" dirty="0"/>
              <a:t> | +------------------------+ | - </a:t>
            </a:r>
            <a:r>
              <a:rPr lang="en-US" dirty="0" err="1"/>
              <a:t>truckId</a:t>
            </a:r>
            <a:r>
              <a:rPr lang="en-US" dirty="0"/>
              <a:t>: int | | - </a:t>
            </a:r>
            <a:r>
              <a:rPr lang="en-US" dirty="0" err="1"/>
              <a:t>assignedZone</a:t>
            </a:r>
            <a:r>
              <a:rPr lang="en-US" dirty="0"/>
              <a:t>: String | | - driver: String | +------------------------+ | +</a:t>
            </a:r>
            <a:r>
              <a:rPr lang="en-US" dirty="0" err="1"/>
              <a:t>collectGarbage</a:t>
            </a:r>
            <a:r>
              <a:rPr lang="en-US" dirty="0"/>
              <a:t>(): void| +------------------------+ +------------------------+ | </a:t>
            </a:r>
            <a:r>
              <a:rPr lang="en-US" dirty="0" err="1"/>
              <a:t>TrafficSignal</a:t>
            </a:r>
            <a:r>
              <a:rPr lang="en-US" dirty="0"/>
              <a:t> | +------------------------+ | - </a:t>
            </a:r>
            <a:r>
              <a:rPr lang="en-US" dirty="0" err="1"/>
              <a:t>signalId</a:t>
            </a:r>
            <a:r>
              <a:rPr lang="en-US" dirty="0"/>
              <a:t>: int | | - location: String | | - status: String | +------------------------+ | +</a:t>
            </a:r>
            <a:r>
              <a:rPr lang="en-US" dirty="0" err="1"/>
              <a:t>adjustSignal</a:t>
            </a:r>
            <a:r>
              <a:rPr lang="en-US" dirty="0"/>
              <a:t>(): void | +------------------------+ +------------------------+ | </a:t>
            </a:r>
            <a:r>
              <a:rPr lang="en-US" dirty="0" err="1"/>
              <a:t>CityAuthoritySystem</a:t>
            </a:r>
            <a:r>
              <a:rPr lang="en-US" dirty="0"/>
              <a:t> | +------------------------+ | - citizens: List&lt;Citizen&gt;| | - houses: List&lt;House&gt; | | - </a:t>
            </a:r>
            <a:r>
              <a:rPr lang="en-US" dirty="0" err="1"/>
              <a:t>garbageTrucks</a:t>
            </a:r>
            <a:r>
              <a:rPr lang="en-US" dirty="0"/>
              <a:t>: List&lt;</a:t>
            </a:r>
            <a:r>
              <a:rPr lang="en-US" dirty="0" err="1"/>
              <a:t>GarbageTruck</a:t>
            </a:r>
            <a:r>
              <a:rPr lang="en-US" dirty="0"/>
              <a:t>&gt; | | - </a:t>
            </a:r>
            <a:r>
              <a:rPr lang="en-US" dirty="0" err="1"/>
              <a:t>trafficSignals</a:t>
            </a:r>
            <a:r>
              <a:rPr lang="en-US" dirty="0"/>
              <a:t>: List&lt;</a:t>
            </a:r>
            <a:r>
              <a:rPr lang="en-US" dirty="0" err="1"/>
              <a:t>TrafficSignal</a:t>
            </a:r>
            <a:r>
              <a:rPr lang="en-US" dirty="0"/>
              <a:t>&gt;| +------------------------+ | +</a:t>
            </a:r>
            <a:r>
              <a:rPr lang="en-US" dirty="0" err="1"/>
              <a:t>monitorHousing</a:t>
            </a:r>
            <a:r>
              <a:rPr lang="en-US" dirty="0"/>
              <a:t>(): void | | +</a:t>
            </a:r>
            <a:r>
              <a:rPr lang="en-US" dirty="0" err="1"/>
              <a:t>monitorGarbage</a:t>
            </a:r>
            <a:r>
              <a:rPr lang="en-US" dirty="0"/>
              <a:t>(): void | | +</a:t>
            </a:r>
            <a:r>
              <a:rPr lang="en-US" dirty="0" err="1"/>
              <a:t>monitorTraffic</a:t>
            </a:r>
            <a:r>
              <a:rPr lang="en-US" dirty="0"/>
              <a:t>(): void | +------------------------+ </a:t>
            </a:r>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18</a:t>
            </a:fld>
            <a:endParaRPr lang="en-US"/>
          </a:p>
        </p:txBody>
      </p:sp>
    </p:spTree>
    <p:extLst>
      <p:ext uri="{BB962C8B-B14F-4D97-AF65-F5344CB8AC3E}">
        <p14:creationId xmlns:p14="http://schemas.microsoft.com/office/powerpoint/2010/main" val="89221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28D5F-E29E-250B-97B0-71D034199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02A94-4B82-2714-2DF9-B52E74C67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92130-8090-3271-EACC-7429D757435B}"/>
              </a:ext>
            </a:extLst>
          </p:cNvPr>
          <p:cNvSpPr>
            <a:spLocks noGrp="1"/>
          </p:cNvSpPr>
          <p:nvPr>
            <p:ph type="body" idx="1"/>
          </p:nvPr>
        </p:nvSpPr>
        <p:spPr/>
        <p:txBody>
          <a:bodyPr/>
          <a:lstStyle/>
          <a:p>
            <a:r>
              <a:rPr lang="en-US" dirty="0"/>
              <a:t>+-----------------+ | Citizen | +-----------------+ | - </a:t>
            </a:r>
            <a:r>
              <a:rPr lang="en-US" dirty="0" err="1"/>
              <a:t>citizenId</a:t>
            </a:r>
            <a:r>
              <a:rPr lang="en-US" dirty="0"/>
              <a:t>: int| | - name: String | | - income: double| | - </a:t>
            </a:r>
            <a:r>
              <a:rPr lang="en-US" dirty="0" err="1"/>
              <a:t>familySize</a:t>
            </a:r>
            <a:r>
              <a:rPr lang="en-US" dirty="0"/>
              <a:t>: int| | - address: String| +-----------------+ | +</a:t>
            </a:r>
            <a:r>
              <a:rPr lang="en-US" dirty="0" err="1"/>
              <a:t>applyHousing</a:t>
            </a:r>
            <a:r>
              <a:rPr lang="en-US" dirty="0"/>
              <a:t>(): void | | +</a:t>
            </a:r>
            <a:r>
              <a:rPr lang="en-US" dirty="0" err="1"/>
              <a:t>reportGarbage</a:t>
            </a:r>
            <a:r>
              <a:rPr lang="en-US" dirty="0"/>
              <a:t>(): void| | +</a:t>
            </a:r>
            <a:r>
              <a:rPr lang="en-US" dirty="0" err="1"/>
              <a:t>reportTraffic</a:t>
            </a:r>
            <a:r>
              <a:rPr lang="en-US" dirty="0"/>
              <a:t>(): void| +-----------------+ +-------------------+ | House | +-------------------+ | - </a:t>
            </a:r>
            <a:r>
              <a:rPr lang="en-US" dirty="0" err="1"/>
              <a:t>houseId</a:t>
            </a:r>
            <a:r>
              <a:rPr lang="en-US" dirty="0"/>
              <a:t>: int | | - location: String| | - size: int | | - </a:t>
            </a:r>
            <a:r>
              <a:rPr lang="en-US" dirty="0" err="1"/>
              <a:t>allocatedTo</a:t>
            </a:r>
            <a:r>
              <a:rPr lang="en-US" dirty="0"/>
              <a:t>: Citizen | +-------------------+ | +</a:t>
            </a:r>
            <a:r>
              <a:rPr lang="en-US" dirty="0" err="1"/>
              <a:t>assignCitizen</a:t>
            </a:r>
            <a:r>
              <a:rPr lang="en-US" dirty="0"/>
              <a:t>(</a:t>
            </a:r>
            <a:r>
              <a:rPr lang="en-US" dirty="0" err="1"/>
              <a:t>c:Citizen</a:t>
            </a:r>
            <a:r>
              <a:rPr lang="en-US" dirty="0"/>
              <a:t>): void | +-------------------+ +------------------------+ | </a:t>
            </a:r>
            <a:r>
              <a:rPr lang="en-US" dirty="0" err="1"/>
              <a:t>HousingAuthority</a:t>
            </a:r>
            <a:r>
              <a:rPr lang="en-US" dirty="0"/>
              <a:t> | +------------------------+ | - </a:t>
            </a:r>
            <a:r>
              <a:rPr lang="en-US" dirty="0" err="1"/>
              <a:t>authorityId</a:t>
            </a:r>
            <a:r>
              <a:rPr lang="en-US" dirty="0"/>
              <a:t>: int | | - name: String | +------------------------+ | +</a:t>
            </a:r>
            <a:r>
              <a:rPr lang="en-US" dirty="0" err="1"/>
              <a:t>reviewApplication</a:t>
            </a:r>
            <a:r>
              <a:rPr lang="en-US" dirty="0"/>
              <a:t>(</a:t>
            </a:r>
            <a:r>
              <a:rPr lang="en-US" dirty="0" err="1"/>
              <a:t>c:Citizen</a:t>
            </a:r>
            <a:r>
              <a:rPr lang="en-US" dirty="0"/>
              <a:t>): void| | +</a:t>
            </a:r>
            <a:r>
              <a:rPr lang="en-US" dirty="0" err="1"/>
              <a:t>allocateHouse</a:t>
            </a:r>
            <a:r>
              <a:rPr lang="en-US" dirty="0"/>
              <a:t>(</a:t>
            </a:r>
            <a:r>
              <a:rPr lang="en-US" dirty="0" err="1"/>
              <a:t>c:Citizen</a:t>
            </a:r>
            <a:r>
              <a:rPr lang="en-US" dirty="0"/>
              <a:t>, h:House): void| +------------------------+ +------------------------+ | </a:t>
            </a:r>
            <a:r>
              <a:rPr lang="en-US" dirty="0" err="1"/>
              <a:t>GarbageBin</a:t>
            </a:r>
            <a:r>
              <a:rPr lang="en-US" dirty="0"/>
              <a:t> | +------------------------+ | - </a:t>
            </a:r>
            <a:r>
              <a:rPr lang="en-US" dirty="0" err="1"/>
              <a:t>binId</a:t>
            </a:r>
            <a:r>
              <a:rPr lang="en-US" dirty="0"/>
              <a:t>: int | | - location: String | | - status: String | +------------------------+ | +</a:t>
            </a:r>
            <a:r>
              <a:rPr lang="en-US" dirty="0" err="1"/>
              <a:t>updateStatus</a:t>
            </a:r>
            <a:r>
              <a:rPr lang="en-US" dirty="0"/>
              <a:t>(): void | +------------------------+ +------------------------+ | </a:t>
            </a:r>
            <a:r>
              <a:rPr lang="en-US" dirty="0" err="1"/>
              <a:t>GarbageTruck</a:t>
            </a:r>
            <a:r>
              <a:rPr lang="en-US" dirty="0"/>
              <a:t> | +------------------------+ | - </a:t>
            </a:r>
            <a:r>
              <a:rPr lang="en-US" dirty="0" err="1"/>
              <a:t>truckId</a:t>
            </a:r>
            <a:r>
              <a:rPr lang="en-US" dirty="0"/>
              <a:t>: int | | - </a:t>
            </a:r>
            <a:r>
              <a:rPr lang="en-US" dirty="0" err="1"/>
              <a:t>assignedZone</a:t>
            </a:r>
            <a:r>
              <a:rPr lang="en-US" dirty="0"/>
              <a:t>: String | | - driver: String | +------------------------+ | +</a:t>
            </a:r>
            <a:r>
              <a:rPr lang="en-US" dirty="0" err="1"/>
              <a:t>collectGarbage</a:t>
            </a:r>
            <a:r>
              <a:rPr lang="en-US" dirty="0"/>
              <a:t>(): void| +------------------------+ +------------------------+ | </a:t>
            </a:r>
            <a:r>
              <a:rPr lang="en-US" dirty="0" err="1"/>
              <a:t>TrafficSignal</a:t>
            </a:r>
            <a:r>
              <a:rPr lang="en-US" dirty="0"/>
              <a:t> | +------------------------+ | - </a:t>
            </a:r>
            <a:r>
              <a:rPr lang="en-US" dirty="0" err="1"/>
              <a:t>signalId</a:t>
            </a:r>
            <a:r>
              <a:rPr lang="en-US" dirty="0"/>
              <a:t>: int | | - location: String | | - status: String | +------------------------+ | +</a:t>
            </a:r>
            <a:r>
              <a:rPr lang="en-US" dirty="0" err="1"/>
              <a:t>adjustSignal</a:t>
            </a:r>
            <a:r>
              <a:rPr lang="en-US" dirty="0"/>
              <a:t>(): void | +------------------------+ +------------------------+ | </a:t>
            </a:r>
            <a:r>
              <a:rPr lang="en-US" dirty="0" err="1"/>
              <a:t>CityAuthoritySystem</a:t>
            </a:r>
            <a:r>
              <a:rPr lang="en-US" dirty="0"/>
              <a:t> | +------------------------+ | - citizens: List&lt;Citizen&gt;| | - houses: List&lt;House&gt; | | - </a:t>
            </a:r>
            <a:r>
              <a:rPr lang="en-US" dirty="0" err="1"/>
              <a:t>garbageTrucks</a:t>
            </a:r>
            <a:r>
              <a:rPr lang="en-US" dirty="0"/>
              <a:t>: List&lt;</a:t>
            </a:r>
            <a:r>
              <a:rPr lang="en-US" dirty="0" err="1"/>
              <a:t>GarbageTruck</a:t>
            </a:r>
            <a:r>
              <a:rPr lang="en-US" dirty="0"/>
              <a:t>&gt; | | - </a:t>
            </a:r>
            <a:r>
              <a:rPr lang="en-US" dirty="0" err="1"/>
              <a:t>trafficSignals</a:t>
            </a:r>
            <a:r>
              <a:rPr lang="en-US" dirty="0"/>
              <a:t>: List&lt;</a:t>
            </a:r>
            <a:r>
              <a:rPr lang="en-US" dirty="0" err="1"/>
              <a:t>TrafficSignal</a:t>
            </a:r>
            <a:r>
              <a:rPr lang="en-US" dirty="0"/>
              <a:t>&gt;| +------------------------+ | +</a:t>
            </a:r>
            <a:r>
              <a:rPr lang="en-US" dirty="0" err="1"/>
              <a:t>monitorHousing</a:t>
            </a:r>
            <a:r>
              <a:rPr lang="en-US" dirty="0"/>
              <a:t>(): void | | +</a:t>
            </a:r>
            <a:r>
              <a:rPr lang="en-US" dirty="0" err="1"/>
              <a:t>monitorGarbage</a:t>
            </a:r>
            <a:r>
              <a:rPr lang="en-US" dirty="0"/>
              <a:t>(): void | | +</a:t>
            </a:r>
            <a:r>
              <a:rPr lang="en-US" dirty="0" err="1"/>
              <a:t>monitorTraffic</a:t>
            </a:r>
            <a:r>
              <a:rPr lang="en-US" dirty="0"/>
              <a:t>(): void | +------------------------+ </a:t>
            </a:r>
            <a:endParaRPr kumimoji="1" lang="ja-JP" altLang="en-US" dirty="0"/>
          </a:p>
        </p:txBody>
      </p:sp>
      <p:sp>
        <p:nvSpPr>
          <p:cNvPr id="4" name="Slide Number Placeholder 3">
            <a:extLst>
              <a:ext uri="{FF2B5EF4-FFF2-40B4-BE49-F238E27FC236}">
                <a16:creationId xmlns:a16="http://schemas.microsoft.com/office/drawing/2014/main" id="{AF30ADFC-481D-91DD-9B9C-051D9D047C1F}"/>
              </a:ext>
            </a:extLst>
          </p:cNvPr>
          <p:cNvSpPr>
            <a:spLocks noGrp="1"/>
          </p:cNvSpPr>
          <p:nvPr>
            <p:ph type="sldNum" sz="quarter" idx="5"/>
          </p:nvPr>
        </p:nvSpPr>
        <p:spPr/>
        <p:txBody>
          <a:bodyPr/>
          <a:lstStyle/>
          <a:p>
            <a:fld id="{93211DCF-9C25-4121-98B8-1A71B48A30E8}" type="slidenum">
              <a:rPr lang="en-US" smtClean="0"/>
              <a:t>19</a:t>
            </a:fld>
            <a:endParaRPr lang="en-US"/>
          </a:p>
        </p:txBody>
      </p:sp>
    </p:spTree>
    <p:extLst>
      <p:ext uri="{BB962C8B-B14F-4D97-AF65-F5344CB8AC3E}">
        <p14:creationId xmlns:p14="http://schemas.microsoft.com/office/powerpoint/2010/main" val="2805624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5FD15-6E96-8ECB-3646-F8F61CBD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82304-C5D1-4211-7051-EA7D7B338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2C64D-43D6-5933-515C-B0AC2EF8A0BE}"/>
              </a:ext>
            </a:extLst>
          </p:cNvPr>
          <p:cNvSpPr>
            <a:spLocks noGrp="1"/>
          </p:cNvSpPr>
          <p:nvPr>
            <p:ph type="body" idx="1"/>
          </p:nvPr>
        </p:nvSpPr>
        <p:spPr/>
        <p:txBody>
          <a:bodyPr/>
          <a:lstStyle/>
          <a:p>
            <a:r>
              <a:rPr lang="en-US" dirty="0"/>
              <a:t>+-----------------+ | Citizen | +-----------------+ | - </a:t>
            </a:r>
            <a:r>
              <a:rPr lang="en-US" dirty="0" err="1"/>
              <a:t>citizenId</a:t>
            </a:r>
            <a:r>
              <a:rPr lang="en-US" dirty="0"/>
              <a:t>: int| | - name: String | | - income: double| | - </a:t>
            </a:r>
            <a:r>
              <a:rPr lang="en-US" dirty="0" err="1"/>
              <a:t>familySize</a:t>
            </a:r>
            <a:r>
              <a:rPr lang="en-US" dirty="0"/>
              <a:t>: int| | - address: String| +-----------------+ | +</a:t>
            </a:r>
            <a:r>
              <a:rPr lang="en-US" dirty="0" err="1"/>
              <a:t>applyHousing</a:t>
            </a:r>
            <a:r>
              <a:rPr lang="en-US" dirty="0"/>
              <a:t>(): void | | +</a:t>
            </a:r>
            <a:r>
              <a:rPr lang="en-US" dirty="0" err="1"/>
              <a:t>reportGarbage</a:t>
            </a:r>
            <a:r>
              <a:rPr lang="en-US" dirty="0"/>
              <a:t>(): void| | +</a:t>
            </a:r>
            <a:r>
              <a:rPr lang="en-US" dirty="0" err="1"/>
              <a:t>reportTraffic</a:t>
            </a:r>
            <a:r>
              <a:rPr lang="en-US" dirty="0"/>
              <a:t>(): void| +-----------------+ +-------------------+ | House | +-------------------+ | - </a:t>
            </a:r>
            <a:r>
              <a:rPr lang="en-US" dirty="0" err="1"/>
              <a:t>houseId</a:t>
            </a:r>
            <a:r>
              <a:rPr lang="en-US" dirty="0"/>
              <a:t>: int | | - location: String| | - size: int | | - </a:t>
            </a:r>
            <a:r>
              <a:rPr lang="en-US" dirty="0" err="1"/>
              <a:t>allocatedTo</a:t>
            </a:r>
            <a:r>
              <a:rPr lang="en-US" dirty="0"/>
              <a:t>: Citizen | +-------------------+ | +</a:t>
            </a:r>
            <a:r>
              <a:rPr lang="en-US" dirty="0" err="1"/>
              <a:t>assignCitizen</a:t>
            </a:r>
            <a:r>
              <a:rPr lang="en-US" dirty="0"/>
              <a:t>(</a:t>
            </a:r>
            <a:r>
              <a:rPr lang="en-US" dirty="0" err="1"/>
              <a:t>c:Citizen</a:t>
            </a:r>
            <a:r>
              <a:rPr lang="en-US" dirty="0"/>
              <a:t>): void | +-------------------+ +------------------------+ | </a:t>
            </a:r>
            <a:r>
              <a:rPr lang="en-US" dirty="0" err="1"/>
              <a:t>HousingAuthority</a:t>
            </a:r>
            <a:r>
              <a:rPr lang="en-US" dirty="0"/>
              <a:t> | +------------------------+ | - </a:t>
            </a:r>
            <a:r>
              <a:rPr lang="en-US" dirty="0" err="1"/>
              <a:t>authorityId</a:t>
            </a:r>
            <a:r>
              <a:rPr lang="en-US" dirty="0"/>
              <a:t>: int | | - name: String | +------------------------+ | +</a:t>
            </a:r>
            <a:r>
              <a:rPr lang="en-US" dirty="0" err="1"/>
              <a:t>reviewApplication</a:t>
            </a:r>
            <a:r>
              <a:rPr lang="en-US" dirty="0"/>
              <a:t>(</a:t>
            </a:r>
            <a:r>
              <a:rPr lang="en-US" dirty="0" err="1"/>
              <a:t>c:Citizen</a:t>
            </a:r>
            <a:r>
              <a:rPr lang="en-US" dirty="0"/>
              <a:t>): void| | +</a:t>
            </a:r>
            <a:r>
              <a:rPr lang="en-US" dirty="0" err="1"/>
              <a:t>allocateHouse</a:t>
            </a:r>
            <a:r>
              <a:rPr lang="en-US" dirty="0"/>
              <a:t>(</a:t>
            </a:r>
            <a:r>
              <a:rPr lang="en-US" dirty="0" err="1"/>
              <a:t>c:Citizen</a:t>
            </a:r>
            <a:r>
              <a:rPr lang="en-US" dirty="0"/>
              <a:t>, h:House): void| +------------------------+ +------------------------+ | </a:t>
            </a:r>
            <a:r>
              <a:rPr lang="en-US" dirty="0" err="1"/>
              <a:t>GarbageBin</a:t>
            </a:r>
            <a:r>
              <a:rPr lang="en-US" dirty="0"/>
              <a:t> | +------------------------+ | - </a:t>
            </a:r>
            <a:r>
              <a:rPr lang="en-US" dirty="0" err="1"/>
              <a:t>binId</a:t>
            </a:r>
            <a:r>
              <a:rPr lang="en-US" dirty="0"/>
              <a:t>: int | | - location: String | | - status: String | +------------------------+ | +</a:t>
            </a:r>
            <a:r>
              <a:rPr lang="en-US" dirty="0" err="1"/>
              <a:t>updateStatus</a:t>
            </a:r>
            <a:r>
              <a:rPr lang="en-US" dirty="0"/>
              <a:t>(): void | +------------------------+ +------------------------+ | </a:t>
            </a:r>
            <a:r>
              <a:rPr lang="en-US" dirty="0" err="1"/>
              <a:t>GarbageTruck</a:t>
            </a:r>
            <a:r>
              <a:rPr lang="en-US" dirty="0"/>
              <a:t> | +------------------------+ | - </a:t>
            </a:r>
            <a:r>
              <a:rPr lang="en-US" dirty="0" err="1"/>
              <a:t>truckId</a:t>
            </a:r>
            <a:r>
              <a:rPr lang="en-US" dirty="0"/>
              <a:t>: int | | - </a:t>
            </a:r>
            <a:r>
              <a:rPr lang="en-US" dirty="0" err="1"/>
              <a:t>assignedZone</a:t>
            </a:r>
            <a:r>
              <a:rPr lang="en-US" dirty="0"/>
              <a:t>: String | | - driver: String | +------------------------+ | +</a:t>
            </a:r>
            <a:r>
              <a:rPr lang="en-US" dirty="0" err="1"/>
              <a:t>collectGarbage</a:t>
            </a:r>
            <a:r>
              <a:rPr lang="en-US" dirty="0"/>
              <a:t>(): void| +------------------------+ +------------------------+ | </a:t>
            </a:r>
            <a:r>
              <a:rPr lang="en-US" dirty="0" err="1"/>
              <a:t>TrafficSignal</a:t>
            </a:r>
            <a:r>
              <a:rPr lang="en-US" dirty="0"/>
              <a:t> | +------------------------+ | - </a:t>
            </a:r>
            <a:r>
              <a:rPr lang="en-US" dirty="0" err="1"/>
              <a:t>signalId</a:t>
            </a:r>
            <a:r>
              <a:rPr lang="en-US" dirty="0"/>
              <a:t>: int | | - location: String | | - status: String | +------------------------+ | +</a:t>
            </a:r>
            <a:r>
              <a:rPr lang="en-US" dirty="0" err="1"/>
              <a:t>adjustSignal</a:t>
            </a:r>
            <a:r>
              <a:rPr lang="en-US" dirty="0"/>
              <a:t>(): void | +------------------------+ +------------------------+ | </a:t>
            </a:r>
            <a:r>
              <a:rPr lang="en-US" dirty="0" err="1"/>
              <a:t>CityAuthoritySystem</a:t>
            </a:r>
            <a:r>
              <a:rPr lang="en-US" dirty="0"/>
              <a:t> | +------------------------+ | - citizens: List&lt;Citizen&gt;| | - houses: List&lt;House&gt; | | - </a:t>
            </a:r>
            <a:r>
              <a:rPr lang="en-US" dirty="0" err="1"/>
              <a:t>garbageTrucks</a:t>
            </a:r>
            <a:r>
              <a:rPr lang="en-US" dirty="0"/>
              <a:t>: List&lt;</a:t>
            </a:r>
            <a:r>
              <a:rPr lang="en-US" dirty="0" err="1"/>
              <a:t>GarbageTruck</a:t>
            </a:r>
            <a:r>
              <a:rPr lang="en-US" dirty="0"/>
              <a:t>&gt; | | - </a:t>
            </a:r>
            <a:r>
              <a:rPr lang="en-US" dirty="0" err="1"/>
              <a:t>trafficSignals</a:t>
            </a:r>
            <a:r>
              <a:rPr lang="en-US" dirty="0"/>
              <a:t>: List&lt;</a:t>
            </a:r>
            <a:r>
              <a:rPr lang="en-US" dirty="0" err="1"/>
              <a:t>TrafficSignal</a:t>
            </a:r>
            <a:r>
              <a:rPr lang="en-US" dirty="0"/>
              <a:t>&gt;| +------------------------+ | +</a:t>
            </a:r>
            <a:r>
              <a:rPr lang="en-US" dirty="0" err="1"/>
              <a:t>monitorHousing</a:t>
            </a:r>
            <a:r>
              <a:rPr lang="en-US" dirty="0"/>
              <a:t>(): void | | +</a:t>
            </a:r>
            <a:r>
              <a:rPr lang="en-US" dirty="0" err="1"/>
              <a:t>monitorGarbage</a:t>
            </a:r>
            <a:r>
              <a:rPr lang="en-US" dirty="0"/>
              <a:t>(): void | | +</a:t>
            </a:r>
            <a:r>
              <a:rPr lang="en-US" dirty="0" err="1"/>
              <a:t>monitorTraffic</a:t>
            </a:r>
            <a:r>
              <a:rPr lang="en-US" dirty="0"/>
              <a:t>(): void | +------------------------+ </a:t>
            </a:r>
            <a:endParaRPr kumimoji="1" lang="ja-JP" altLang="en-US" dirty="0"/>
          </a:p>
        </p:txBody>
      </p:sp>
      <p:sp>
        <p:nvSpPr>
          <p:cNvPr id="4" name="Slide Number Placeholder 3">
            <a:extLst>
              <a:ext uri="{FF2B5EF4-FFF2-40B4-BE49-F238E27FC236}">
                <a16:creationId xmlns:a16="http://schemas.microsoft.com/office/drawing/2014/main" id="{9E285072-B703-1B16-1CE9-E89726BEE7E3}"/>
              </a:ext>
            </a:extLst>
          </p:cNvPr>
          <p:cNvSpPr>
            <a:spLocks noGrp="1"/>
          </p:cNvSpPr>
          <p:nvPr>
            <p:ph type="sldNum" sz="quarter" idx="5"/>
          </p:nvPr>
        </p:nvSpPr>
        <p:spPr/>
        <p:txBody>
          <a:bodyPr/>
          <a:lstStyle/>
          <a:p>
            <a:fld id="{93211DCF-9C25-4121-98B8-1A71B48A30E8}" type="slidenum">
              <a:rPr lang="en-US" smtClean="0"/>
              <a:t>20</a:t>
            </a:fld>
            <a:endParaRPr lang="en-US"/>
          </a:p>
        </p:txBody>
      </p:sp>
    </p:spTree>
    <p:extLst>
      <p:ext uri="{BB962C8B-B14F-4D97-AF65-F5344CB8AC3E}">
        <p14:creationId xmlns:p14="http://schemas.microsoft.com/office/powerpoint/2010/main" val="245845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9CD39-3C01-33E8-6565-2D44E1677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6A0A7-ED49-C26F-4A3F-65773B7AA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90610-1208-0008-758D-8FF268D6331F}"/>
              </a:ext>
            </a:extLst>
          </p:cNvPr>
          <p:cNvSpPr>
            <a:spLocks noGrp="1"/>
          </p:cNvSpPr>
          <p:nvPr>
            <p:ph type="body" idx="1"/>
          </p:nvPr>
        </p:nvSpPr>
        <p:spPr/>
        <p:txBody>
          <a:bodyPr/>
          <a:lstStyle/>
          <a:p>
            <a:pPr>
              <a:buNone/>
            </a:pPr>
            <a:r>
              <a:rPr lang="en-US" b="1" dirty="0"/>
              <a:t>import </a:t>
            </a:r>
            <a:r>
              <a:rPr lang="en-US" b="1" dirty="0" err="1"/>
              <a:t>java.util</a:t>
            </a:r>
            <a:r>
              <a:rPr lang="en-US" b="1" dirty="0"/>
              <a:t>.*;class Citizen {    int </a:t>
            </a:r>
            <a:r>
              <a:rPr lang="en-US" b="1" dirty="0" err="1"/>
              <a:t>citizenId</a:t>
            </a:r>
            <a:r>
              <a:rPr lang="en-US" b="1" dirty="0"/>
              <a:t>;    String name;    double income;    int </a:t>
            </a:r>
            <a:r>
              <a:rPr lang="en-US" b="1" dirty="0" err="1"/>
              <a:t>familySize</a:t>
            </a:r>
            <a:r>
              <a:rPr lang="en-US" b="1" dirty="0"/>
              <a:t>;    String address;    public Citizen(int id, String name, double income, int </a:t>
            </a:r>
            <a:r>
              <a:rPr lang="en-US" b="1" dirty="0" err="1"/>
              <a:t>familySize</a:t>
            </a:r>
            <a:r>
              <a:rPr lang="en-US" b="1" dirty="0"/>
              <a:t>, String address) {        </a:t>
            </a:r>
            <a:r>
              <a:rPr lang="en-US" b="1" dirty="0" err="1"/>
              <a:t>this.citizenId</a:t>
            </a:r>
            <a:r>
              <a:rPr lang="en-US" b="1" dirty="0"/>
              <a:t> = id;        this.name = name;        </a:t>
            </a:r>
            <a:r>
              <a:rPr lang="en-US" b="1" dirty="0" err="1"/>
              <a:t>this.income</a:t>
            </a:r>
            <a:r>
              <a:rPr lang="en-US" b="1" dirty="0"/>
              <a:t> = income;        </a:t>
            </a:r>
            <a:r>
              <a:rPr lang="en-US" b="1" dirty="0" err="1"/>
              <a:t>this.familySize</a:t>
            </a:r>
            <a:r>
              <a:rPr lang="en-US" b="1" dirty="0"/>
              <a:t> = </a:t>
            </a:r>
            <a:r>
              <a:rPr lang="en-US" b="1" dirty="0" err="1"/>
              <a:t>familySize</a:t>
            </a:r>
            <a:r>
              <a:rPr lang="en-US" b="1" dirty="0"/>
              <a:t>;        </a:t>
            </a:r>
            <a:r>
              <a:rPr lang="en-US" b="1" dirty="0" err="1"/>
              <a:t>this.address</a:t>
            </a:r>
            <a:r>
              <a:rPr lang="en-US" b="1" dirty="0"/>
              <a:t> = address;    }    public void </a:t>
            </a:r>
            <a:r>
              <a:rPr lang="en-US" b="1" dirty="0" err="1"/>
              <a:t>applyHousing</a:t>
            </a:r>
            <a:r>
              <a:rPr lang="en-US" b="1" dirty="0"/>
              <a:t>(</a:t>
            </a:r>
            <a:r>
              <a:rPr lang="en-US" b="1" dirty="0" err="1"/>
              <a:t>HousingAuthority</a:t>
            </a:r>
            <a:r>
              <a:rPr lang="en-US" b="1" dirty="0"/>
              <a:t> ha, </a:t>
            </a:r>
            <a:r>
              <a:rPr lang="en-US" b="1" dirty="0" err="1"/>
              <a:t>CityAuthoritySystem</a:t>
            </a:r>
            <a:r>
              <a:rPr lang="en-US" b="1" dirty="0"/>
              <a:t> city) {        </a:t>
            </a:r>
            <a:r>
              <a:rPr lang="en-US" b="1" dirty="0" err="1"/>
              <a:t>System.out.println</a:t>
            </a:r>
            <a:r>
              <a:rPr lang="en-US" b="1" dirty="0"/>
              <a:t>(name + " applied for housing.");        </a:t>
            </a:r>
            <a:r>
              <a:rPr lang="en-US" b="1" dirty="0" err="1"/>
              <a:t>ha.reviewApplication</a:t>
            </a:r>
            <a:r>
              <a:rPr lang="en-US" b="1" dirty="0"/>
              <a:t>(this, city);    }    public void </a:t>
            </a:r>
            <a:r>
              <a:rPr lang="en-US" b="1" dirty="0" err="1"/>
              <a:t>reportGarbage</a:t>
            </a:r>
            <a:r>
              <a:rPr lang="en-US" b="1" dirty="0"/>
              <a:t>(String location) {        </a:t>
            </a:r>
            <a:r>
              <a:rPr lang="en-US" b="1" dirty="0" err="1"/>
              <a:t>System.out.println</a:t>
            </a:r>
            <a:r>
              <a:rPr lang="en-US" b="1" dirty="0"/>
              <a:t>(name + " reported garbage at: " + location);    }    public void </a:t>
            </a:r>
            <a:r>
              <a:rPr lang="en-US" b="1" dirty="0" err="1"/>
              <a:t>reportTraffic</a:t>
            </a:r>
            <a:r>
              <a:rPr lang="en-US" b="1" dirty="0"/>
              <a:t>(String location) {        </a:t>
            </a:r>
            <a:r>
              <a:rPr lang="en-US" b="1" dirty="0" err="1"/>
              <a:t>System.out.println</a:t>
            </a:r>
            <a:r>
              <a:rPr lang="en-US" b="1" dirty="0"/>
              <a:t>(name + " reported traffic issue at: " + location);    }}class House {    int </a:t>
            </a:r>
            <a:r>
              <a:rPr lang="en-US" b="1" dirty="0" err="1"/>
              <a:t>houseId</a:t>
            </a:r>
            <a:r>
              <a:rPr lang="en-US" b="1" dirty="0"/>
              <a:t>;    String location;    int size;    Citizen </a:t>
            </a:r>
            <a:r>
              <a:rPr lang="en-US" b="1" dirty="0" err="1"/>
              <a:t>allocatedTo</a:t>
            </a:r>
            <a:r>
              <a:rPr lang="en-US" b="1" dirty="0"/>
              <a:t>;    public House(int id, String loc, int size) {        </a:t>
            </a:r>
            <a:r>
              <a:rPr lang="en-US" b="1" dirty="0" err="1"/>
              <a:t>this.houseId</a:t>
            </a:r>
            <a:r>
              <a:rPr lang="en-US" b="1" dirty="0"/>
              <a:t> = id;        </a:t>
            </a:r>
            <a:r>
              <a:rPr lang="en-US" b="1" dirty="0" err="1"/>
              <a:t>this.location</a:t>
            </a:r>
            <a:r>
              <a:rPr lang="en-US" b="1" dirty="0"/>
              <a:t> = loc;        </a:t>
            </a:r>
            <a:r>
              <a:rPr lang="en-US" b="1" dirty="0" err="1"/>
              <a:t>this.size</a:t>
            </a:r>
            <a:r>
              <a:rPr lang="en-US" b="1" dirty="0"/>
              <a:t> = size;    }    public void </a:t>
            </a:r>
            <a:r>
              <a:rPr lang="en-US" b="1" dirty="0" err="1"/>
              <a:t>assignCitizen</a:t>
            </a:r>
            <a:r>
              <a:rPr lang="en-US" b="1" dirty="0"/>
              <a:t>(Citizen c) {        </a:t>
            </a:r>
            <a:r>
              <a:rPr lang="en-US" b="1" dirty="0" err="1"/>
              <a:t>this.allocatedTo</a:t>
            </a:r>
            <a:r>
              <a:rPr lang="en-US" b="1" dirty="0"/>
              <a:t> = c;        </a:t>
            </a:r>
            <a:r>
              <a:rPr lang="en-US" b="1" dirty="0" err="1"/>
              <a:t>System.out.println</a:t>
            </a:r>
            <a:r>
              <a:rPr lang="en-US" b="1" dirty="0"/>
              <a:t>("House " + </a:t>
            </a:r>
            <a:r>
              <a:rPr lang="en-US" b="1" dirty="0" err="1"/>
              <a:t>houseId</a:t>
            </a:r>
            <a:r>
              <a:rPr lang="en-US" b="1" dirty="0"/>
              <a:t> + " assigned to " + c.name);    }}class </a:t>
            </a:r>
            <a:r>
              <a:rPr lang="en-US" b="1" dirty="0" err="1"/>
              <a:t>HousingAuthority</a:t>
            </a:r>
            <a:r>
              <a:rPr lang="en-US" b="1" dirty="0"/>
              <a:t> {    int </a:t>
            </a:r>
            <a:r>
              <a:rPr lang="en-US" b="1" dirty="0" err="1"/>
              <a:t>authorityId</a:t>
            </a:r>
            <a:r>
              <a:rPr lang="en-US" b="1" dirty="0"/>
              <a:t>;    String name;    public </a:t>
            </a:r>
            <a:r>
              <a:rPr lang="en-US" b="1" dirty="0" err="1"/>
              <a:t>HousingAuthority</a:t>
            </a:r>
            <a:r>
              <a:rPr lang="en-US" b="1" dirty="0"/>
              <a:t>(int id, String name) {        </a:t>
            </a:r>
            <a:r>
              <a:rPr lang="en-US" b="1" dirty="0" err="1"/>
              <a:t>this.authorityId</a:t>
            </a:r>
            <a:r>
              <a:rPr lang="en-US" b="1" dirty="0"/>
              <a:t> = id;        this.name = name;    }    public void </a:t>
            </a:r>
            <a:r>
              <a:rPr lang="en-US" b="1" dirty="0" err="1"/>
              <a:t>reviewApplication</a:t>
            </a:r>
            <a:r>
              <a:rPr lang="en-US" b="1" dirty="0"/>
              <a:t>(Citizen c, </a:t>
            </a:r>
            <a:r>
              <a:rPr lang="en-US" b="1" dirty="0" err="1"/>
              <a:t>CityAuthoritySystem</a:t>
            </a:r>
            <a:r>
              <a:rPr lang="en-US" b="1" dirty="0"/>
              <a:t> city) {        </a:t>
            </a:r>
            <a:r>
              <a:rPr lang="en-US" b="1" dirty="0" err="1"/>
              <a:t>System.out.println</a:t>
            </a:r>
            <a:r>
              <a:rPr lang="en-US" b="1" dirty="0"/>
              <a:t>("Housing Authority reviewing application of " + c.name);        // Simple allocation logic: pick first available house        for (House h : </a:t>
            </a:r>
            <a:r>
              <a:rPr lang="en-US" b="1" dirty="0" err="1"/>
              <a:t>city.houses</a:t>
            </a:r>
            <a:r>
              <a:rPr lang="en-US" b="1" dirty="0"/>
              <a:t>) {            if (</a:t>
            </a:r>
            <a:r>
              <a:rPr lang="en-US" b="1" dirty="0" err="1"/>
              <a:t>h.allocatedTo</a:t>
            </a:r>
            <a:r>
              <a:rPr lang="en-US" b="1" dirty="0"/>
              <a:t> == null) {                </a:t>
            </a:r>
            <a:r>
              <a:rPr lang="en-US" b="1" dirty="0" err="1"/>
              <a:t>h.assignCitizen</a:t>
            </a:r>
            <a:r>
              <a:rPr lang="en-US" b="1" dirty="0"/>
              <a:t>(c);                break;            }        }    }}class </a:t>
            </a:r>
            <a:r>
              <a:rPr lang="en-US" b="1" dirty="0" err="1"/>
              <a:t>CityAuthoritySystem</a:t>
            </a:r>
            <a:r>
              <a:rPr lang="en-US" b="1" dirty="0"/>
              <a:t> {    List&lt;Citizen&gt; citizens = new </a:t>
            </a:r>
            <a:r>
              <a:rPr lang="en-US" b="1" dirty="0" err="1"/>
              <a:t>ArrayList</a:t>
            </a:r>
            <a:r>
              <a:rPr lang="en-US" b="1" dirty="0"/>
              <a:t>&lt;&gt;();    List&lt;House&gt; houses = new </a:t>
            </a:r>
            <a:r>
              <a:rPr lang="en-US" b="1" dirty="0" err="1"/>
              <a:t>ArrayList</a:t>
            </a:r>
            <a:r>
              <a:rPr lang="en-US" b="1" dirty="0"/>
              <a:t>&lt;&gt;();    public void </a:t>
            </a:r>
            <a:r>
              <a:rPr lang="en-US" b="1" dirty="0" err="1"/>
              <a:t>addCitizen</a:t>
            </a:r>
            <a:r>
              <a:rPr lang="en-US" b="1" dirty="0"/>
              <a:t>(Citizen c) {        </a:t>
            </a:r>
            <a:r>
              <a:rPr lang="en-US" b="1" dirty="0" err="1"/>
              <a:t>citizens.add</a:t>
            </a:r>
            <a:r>
              <a:rPr lang="en-US" b="1" dirty="0"/>
              <a:t>(c);    }    public void </a:t>
            </a:r>
            <a:r>
              <a:rPr lang="en-US" b="1" dirty="0" err="1"/>
              <a:t>addHouse</a:t>
            </a:r>
            <a:r>
              <a:rPr lang="en-US" b="1" dirty="0"/>
              <a:t>(House h) {        </a:t>
            </a:r>
            <a:r>
              <a:rPr lang="en-US" b="1" dirty="0" err="1"/>
              <a:t>houses.add</a:t>
            </a:r>
            <a:r>
              <a:rPr lang="en-US" b="1" dirty="0"/>
              <a:t>(h);    }    public void </a:t>
            </a:r>
            <a:r>
              <a:rPr lang="en-US" b="1" dirty="0" err="1"/>
              <a:t>monitorHousing</a:t>
            </a:r>
            <a:r>
              <a:rPr lang="en-US" b="1" dirty="0"/>
              <a:t>() {        </a:t>
            </a:r>
            <a:r>
              <a:rPr lang="en-US" b="1" dirty="0" err="1"/>
              <a:t>System.out.println</a:t>
            </a:r>
            <a:r>
              <a:rPr lang="en-US" b="1" dirty="0"/>
              <a:t>("Monitoring housing allocation...");        for (House h : houses) {            if (</a:t>
            </a:r>
            <a:r>
              <a:rPr lang="en-US" b="1" dirty="0" err="1"/>
              <a:t>h.allocatedTo</a:t>
            </a:r>
            <a:r>
              <a:rPr lang="en-US" b="1" dirty="0"/>
              <a:t> != null) {                </a:t>
            </a:r>
            <a:r>
              <a:rPr lang="en-US" b="1" dirty="0" err="1"/>
              <a:t>System.out.println</a:t>
            </a:r>
            <a:r>
              <a:rPr lang="en-US" b="1" dirty="0"/>
              <a:t>("House " + </a:t>
            </a:r>
            <a:r>
              <a:rPr lang="en-US" b="1" dirty="0" err="1"/>
              <a:t>h.houseId</a:t>
            </a:r>
            <a:r>
              <a:rPr lang="en-US" b="1" dirty="0"/>
              <a:t> + " allocated to " + h.allocatedTo.name);            }        }    }}// Main method to simulate </a:t>
            </a:r>
            <a:r>
              <a:rPr lang="en-US" b="1" dirty="0" err="1"/>
              <a:t>scenariopublic</a:t>
            </a:r>
            <a:r>
              <a:rPr lang="en-US" b="1" dirty="0"/>
              <a:t> class </a:t>
            </a:r>
            <a:r>
              <a:rPr lang="en-US" b="1" dirty="0" err="1"/>
              <a:t>DUMSSystem</a:t>
            </a:r>
            <a:r>
              <a:rPr lang="en-US" b="1" dirty="0"/>
              <a:t> {    public static void main(String[] </a:t>
            </a:r>
            <a:r>
              <a:rPr lang="en-US" b="1" dirty="0" err="1"/>
              <a:t>args</a:t>
            </a:r>
            <a:r>
              <a:rPr lang="en-US" b="1" dirty="0"/>
              <a:t>) {        </a:t>
            </a:r>
            <a:r>
              <a:rPr lang="en-US" b="1" dirty="0" err="1"/>
              <a:t>CityAuthoritySystem</a:t>
            </a:r>
            <a:r>
              <a:rPr lang="en-US" b="1" dirty="0"/>
              <a:t> city = new </a:t>
            </a:r>
            <a:r>
              <a:rPr lang="en-US" b="1" dirty="0" err="1"/>
              <a:t>CityAuthoritySystem</a:t>
            </a:r>
            <a:r>
              <a:rPr lang="en-US" b="1" dirty="0"/>
              <a:t>();        // Create houses        </a:t>
            </a:r>
            <a:r>
              <a:rPr lang="en-US" b="1" dirty="0" err="1"/>
              <a:t>city.addHouse</a:t>
            </a:r>
            <a:r>
              <a:rPr lang="en-US" b="1" dirty="0"/>
              <a:t>(new House(1, "Gulshan", 1200));        </a:t>
            </a:r>
            <a:r>
              <a:rPr lang="en-US" b="1" dirty="0" err="1"/>
              <a:t>city.addHouse</a:t>
            </a:r>
            <a:r>
              <a:rPr lang="en-US" b="1" dirty="0"/>
              <a:t>(new House(2, "Banani", 900));        // Create citizens        Citizen </a:t>
            </a:r>
            <a:r>
              <a:rPr lang="en-US" b="1" dirty="0" err="1"/>
              <a:t>rahim</a:t>
            </a:r>
            <a:r>
              <a:rPr lang="en-US" b="1" dirty="0"/>
              <a:t> = new Citizen(101, "Rahim", 15000, 4, "Old Dhaka");        </a:t>
            </a:r>
            <a:r>
              <a:rPr lang="en-US" b="1" dirty="0" err="1"/>
              <a:t>city.addCitizen</a:t>
            </a:r>
            <a:r>
              <a:rPr lang="en-US" b="1" dirty="0"/>
              <a:t>(</a:t>
            </a:r>
            <a:r>
              <a:rPr lang="en-US" b="1" dirty="0" err="1"/>
              <a:t>rahim</a:t>
            </a:r>
            <a:r>
              <a:rPr lang="en-US" b="1" dirty="0"/>
              <a:t>);        </a:t>
            </a:r>
            <a:r>
              <a:rPr lang="en-US" b="1" dirty="0" err="1"/>
              <a:t>HousingAuthority</a:t>
            </a:r>
            <a:r>
              <a:rPr lang="en-US" b="1" dirty="0"/>
              <a:t> ha = new </a:t>
            </a:r>
            <a:r>
              <a:rPr lang="en-US" b="1" dirty="0" err="1"/>
              <a:t>HousingAuthority</a:t>
            </a:r>
            <a:r>
              <a:rPr lang="en-US" b="1" dirty="0"/>
              <a:t>(1, "Dhaka Housing Authority");        // Citizen applies for housing        </a:t>
            </a:r>
            <a:r>
              <a:rPr lang="en-US" b="1" dirty="0" err="1"/>
              <a:t>rahim.applyHousing</a:t>
            </a:r>
            <a:r>
              <a:rPr lang="en-US" b="1" dirty="0"/>
              <a:t>(ha, city);        // Monitor allocations        </a:t>
            </a:r>
            <a:r>
              <a:rPr lang="en-US" b="1" dirty="0" err="1"/>
              <a:t>city.monitorHousing</a:t>
            </a:r>
            <a:r>
              <a:rPr lang="en-US" b="1" dirty="0"/>
              <a:t>();    }}</a:t>
            </a:r>
            <a:endParaRPr lang="en-US" dirty="0"/>
          </a:p>
        </p:txBody>
      </p:sp>
      <p:sp>
        <p:nvSpPr>
          <p:cNvPr id="4" name="Slide Number Placeholder 3">
            <a:extLst>
              <a:ext uri="{FF2B5EF4-FFF2-40B4-BE49-F238E27FC236}">
                <a16:creationId xmlns:a16="http://schemas.microsoft.com/office/drawing/2014/main" id="{B1B950C7-2A8B-79B3-D6E1-A50560D64403}"/>
              </a:ext>
            </a:extLst>
          </p:cNvPr>
          <p:cNvSpPr>
            <a:spLocks noGrp="1"/>
          </p:cNvSpPr>
          <p:nvPr>
            <p:ph type="sldNum" sz="quarter" idx="5"/>
          </p:nvPr>
        </p:nvSpPr>
        <p:spPr/>
        <p:txBody>
          <a:bodyPr/>
          <a:lstStyle/>
          <a:p>
            <a:fld id="{93211DCF-9C25-4121-98B8-1A71B48A30E8}" type="slidenum">
              <a:rPr lang="en-US" smtClean="0"/>
              <a:t>21</a:t>
            </a:fld>
            <a:endParaRPr lang="en-US"/>
          </a:p>
        </p:txBody>
      </p:sp>
    </p:spTree>
    <p:extLst>
      <p:ext uri="{BB962C8B-B14F-4D97-AF65-F5344CB8AC3E}">
        <p14:creationId xmlns:p14="http://schemas.microsoft.com/office/powerpoint/2010/main" val="3916798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F09A6-D920-FDFB-2EDC-7515E000E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B0DC7-9938-C228-5F87-A024962D08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56412-218B-A813-4DA3-EC7DA3591ACD}"/>
              </a:ext>
            </a:extLst>
          </p:cNvPr>
          <p:cNvSpPr>
            <a:spLocks noGrp="1"/>
          </p:cNvSpPr>
          <p:nvPr>
            <p:ph type="body" idx="1"/>
          </p:nvPr>
        </p:nvSpPr>
        <p:spPr/>
        <p:txBody>
          <a:bodyPr/>
          <a:lstStyle/>
          <a:p>
            <a:pPr>
              <a:buNone/>
            </a:pPr>
            <a:r>
              <a:rPr lang="en-US" b="1" dirty="0"/>
              <a:t>import </a:t>
            </a:r>
            <a:r>
              <a:rPr lang="en-US" b="1" dirty="0" err="1"/>
              <a:t>java.util</a:t>
            </a:r>
            <a:r>
              <a:rPr lang="en-US" b="1" dirty="0"/>
              <a:t>.*;class Citizen {    int </a:t>
            </a:r>
            <a:r>
              <a:rPr lang="en-US" b="1" dirty="0" err="1"/>
              <a:t>citizenId</a:t>
            </a:r>
            <a:r>
              <a:rPr lang="en-US" b="1" dirty="0"/>
              <a:t>;    String name;    double income;    int </a:t>
            </a:r>
            <a:r>
              <a:rPr lang="en-US" b="1" dirty="0" err="1"/>
              <a:t>familySize</a:t>
            </a:r>
            <a:r>
              <a:rPr lang="en-US" b="1" dirty="0"/>
              <a:t>;    String address;    public Citizen(int id, String name, double income, int </a:t>
            </a:r>
            <a:r>
              <a:rPr lang="en-US" b="1" dirty="0" err="1"/>
              <a:t>familySize</a:t>
            </a:r>
            <a:r>
              <a:rPr lang="en-US" b="1" dirty="0"/>
              <a:t>, String address) {        </a:t>
            </a:r>
            <a:r>
              <a:rPr lang="en-US" b="1" dirty="0" err="1"/>
              <a:t>this.citizenId</a:t>
            </a:r>
            <a:r>
              <a:rPr lang="en-US" b="1" dirty="0"/>
              <a:t> = id;        this.name = name;        </a:t>
            </a:r>
            <a:r>
              <a:rPr lang="en-US" b="1" dirty="0" err="1"/>
              <a:t>this.income</a:t>
            </a:r>
            <a:r>
              <a:rPr lang="en-US" b="1" dirty="0"/>
              <a:t> = income;        </a:t>
            </a:r>
            <a:r>
              <a:rPr lang="en-US" b="1" dirty="0" err="1"/>
              <a:t>this.familySize</a:t>
            </a:r>
            <a:r>
              <a:rPr lang="en-US" b="1" dirty="0"/>
              <a:t> = </a:t>
            </a:r>
            <a:r>
              <a:rPr lang="en-US" b="1" dirty="0" err="1"/>
              <a:t>familySize</a:t>
            </a:r>
            <a:r>
              <a:rPr lang="en-US" b="1" dirty="0"/>
              <a:t>;        </a:t>
            </a:r>
            <a:r>
              <a:rPr lang="en-US" b="1" dirty="0" err="1"/>
              <a:t>this.address</a:t>
            </a:r>
            <a:r>
              <a:rPr lang="en-US" b="1" dirty="0"/>
              <a:t> = address;    }    public void </a:t>
            </a:r>
            <a:r>
              <a:rPr lang="en-US" b="1" dirty="0" err="1"/>
              <a:t>applyHousing</a:t>
            </a:r>
            <a:r>
              <a:rPr lang="en-US" b="1" dirty="0"/>
              <a:t>(</a:t>
            </a:r>
            <a:r>
              <a:rPr lang="en-US" b="1" dirty="0" err="1"/>
              <a:t>HousingAuthority</a:t>
            </a:r>
            <a:r>
              <a:rPr lang="en-US" b="1" dirty="0"/>
              <a:t> ha, </a:t>
            </a:r>
            <a:r>
              <a:rPr lang="en-US" b="1" dirty="0" err="1"/>
              <a:t>CityAuthoritySystem</a:t>
            </a:r>
            <a:r>
              <a:rPr lang="en-US" b="1" dirty="0"/>
              <a:t> city) {        </a:t>
            </a:r>
            <a:r>
              <a:rPr lang="en-US" b="1" dirty="0" err="1"/>
              <a:t>System.out.println</a:t>
            </a:r>
            <a:r>
              <a:rPr lang="en-US" b="1" dirty="0"/>
              <a:t>(name + " applied for housing.");        </a:t>
            </a:r>
            <a:r>
              <a:rPr lang="en-US" b="1" dirty="0" err="1"/>
              <a:t>ha.reviewApplication</a:t>
            </a:r>
            <a:r>
              <a:rPr lang="en-US" b="1" dirty="0"/>
              <a:t>(this, city);    }    public void </a:t>
            </a:r>
            <a:r>
              <a:rPr lang="en-US" b="1" dirty="0" err="1"/>
              <a:t>reportGarbage</a:t>
            </a:r>
            <a:r>
              <a:rPr lang="en-US" b="1" dirty="0"/>
              <a:t>(String location) {        </a:t>
            </a:r>
            <a:r>
              <a:rPr lang="en-US" b="1" dirty="0" err="1"/>
              <a:t>System.out.println</a:t>
            </a:r>
            <a:r>
              <a:rPr lang="en-US" b="1" dirty="0"/>
              <a:t>(name + " reported garbage at: " + location);    }    public void </a:t>
            </a:r>
            <a:r>
              <a:rPr lang="en-US" b="1" dirty="0" err="1"/>
              <a:t>reportTraffic</a:t>
            </a:r>
            <a:r>
              <a:rPr lang="en-US" b="1" dirty="0"/>
              <a:t>(String location) {        </a:t>
            </a:r>
            <a:r>
              <a:rPr lang="en-US" b="1" dirty="0" err="1"/>
              <a:t>System.out.println</a:t>
            </a:r>
            <a:r>
              <a:rPr lang="en-US" b="1" dirty="0"/>
              <a:t>(name + " reported traffic issue at: " + location);    }}class House {    int </a:t>
            </a:r>
            <a:r>
              <a:rPr lang="en-US" b="1" dirty="0" err="1"/>
              <a:t>houseId</a:t>
            </a:r>
            <a:r>
              <a:rPr lang="en-US" b="1" dirty="0"/>
              <a:t>;    String location;    int size;    Citizen </a:t>
            </a:r>
            <a:r>
              <a:rPr lang="en-US" b="1" dirty="0" err="1"/>
              <a:t>allocatedTo</a:t>
            </a:r>
            <a:r>
              <a:rPr lang="en-US" b="1" dirty="0"/>
              <a:t>;    public House(int id, String loc, int size) {        </a:t>
            </a:r>
            <a:r>
              <a:rPr lang="en-US" b="1" dirty="0" err="1"/>
              <a:t>this.houseId</a:t>
            </a:r>
            <a:r>
              <a:rPr lang="en-US" b="1" dirty="0"/>
              <a:t> = id;        </a:t>
            </a:r>
            <a:r>
              <a:rPr lang="en-US" b="1" dirty="0" err="1"/>
              <a:t>this.location</a:t>
            </a:r>
            <a:r>
              <a:rPr lang="en-US" b="1" dirty="0"/>
              <a:t> = loc;        </a:t>
            </a:r>
            <a:r>
              <a:rPr lang="en-US" b="1" dirty="0" err="1"/>
              <a:t>this.size</a:t>
            </a:r>
            <a:r>
              <a:rPr lang="en-US" b="1" dirty="0"/>
              <a:t> = size;    }    public void </a:t>
            </a:r>
            <a:r>
              <a:rPr lang="en-US" b="1" dirty="0" err="1"/>
              <a:t>assignCitizen</a:t>
            </a:r>
            <a:r>
              <a:rPr lang="en-US" b="1" dirty="0"/>
              <a:t>(Citizen c) {        </a:t>
            </a:r>
            <a:r>
              <a:rPr lang="en-US" b="1" dirty="0" err="1"/>
              <a:t>this.allocatedTo</a:t>
            </a:r>
            <a:r>
              <a:rPr lang="en-US" b="1" dirty="0"/>
              <a:t> = c;        </a:t>
            </a:r>
            <a:r>
              <a:rPr lang="en-US" b="1" dirty="0" err="1"/>
              <a:t>System.out.println</a:t>
            </a:r>
            <a:r>
              <a:rPr lang="en-US" b="1" dirty="0"/>
              <a:t>("House " + </a:t>
            </a:r>
            <a:r>
              <a:rPr lang="en-US" b="1" dirty="0" err="1"/>
              <a:t>houseId</a:t>
            </a:r>
            <a:r>
              <a:rPr lang="en-US" b="1" dirty="0"/>
              <a:t> + " assigned to " + c.name);    }}class </a:t>
            </a:r>
            <a:r>
              <a:rPr lang="en-US" b="1" dirty="0" err="1"/>
              <a:t>HousingAuthority</a:t>
            </a:r>
            <a:r>
              <a:rPr lang="en-US" b="1" dirty="0"/>
              <a:t> {    int </a:t>
            </a:r>
            <a:r>
              <a:rPr lang="en-US" b="1" dirty="0" err="1"/>
              <a:t>authorityId</a:t>
            </a:r>
            <a:r>
              <a:rPr lang="en-US" b="1" dirty="0"/>
              <a:t>;    String name;    public </a:t>
            </a:r>
            <a:r>
              <a:rPr lang="en-US" b="1" dirty="0" err="1"/>
              <a:t>HousingAuthority</a:t>
            </a:r>
            <a:r>
              <a:rPr lang="en-US" b="1" dirty="0"/>
              <a:t>(int id, String name) {        </a:t>
            </a:r>
            <a:r>
              <a:rPr lang="en-US" b="1" dirty="0" err="1"/>
              <a:t>this.authorityId</a:t>
            </a:r>
            <a:r>
              <a:rPr lang="en-US" b="1" dirty="0"/>
              <a:t> = id;        this.name = name;    }    public void </a:t>
            </a:r>
            <a:r>
              <a:rPr lang="en-US" b="1" dirty="0" err="1"/>
              <a:t>reviewApplication</a:t>
            </a:r>
            <a:r>
              <a:rPr lang="en-US" b="1" dirty="0"/>
              <a:t>(Citizen c, </a:t>
            </a:r>
            <a:r>
              <a:rPr lang="en-US" b="1" dirty="0" err="1"/>
              <a:t>CityAuthoritySystem</a:t>
            </a:r>
            <a:r>
              <a:rPr lang="en-US" b="1" dirty="0"/>
              <a:t> city) {        </a:t>
            </a:r>
            <a:r>
              <a:rPr lang="en-US" b="1" dirty="0" err="1"/>
              <a:t>System.out.println</a:t>
            </a:r>
            <a:r>
              <a:rPr lang="en-US" b="1" dirty="0"/>
              <a:t>("Housing Authority reviewing application of " + c.name);        // Simple allocation logic: pick first available house        for (House h : </a:t>
            </a:r>
            <a:r>
              <a:rPr lang="en-US" b="1" dirty="0" err="1"/>
              <a:t>city.houses</a:t>
            </a:r>
            <a:r>
              <a:rPr lang="en-US" b="1" dirty="0"/>
              <a:t>) {            if (</a:t>
            </a:r>
            <a:r>
              <a:rPr lang="en-US" b="1" dirty="0" err="1"/>
              <a:t>h.allocatedTo</a:t>
            </a:r>
            <a:r>
              <a:rPr lang="en-US" b="1" dirty="0"/>
              <a:t> == null) {                </a:t>
            </a:r>
            <a:r>
              <a:rPr lang="en-US" b="1" dirty="0" err="1"/>
              <a:t>h.assignCitizen</a:t>
            </a:r>
            <a:r>
              <a:rPr lang="en-US" b="1" dirty="0"/>
              <a:t>(c);                break;            }        }    }}class </a:t>
            </a:r>
            <a:r>
              <a:rPr lang="en-US" b="1" dirty="0" err="1"/>
              <a:t>CityAuthoritySystem</a:t>
            </a:r>
            <a:r>
              <a:rPr lang="en-US" b="1" dirty="0"/>
              <a:t> {    List&lt;Citizen&gt; citizens = new </a:t>
            </a:r>
            <a:r>
              <a:rPr lang="en-US" b="1" dirty="0" err="1"/>
              <a:t>ArrayList</a:t>
            </a:r>
            <a:r>
              <a:rPr lang="en-US" b="1" dirty="0"/>
              <a:t>&lt;&gt;();    List&lt;House&gt; houses = new </a:t>
            </a:r>
            <a:r>
              <a:rPr lang="en-US" b="1" dirty="0" err="1"/>
              <a:t>ArrayList</a:t>
            </a:r>
            <a:r>
              <a:rPr lang="en-US" b="1" dirty="0"/>
              <a:t>&lt;&gt;();    public void </a:t>
            </a:r>
            <a:r>
              <a:rPr lang="en-US" b="1" dirty="0" err="1"/>
              <a:t>addCitizen</a:t>
            </a:r>
            <a:r>
              <a:rPr lang="en-US" b="1" dirty="0"/>
              <a:t>(Citizen c) {        </a:t>
            </a:r>
            <a:r>
              <a:rPr lang="en-US" b="1" dirty="0" err="1"/>
              <a:t>citizens.add</a:t>
            </a:r>
            <a:r>
              <a:rPr lang="en-US" b="1" dirty="0"/>
              <a:t>(c);    }    public void </a:t>
            </a:r>
            <a:r>
              <a:rPr lang="en-US" b="1" dirty="0" err="1"/>
              <a:t>addHouse</a:t>
            </a:r>
            <a:r>
              <a:rPr lang="en-US" b="1" dirty="0"/>
              <a:t>(House h) {        </a:t>
            </a:r>
            <a:r>
              <a:rPr lang="en-US" b="1" dirty="0" err="1"/>
              <a:t>houses.add</a:t>
            </a:r>
            <a:r>
              <a:rPr lang="en-US" b="1" dirty="0"/>
              <a:t>(h);    }    public void </a:t>
            </a:r>
            <a:r>
              <a:rPr lang="en-US" b="1" dirty="0" err="1"/>
              <a:t>monitorHousing</a:t>
            </a:r>
            <a:r>
              <a:rPr lang="en-US" b="1" dirty="0"/>
              <a:t>() {        </a:t>
            </a:r>
            <a:r>
              <a:rPr lang="en-US" b="1" dirty="0" err="1"/>
              <a:t>System.out.println</a:t>
            </a:r>
            <a:r>
              <a:rPr lang="en-US" b="1" dirty="0"/>
              <a:t>("Monitoring housing allocation...");        for (House h : houses) {            if (</a:t>
            </a:r>
            <a:r>
              <a:rPr lang="en-US" b="1" dirty="0" err="1"/>
              <a:t>h.allocatedTo</a:t>
            </a:r>
            <a:r>
              <a:rPr lang="en-US" b="1" dirty="0"/>
              <a:t> != null) {                </a:t>
            </a:r>
            <a:r>
              <a:rPr lang="en-US" b="1" dirty="0" err="1"/>
              <a:t>System.out.println</a:t>
            </a:r>
            <a:r>
              <a:rPr lang="en-US" b="1" dirty="0"/>
              <a:t>("House " + </a:t>
            </a:r>
            <a:r>
              <a:rPr lang="en-US" b="1" dirty="0" err="1"/>
              <a:t>h.houseId</a:t>
            </a:r>
            <a:r>
              <a:rPr lang="en-US" b="1" dirty="0"/>
              <a:t> + " allocated to " + h.allocatedTo.name);            }        }    }}// Main method to simulate </a:t>
            </a:r>
            <a:r>
              <a:rPr lang="en-US" b="1" dirty="0" err="1"/>
              <a:t>scenariopublic</a:t>
            </a:r>
            <a:r>
              <a:rPr lang="en-US" b="1" dirty="0"/>
              <a:t> class </a:t>
            </a:r>
            <a:r>
              <a:rPr lang="en-US" b="1" dirty="0" err="1"/>
              <a:t>DUMSSystem</a:t>
            </a:r>
            <a:r>
              <a:rPr lang="en-US" b="1" dirty="0"/>
              <a:t> {    public static void main(String[] </a:t>
            </a:r>
            <a:r>
              <a:rPr lang="en-US" b="1" dirty="0" err="1"/>
              <a:t>args</a:t>
            </a:r>
            <a:r>
              <a:rPr lang="en-US" b="1" dirty="0"/>
              <a:t>) {        </a:t>
            </a:r>
            <a:r>
              <a:rPr lang="en-US" b="1" dirty="0" err="1"/>
              <a:t>CityAuthoritySystem</a:t>
            </a:r>
            <a:r>
              <a:rPr lang="en-US" b="1" dirty="0"/>
              <a:t> city = new </a:t>
            </a:r>
            <a:r>
              <a:rPr lang="en-US" b="1" dirty="0" err="1"/>
              <a:t>CityAuthoritySystem</a:t>
            </a:r>
            <a:r>
              <a:rPr lang="en-US" b="1" dirty="0"/>
              <a:t>();        // Create houses        </a:t>
            </a:r>
            <a:r>
              <a:rPr lang="en-US" b="1" dirty="0" err="1"/>
              <a:t>city.addHouse</a:t>
            </a:r>
            <a:r>
              <a:rPr lang="en-US" b="1" dirty="0"/>
              <a:t>(new House(1, "Gulshan", 1200));        </a:t>
            </a:r>
            <a:r>
              <a:rPr lang="en-US" b="1" dirty="0" err="1"/>
              <a:t>city.addHouse</a:t>
            </a:r>
            <a:r>
              <a:rPr lang="en-US" b="1" dirty="0"/>
              <a:t>(new House(2, "Banani", 900));        // Create citizens        Citizen </a:t>
            </a:r>
            <a:r>
              <a:rPr lang="en-US" b="1" dirty="0" err="1"/>
              <a:t>rahim</a:t>
            </a:r>
            <a:r>
              <a:rPr lang="en-US" b="1" dirty="0"/>
              <a:t> = new Citizen(101, "Rahim", 15000, 4, "Old Dhaka");        </a:t>
            </a:r>
            <a:r>
              <a:rPr lang="en-US" b="1" dirty="0" err="1"/>
              <a:t>city.addCitizen</a:t>
            </a:r>
            <a:r>
              <a:rPr lang="en-US" b="1" dirty="0"/>
              <a:t>(</a:t>
            </a:r>
            <a:r>
              <a:rPr lang="en-US" b="1" dirty="0" err="1"/>
              <a:t>rahim</a:t>
            </a:r>
            <a:r>
              <a:rPr lang="en-US" b="1" dirty="0"/>
              <a:t>);        </a:t>
            </a:r>
            <a:r>
              <a:rPr lang="en-US" b="1" dirty="0" err="1"/>
              <a:t>HousingAuthority</a:t>
            </a:r>
            <a:r>
              <a:rPr lang="en-US" b="1" dirty="0"/>
              <a:t> ha = new </a:t>
            </a:r>
            <a:r>
              <a:rPr lang="en-US" b="1" dirty="0" err="1"/>
              <a:t>HousingAuthority</a:t>
            </a:r>
            <a:r>
              <a:rPr lang="en-US" b="1" dirty="0"/>
              <a:t>(1, "Dhaka Housing Authority");        // Citizen applies for housing        </a:t>
            </a:r>
            <a:r>
              <a:rPr lang="en-US" b="1" dirty="0" err="1"/>
              <a:t>rahim.applyHousing</a:t>
            </a:r>
            <a:r>
              <a:rPr lang="en-US" b="1" dirty="0"/>
              <a:t>(ha, city);        // Monitor allocations        </a:t>
            </a:r>
            <a:r>
              <a:rPr lang="en-US" b="1" dirty="0" err="1"/>
              <a:t>city.monitorHousing</a:t>
            </a:r>
            <a:r>
              <a:rPr lang="en-US" b="1" dirty="0"/>
              <a:t>();    }}</a:t>
            </a:r>
            <a:endParaRPr lang="en-US" dirty="0"/>
          </a:p>
        </p:txBody>
      </p:sp>
      <p:sp>
        <p:nvSpPr>
          <p:cNvPr id="4" name="Slide Number Placeholder 3">
            <a:extLst>
              <a:ext uri="{FF2B5EF4-FFF2-40B4-BE49-F238E27FC236}">
                <a16:creationId xmlns:a16="http://schemas.microsoft.com/office/drawing/2014/main" id="{E01D2656-41E8-259B-15A3-5C020A54A5A0}"/>
              </a:ext>
            </a:extLst>
          </p:cNvPr>
          <p:cNvSpPr>
            <a:spLocks noGrp="1"/>
          </p:cNvSpPr>
          <p:nvPr>
            <p:ph type="sldNum" sz="quarter" idx="5"/>
          </p:nvPr>
        </p:nvSpPr>
        <p:spPr/>
        <p:txBody>
          <a:bodyPr/>
          <a:lstStyle/>
          <a:p>
            <a:fld id="{93211DCF-9C25-4121-98B8-1A71B48A30E8}" type="slidenum">
              <a:rPr lang="en-US" smtClean="0"/>
              <a:t>22</a:t>
            </a:fld>
            <a:endParaRPr lang="en-US"/>
          </a:p>
        </p:txBody>
      </p:sp>
    </p:spTree>
    <p:extLst>
      <p:ext uri="{BB962C8B-B14F-4D97-AF65-F5344CB8AC3E}">
        <p14:creationId xmlns:p14="http://schemas.microsoft.com/office/powerpoint/2010/main" val="14308078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65712-529F-3D71-DCA1-C2FCB76FF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1998B-AD4E-AA45-5A89-52EC5358E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B3C63F-3C19-BB9F-3DAD-CCB469B1E4C4}"/>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EDD407FB-E19B-CF57-A581-591A0BACF33A}"/>
              </a:ext>
            </a:extLst>
          </p:cNvPr>
          <p:cNvSpPr>
            <a:spLocks noGrp="1"/>
          </p:cNvSpPr>
          <p:nvPr>
            <p:ph type="sldNum" sz="quarter" idx="5"/>
          </p:nvPr>
        </p:nvSpPr>
        <p:spPr/>
        <p:txBody>
          <a:bodyPr/>
          <a:lstStyle/>
          <a:p>
            <a:fld id="{93211DCF-9C25-4121-98B8-1A71B48A30E8}" type="slidenum">
              <a:rPr lang="en-US" smtClean="0"/>
              <a:t>23</a:t>
            </a:fld>
            <a:endParaRPr lang="en-US"/>
          </a:p>
        </p:txBody>
      </p:sp>
    </p:spTree>
    <p:extLst>
      <p:ext uri="{BB962C8B-B14F-4D97-AF65-F5344CB8AC3E}">
        <p14:creationId xmlns:p14="http://schemas.microsoft.com/office/powerpoint/2010/main" val="1045225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FB035-89FF-CD63-D7A0-57B375801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026BD-537A-4BAE-0CE3-BE39A6427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7A77A-89F5-8DAC-40B8-CA4AE0C84875}"/>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9DD536DD-B79F-5A1A-947A-6247FDE81557}"/>
              </a:ext>
            </a:extLst>
          </p:cNvPr>
          <p:cNvSpPr>
            <a:spLocks noGrp="1"/>
          </p:cNvSpPr>
          <p:nvPr>
            <p:ph type="sldNum" sz="quarter" idx="5"/>
          </p:nvPr>
        </p:nvSpPr>
        <p:spPr/>
        <p:txBody>
          <a:bodyPr/>
          <a:lstStyle/>
          <a:p>
            <a:fld id="{93211DCF-9C25-4121-98B8-1A71B48A30E8}" type="slidenum">
              <a:rPr lang="en-US" smtClean="0"/>
              <a:t>24</a:t>
            </a:fld>
            <a:endParaRPr lang="en-US"/>
          </a:p>
        </p:txBody>
      </p:sp>
    </p:spTree>
    <p:extLst>
      <p:ext uri="{BB962C8B-B14F-4D97-AF65-F5344CB8AC3E}">
        <p14:creationId xmlns:p14="http://schemas.microsoft.com/office/powerpoint/2010/main" val="21539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5EA64-3336-728A-2D7D-ADBA8462C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2FDED-7CB5-0AB8-311A-585F2231F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AD4BB-CB90-B687-6093-50F9E73E7B3C}"/>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BFAFDAB5-3022-3216-15EF-9E0802ADBD3D}"/>
              </a:ext>
            </a:extLst>
          </p:cNvPr>
          <p:cNvSpPr>
            <a:spLocks noGrp="1"/>
          </p:cNvSpPr>
          <p:nvPr>
            <p:ph type="sldNum" sz="quarter" idx="5"/>
          </p:nvPr>
        </p:nvSpPr>
        <p:spPr/>
        <p:txBody>
          <a:bodyPr/>
          <a:lstStyle/>
          <a:p>
            <a:fld id="{93211DCF-9C25-4121-98B8-1A71B48A30E8}" type="slidenum">
              <a:rPr lang="en-US" smtClean="0"/>
              <a:t>25</a:t>
            </a:fld>
            <a:endParaRPr lang="en-US"/>
          </a:p>
        </p:txBody>
      </p:sp>
    </p:spTree>
    <p:extLst>
      <p:ext uri="{BB962C8B-B14F-4D97-AF65-F5344CB8AC3E}">
        <p14:creationId xmlns:p14="http://schemas.microsoft.com/office/powerpoint/2010/main" val="29383178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26</a:t>
            </a:fld>
            <a:endParaRPr lang="en-US"/>
          </a:p>
        </p:txBody>
      </p:sp>
    </p:spTree>
    <p:extLst>
      <p:ext uri="{BB962C8B-B14F-4D97-AF65-F5344CB8AC3E}">
        <p14:creationId xmlns:p14="http://schemas.microsoft.com/office/powerpoint/2010/main" val="3504553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CCF9A-6C3F-0E21-66B0-C4CF0B253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A07D8-DB6A-2B3A-4AB3-6A26D6C46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9A307-2D7E-71DD-392A-256F41D975C0}"/>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5D7992A9-A8A2-9333-4FB3-726367863AA6}"/>
              </a:ext>
            </a:extLst>
          </p:cNvPr>
          <p:cNvSpPr>
            <a:spLocks noGrp="1"/>
          </p:cNvSpPr>
          <p:nvPr>
            <p:ph type="sldNum" sz="quarter" idx="5"/>
          </p:nvPr>
        </p:nvSpPr>
        <p:spPr/>
        <p:txBody>
          <a:bodyPr/>
          <a:lstStyle/>
          <a:p>
            <a:fld id="{93211DCF-9C25-4121-98B8-1A71B48A30E8}" type="slidenum">
              <a:rPr lang="en-US" smtClean="0"/>
              <a:t>27</a:t>
            </a:fld>
            <a:endParaRPr lang="en-US"/>
          </a:p>
        </p:txBody>
      </p:sp>
    </p:spTree>
    <p:extLst>
      <p:ext uri="{BB962C8B-B14F-4D97-AF65-F5344CB8AC3E}">
        <p14:creationId xmlns:p14="http://schemas.microsoft.com/office/powerpoint/2010/main" val="5629712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ABBA9-E552-2CDE-B99A-0964D92F8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09E0A-06BF-25CF-7862-8541F0544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C7477-16F5-BA14-CAFC-A0233C95A2D8}"/>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6D4B12EA-CBF0-6001-21A3-CE744033CBF4}"/>
              </a:ext>
            </a:extLst>
          </p:cNvPr>
          <p:cNvSpPr>
            <a:spLocks noGrp="1"/>
          </p:cNvSpPr>
          <p:nvPr>
            <p:ph type="sldNum" sz="quarter" idx="5"/>
          </p:nvPr>
        </p:nvSpPr>
        <p:spPr/>
        <p:txBody>
          <a:bodyPr/>
          <a:lstStyle/>
          <a:p>
            <a:fld id="{93211DCF-9C25-4121-98B8-1A71B48A30E8}" type="slidenum">
              <a:rPr lang="en-US" smtClean="0"/>
              <a:t>28</a:t>
            </a:fld>
            <a:endParaRPr lang="en-US"/>
          </a:p>
        </p:txBody>
      </p:sp>
    </p:spTree>
    <p:extLst>
      <p:ext uri="{BB962C8B-B14F-4D97-AF65-F5344CB8AC3E}">
        <p14:creationId xmlns:p14="http://schemas.microsoft.com/office/powerpoint/2010/main" val="2603030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6A466-96F7-0888-C030-0008177BD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99094-27DE-9F13-89AC-A932AE4D9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5879B-F2E7-EED0-4985-7CF83786B982}"/>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20B4AB49-4C27-FA85-371D-3B709FF19C59}"/>
              </a:ext>
            </a:extLst>
          </p:cNvPr>
          <p:cNvSpPr>
            <a:spLocks noGrp="1"/>
          </p:cNvSpPr>
          <p:nvPr>
            <p:ph type="sldNum" sz="quarter" idx="5"/>
          </p:nvPr>
        </p:nvSpPr>
        <p:spPr/>
        <p:txBody>
          <a:bodyPr/>
          <a:lstStyle/>
          <a:p>
            <a:fld id="{93211DCF-9C25-4121-98B8-1A71B48A30E8}" type="slidenum">
              <a:rPr lang="en-US" smtClean="0"/>
              <a:t>29</a:t>
            </a:fld>
            <a:endParaRPr lang="en-US"/>
          </a:p>
        </p:txBody>
      </p:sp>
    </p:spTree>
    <p:extLst>
      <p:ext uri="{BB962C8B-B14F-4D97-AF65-F5344CB8AC3E}">
        <p14:creationId xmlns:p14="http://schemas.microsoft.com/office/powerpoint/2010/main" val="2781065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9A464-A595-FFE9-A90F-777D5EF32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75B98-42DD-856D-0EA8-0FC45225F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BE4AC-F827-D316-0875-0526F0A97972}"/>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98959071-C74D-3FAE-F168-08BD0C1F011D}"/>
              </a:ext>
            </a:extLst>
          </p:cNvPr>
          <p:cNvSpPr>
            <a:spLocks noGrp="1"/>
          </p:cNvSpPr>
          <p:nvPr>
            <p:ph type="sldNum" sz="quarter" idx="5"/>
          </p:nvPr>
        </p:nvSpPr>
        <p:spPr/>
        <p:txBody>
          <a:bodyPr/>
          <a:lstStyle/>
          <a:p>
            <a:fld id="{93211DCF-9C25-4121-98B8-1A71B48A30E8}" type="slidenum">
              <a:rPr lang="en-US" smtClean="0"/>
              <a:t>30</a:t>
            </a:fld>
            <a:endParaRPr lang="en-US"/>
          </a:p>
        </p:txBody>
      </p:sp>
    </p:spTree>
    <p:extLst>
      <p:ext uri="{BB962C8B-B14F-4D97-AF65-F5344CB8AC3E}">
        <p14:creationId xmlns:p14="http://schemas.microsoft.com/office/powerpoint/2010/main" val="6556892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A698B-4D26-6BB4-843F-6B632CDD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38455-D98D-50DF-FBE0-A94C2A725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4A0D2A-AA61-DB88-A660-716A2A3B4BC7}"/>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9027F4AB-319B-09FB-9EDF-3C7955314ACF}"/>
              </a:ext>
            </a:extLst>
          </p:cNvPr>
          <p:cNvSpPr>
            <a:spLocks noGrp="1"/>
          </p:cNvSpPr>
          <p:nvPr>
            <p:ph type="sldNum" sz="quarter" idx="5"/>
          </p:nvPr>
        </p:nvSpPr>
        <p:spPr/>
        <p:txBody>
          <a:bodyPr/>
          <a:lstStyle/>
          <a:p>
            <a:fld id="{93211DCF-9C25-4121-98B8-1A71B48A30E8}" type="slidenum">
              <a:rPr lang="en-US" smtClean="0"/>
              <a:t>31</a:t>
            </a:fld>
            <a:endParaRPr lang="en-US"/>
          </a:p>
        </p:txBody>
      </p:sp>
    </p:spTree>
    <p:extLst>
      <p:ext uri="{BB962C8B-B14F-4D97-AF65-F5344CB8AC3E}">
        <p14:creationId xmlns:p14="http://schemas.microsoft.com/office/powerpoint/2010/main" val="529972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D3BF8-C2EA-FB4C-A53E-573682E6B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7F495-618A-CEF8-EDB8-444D158274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27027-2D43-B180-8E58-FCE2A864D833}"/>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A40D542E-14F9-BF0C-44E2-C2968B2FDF4E}"/>
              </a:ext>
            </a:extLst>
          </p:cNvPr>
          <p:cNvSpPr>
            <a:spLocks noGrp="1"/>
          </p:cNvSpPr>
          <p:nvPr>
            <p:ph type="sldNum" sz="quarter" idx="5"/>
          </p:nvPr>
        </p:nvSpPr>
        <p:spPr/>
        <p:txBody>
          <a:bodyPr/>
          <a:lstStyle/>
          <a:p>
            <a:fld id="{93211DCF-9C25-4121-98B8-1A71B48A30E8}" type="slidenum">
              <a:rPr lang="en-US" smtClean="0"/>
              <a:t>32</a:t>
            </a:fld>
            <a:endParaRPr lang="en-US"/>
          </a:p>
        </p:txBody>
      </p:sp>
    </p:spTree>
    <p:extLst>
      <p:ext uri="{BB962C8B-B14F-4D97-AF65-F5344CB8AC3E}">
        <p14:creationId xmlns:p14="http://schemas.microsoft.com/office/powerpoint/2010/main" val="40620876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23D08-4155-93F1-003B-6B11E7C52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B1044-5172-ECC5-0F50-019534043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0F6D2-95C1-D9EA-6079-F81107A46124}"/>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FAA0DEA0-D34F-8BD0-B92D-90D62A803A5C}"/>
              </a:ext>
            </a:extLst>
          </p:cNvPr>
          <p:cNvSpPr>
            <a:spLocks noGrp="1"/>
          </p:cNvSpPr>
          <p:nvPr>
            <p:ph type="sldNum" sz="quarter" idx="5"/>
          </p:nvPr>
        </p:nvSpPr>
        <p:spPr/>
        <p:txBody>
          <a:bodyPr/>
          <a:lstStyle/>
          <a:p>
            <a:fld id="{93211DCF-9C25-4121-98B8-1A71B48A30E8}" type="slidenum">
              <a:rPr lang="en-US" smtClean="0"/>
              <a:t>33</a:t>
            </a:fld>
            <a:endParaRPr lang="en-US"/>
          </a:p>
        </p:txBody>
      </p:sp>
    </p:spTree>
    <p:extLst>
      <p:ext uri="{BB962C8B-B14F-4D97-AF65-F5344CB8AC3E}">
        <p14:creationId xmlns:p14="http://schemas.microsoft.com/office/powerpoint/2010/main" val="32731713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12EA-DAE1-BDD5-1883-BDA8A52D0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821BE-B675-8208-3889-9D4FC1AFE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3D12BC-211A-BF4E-E8AB-470948988097}"/>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884BB4BB-84D3-8B11-7349-0D9DCAF273E0}"/>
              </a:ext>
            </a:extLst>
          </p:cNvPr>
          <p:cNvSpPr>
            <a:spLocks noGrp="1"/>
          </p:cNvSpPr>
          <p:nvPr>
            <p:ph type="sldNum" sz="quarter" idx="5"/>
          </p:nvPr>
        </p:nvSpPr>
        <p:spPr/>
        <p:txBody>
          <a:bodyPr/>
          <a:lstStyle/>
          <a:p>
            <a:fld id="{93211DCF-9C25-4121-98B8-1A71B48A30E8}" type="slidenum">
              <a:rPr lang="en-US" smtClean="0"/>
              <a:t>34</a:t>
            </a:fld>
            <a:endParaRPr lang="en-US"/>
          </a:p>
        </p:txBody>
      </p:sp>
    </p:spTree>
    <p:extLst>
      <p:ext uri="{BB962C8B-B14F-4D97-AF65-F5344CB8AC3E}">
        <p14:creationId xmlns:p14="http://schemas.microsoft.com/office/powerpoint/2010/main" val="9952289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Dhaka Urban Management System (Citizen, </a:t>
            </a:r>
            <a:r>
              <a:rPr lang="en-US" sz="1200" dirty="0" err="1">
                <a:solidFill>
                  <a:schemeClr val="tx1"/>
                </a:solidFill>
                <a:latin typeface="Times New Roman" panose="02020603050405020304" pitchFamily="18" charset="0"/>
                <a:cs typeface="Times New Roman" panose="02020603050405020304" pitchFamily="18" charset="0"/>
              </a:rPr>
              <a:t>MunicipalService</a:t>
            </a:r>
            <a:r>
              <a:rPr lang="en-US" sz="1200" dirty="0">
                <a:solidFill>
                  <a:schemeClr val="tx1"/>
                </a:solidFill>
                <a:latin typeface="Times New Roman" panose="02020603050405020304" pitchFamily="18" charset="0"/>
                <a:cs typeface="Times New Roman" panose="02020603050405020304" pitchFamily="18" charset="0"/>
              </a:rPr>
              <a:t>,  Complaint) </a:t>
            </a:r>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35</a:t>
            </a:fld>
            <a:endParaRPr lang="en-US"/>
          </a:p>
        </p:txBody>
      </p:sp>
    </p:spTree>
    <p:extLst>
      <p:ext uri="{BB962C8B-B14F-4D97-AF65-F5344CB8AC3E}">
        <p14:creationId xmlns:p14="http://schemas.microsoft.com/office/powerpoint/2010/main" val="3519306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3750A-CEFE-702D-3AC8-F534683CE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99AE7-4179-06DF-164C-91A69B5DC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D4C05-1AB0-933B-676C-33BD55C97B15}"/>
              </a:ext>
            </a:extLst>
          </p:cNvPr>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Dhaka Urban Management System (Citizen, </a:t>
            </a:r>
            <a:r>
              <a:rPr lang="en-US" sz="1200" dirty="0" err="1">
                <a:solidFill>
                  <a:schemeClr val="tx1"/>
                </a:solidFill>
                <a:latin typeface="Times New Roman" panose="02020603050405020304" pitchFamily="18" charset="0"/>
                <a:cs typeface="Times New Roman" panose="02020603050405020304" pitchFamily="18" charset="0"/>
              </a:rPr>
              <a:t>MunicipalService</a:t>
            </a:r>
            <a:r>
              <a:rPr lang="en-US" sz="1200" dirty="0">
                <a:solidFill>
                  <a:schemeClr val="tx1"/>
                </a:solidFill>
                <a:latin typeface="Times New Roman" panose="02020603050405020304" pitchFamily="18" charset="0"/>
                <a:cs typeface="Times New Roman" panose="02020603050405020304" pitchFamily="18" charset="0"/>
              </a:rPr>
              <a:t>,  Complaint) </a:t>
            </a:r>
            <a:endParaRPr kumimoji="1" lang="ja-JP" altLang="en-US" dirty="0"/>
          </a:p>
        </p:txBody>
      </p:sp>
      <p:sp>
        <p:nvSpPr>
          <p:cNvPr id="4" name="Slide Number Placeholder 3">
            <a:extLst>
              <a:ext uri="{FF2B5EF4-FFF2-40B4-BE49-F238E27FC236}">
                <a16:creationId xmlns:a16="http://schemas.microsoft.com/office/drawing/2014/main" id="{1C354FE1-DE6F-DE19-DEC7-01D070F9453A}"/>
              </a:ext>
            </a:extLst>
          </p:cNvPr>
          <p:cNvSpPr>
            <a:spLocks noGrp="1"/>
          </p:cNvSpPr>
          <p:nvPr>
            <p:ph type="sldNum" sz="quarter" idx="5"/>
          </p:nvPr>
        </p:nvSpPr>
        <p:spPr/>
        <p:txBody>
          <a:bodyPr/>
          <a:lstStyle/>
          <a:p>
            <a:fld id="{93211DCF-9C25-4121-98B8-1A71B48A30E8}" type="slidenum">
              <a:rPr lang="en-US" smtClean="0"/>
              <a:t>36</a:t>
            </a:fld>
            <a:endParaRPr lang="en-US"/>
          </a:p>
        </p:txBody>
      </p:sp>
    </p:spTree>
    <p:extLst>
      <p:ext uri="{BB962C8B-B14F-4D97-AF65-F5344CB8AC3E}">
        <p14:creationId xmlns:p14="http://schemas.microsoft.com/office/powerpoint/2010/main" val="314123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678C7-E805-907E-8BF3-D3C82EE7F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5DA9E-3313-D90C-66D3-B6F83E07E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CD767-D062-DD9F-844C-4CDF7854DF92}"/>
              </a:ext>
            </a:extLst>
          </p:cNvPr>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Dhaka Urban Management System (Citizen, </a:t>
            </a:r>
            <a:r>
              <a:rPr lang="en-US" sz="1200" dirty="0" err="1">
                <a:solidFill>
                  <a:schemeClr val="tx1"/>
                </a:solidFill>
                <a:latin typeface="Times New Roman" panose="02020603050405020304" pitchFamily="18" charset="0"/>
                <a:cs typeface="Times New Roman" panose="02020603050405020304" pitchFamily="18" charset="0"/>
              </a:rPr>
              <a:t>MunicipalService</a:t>
            </a:r>
            <a:r>
              <a:rPr lang="en-US" sz="1200" dirty="0">
                <a:solidFill>
                  <a:schemeClr val="tx1"/>
                </a:solidFill>
                <a:latin typeface="Times New Roman" panose="02020603050405020304" pitchFamily="18" charset="0"/>
                <a:cs typeface="Times New Roman" panose="02020603050405020304" pitchFamily="18" charset="0"/>
              </a:rPr>
              <a:t>,  Complaint) </a:t>
            </a:r>
            <a:endParaRPr kumimoji="1" lang="ja-JP" altLang="en-US" dirty="0"/>
          </a:p>
        </p:txBody>
      </p:sp>
      <p:sp>
        <p:nvSpPr>
          <p:cNvPr id="4" name="Slide Number Placeholder 3">
            <a:extLst>
              <a:ext uri="{FF2B5EF4-FFF2-40B4-BE49-F238E27FC236}">
                <a16:creationId xmlns:a16="http://schemas.microsoft.com/office/drawing/2014/main" id="{FF6D586D-6BA9-6C16-4E64-158BD659FC2C}"/>
              </a:ext>
            </a:extLst>
          </p:cNvPr>
          <p:cNvSpPr>
            <a:spLocks noGrp="1"/>
          </p:cNvSpPr>
          <p:nvPr>
            <p:ph type="sldNum" sz="quarter" idx="5"/>
          </p:nvPr>
        </p:nvSpPr>
        <p:spPr/>
        <p:txBody>
          <a:bodyPr/>
          <a:lstStyle/>
          <a:p>
            <a:fld id="{93211DCF-9C25-4121-98B8-1A71B48A30E8}" type="slidenum">
              <a:rPr lang="en-US" smtClean="0"/>
              <a:t>37</a:t>
            </a:fld>
            <a:endParaRPr lang="en-US"/>
          </a:p>
        </p:txBody>
      </p:sp>
    </p:spTree>
    <p:extLst>
      <p:ext uri="{BB962C8B-B14F-4D97-AF65-F5344CB8AC3E}">
        <p14:creationId xmlns:p14="http://schemas.microsoft.com/office/powerpoint/2010/main" val="14286357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8670E-81DE-FE34-5E89-2A258C86F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66C04-B800-4D6B-439A-DED596F17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608F8-9045-7604-F910-CF2900370E71}"/>
              </a:ext>
            </a:extLst>
          </p:cNvPr>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Dhaka Urban Management System (Citizen, </a:t>
            </a:r>
            <a:r>
              <a:rPr lang="en-US" sz="1200" dirty="0" err="1">
                <a:solidFill>
                  <a:schemeClr val="tx1"/>
                </a:solidFill>
                <a:latin typeface="Times New Roman" panose="02020603050405020304" pitchFamily="18" charset="0"/>
                <a:cs typeface="Times New Roman" panose="02020603050405020304" pitchFamily="18" charset="0"/>
              </a:rPr>
              <a:t>MunicipalService</a:t>
            </a:r>
            <a:r>
              <a:rPr lang="en-US" sz="1200" dirty="0">
                <a:solidFill>
                  <a:schemeClr val="tx1"/>
                </a:solidFill>
                <a:latin typeface="Times New Roman" panose="02020603050405020304" pitchFamily="18" charset="0"/>
                <a:cs typeface="Times New Roman" panose="02020603050405020304" pitchFamily="18" charset="0"/>
              </a:rPr>
              <a:t>,  Complaint) </a:t>
            </a:r>
            <a:endParaRPr kumimoji="1" lang="ja-JP" altLang="en-US" dirty="0"/>
          </a:p>
        </p:txBody>
      </p:sp>
      <p:sp>
        <p:nvSpPr>
          <p:cNvPr id="4" name="Slide Number Placeholder 3">
            <a:extLst>
              <a:ext uri="{FF2B5EF4-FFF2-40B4-BE49-F238E27FC236}">
                <a16:creationId xmlns:a16="http://schemas.microsoft.com/office/drawing/2014/main" id="{2B00BDD9-193C-C306-67D1-452575073F4C}"/>
              </a:ext>
            </a:extLst>
          </p:cNvPr>
          <p:cNvSpPr>
            <a:spLocks noGrp="1"/>
          </p:cNvSpPr>
          <p:nvPr>
            <p:ph type="sldNum" sz="quarter" idx="5"/>
          </p:nvPr>
        </p:nvSpPr>
        <p:spPr/>
        <p:txBody>
          <a:bodyPr/>
          <a:lstStyle/>
          <a:p>
            <a:fld id="{93211DCF-9C25-4121-98B8-1A71B48A30E8}" type="slidenum">
              <a:rPr lang="en-US" smtClean="0"/>
              <a:t>38</a:t>
            </a:fld>
            <a:endParaRPr lang="en-US"/>
          </a:p>
        </p:txBody>
      </p:sp>
    </p:spTree>
    <p:extLst>
      <p:ext uri="{BB962C8B-B14F-4D97-AF65-F5344CB8AC3E}">
        <p14:creationId xmlns:p14="http://schemas.microsoft.com/office/powerpoint/2010/main" val="34431738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B25FA-A743-2EBD-0F1E-C7B98562B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D7593-1FC1-2402-F194-2FC89B4A4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EC2E9-A190-A0EE-9820-A543D666410B}"/>
              </a:ext>
            </a:extLst>
          </p:cNvPr>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Dhaka Urban Management System (Citizen, </a:t>
            </a:r>
            <a:r>
              <a:rPr lang="en-US" sz="1200" dirty="0" err="1">
                <a:solidFill>
                  <a:schemeClr val="tx1"/>
                </a:solidFill>
                <a:latin typeface="Times New Roman" panose="02020603050405020304" pitchFamily="18" charset="0"/>
                <a:cs typeface="Times New Roman" panose="02020603050405020304" pitchFamily="18" charset="0"/>
              </a:rPr>
              <a:t>MunicipalService</a:t>
            </a:r>
            <a:r>
              <a:rPr lang="en-US" sz="1200" dirty="0">
                <a:solidFill>
                  <a:schemeClr val="tx1"/>
                </a:solidFill>
                <a:latin typeface="Times New Roman" panose="02020603050405020304" pitchFamily="18" charset="0"/>
                <a:cs typeface="Times New Roman" panose="02020603050405020304" pitchFamily="18" charset="0"/>
              </a:rPr>
              <a:t>,  Complaint) </a:t>
            </a:r>
            <a:endParaRPr kumimoji="1" lang="ja-JP" altLang="en-US" dirty="0"/>
          </a:p>
        </p:txBody>
      </p:sp>
      <p:sp>
        <p:nvSpPr>
          <p:cNvPr id="4" name="Slide Number Placeholder 3">
            <a:extLst>
              <a:ext uri="{FF2B5EF4-FFF2-40B4-BE49-F238E27FC236}">
                <a16:creationId xmlns:a16="http://schemas.microsoft.com/office/drawing/2014/main" id="{8BB1B63F-51C5-B1C2-5FFA-94C0A2F7A5B4}"/>
              </a:ext>
            </a:extLst>
          </p:cNvPr>
          <p:cNvSpPr>
            <a:spLocks noGrp="1"/>
          </p:cNvSpPr>
          <p:nvPr>
            <p:ph type="sldNum" sz="quarter" idx="5"/>
          </p:nvPr>
        </p:nvSpPr>
        <p:spPr/>
        <p:txBody>
          <a:bodyPr/>
          <a:lstStyle/>
          <a:p>
            <a:fld id="{93211DCF-9C25-4121-98B8-1A71B48A30E8}" type="slidenum">
              <a:rPr lang="en-US" smtClean="0"/>
              <a:t>39</a:t>
            </a:fld>
            <a:endParaRPr lang="en-US"/>
          </a:p>
        </p:txBody>
      </p:sp>
    </p:spTree>
    <p:extLst>
      <p:ext uri="{BB962C8B-B14F-4D97-AF65-F5344CB8AC3E}">
        <p14:creationId xmlns:p14="http://schemas.microsoft.com/office/powerpoint/2010/main" val="1939294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1AB80-0BBA-7BE3-F0B5-841B516A3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40CB5-C43B-2E64-C783-D757A5752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EDE9F-1040-544D-FF81-915622AB2D46}"/>
              </a:ext>
            </a:extLst>
          </p:cNvPr>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Dhaka Urban Management System (Citizen, </a:t>
            </a:r>
            <a:r>
              <a:rPr lang="en-US" sz="1200" dirty="0" err="1">
                <a:solidFill>
                  <a:schemeClr val="tx1"/>
                </a:solidFill>
                <a:latin typeface="Times New Roman" panose="02020603050405020304" pitchFamily="18" charset="0"/>
                <a:cs typeface="Times New Roman" panose="02020603050405020304" pitchFamily="18" charset="0"/>
              </a:rPr>
              <a:t>MunicipalService</a:t>
            </a:r>
            <a:r>
              <a:rPr lang="en-US" sz="1200" dirty="0">
                <a:solidFill>
                  <a:schemeClr val="tx1"/>
                </a:solidFill>
                <a:latin typeface="Times New Roman" panose="02020603050405020304" pitchFamily="18" charset="0"/>
                <a:cs typeface="Times New Roman" panose="02020603050405020304" pitchFamily="18" charset="0"/>
              </a:rPr>
              <a:t>,  Complaint) </a:t>
            </a:r>
            <a:endParaRPr kumimoji="1" lang="ja-JP" altLang="en-US" dirty="0"/>
          </a:p>
        </p:txBody>
      </p:sp>
      <p:sp>
        <p:nvSpPr>
          <p:cNvPr id="4" name="Slide Number Placeholder 3">
            <a:extLst>
              <a:ext uri="{FF2B5EF4-FFF2-40B4-BE49-F238E27FC236}">
                <a16:creationId xmlns:a16="http://schemas.microsoft.com/office/drawing/2014/main" id="{9745D02A-651C-C83D-8170-32574A463544}"/>
              </a:ext>
            </a:extLst>
          </p:cNvPr>
          <p:cNvSpPr>
            <a:spLocks noGrp="1"/>
          </p:cNvSpPr>
          <p:nvPr>
            <p:ph type="sldNum" sz="quarter" idx="5"/>
          </p:nvPr>
        </p:nvSpPr>
        <p:spPr/>
        <p:txBody>
          <a:bodyPr/>
          <a:lstStyle/>
          <a:p>
            <a:fld id="{93211DCF-9C25-4121-98B8-1A71B48A30E8}" type="slidenum">
              <a:rPr lang="en-US" smtClean="0"/>
              <a:t>40</a:t>
            </a:fld>
            <a:endParaRPr lang="en-US"/>
          </a:p>
        </p:txBody>
      </p:sp>
    </p:spTree>
    <p:extLst>
      <p:ext uri="{BB962C8B-B14F-4D97-AF65-F5344CB8AC3E}">
        <p14:creationId xmlns:p14="http://schemas.microsoft.com/office/powerpoint/2010/main" val="23962612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tx1"/>
                </a:solidFill>
                <a:latin typeface="Times New Roman" panose="02020603050405020304" pitchFamily="18" charset="0"/>
                <a:cs typeface="Times New Roman" panose="02020603050405020304" pitchFamily="18" charset="0"/>
              </a:rPr>
              <a:t>Dhaka Urban Management System (Citizen, </a:t>
            </a:r>
            <a:r>
              <a:rPr lang="en-US" sz="1200" dirty="0" err="1">
                <a:solidFill>
                  <a:schemeClr val="tx1"/>
                </a:solidFill>
                <a:latin typeface="Times New Roman" panose="02020603050405020304" pitchFamily="18" charset="0"/>
                <a:cs typeface="Times New Roman" panose="02020603050405020304" pitchFamily="18" charset="0"/>
              </a:rPr>
              <a:t>MunicipalService</a:t>
            </a:r>
            <a:r>
              <a:rPr lang="en-US" sz="1200" dirty="0">
                <a:solidFill>
                  <a:schemeClr val="tx1"/>
                </a:solidFill>
                <a:latin typeface="Times New Roman" panose="02020603050405020304" pitchFamily="18" charset="0"/>
                <a:cs typeface="Times New Roman" panose="02020603050405020304" pitchFamily="18" charset="0"/>
              </a:rPr>
              <a:t>,  Complaint) </a:t>
            </a:r>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41</a:t>
            </a:fld>
            <a:endParaRPr lang="en-US"/>
          </a:p>
        </p:txBody>
      </p:sp>
    </p:spTree>
    <p:extLst>
      <p:ext uri="{BB962C8B-B14F-4D97-AF65-F5344CB8AC3E}">
        <p14:creationId xmlns:p14="http://schemas.microsoft.com/office/powerpoint/2010/main" val="7209085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42</a:t>
            </a:fld>
            <a:endParaRPr lang="en-US"/>
          </a:p>
        </p:txBody>
      </p:sp>
    </p:spTree>
    <p:extLst>
      <p:ext uri="{BB962C8B-B14F-4D97-AF65-F5344CB8AC3E}">
        <p14:creationId xmlns:p14="http://schemas.microsoft.com/office/powerpoint/2010/main" val="27338787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43</a:t>
            </a:fld>
            <a:endParaRPr lang="en-US"/>
          </a:p>
        </p:txBody>
      </p:sp>
    </p:spTree>
    <p:extLst>
      <p:ext uri="{BB962C8B-B14F-4D97-AF65-F5344CB8AC3E}">
        <p14:creationId xmlns:p14="http://schemas.microsoft.com/office/powerpoint/2010/main" val="41304076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Example: In a library system:</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Objects: Book, Member, Librarian, Loan.</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Relationships: A Member borrows a Book.</a:t>
            </a:r>
          </a:p>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44</a:t>
            </a:fld>
            <a:endParaRPr lang="en-US"/>
          </a:p>
        </p:txBody>
      </p:sp>
    </p:spTree>
    <p:extLst>
      <p:ext uri="{BB962C8B-B14F-4D97-AF65-F5344CB8AC3E}">
        <p14:creationId xmlns:p14="http://schemas.microsoft.com/office/powerpoint/2010/main" val="18929986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Example: In a library system:</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Objects: Book, Member, Librarian, Loan.</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Relationships: A Member borrows a Book.</a:t>
            </a:r>
          </a:p>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45</a:t>
            </a:fld>
            <a:endParaRPr lang="en-US"/>
          </a:p>
        </p:txBody>
      </p:sp>
    </p:spTree>
    <p:extLst>
      <p:ext uri="{BB962C8B-B14F-4D97-AF65-F5344CB8AC3E}">
        <p14:creationId xmlns:p14="http://schemas.microsoft.com/office/powerpoint/2010/main" val="33275814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Example: In a library system:</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Objects: Book, Member, Librarian, Loan.</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Relationships: A Member borrows a Book.</a:t>
            </a:r>
          </a:p>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46</a:t>
            </a:fld>
            <a:endParaRPr lang="en-US"/>
          </a:p>
        </p:txBody>
      </p:sp>
    </p:spTree>
    <p:extLst>
      <p:ext uri="{BB962C8B-B14F-4D97-AF65-F5344CB8AC3E}">
        <p14:creationId xmlns:p14="http://schemas.microsoft.com/office/powerpoint/2010/main" val="21308305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Example: In a library system:</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Objects: Book, Member, Librarian, Loan.</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Relationships: A Member borrows a Book.</a:t>
            </a:r>
          </a:p>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47</a:t>
            </a:fld>
            <a:endParaRPr lang="en-US"/>
          </a:p>
        </p:txBody>
      </p:sp>
    </p:spTree>
    <p:extLst>
      <p:ext uri="{BB962C8B-B14F-4D97-AF65-F5344CB8AC3E}">
        <p14:creationId xmlns:p14="http://schemas.microsoft.com/office/powerpoint/2010/main" val="2434491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Example: In a library system:</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Objects: Book, Member, Librarian, Loan.</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Relationships: A Member borrows a Book.</a:t>
            </a:r>
          </a:p>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48</a:t>
            </a:fld>
            <a:endParaRPr lang="en-US"/>
          </a:p>
        </p:txBody>
      </p:sp>
    </p:spTree>
    <p:extLst>
      <p:ext uri="{BB962C8B-B14F-4D97-AF65-F5344CB8AC3E}">
        <p14:creationId xmlns:p14="http://schemas.microsoft.com/office/powerpoint/2010/main" val="24203496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49</a:t>
            </a:fld>
            <a:endParaRPr lang="en-US"/>
          </a:p>
        </p:txBody>
      </p:sp>
    </p:spTree>
    <p:extLst>
      <p:ext uri="{BB962C8B-B14F-4D97-AF65-F5344CB8AC3E}">
        <p14:creationId xmlns:p14="http://schemas.microsoft.com/office/powerpoint/2010/main" val="12792033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50</a:t>
            </a:fld>
            <a:endParaRPr lang="en-US"/>
          </a:p>
        </p:txBody>
      </p:sp>
    </p:spTree>
    <p:extLst>
      <p:ext uri="{BB962C8B-B14F-4D97-AF65-F5344CB8AC3E}">
        <p14:creationId xmlns:p14="http://schemas.microsoft.com/office/powerpoint/2010/main" val="27356533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51</a:t>
            </a:fld>
            <a:endParaRPr lang="en-US"/>
          </a:p>
        </p:txBody>
      </p:sp>
    </p:spTree>
    <p:extLst>
      <p:ext uri="{BB962C8B-B14F-4D97-AF65-F5344CB8AC3E}">
        <p14:creationId xmlns:p14="http://schemas.microsoft.com/office/powerpoint/2010/main" val="21140883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52</a:t>
            </a:fld>
            <a:endParaRPr lang="en-US"/>
          </a:p>
        </p:txBody>
      </p:sp>
    </p:spTree>
    <p:extLst>
      <p:ext uri="{BB962C8B-B14F-4D97-AF65-F5344CB8AC3E}">
        <p14:creationId xmlns:p14="http://schemas.microsoft.com/office/powerpoint/2010/main" val="18629743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is it Important?</a:t>
            </a:r>
          </a:p>
          <a:p>
            <a:r>
              <a:rPr lang="en-US" dirty="0"/>
              <a:t>A system may have all the required features but still fail if it performs poorly in terms of quality.</a:t>
            </a:r>
          </a:p>
          <a:p>
            <a:r>
              <a:rPr lang="en-US" dirty="0"/>
              <a:t>For example:</a:t>
            </a:r>
          </a:p>
          <a:p>
            <a:r>
              <a:rPr lang="en-US" dirty="0"/>
              <a:t>A university registration system allows students to register for courses (functional requirement).</a:t>
            </a:r>
          </a:p>
          <a:p>
            <a:r>
              <a:rPr lang="en-US" dirty="0"/>
              <a:t>However:</a:t>
            </a:r>
          </a:p>
          <a:p>
            <a:r>
              <a:rPr lang="en-US" dirty="0"/>
              <a:t>It takes 2 minutes to load a page. </a:t>
            </a:r>
          </a:p>
          <a:p>
            <a:r>
              <a:rPr lang="en-US" dirty="0"/>
              <a:t>It crashes when many students log in. </a:t>
            </a:r>
          </a:p>
          <a:p>
            <a:r>
              <a:rPr lang="en-US" dirty="0"/>
              <a:t>It is difficult to use. </a:t>
            </a:r>
          </a:p>
          <a:p>
            <a:r>
              <a:rPr lang="en-US" dirty="0"/>
              <a:t>Hackers can easily access student records. </a:t>
            </a:r>
          </a:p>
          <a:p>
            <a:r>
              <a:rPr lang="en-US" dirty="0"/>
              <a:t>Although the required functionality exists, the system is considered poorly designed because its quality attributes are inadequate.</a:t>
            </a:r>
          </a:p>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53</a:t>
            </a:fld>
            <a:endParaRPr lang="en-US"/>
          </a:p>
        </p:txBody>
      </p:sp>
    </p:spTree>
    <p:extLst>
      <p:ext uri="{BB962C8B-B14F-4D97-AF65-F5344CB8AC3E}">
        <p14:creationId xmlns:p14="http://schemas.microsoft.com/office/powerpoint/2010/main" val="38957421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54</a:t>
            </a:fld>
            <a:endParaRPr lang="en-US"/>
          </a:p>
        </p:txBody>
      </p:sp>
    </p:spTree>
    <p:extLst>
      <p:ext uri="{BB962C8B-B14F-4D97-AF65-F5344CB8AC3E}">
        <p14:creationId xmlns:p14="http://schemas.microsoft.com/office/powerpoint/2010/main" val="42017114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98F0-77AD-23B4-9033-EE780B17B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9E4C3-1384-B7E5-F0D5-9279F332C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484D7-F652-F11D-B51A-F27FB1EABFC2}"/>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1DB0F173-0707-9AB4-DF1D-0EF5FF197C89}"/>
              </a:ext>
            </a:extLst>
          </p:cNvPr>
          <p:cNvSpPr>
            <a:spLocks noGrp="1"/>
          </p:cNvSpPr>
          <p:nvPr>
            <p:ph type="sldNum" sz="quarter" idx="5"/>
          </p:nvPr>
        </p:nvSpPr>
        <p:spPr/>
        <p:txBody>
          <a:bodyPr/>
          <a:lstStyle/>
          <a:p>
            <a:fld id="{93211DCF-9C25-4121-98B8-1A71B48A30E8}" type="slidenum">
              <a:rPr lang="en-US" smtClean="0"/>
              <a:t>55</a:t>
            </a:fld>
            <a:endParaRPr lang="en-US"/>
          </a:p>
        </p:txBody>
      </p:sp>
    </p:spTree>
    <p:extLst>
      <p:ext uri="{BB962C8B-B14F-4D97-AF65-F5344CB8AC3E}">
        <p14:creationId xmlns:p14="http://schemas.microsoft.com/office/powerpoint/2010/main" val="30073881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3B990-C037-4689-7CAC-B74E867E1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84042-30CD-AB7C-3A97-5045525EB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C7C228-AD5F-49E3-46EB-A473E11E1643}"/>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E52DCC4B-5BA7-806E-FFF7-802955E34D30}"/>
              </a:ext>
            </a:extLst>
          </p:cNvPr>
          <p:cNvSpPr>
            <a:spLocks noGrp="1"/>
          </p:cNvSpPr>
          <p:nvPr>
            <p:ph type="sldNum" sz="quarter" idx="5"/>
          </p:nvPr>
        </p:nvSpPr>
        <p:spPr/>
        <p:txBody>
          <a:bodyPr/>
          <a:lstStyle/>
          <a:p>
            <a:fld id="{93211DCF-9C25-4121-98B8-1A71B48A30E8}" type="slidenum">
              <a:rPr lang="en-US" smtClean="0"/>
              <a:t>56</a:t>
            </a:fld>
            <a:endParaRPr lang="en-US"/>
          </a:p>
        </p:txBody>
      </p:sp>
    </p:spTree>
    <p:extLst>
      <p:ext uri="{BB962C8B-B14F-4D97-AF65-F5344CB8AC3E}">
        <p14:creationId xmlns:p14="http://schemas.microsoft.com/office/powerpoint/2010/main" val="30214151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57</a:t>
            </a:fld>
            <a:endParaRPr lang="en-US"/>
          </a:p>
        </p:txBody>
      </p:sp>
    </p:spTree>
    <p:extLst>
      <p:ext uri="{BB962C8B-B14F-4D97-AF65-F5344CB8AC3E}">
        <p14:creationId xmlns:p14="http://schemas.microsoft.com/office/powerpoint/2010/main" val="26681506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58</a:t>
            </a:fld>
            <a:endParaRPr lang="en-US"/>
          </a:p>
        </p:txBody>
      </p:sp>
    </p:spTree>
    <p:extLst>
      <p:ext uri="{BB962C8B-B14F-4D97-AF65-F5344CB8AC3E}">
        <p14:creationId xmlns:p14="http://schemas.microsoft.com/office/powerpoint/2010/main" val="39022257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59</a:t>
            </a:fld>
            <a:endParaRPr lang="en-US"/>
          </a:p>
        </p:txBody>
      </p:sp>
    </p:spTree>
    <p:extLst>
      <p:ext uri="{BB962C8B-B14F-4D97-AF65-F5344CB8AC3E}">
        <p14:creationId xmlns:p14="http://schemas.microsoft.com/office/powerpoint/2010/main" val="39623349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60</a:t>
            </a:fld>
            <a:endParaRPr lang="en-US"/>
          </a:p>
        </p:txBody>
      </p:sp>
    </p:spTree>
    <p:extLst>
      <p:ext uri="{BB962C8B-B14F-4D97-AF65-F5344CB8AC3E}">
        <p14:creationId xmlns:p14="http://schemas.microsoft.com/office/powerpoint/2010/main" val="42357248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61</a:t>
            </a:fld>
            <a:endParaRPr lang="en-US"/>
          </a:p>
        </p:txBody>
      </p:sp>
    </p:spTree>
    <p:extLst>
      <p:ext uri="{BB962C8B-B14F-4D97-AF65-F5344CB8AC3E}">
        <p14:creationId xmlns:p14="http://schemas.microsoft.com/office/powerpoint/2010/main" val="28994935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EEB37-DD28-279A-7EB0-F36CE64CC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6AEDF-A903-DDA9-2FF2-836618D48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48EC3-AE2E-C819-EA38-879A417063CF}"/>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24FAA044-1AF2-D166-F899-522687C3F1DC}"/>
              </a:ext>
            </a:extLst>
          </p:cNvPr>
          <p:cNvSpPr>
            <a:spLocks noGrp="1"/>
          </p:cNvSpPr>
          <p:nvPr>
            <p:ph type="sldNum" sz="quarter" idx="5"/>
          </p:nvPr>
        </p:nvSpPr>
        <p:spPr/>
        <p:txBody>
          <a:bodyPr/>
          <a:lstStyle/>
          <a:p>
            <a:fld id="{93211DCF-9C25-4121-98B8-1A71B48A30E8}" type="slidenum">
              <a:rPr lang="en-US" smtClean="0"/>
              <a:t>62</a:t>
            </a:fld>
            <a:endParaRPr lang="en-US"/>
          </a:p>
        </p:txBody>
      </p:sp>
    </p:spTree>
    <p:extLst>
      <p:ext uri="{BB962C8B-B14F-4D97-AF65-F5344CB8AC3E}">
        <p14:creationId xmlns:p14="http://schemas.microsoft.com/office/powerpoint/2010/main" val="24143208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21066-7A84-07FE-9D29-B689B23E7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8BF9F-C0B6-6A03-C83C-2876BD683F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F489F5-F6DF-CE7A-1FA7-579F5CAA4F88}"/>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3A40DEF5-20FD-8B2A-079C-4A8E499B50E0}"/>
              </a:ext>
            </a:extLst>
          </p:cNvPr>
          <p:cNvSpPr>
            <a:spLocks noGrp="1"/>
          </p:cNvSpPr>
          <p:nvPr>
            <p:ph type="sldNum" sz="quarter" idx="5"/>
          </p:nvPr>
        </p:nvSpPr>
        <p:spPr/>
        <p:txBody>
          <a:bodyPr/>
          <a:lstStyle/>
          <a:p>
            <a:fld id="{93211DCF-9C25-4121-98B8-1A71B48A30E8}" type="slidenum">
              <a:rPr lang="en-US" smtClean="0"/>
              <a:t>63</a:t>
            </a:fld>
            <a:endParaRPr lang="en-US"/>
          </a:p>
        </p:txBody>
      </p:sp>
    </p:spTree>
    <p:extLst>
      <p:ext uri="{BB962C8B-B14F-4D97-AF65-F5344CB8AC3E}">
        <p14:creationId xmlns:p14="http://schemas.microsoft.com/office/powerpoint/2010/main" val="21263996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309F9-6159-0908-2095-70D627C01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B3474-2AF2-9143-DFA7-EF73CFE7D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879C48-87AB-A576-37BF-855D87D129E0}"/>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0F922C03-5E2F-A756-6345-E2B85DD35BCF}"/>
              </a:ext>
            </a:extLst>
          </p:cNvPr>
          <p:cNvSpPr>
            <a:spLocks noGrp="1"/>
          </p:cNvSpPr>
          <p:nvPr>
            <p:ph type="sldNum" sz="quarter" idx="5"/>
          </p:nvPr>
        </p:nvSpPr>
        <p:spPr/>
        <p:txBody>
          <a:bodyPr/>
          <a:lstStyle/>
          <a:p>
            <a:fld id="{93211DCF-9C25-4121-98B8-1A71B48A30E8}" type="slidenum">
              <a:rPr lang="en-US" smtClean="0"/>
              <a:t>64</a:t>
            </a:fld>
            <a:endParaRPr lang="en-US"/>
          </a:p>
        </p:txBody>
      </p:sp>
    </p:spTree>
    <p:extLst>
      <p:ext uri="{BB962C8B-B14F-4D97-AF65-F5344CB8AC3E}">
        <p14:creationId xmlns:p14="http://schemas.microsoft.com/office/powerpoint/2010/main" val="19616801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65</a:t>
            </a:fld>
            <a:endParaRPr lang="en-US"/>
          </a:p>
        </p:txBody>
      </p:sp>
    </p:spTree>
    <p:extLst>
      <p:ext uri="{BB962C8B-B14F-4D97-AF65-F5344CB8AC3E}">
        <p14:creationId xmlns:p14="http://schemas.microsoft.com/office/powerpoint/2010/main" val="39080681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715407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4145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103378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28449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772E3-1184-D1B3-CA06-55DC9F0EE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D34D0-6E41-1067-5919-8D96822B5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DF37A-76AB-AC8E-6D74-19DC678BD000}"/>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22CAF774-5304-53A6-5F76-4BD7DA1145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2136711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dirty="0"/>
              <a:t>-In terms of Object-oriented analysis and design—explain the situations in which a software project may fail.       </a:t>
            </a:r>
          </a:p>
          <a:p>
            <a:r>
              <a:rPr kumimoji="1" lang="en-US" altLang="ja-JP" dirty="0"/>
              <a:t>-During the process of software design, what are the “Trade-offs between the client's need and Developer's Scope—</a:t>
            </a:r>
          </a:p>
          <a:p>
            <a:r>
              <a:rPr kumimoji="1" lang="en-US" altLang="ja-JP" dirty="0"/>
              <a:t>      explain with an example-What Conceptual Mock-ups illustrate in the Software design process? </a:t>
            </a:r>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00606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dirty="0"/>
              <a:t>-In terms of Object-oriented analysis and design—explain the situations in which a software project may fail.       </a:t>
            </a:r>
          </a:p>
          <a:p>
            <a:r>
              <a:rPr kumimoji="1" lang="en-US" altLang="ja-JP" dirty="0"/>
              <a:t>-During the process of software design, what are the “Trade-offs between the client's need and Developer's Scope—</a:t>
            </a:r>
          </a:p>
          <a:p>
            <a:r>
              <a:rPr kumimoji="1" lang="en-US" altLang="ja-JP" dirty="0"/>
              <a:t>      explain with an example-What Conceptual Mock-ups illustrate in the Software design process? </a:t>
            </a:r>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546831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dirty="0"/>
              <a:t>-In terms of Object-oriented analysis and design—explain the situations in which a software project may fail.       </a:t>
            </a:r>
          </a:p>
          <a:p>
            <a:r>
              <a:rPr kumimoji="1" lang="en-US" altLang="ja-JP" dirty="0"/>
              <a:t>-During the process of software design, what are the “Trade-offs between the client's need and Developer's Scope—</a:t>
            </a:r>
          </a:p>
          <a:p>
            <a:r>
              <a:rPr kumimoji="1" lang="en-US" altLang="ja-JP" dirty="0"/>
              <a:t>      explain with an example-What Conceptual Mock-ups illustrate in the Software design process? </a:t>
            </a:r>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098151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ja-JP" b="1" i="0" dirty="0">
                <a:solidFill>
                  <a:srgbClr val="404040"/>
                </a:solidFill>
                <a:effectLst/>
                <a:latin typeface="quote-cjk-patch"/>
              </a:rPr>
              <a:t>Example</a:t>
            </a:r>
            <a:r>
              <a:rPr lang="en-US" altLang="ja-JP" b="0" i="0" dirty="0">
                <a:solidFill>
                  <a:srgbClr val="404040"/>
                </a:solidFill>
                <a:effectLst/>
                <a:latin typeface="quote-cjk-patch"/>
              </a:rPr>
              <a:t>:</a:t>
            </a:r>
          </a:p>
          <a:p>
            <a:pPr algn="l">
              <a:buFont typeface="Arial" panose="020B0604020202020204" pitchFamily="34" charset="0"/>
              <a:buChar char="•"/>
            </a:pPr>
            <a:r>
              <a:rPr lang="en-US" altLang="ja-JP" b="0" i="1" dirty="0">
                <a:solidFill>
                  <a:srgbClr val="404040"/>
                </a:solidFill>
                <a:effectLst/>
                <a:latin typeface="quote-cjk-patch"/>
              </a:rPr>
              <a:t>Client</a:t>
            </a:r>
            <a:r>
              <a:rPr lang="en-US" altLang="ja-JP" b="0" i="0" dirty="0">
                <a:solidFill>
                  <a:srgbClr val="404040"/>
                </a:solidFill>
                <a:effectLst/>
                <a:latin typeface="quote-cjk-patch"/>
              </a:rPr>
              <a:t>: Wants a real-time multiplayer game with AI opponents.</a:t>
            </a:r>
          </a:p>
          <a:p>
            <a:pPr algn="l">
              <a:buFont typeface="Arial" panose="020B0604020202020204" pitchFamily="34" charset="0"/>
              <a:buChar char="•"/>
            </a:pPr>
            <a:r>
              <a:rPr lang="en-US" altLang="ja-JP" b="0" i="1" dirty="0">
                <a:solidFill>
                  <a:srgbClr val="404040"/>
                </a:solidFill>
                <a:effectLst/>
                <a:latin typeface="quote-cjk-patch"/>
              </a:rPr>
              <a:t>Developer</a:t>
            </a:r>
            <a:r>
              <a:rPr lang="en-US" altLang="ja-JP" b="0" i="0" dirty="0">
                <a:solidFill>
                  <a:srgbClr val="404040"/>
                </a:solidFill>
                <a:effectLst/>
                <a:latin typeface="quote-cjk-patch"/>
              </a:rPr>
              <a:t>: Limited budget/time for AI development.</a:t>
            </a:r>
          </a:p>
          <a:p>
            <a:pPr algn="l">
              <a:buFont typeface="Arial" panose="020B0604020202020204" pitchFamily="34" charset="0"/>
              <a:buChar char="•"/>
            </a:pPr>
            <a:r>
              <a:rPr lang="en-US" altLang="ja-JP" b="0" i="1" dirty="0">
                <a:solidFill>
                  <a:srgbClr val="404040"/>
                </a:solidFill>
                <a:effectLst/>
                <a:latin typeface="quote-cjk-patch"/>
              </a:rPr>
              <a:t>Trade-off</a:t>
            </a:r>
            <a:r>
              <a:rPr lang="en-US" altLang="ja-JP" b="0" i="0" dirty="0">
                <a:solidFill>
                  <a:srgbClr val="404040"/>
                </a:solidFill>
                <a:effectLst/>
                <a:latin typeface="quote-cjk-patch"/>
              </a:rPr>
              <a:t>: Launch with multiplayer first, add AI in Version 2.</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5828119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7934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968DC0B-53AB-4330-AE8C-6E35A04EA7DF}"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CC66C1-0816-4392-B26F-F1E3C27050E5}"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B9B777-7103-40E6-B4B0-D9AE5D50EF20}"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72F743-7022-4A54-94CF-91C88B4154B4}" type="datetime1">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7F8327E-E1D6-47F6-9CBC-6BF56420F2D2}" type="datetime1">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31519F-84A1-44A9-8063-AFC3A21C5AE6}" type="datetime1">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85A6D2-1783-469D-ADBE-580CFE436622}" type="datetime1">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FC317C-C926-4ED5-ABF3-17E77EA5FE40}" type="datetime1">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9070A4-FBD8-499E-8FF8-96684B46D6AA}" type="datetime1">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BD8FCD-9549-4EFF-9EB4-61EF12A5F552}"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D84BF3-0685-4EBD-A8F7-34307A81705C}"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617B77-AD59-4769-B471-401FD9B81E84}" type="datetime1">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TcWPIXDQhz8"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www.youtube.com/watch?v=b_mCu2_RQg4"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344" y="219456"/>
            <a:ext cx="8610600" cy="1828800"/>
          </a:xfrm>
        </p:spPr>
        <p:txBody>
          <a:bodyPr>
            <a:normAutofit/>
          </a:bodyPr>
          <a:lstStyle/>
          <a:p>
            <a:r>
              <a:rPr lang="en-US" altLang="ja-JP" b="1" dirty="0">
                <a:latin typeface="ＭＳ Ｐゴシック" panose="020B0600070205080204" pitchFamily="50" charset="-128"/>
                <a:ea typeface="ＭＳ Ｐゴシック" panose="020B0600070205080204" pitchFamily="50" charset="-128"/>
                <a:cs typeface="ＭＳ Ｐゴシック" panose="020B0600070205080204" pitchFamily="50" charset="-128"/>
              </a:rPr>
              <a:t>P</a:t>
            </a:r>
            <a:r>
              <a:rPr lang="en-US" altLang="ja-JP" sz="4400" b="1" dirty="0">
                <a:effectLst/>
                <a:latin typeface="ＭＳ Ｐゴシック" panose="020B0600070205080204" pitchFamily="50" charset="-128"/>
                <a:ea typeface="ＭＳ Ｐゴシック" panose="020B0600070205080204" pitchFamily="50" charset="-128"/>
                <a:cs typeface="ＭＳ Ｐゴシック" panose="020B0600070205080204" pitchFamily="50" charset="-128"/>
              </a:rPr>
              <a:t>art A: Object-Oriented Design</a:t>
            </a:r>
            <a:br>
              <a:rPr lang="ja-JP" altLang="ja-JP" sz="4400" dirty="0">
                <a:effectLst/>
                <a:latin typeface="ＭＳ Ｐゴシック" panose="020B0600070205080204" pitchFamily="50" charset="-128"/>
                <a:ea typeface="ＭＳ Ｐゴシック" panose="020B0600070205080204" pitchFamily="50" charset="-128"/>
                <a:cs typeface="ＭＳ Ｐゴシック" panose="020B0600070205080204" pitchFamily="50" charset="-128"/>
              </a:rPr>
            </a:br>
            <a:r>
              <a:rPr lang="en-US" dirty="0"/>
              <a:t>	</a:t>
            </a:r>
          </a:p>
        </p:txBody>
      </p:sp>
      <p:sp>
        <p:nvSpPr>
          <p:cNvPr id="5" name="Slide Number Placeholder 4"/>
          <p:cNvSpPr>
            <a:spLocks noGrp="1"/>
          </p:cNvSpPr>
          <p:nvPr>
            <p:ph type="sldNum" sz="quarter" idx="12"/>
          </p:nvPr>
        </p:nvSpPr>
        <p:spPr>
          <a:xfrm>
            <a:off x="26963" y="6492875"/>
            <a:ext cx="2133600" cy="365125"/>
          </a:xfrm>
        </p:spPr>
        <p:txBody>
          <a:bodyPr/>
          <a:lstStyle/>
          <a:p>
            <a:pPr algn="ctr"/>
            <a:fld id="{47A386C0-51E2-4A59-9996-4063C503BDFB}" type="slidenum">
              <a:rPr lang="en-US" sz="1400" smtClean="0">
                <a:solidFill>
                  <a:schemeClr val="tx1"/>
                </a:solidFill>
              </a:rPr>
              <a:t>1</a:t>
            </a:fld>
            <a:endParaRPr lang="en-US" sz="1400" dirty="0">
              <a:solidFill>
                <a:schemeClr val="tx1"/>
              </a:solidFill>
            </a:endParaRPr>
          </a:p>
        </p:txBody>
      </p:sp>
      <p:pic>
        <p:nvPicPr>
          <p:cNvPr id="6" name="Picture 5">
            <a:extLst>
              <a:ext uri="{FF2B5EF4-FFF2-40B4-BE49-F238E27FC236}">
                <a16:creationId xmlns:a16="http://schemas.microsoft.com/office/drawing/2014/main" id="{E971F599-5F86-22A6-D4DC-2E5746F640A5}"/>
              </a:ext>
            </a:extLst>
          </p:cNvPr>
          <p:cNvPicPr>
            <a:picLocks noChangeAspect="1"/>
          </p:cNvPicPr>
          <p:nvPr/>
        </p:nvPicPr>
        <p:blipFill>
          <a:blip r:embed="rId3"/>
          <a:stretch>
            <a:fillRect/>
          </a:stretch>
        </p:blipFill>
        <p:spPr>
          <a:xfrm>
            <a:off x="0" y="1304628"/>
            <a:ext cx="9058656" cy="4387933"/>
          </a:xfrm>
          <a:prstGeom prst="rect">
            <a:avLst/>
          </a:prstGeom>
        </p:spPr>
      </p:pic>
      <p:sp>
        <p:nvSpPr>
          <p:cNvPr id="3" name="TextBox 2">
            <a:extLst>
              <a:ext uri="{FF2B5EF4-FFF2-40B4-BE49-F238E27FC236}">
                <a16:creationId xmlns:a16="http://schemas.microsoft.com/office/drawing/2014/main" id="{28A5C28F-DD78-81D3-A394-5E4139960EB3}"/>
              </a:ext>
            </a:extLst>
          </p:cNvPr>
          <p:cNvSpPr txBox="1"/>
          <p:nvPr/>
        </p:nvSpPr>
        <p:spPr>
          <a:xfrm>
            <a:off x="2160563" y="6019800"/>
            <a:ext cx="5992837" cy="369332"/>
          </a:xfrm>
          <a:prstGeom prst="rect">
            <a:avLst/>
          </a:prstGeom>
          <a:noFill/>
        </p:spPr>
        <p:txBody>
          <a:bodyPr wrap="square" rtlCol="0">
            <a:spAutoFit/>
          </a:bodyPr>
          <a:lstStyle/>
          <a:p>
            <a:r>
              <a:rPr kumimoji="1" lang="en-US" altLang="ja-JP" dirty="0">
                <a:latin typeface="Times New Roman" panose="02020603050405020304" pitchFamily="18" charset="0"/>
                <a:cs typeface="Times New Roman" panose="02020603050405020304" pitchFamily="18" charset="0"/>
              </a:rPr>
              <a:t>Abu Saleh Musa Miah (PhD)</a:t>
            </a:r>
            <a:endParaRPr kumimoji="1" lang="ja-JP"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30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05" y="152400"/>
            <a:ext cx="9134622" cy="838200"/>
          </a:xfrm>
          <a:ln/>
        </p:spPr>
        <p:style>
          <a:lnRef idx="2">
            <a:schemeClr val="accent6"/>
          </a:lnRef>
          <a:fillRef idx="1">
            <a:schemeClr val="lt1"/>
          </a:fillRef>
          <a:effectRef idx="0">
            <a:schemeClr val="accent6"/>
          </a:effectRef>
          <a:fontRef idx="minor">
            <a:schemeClr val="dk1"/>
          </a:fontRef>
        </p:style>
        <p:txBody>
          <a:bodyPr>
            <a:normAutofit/>
          </a:bodyPr>
          <a:lstStyle/>
          <a:p>
            <a:r>
              <a:rPr lang="en-US" sz="4800" b="1" dirty="0">
                <a:latin typeface="Times New Roman" pitchFamily="18" charset="0"/>
                <a:cs typeface="Times New Roman" pitchFamily="18" charset="0"/>
              </a:rPr>
              <a:t>Presentation Outline</a:t>
            </a:r>
          </a:p>
        </p:txBody>
      </p:sp>
      <p:sp>
        <p:nvSpPr>
          <p:cNvPr id="3" name="Subtitle 2"/>
          <p:cNvSpPr>
            <a:spLocks noGrp="1"/>
          </p:cNvSpPr>
          <p:nvPr>
            <p:ph type="subTitle" idx="1"/>
          </p:nvPr>
        </p:nvSpPr>
        <p:spPr>
          <a:xfrm>
            <a:off x="533400" y="1295400"/>
            <a:ext cx="8686800" cy="4648200"/>
          </a:xfrm>
        </p:spPr>
        <p:txBody>
          <a:bodyPr>
            <a:normAutofit/>
          </a:bodyPr>
          <a:lstStyle/>
          <a:p>
            <a:pPr marL="457200" indent="-457200" algn="l">
              <a:buFont typeface="Wingdings" pitchFamily="2" charset="2"/>
              <a:buChar char="ü"/>
            </a:pPr>
            <a:r>
              <a:rPr lang="en-US" altLang="ja-JP" sz="2400" b="1" dirty="0">
                <a:solidFill>
                  <a:schemeClr val="tx1"/>
                </a:solidFill>
                <a:latin typeface="Times New Roman" pitchFamily="18" charset="0"/>
                <a:cs typeface="Times New Roman" pitchFamily="18" charset="0"/>
              </a:rPr>
              <a:t>Object-Oriented Analysis and Design (OOAD)</a:t>
            </a:r>
          </a:p>
          <a:p>
            <a:pPr marL="457200" indent="-457200" algn="l">
              <a:buFont typeface="Wingdings" pitchFamily="2" charset="2"/>
              <a:buChar char="ü"/>
            </a:pPr>
            <a:r>
              <a:rPr lang="en-US" sz="2400" b="1" dirty="0">
                <a:solidFill>
                  <a:schemeClr val="tx1"/>
                </a:solidFill>
                <a:latin typeface="Times New Roman" pitchFamily="18" charset="0"/>
                <a:ea typeface="Cambria Math" pitchFamily="18" charset="0"/>
                <a:cs typeface="Times New Roman" pitchFamily="18" charset="0"/>
              </a:rPr>
              <a:t>History</a:t>
            </a:r>
          </a:p>
          <a:p>
            <a:pPr marL="457200" indent="-457200" algn="l">
              <a:buFont typeface="Wingdings" pitchFamily="2" charset="2"/>
              <a:buChar char="ü"/>
            </a:pPr>
            <a:r>
              <a:rPr lang="en-US" sz="2400" b="1" dirty="0">
                <a:solidFill>
                  <a:schemeClr val="tx1"/>
                </a:solidFill>
                <a:latin typeface="Times New Roman" pitchFamily="18" charset="0"/>
                <a:ea typeface="Cambria Math" pitchFamily="18" charset="0"/>
                <a:cs typeface="Times New Roman" pitchFamily="18" charset="0"/>
              </a:rPr>
              <a:t>Scenario-1: </a:t>
            </a:r>
            <a:r>
              <a:rPr lang="sv-SE" altLang="ja-JP" sz="2400" b="1" dirty="0">
                <a:solidFill>
                  <a:schemeClr val="tx1"/>
                </a:solidFill>
                <a:latin typeface="Times New Roman" pitchFamily="18" charset="0"/>
                <a:cs typeface="Times New Roman" pitchFamily="18" charset="0"/>
              </a:rPr>
              <a:t>DUMS</a:t>
            </a:r>
            <a:endParaRPr lang="en-US" altLang="ja-JP" sz="2400" b="1" dirty="0">
              <a:solidFill>
                <a:schemeClr val="tx1"/>
              </a:solidFill>
              <a:latin typeface="Times New Roman" pitchFamily="18" charset="0"/>
              <a:ea typeface="Cambria Math" pitchFamily="18" charset="0"/>
              <a:cs typeface="Times New Roman" pitchFamily="18" charset="0"/>
            </a:endParaRPr>
          </a:p>
          <a:p>
            <a:pPr marL="457200" indent="-457200" algn="l">
              <a:buFont typeface="Wingdings" pitchFamily="2" charset="2"/>
              <a:buChar char="ü"/>
            </a:pPr>
            <a:r>
              <a:rPr lang="en-US" sz="2400" b="1" dirty="0">
                <a:solidFill>
                  <a:schemeClr val="tx1"/>
                </a:solidFill>
                <a:latin typeface="Times New Roman" pitchFamily="18" charset="0"/>
                <a:ea typeface="Cambria Math" pitchFamily="18" charset="0"/>
                <a:cs typeface="Times New Roman" pitchFamily="18" charset="0"/>
              </a:rPr>
              <a:t>Scenario-2: </a:t>
            </a:r>
            <a:r>
              <a:rPr lang="sv-SE" altLang="ja-JP" sz="2400" b="1" dirty="0">
                <a:solidFill>
                  <a:schemeClr val="tx1"/>
                </a:solidFill>
                <a:latin typeface="Times New Roman" pitchFamily="18" charset="0"/>
                <a:cs typeface="Times New Roman" pitchFamily="18" charset="0"/>
              </a:rPr>
              <a:t>Agricultural Automation System (AAS)</a:t>
            </a:r>
          </a:p>
          <a:p>
            <a:pPr marL="457200" indent="-457200" algn="l">
              <a:buFont typeface="Wingdings" pitchFamily="2" charset="2"/>
              <a:buChar char="ü"/>
            </a:pPr>
            <a:r>
              <a:rPr lang="sv-SE" sz="2400" b="1" dirty="0">
                <a:solidFill>
                  <a:schemeClr val="tx1"/>
                </a:solidFill>
                <a:latin typeface="Times New Roman" pitchFamily="18" charset="0"/>
                <a:ea typeface="Cambria Math" pitchFamily="18" charset="0"/>
                <a:cs typeface="Times New Roman" pitchFamily="18" charset="0"/>
              </a:rPr>
              <a:t>Conceptual Design</a:t>
            </a:r>
          </a:p>
          <a:p>
            <a:pPr marL="457200" indent="-457200" algn="l">
              <a:buFont typeface="Wingdings" pitchFamily="2" charset="2"/>
              <a:buChar char="ü"/>
            </a:pPr>
            <a:r>
              <a:rPr lang="sv-SE" sz="2400" b="1" dirty="0">
                <a:solidFill>
                  <a:schemeClr val="tx1"/>
                </a:solidFill>
                <a:latin typeface="Times New Roman" pitchFamily="18" charset="0"/>
                <a:ea typeface="Cambria Math" pitchFamily="18" charset="0"/>
                <a:cs typeface="Times New Roman" pitchFamily="18" charset="0"/>
              </a:rPr>
              <a:t>Technical Design</a:t>
            </a:r>
          </a:p>
          <a:p>
            <a:pPr marL="457200" indent="-457200" algn="l">
              <a:buFont typeface="Wingdings" pitchFamily="2" charset="2"/>
              <a:buChar char="ü"/>
            </a:pPr>
            <a:r>
              <a:rPr lang="sv-SE" sz="2400" b="1" dirty="0">
                <a:solidFill>
                  <a:schemeClr val="tx1"/>
                </a:solidFill>
                <a:latin typeface="Times New Roman" pitchFamily="18" charset="0"/>
                <a:ea typeface="Cambria Math" pitchFamily="18" charset="0"/>
                <a:cs typeface="Times New Roman" pitchFamily="18" charset="0"/>
              </a:rPr>
              <a:t>OOAD Thinking</a:t>
            </a:r>
          </a:p>
          <a:p>
            <a:pPr marL="457200" indent="-457200" algn="l">
              <a:buFont typeface="Wingdings" pitchFamily="2" charset="2"/>
              <a:buChar char="ü"/>
            </a:pPr>
            <a:r>
              <a:rPr lang="sv-SE" sz="2400" b="1" dirty="0">
                <a:solidFill>
                  <a:schemeClr val="tx1"/>
                </a:solidFill>
                <a:latin typeface="Times New Roman" pitchFamily="18" charset="0"/>
                <a:ea typeface="Cambria Math" pitchFamily="18" charset="0"/>
                <a:cs typeface="Times New Roman" pitchFamily="18" charset="0"/>
              </a:rPr>
              <a:t>CRC:Class, Responsibility and Collaborator</a:t>
            </a:r>
            <a:endParaRPr lang="en-US" sz="2400" dirty="0">
              <a:solidFill>
                <a:schemeClr val="tx1"/>
              </a:solidFill>
              <a:latin typeface="Cambria Math" pitchFamily="18" charset="0"/>
              <a:ea typeface="Cambria Math" pitchFamily="18" charset="0"/>
            </a:endParaRPr>
          </a:p>
          <a:p>
            <a:pPr algn="l"/>
            <a:endParaRPr lang="en-US" dirty="0"/>
          </a:p>
          <a:p>
            <a:pPr algn="l"/>
            <a:endParaRPr lang="en-US" dirty="0"/>
          </a:p>
          <a:p>
            <a:pPr algn="l"/>
            <a:endParaRPr lang="en-US" dirty="0"/>
          </a:p>
        </p:txBody>
      </p:sp>
      <p:sp>
        <p:nvSpPr>
          <p:cNvPr id="4" name="Slide Number Placeholder 3"/>
          <p:cNvSpPr>
            <a:spLocks noGrp="1"/>
          </p:cNvSpPr>
          <p:nvPr>
            <p:ph type="sldNum" sz="quarter" idx="12"/>
          </p:nvPr>
        </p:nvSpPr>
        <p:spPr>
          <a:xfrm>
            <a:off x="7010400" y="6324600"/>
            <a:ext cx="2133600" cy="365125"/>
          </a:xfrm>
        </p:spPr>
        <p:txBody>
          <a:bodyPr/>
          <a:lstStyle/>
          <a:p>
            <a:pPr algn="ctr"/>
            <a:fld id="{B6F15528-21DE-4FAA-801E-634DDDAF4B2B}" type="slidenum">
              <a:rPr lang="en-US" smtClean="0">
                <a:solidFill>
                  <a:schemeClr val="tx1"/>
                </a:solidFill>
              </a:rPr>
              <a:pPr algn="ctr"/>
              <a:t>2</a:t>
            </a:fld>
            <a:endParaRPr lang="en-US" dirty="0">
              <a:solidFill>
                <a:schemeClr val="tx1"/>
              </a:solidFill>
            </a:endParaRPr>
          </a:p>
        </p:txBody>
      </p:sp>
    </p:spTree>
    <p:extLst>
      <p:ext uri="{BB962C8B-B14F-4D97-AF65-F5344CB8AC3E}">
        <p14:creationId xmlns:p14="http://schemas.microsoft.com/office/powerpoint/2010/main" val="1899874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Object-Oriented Analysis and Design (OOAD)</a:t>
            </a:r>
          </a:p>
        </p:txBody>
      </p:sp>
      <p:sp>
        <p:nvSpPr>
          <p:cNvPr id="4" name="Subtitle 3"/>
          <p:cNvSpPr>
            <a:spLocks noGrp="1"/>
          </p:cNvSpPr>
          <p:nvPr>
            <p:ph type="subTitle" idx="1"/>
          </p:nvPr>
        </p:nvSpPr>
        <p:spPr>
          <a:xfrm>
            <a:off x="9236" y="1533236"/>
            <a:ext cx="8979108" cy="4684223"/>
          </a:xfrm>
        </p:spPr>
        <p:txBody>
          <a:bodyPr>
            <a:noAutofit/>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A </a:t>
            </a:r>
            <a:r>
              <a:rPr lang="en-US" altLang="ja-JP" sz="2400" dirty="0">
                <a:solidFill>
                  <a:srgbClr val="FF0000"/>
                </a:solidFill>
                <a:latin typeface="Times New Roman" panose="02020603050405020304" pitchFamily="18" charset="0"/>
                <a:cs typeface="Times New Roman" panose="02020603050405020304" pitchFamily="18" charset="0"/>
              </a:rPr>
              <a:t>method for analyzing and designing a system by thinking in terms of objects (real-world entities)</a:t>
            </a:r>
            <a:r>
              <a:rPr lang="en-US" altLang="ja-JP" sz="2400" dirty="0">
                <a:solidFill>
                  <a:schemeClr val="tx1"/>
                </a:solidFill>
                <a:latin typeface="Times New Roman" panose="02020603050405020304" pitchFamily="18" charset="0"/>
                <a:cs typeface="Times New Roman" panose="02020603050405020304" pitchFamily="18" charset="0"/>
              </a:rPr>
              <a:t> rather than just functions or logic.</a:t>
            </a:r>
          </a:p>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 It helps us move from requirements (what the system should do) to a design (how the system should be built).</a:t>
            </a:r>
          </a:p>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Object-Oriented Analysis and Design is about planning before coding. </a:t>
            </a:r>
          </a:p>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It has two parts:</a:t>
            </a:r>
          </a:p>
          <a:p>
            <a:pPr marL="1371600" lvl="2" indent="-457200" algn="l">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Conceptual Design (what to build)</a:t>
            </a:r>
          </a:p>
          <a:p>
            <a:pPr marL="1371600" lvl="2" indent="-457200" algn="l">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Technical Design (how to build it)</a:t>
            </a:r>
          </a:p>
          <a:p>
            <a:pPr marL="457200" indent="-457200" algn="l">
              <a:buFont typeface="Wingdings" panose="05000000000000000000" pitchFamily="2" charset="2"/>
              <a:buChar char="ü"/>
            </a:pPr>
            <a:r>
              <a:rPr lang="en-US" sz="1800" dirty="0">
                <a:solidFill>
                  <a:srgbClr val="00B0F0"/>
                </a:solidFill>
                <a:latin typeface="Times New Roman" panose="02020603050405020304" pitchFamily="18" charset="0"/>
                <a:cs typeface="Times New Roman" panose="02020603050405020304" pitchFamily="18" charset="0"/>
              </a:rPr>
              <a:t>Using object-oriented principles and tools like CRC cards ensures your software will be structured, maintainable, and reusable.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746177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sz="4800" b="1" dirty="0">
                <a:latin typeface="Times New Roman" pitchFamily="18" charset="0"/>
                <a:cs typeface="Times New Roman" pitchFamily="18" charset="0"/>
              </a:rPr>
              <a:t>Why?</a:t>
            </a:r>
          </a:p>
        </p:txBody>
      </p:sp>
      <p:sp>
        <p:nvSpPr>
          <p:cNvPr id="4" name="Subtitle 3"/>
          <p:cNvSpPr>
            <a:spLocks noGrp="1"/>
          </p:cNvSpPr>
          <p:nvPr>
            <p:ph type="subTitle" idx="1"/>
          </p:nvPr>
        </p:nvSpPr>
        <p:spPr>
          <a:xfrm>
            <a:off x="152400" y="1524000"/>
            <a:ext cx="8839200" cy="1752600"/>
          </a:xfrm>
        </p:spPr>
        <p:txBody>
          <a:bodyPr>
            <a:noAutofit/>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P</a:t>
            </a:r>
            <a:r>
              <a:rPr lang="en-US" altLang="ja-JP" sz="2400" b="0" i="0" u="none" strike="noStrike" baseline="0" dirty="0">
                <a:solidFill>
                  <a:schemeClr val="tx1"/>
                </a:solidFill>
                <a:latin typeface="Times New Roman" panose="02020603050405020304" pitchFamily="18" charset="0"/>
                <a:cs typeface="Times New Roman" panose="02020603050405020304" pitchFamily="18" charset="0"/>
              </a:rPr>
              <a:t>art of the foundation for becoming an experienced software architect.</a:t>
            </a:r>
          </a:p>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Upon completion of this course, we will be able to:</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Explain object-oriented analysis and design.</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Engage in object-oriented modelling.</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Explain design principles for object-oriented programming</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2354958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sz="4800" b="1" dirty="0">
                <a:latin typeface="Times New Roman" pitchFamily="18" charset="0"/>
                <a:cs typeface="Times New Roman" pitchFamily="18" charset="0"/>
              </a:rPr>
              <a:t>Why People First Used Object-Oriented Programming</a:t>
            </a:r>
          </a:p>
        </p:txBody>
      </p:sp>
      <p:sp>
        <p:nvSpPr>
          <p:cNvPr id="4" name="Subtitle 3"/>
          <p:cNvSpPr>
            <a:spLocks noGrp="1"/>
          </p:cNvSpPr>
          <p:nvPr>
            <p:ph type="subTitle" idx="1"/>
          </p:nvPr>
        </p:nvSpPr>
        <p:spPr>
          <a:xfrm>
            <a:off x="76200" y="1319702"/>
            <a:ext cx="8839200" cy="4395298"/>
          </a:xfrm>
        </p:spPr>
        <p:txBody>
          <a:bodyPr>
            <a:noAutofit/>
          </a:bodyPr>
          <a:lstStyle/>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Software was getting too complex</a:t>
            </a:r>
            <a:endParaRPr lang="en-US" altLang="ja-JP"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In the 1960s, programs were written mostly in </a:t>
            </a:r>
            <a:r>
              <a:rPr lang="en-US" altLang="ja-JP" sz="2000" b="1" dirty="0">
                <a:solidFill>
                  <a:schemeClr val="tx1"/>
                </a:solidFill>
                <a:latin typeface="Times New Roman" panose="02020603050405020304" pitchFamily="18" charset="0"/>
                <a:cs typeface="Times New Roman" panose="02020603050405020304" pitchFamily="18" charset="0"/>
              </a:rPr>
              <a:t>procedural languages</a:t>
            </a:r>
            <a:r>
              <a:rPr lang="en-US" altLang="ja-JP" sz="2000" dirty="0">
                <a:solidFill>
                  <a:schemeClr val="tx1"/>
                </a:solidFill>
                <a:latin typeface="Times New Roman" panose="02020603050405020304" pitchFamily="18" charset="0"/>
                <a:cs typeface="Times New Roman" panose="02020603050405020304" pitchFamily="18" charset="0"/>
              </a:rPr>
              <a:t> (like Fortran, COBOL, C).</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These worked fine for small programs, but as projects grew into </a:t>
            </a:r>
            <a:r>
              <a:rPr lang="en-US" altLang="ja-JP" sz="2000" i="1" dirty="0">
                <a:solidFill>
                  <a:schemeClr val="tx1"/>
                </a:solidFill>
                <a:latin typeface="Times New Roman" panose="02020603050405020304" pitchFamily="18" charset="0"/>
                <a:cs typeface="Times New Roman" panose="02020603050405020304" pitchFamily="18" charset="0"/>
              </a:rPr>
              <a:t>hundreds of thousands of lines</a:t>
            </a:r>
            <a:r>
              <a:rPr lang="en-US" altLang="ja-JP" sz="2000" dirty="0">
                <a:solidFill>
                  <a:schemeClr val="tx1"/>
                </a:solidFill>
                <a:latin typeface="Times New Roman" panose="02020603050405020304" pitchFamily="18" charset="0"/>
                <a:cs typeface="Times New Roman" panose="02020603050405020304" pitchFamily="18" charset="0"/>
              </a:rPr>
              <a:t>, it became very hard to maintain.</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Problems:</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Data and functions were separated (functions acted on global data → messy).</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Hard to reuse code (you had to copy-paste functions).</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Difficult to model </a:t>
            </a:r>
            <a:r>
              <a:rPr lang="en-US" altLang="ja-JP" sz="2000" i="1" dirty="0">
                <a:solidFill>
                  <a:schemeClr val="tx1"/>
                </a:solidFill>
                <a:latin typeface="Times New Roman" panose="02020603050405020304" pitchFamily="18" charset="0"/>
                <a:cs typeface="Times New Roman" panose="02020603050405020304" pitchFamily="18" charset="0"/>
              </a:rPr>
              <a:t>real-world entities</a:t>
            </a:r>
            <a:r>
              <a:rPr lang="en-US" altLang="ja-JP" sz="2000" dirty="0">
                <a:solidFill>
                  <a:schemeClr val="tx1"/>
                </a:solidFill>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675983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sz="4800" b="1" dirty="0">
                <a:latin typeface="Times New Roman" pitchFamily="18" charset="0"/>
                <a:cs typeface="Times New Roman" pitchFamily="18" charset="0"/>
              </a:rPr>
              <a:t>OOP solved these problems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Rectangle 3">
            <a:extLst>
              <a:ext uri="{FF2B5EF4-FFF2-40B4-BE49-F238E27FC236}">
                <a16:creationId xmlns:a16="http://schemas.microsoft.com/office/drawing/2014/main" id="{657284E6-5168-CF4B-2477-64DD30D66BC6}"/>
              </a:ext>
            </a:extLst>
          </p:cNvPr>
          <p:cNvSpPr>
            <a:spLocks noGrp="1" noChangeArrowheads="1"/>
          </p:cNvSpPr>
          <p:nvPr>
            <p:ph type="subTitle" idx="1"/>
          </p:nvPr>
        </p:nvSpPr>
        <p:spPr bwMode="auto">
          <a:xfrm>
            <a:off x="228600" y="1319702"/>
            <a:ext cx="89154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ts val="1200"/>
              </a:spcAft>
              <a:buClrTx/>
              <a:buSzTx/>
              <a:buFont typeface="Wingdings" panose="05000000000000000000" pitchFamily="2" charset="2"/>
              <a:buChar char="ü"/>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OOP grouped </a:t>
            </a: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 behavior</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together inside "objects".</a:t>
            </a:r>
          </a:p>
          <a:p>
            <a:pPr marL="342900" marR="0" lvl="0" indent="-342900" algn="l" defTabSz="914400" rtl="0" eaLnBrk="0" fontAlgn="base" latinLnBrk="0" hangingPunct="0">
              <a:lnSpc>
                <a:spcPct val="100000"/>
              </a:lnSpc>
              <a:spcBef>
                <a:spcPct val="0"/>
              </a:spcBef>
              <a:spcAft>
                <a:spcPts val="1200"/>
              </a:spcAft>
              <a:buClrTx/>
              <a:buSzTx/>
              <a:buFont typeface="Wingdings" panose="05000000000000000000" pitchFamily="2" charset="2"/>
              <a:buChar char="ü"/>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Objects could represent </a:t>
            </a: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real-world things</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 </a:t>
            </a:r>
            <a:r>
              <a:rPr kumimoji="0" lang="ja-JP" altLang="ja-JP"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 has data like color, speed and functions like accelerate(), brake()).</a:t>
            </a:r>
          </a:p>
          <a:p>
            <a:pPr marL="342900" marR="0" lvl="0" indent="-342900" algn="l" defTabSz="914400" rtl="0" eaLnBrk="0" fontAlgn="base" latinLnBrk="0" hangingPunct="0">
              <a:lnSpc>
                <a:spcPct val="100000"/>
              </a:lnSpc>
              <a:spcBef>
                <a:spcPct val="0"/>
              </a:spcBef>
              <a:spcAft>
                <a:spcPts val="1200"/>
              </a:spcAft>
              <a:buClrTx/>
              <a:buSzTx/>
              <a:buFont typeface="Wingdings" panose="05000000000000000000" pitchFamily="2" charset="2"/>
              <a:buChar char="ü"/>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Reusability: You could reuse and extend classes without rewriting everything.</a:t>
            </a:r>
          </a:p>
          <a:p>
            <a:pPr marL="342900" marR="0" lvl="0" indent="-342900" algn="l" defTabSz="914400" rtl="0" eaLnBrk="0" fontAlgn="base" latinLnBrk="0" hangingPunct="0">
              <a:lnSpc>
                <a:spcPct val="100000"/>
              </a:lnSpc>
              <a:spcBef>
                <a:spcPct val="0"/>
              </a:spcBef>
              <a:spcAft>
                <a:spcPts val="1200"/>
              </a:spcAft>
              <a:buClrTx/>
              <a:buSzTx/>
              <a:buFont typeface="Wingdings" panose="05000000000000000000" pitchFamily="2" charset="2"/>
              <a:buChar char="ü"/>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Abstraction: You could hide details and show only what mattered.</a:t>
            </a:r>
          </a:p>
          <a:p>
            <a:pPr marL="342900" marR="0" lvl="0" indent="-342900" algn="l" defTabSz="914400" rtl="0" eaLnBrk="0" fontAlgn="base" latinLnBrk="0" hangingPunct="0">
              <a:lnSpc>
                <a:spcPct val="100000"/>
              </a:lnSpc>
              <a:spcBef>
                <a:spcPct val="0"/>
              </a:spcBef>
              <a:spcAft>
                <a:spcPts val="1200"/>
              </a:spcAft>
              <a:buClrTx/>
              <a:buSzTx/>
              <a:buFont typeface="Wingdings" panose="05000000000000000000" pitchFamily="2" charset="2"/>
              <a:buChar char="ü"/>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made large systems easier to design, understand, and maintain.</a:t>
            </a:r>
            <a:endParaRPr kumimoji="0" lang="en-US"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ts val="1200"/>
              </a:spcAft>
              <a:buClrTx/>
              <a:buSzTx/>
              <a:tabLst/>
            </a:pPr>
            <a:endPar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206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sz="4800" b="1" dirty="0">
                <a:latin typeface="Times New Roman" pitchFamily="18" charset="0"/>
                <a:cs typeface="Times New Roman" pitchFamily="18" charset="0"/>
              </a:rPr>
              <a:t>Who Invented OOP? (History)</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7</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Rectangle 3">
            <a:extLst>
              <a:ext uri="{FF2B5EF4-FFF2-40B4-BE49-F238E27FC236}">
                <a16:creationId xmlns:a16="http://schemas.microsoft.com/office/drawing/2014/main" id="{657284E6-5168-CF4B-2477-64DD30D66BC6}"/>
              </a:ext>
            </a:extLst>
          </p:cNvPr>
          <p:cNvSpPr>
            <a:spLocks noGrp="1" noChangeArrowheads="1"/>
          </p:cNvSpPr>
          <p:nvPr>
            <p:ph type="subTitle" idx="1"/>
          </p:nvPr>
        </p:nvSpPr>
        <p:spPr bwMode="auto">
          <a:xfrm>
            <a:off x="331381" y="1267358"/>
            <a:ext cx="89154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ts val="1200"/>
              </a:spcAft>
              <a:buClrTx/>
              <a:buSzTx/>
              <a:buFont typeface="Wingdings" panose="05000000000000000000" pitchFamily="2" charset="2"/>
              <a:buChar char="ü"/>
              <a:tabLst/>
            </a:pPr>
            <a:r>
              <a:rPr lang="en-US" altLang="ja-JP" sz="2400" b="1" dirty="0">
                <a:solidFill>
                  <a:schemeClr val="tx1"/>
                </a:solidFill>
                <a:latin typeface="Times New Roman" panose="02020603050405020304" pitchFamily="18" charset="0"/>
                <a:cs typeface="Times New Roman" panose="02020603050405020304" pitchFamily="18" charset="0"/>
              </a:rPr>
              <a:t>1960s – Simula 67 (Norway): </a:t>
            </a:r>
            <a:r>
              <a:rPr lang="en-US" altLang="ja-JP" sz="2400" dirty="0">
                <a:solidFill>
                  <a:schemeClr val="tx1"/>
                </a:solidFill>
                <a:latin typeface="Times New Roman" panose="02020603050405020304" pitchFamily="18" charset="0"/>
                <a:cs typeface="Times New Roman" panose="02020603050405020304" pitchFamily="18" charset="0"/>
              </a:rPr>
              <a:t>First OOP language, simulations (like simulating ships, traffic, factories). Classes, objects, and inheritance → the foundations of OOP.</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1970s – Smalltalk (USA): </a:t>
            </a:r>
            <a:r>
              <a:rPr lang="en-US" altLang="ja-JP" sz="2000" dirty="0">
                <a:solidFill>
                  <a:schemeClr val="tx1"/>
                </a:solidFill>
                <a:latin typeface="Times New Roman" panose="02020603050405020304" pitchFamily="18" charset="0"/>
                <a:cs typeface="Times New Roman" panose="02020603050405020304" pitchFamily="18" charset="0"/>
              </a:rPr>
              <a:t> popularized the term </a:t>
            </a:r>
            <a:r>
              <a:rPr lang="en-US" altLang="ja-JP" sz="2000" i="1" dirty="0">
                <a:solidFill>
                  <a:schemeClr val="tx1"/>
                </a:solidFill>
                <a:latin typeface="Times New Roman" panose="02020603050405020304" pitchFamily="18" charset="0"/>
                <a:cs typeface="Times New Roman" panose="02020603050405020304" pitchFamily="18" charset="0"/>
              </a:rPr>
              <a:t>Object-Oriented Programming</a:t>
            </a:r>
            <a:r>
              <a:rPr lang="en-US" altLang="ja-JP" sz="2000" dirty="0">
                <a:solidFill>
                  <a:schemeClr val="tx1"/>
                </a:solidFill>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fully OOP (everything is an object)., Influenced GUI development and later languages.</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1980s – C++ (Denmark): Bjarne </a:t>
            </a:r>
            <a:r>
              <a:rPr lang="en-US" altLang="ja-JP" sz="2000" b="1" dirty="0" err="1">
                <a:solidFill>
                  <a:schemeClr val="tx1"/>
                </a:solidFill>
                <a:latin typeface="Times New Roman" panose="02020603050405020304" pitchFamily="18" charset="0"/>
                <a:cs typeface="Times New Roman" panose="02020603050405020304" pitchFamily="18" charset="0"/>
              </a:rPr>
              <a:t>Stroustrup</a:t>
            </a:r>
            <a:r>
              <a:rPr lang="en-US" altLang="ja-JP" sz="2000" dirty="0">
                <a:solidFill>
                  <a:schemeClr val="tx1"/>
                </a:solidFill>
                <a:latin typeface="Times New Roman" panose="02020603050405020304" pitchFamily="18" charset="0"/>
                <a:cs typeface="Times New Roman" panose="02020603050405020304" pitchFamily="18" charset="0"/>
              </a:rPr>
              <a:t> extended C with classes → </a:t>
            </a:r>
            <a:r>
              <a:rPr lang="en-US" altLang="ja-JP" sz="2000" b="1" dirty="0">
                <a:solidFill>
                  <a:schemeClr val="tx1"/>
                </a:solidFill>
                <a:latin typeface="Times New Roman" panose="02020603050405020304" pitchFamily="18" charset="0"/>
                <a:cs typeface="Times New Roman" panose="02020603050405020304" pitchFamily="18" charset="0"/>
              </a:rPr>
              <a:t>C++</a:t>
            </a:r>
            <a:r>
              <a:rPr lang="en-US" altLang="ja-JP" sz="2000" dirty="0">
                <a:solidFill>
                  <a:schemeClr val="tx1"/>
                </a:solidFill>
                <a:latin typeface="Times New Roman" panose="02020603050405020304" pitchFamily="18" charset="0"/>
                <a:cs typeface="Times New Roman" panose="02020603050405020304" pitchFamily="18" charset="0"/>
              </a:rPr>
              <a:t>.,  OOP into mainstream software engineering.</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1990s – Java (USA): </a:t>
            </a:r>
            <a:r>
              <a:rPr lang="en-US" altLang="ja-JP" sz="2000" dirty="0">
                <a:solidFill>
                  <a:schemeClr val="tx1"/>
                </a:solidFill>
                <a:latin typeface="Times New Roman" panose="02020603050405020304" pitchFamily="18" charset="0"/>
                <a:cs typeface="Times New Roman" panose="02020603050405020304" pitchFamily="18" charset="0"/>
              </a:rPr>
              <a:t>Sun Microsystems introduced </a:t>
            </a:r>
            <a:r>
              <a:rPr lang="en-US" altLang="ja-JP" sz="2000" b="1" dirty="0">
                <a:solidFill>
                  <a:schemeClr val="tx1"/>
                </a:solidFill>
                <a:latin typeface="Times New Roman" panose="02020603050405020304" pitchFamily="18" charset="0"/>
                <a:cs typeface="Times New Roman" panose="02020603050405020304" pitchFamily="18" charset="0"/>
              </a:rPr>
              <a:t>Java</a:t>
            </a:r>
            <a:r>
              <a:rPr lang="en-US" altLang="ja-JP" sz="2000" dirty="0">
                <a:solidFill>
                  <a:schemeClr val="tx1"/>
                </a:solidFill>
                <a:latin typeface="Times New Roman" panose="02020603050405020304" pitchFamily="18" charset="0"/>
                <a:cs typeface="Times New Roman" panose="02020603050405020304" pitchFamily="18" charset="0"/>
              </a:rPr>
              <a:t> (by James Gosling). Platform-independent, heavily OOP, designed for the internet era. Became very popular for enterprise software.</a:t>
            </a:r>
          </a:p>
          <a:p>
            <a:pPr marL="342900" indent="-342900" algn="l">
              <a:spcBef>
                <a:spcPts val="0"/>
              </a:spcBef>
              <a:buFont typeface="Wingdings" panose="05000000000000000000" pitchFamily="2" charset="2"/>
              <a:buChar char="ü"/>
            </a:pPr>
            <a:endParaRPr lang="en-US" altLang="ja-JP" sz="14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ts val="0"/>
              </a:spcBef>
              <a:buClrTx/>
              <a:buSzTx/>
              <a:buFont typeface="Wingdings" panose="05000000000000000000" pitchFamily="2" charset="2"/>
              <a:buChar char="ü"/>
              <a:tabLst/>
            </a:pPr>
            <a:r>
              <a:rPr kumimoji="0" lang="en-US" altLang="ja-JP"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Reason OOP was used first: To manage software complexity by modeling real-world concepts as "objects".</a:t>
            </a:r>
          </a:p>
          <a:p>
            <a:pPr marL="342900" marR="0" lvl="0" indent="-342900" algn="l" defTabSz="914400" rtl="0" eaLnBrk="0" fontAlgn="base" latinLnBrk="0" hangingPunct="0">
              <a:lnSpc>
                <a:spcPct val="100000"/>
              </a:lnSpc>
              <a:spcBef>
                <a:spcPts val="0"/>
              </a:spcBef>
              <a:buClrTx/>
              <a:buSzTx/>
              <a:buFont typeface="Wingdings" panose="05000000000000000000" pitchFamily="2" charset="2"/>
              <a:buChar char="ü"/>
              <a:tabLst/>
            </a:pPr>
            <a:r>
              <a:rPr kumimoji="0" lang="en-US" altLang="ja-JP"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Inventors:Simula</a:t>
            </a:r>
            <a:r>
              <a:rPr kumimoji="0" lang="en-US" altLang="ja-JP"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67 → Dahl &amp; Nygaard (first OOP language).</a:t>
            </a:r>
          </a:p>
          <a:p>
            <a:pPr marL="342900" marR="0" lvl="0" indent="-342900" algn="l" defTabSz="914400" rtl="0" eaLnBrk="0" fontAlgn="base" latinLnBrk="0" hangingPunct="0">
              <a:lnSpc>
                <a:spcPct val="100000"/>
              </a:lnSpc>
              <a:spcBef>
                <a:spcPts val="0"/>
              </a:spcBef>
              <a:buClrTx/>
              <a:buSzTx/>
              <a:buFont typeface="Wingdings" panose="05000000000000000000" pitchFamily="2" charset="2"/>
              <a:buChar char="ü"/>
              <a:tabLst/>
            </a:pPr>
            <a:r>
              <a:rPr kumimoji="0" lang="en-US" altLang="ja-JP"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Smalltalk → Alan Kay (spread OOP philosophy).</a:t>
            </a:r>
          </a:p>
          <a:p>
            <a:pPr marL="342900" marR="0" lvl="0" indent="-342900" algn="l" defTabSz="914400" rtl="0" eaLnBrk="0" fontAlgn="base" latinLnBrk="0" hangingPunct="0">
              <a:lnSpc>
                <a:spcPct val="100000"/>
              </a:lnSpc>
              <a:spcBef>
                <a:spcPts val="0"/>
              </a:spcBef>
              <a:buClrTx/>
              <a:buSzTx/>
              <a:buFont typeface="Wingdings" panose="05000000000000000000" pitchFamily="2" charset="2"/>
              <a:buChar char="ü"/>
              <a:tabLst/>
            </a:pPr>
            <a:r>
              <a:rPr kumimoji="0" lang="en-US" altLang="ja-JP"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 &amp; Java → made OOP widely practical.</a:t>
            </a:r>
          </a:p>
          <a:p>
            <a:pPr marL="342900" marR="0" lvl="0" indent="-342900" algn="l" defTabSz="914400" rtl="0" eaLnBrk="0" fontAlgn="base" latinLnBrk="0" hangingPunct="0">
              <a:lnSpc>
                <a:spcPct val="100000"/>
              </a:lnSpc>
              <a:spcBef>
                <a:spcPct val="0"/>
              </a:spcBef>
              <a:spcAft>
                <a:spcPts val="1200"/>
              </a:spcAft>
              <a:buClrTx/>
              <a:buSzTx/>
              <a:buFont typeface="Wingdings" panose="05000000000000000000" pitchFamily="2" charset="2"/>
              <a:buChar char="ü"/>
              <a:tabLst/>
            </a:pPr>
            <a:endPar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03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sv-SE" sz="3600" b="1" dirty="0">
                <a:latin typeface="Times New Roman" pitchFamily="18" charset="0"/>
                <a:cs typeface="Times New Roman" pitchFamily="18" charset="0"/>
              </a:rPr>
              <a:t>System Scenario-1: "Dhaka Urban Management System (DUMS)”</a:t>
            </a:r>
            <a:endParaRPr lang="en-US" sz="3600" b="1" dirty="0">
              <a:latin typeface="Times New Roman" pitchFamily="18" charset="0"/>
              <a:cs typeface="Times New Roman" pitchFamily="18" charset="0"/>
            </a:endParaRPr>
          </a:p>
        </p:txBody>
      </p:sp>
      <p:sp>
        <p:nvSpPr>
          <p:cNvPr id="4" name="Subtitle 3"/>
          <p:cNvSpPr>
            <a:spLocks noGrp="1"/>
          </p:cNvSpPr>
          <p:nvPr>
            <p:ph type="subTitle" idx="1"/>
          </p:nvPr>
        </p:nvSpPr>
        <p:spPr>
          <a:xfrm>
            <a:off x="99060" y="1319702"/>
            <a:ext cx="9032448" cy="3657600"/>
          </a:xfrm>
        </p:spPr>
        <p:txBody>
          <a:bodyPr>
            <a:noAutofit/>
          </a:bodyPr>
          <a:lstStyle/>
          <a:p>
            <a:pPr marL="457200" indent="-457200" algn="l">
              <a:buFont typeface="Wingdings" panose="05000000000000000000" pitchFamily="2" charset="2"/>
              <a:buChar char="ü"/>
            </a:pPr>
            <a:r>
              <a:rPr lang="en-US" altLang="ja-JP" dirty="0">
                <a:solidFill>
                  <a:schemeClr val="tx1"/>
                </a:solidFill>
                <a:latin typeface="Times New Roman" panose="02020603050405020304" pitchFamily="18" charset="0"/>
                <a:cs typeface="Times New Roman" panose="02020603050405020304" pitchFamily="18" charset="0"/>
              </a:rPr>
              <a:t>Dhaka has 3 major problems: </a:t>
            </a:r>
          </a:p>
          <a:p>
            <a:pPr marL="914400" lvl="1" indent="-457200" algn="l">
              <a:buFont typeface="Wingdings" panose="05000000000000000000" pitchFamily="2" charset="2"/>
              <a:buChar char="Ø"/>
            </a:pPr>
            <a:r>
              <a:rPr lang="en-US" altLang="ja-JP" dirty="0">
                <a:solidFill>
                  <a:schemeClr val="tx1"/>
                </a:solidFill>
                <a:latin typeface="Times New Roman" panose="02020603050405020304" pitchFamily="18" charset="0"/>
                <a:cs typeface="Times New Roman" panose="02020603050405020304" pitchFamily="18" charset="0"/>
              </a:rPr>
              <a:t>House allocation (overpopulation, unequal distribution) </a:t>
            </a:r>
          </a:p>
          <a:p>
            <a:pPr marL="914400" lvl="1" indent="-457200" algn="l">
              <a:buFont typeface="Wingdings" panose="05000000000000000000" pitchFamily="2" charset="2"/>
              <a:buChar char="Ø"/>
            </a:pPr>
            <a:r>
              <a:rPr lang="en-US" altLang="ja-JP" dirty="0">
                <a:solidFill>
                  <a:schemeClr val="tx1"/>
                </a:solidFill>
                <a:latin typeface="Times New Roman" panose="02020603050405020304" pitchFamily="18" charset="0"/>
                <a:cs typeface="Times New Roman" panose="02020603050405020304" pitchFamily="18" charset="0"/>
              </a:rPr>
              <a:t>Garbage management (waste disposal everywhere)</a:t>
            </a:r>
          </a:p>
          <a:p>
            <a:pPr lvl="1" algn="l"/>
            <a:r>
              <a:rPr lang="en-US" altLang="ja-JP" sz="1400" dirty="0">
                <a:solidFill>
                  <a:schemeClr val="tx1"/>
                </a:solidFill>
                <a:latin typeface="Times New Roman" panose="02020603050405020304" pitchFamily="18" charset="0"/>
                <a:cs typeface="Times New Roman" panose="02020603050405020304" pitchFamily="18" charset="0"/>
                <a:hlinkClick r:id="rId3"/>
              </a:rPr>
              <a:t>      https://www.youtube.com/watch?v=TcWPIXDQhz8</a:t>
            </a:r>
            <a:endParaRPr lang="en-US" altLang="ja-JP" sz="1400" dirty="0">
              <a:solidFill>
                <a:schemeClr val="tx1"/>
              </a:solidFill>
              <a:latin typeface="Times New Roman" panose="02020603050405020304" pitchFamily="18" charset="0"/>
              <a:cs typeface="Times New Roman" panose="02020603050405020304" pitchFamily="18" charset="0"/>
            </a:endParaRPr>
          </a:p>
          <a:p>
            <a:pPr marL="914400" lvl="1" indent="-457200" algn="l">
              <a:buFont typeface="Wingdings" panose="05000000000000000000" pitchFamily="2" charset="2"/>
              <a:buChar char="Ø"/>
            </a:pPr>
            <a:r>
              <a:rPr lang="en-US" altLang="ja-JP" dirty="0">
                <a:solidFill>
                  <a:schemeClr val="tx1"/>
                </a:solidFill>
                <a:latin typeface="Times New Roman" panose="02020603050405020304" pitchFamily="18" charset="0"/>
                <a:cs typeface="Times New Roman" panose="02020603050405020304" pitchFamily="18" charset="0"/>
              </a:rPr>
              <a:t>Traffic control (congestion, poor flow) </a:t>
            </a:r>
            <a:r>
              <a:rPr lang="en-US" altLang="ja-JP" sz="1400" dirty="0">
                <a:solidFill>
                  <a:schemeClr val="tx1"/>
                </a:solidFill>
                <a:latin typeface="Times New Roman" panose="02020603050405020304" pitchFamily="18" charset="0"/>
                <a:cs typeface="Times New Roman" panose="02020603050405020304" pitchFamily="18" charset="0"/>
                <a:hlinkClick r:id="rId4"/>
              </a:rPr>
              <a:t>https://www.youtube.com/watch?v=b_mCu2_RQg4</a:t>
            </a:r>
            <a:endParaRPr lang="en-US" altLang="ja-JP" sz="14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r>
              <a:rPr lang="en-US" altLang="ja-JP" dirty="0">
                <a:solidFill>
                  <a:schemeClr val="tx1"/>
                </a:solidFill>
                <a:latin typeface="Times New Roman" panose="02020603050405020304" pitchFamily="18" charset="0"/>
                <a:cs typeface="Times New Roman" panose="02020603050405020304" pitchFamily="18" charset="0"/>
              </a:rPr>
              <a:t>We will design a software system to monitor and manage these problems.</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8</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5"/>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6"/>
          <a:stretch>
            <a:fillRect/>
          </a:stretch>
        </p:blipFill>
        <p:spPr>
          <a:xfrm flipV="1">
            <a:off x="8203231" y="6300298"/>
            <a:ext cx="928277" cy="557702"/>
          </a:xfrm>
          <a:prstGeom prst="rect">
            <a:avLst/>
          </a:prstGeom>
        </p:spPr>
      </p:pic>
      <p:sp>
        <p:nvSpPr>
          <p:cNvPr id="7" name="TextBox 6">
            <a:extLst>
              <a:ext uri="{FF2B5EF4-FFF2-40B4-BE49-F238E27FC236}">
                <a16:creationId xmlns:a16="http://schemas.microsoft.com/office/drawing/2014/main" id="{083429E5-2F15-DF58-F71D-CA0C6FB6F5B8}"/>
              </a:ext>
            </a:extLst>
          </p:cNvPr>
          <p:cNvSpPr txBox="1"/>
          <p:nvPr/>
        </p:nvSpPr>
        <p:spPr>
          <a:xfrm>
            <a:off x="748123" y="6458115"/>
            <a:ext cx="7318190" cy="369332"/>
          </a:xfrm>
          <a:prstGeom prst="rect">
            <a:avLst/>
          </a:prstGeom>
          <a:noFill/>
        </p:spPr>
        <p:txBody>
          <a:bodyPr wrap="square">
            <a:spAutoFit/>
          </a:bodyPr>
          <a:lstStyle/>
          <a:p>
            <a:r>
              <a:rPr lang="en-US" dirty="0"/>
              <a:t>Use Case Scenario: “Dhaka Urban Management System (DUMS)</a:t>
            </a:r>
          </a:p>
        </p:txBody>
      </p:sp>
    </p:spTree>
    <p:extLst>
      <p:ext uri="{BB962C8B-B14F-4D97-AF65-F5344CB8AC3E}">
        <p14:creationId xmlns:p14="http://schemas.microsoft.com/office/powerpoint/2010/main" val="392319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5A636-BA1E-F86A-ABC5-E7B55F1C7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E0992-7383-1271-247C-94462E6C41AC}"/>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sv-SE" sz="3600" b="1" dirty="0">
                <a:latin typeface="Times New Roman" pitchFamily="18" charset="0"/>
                <a:cs typeface="Times New Roman" pitchFamily="18" charset="0"/>
              </a:rPr>
              <a:t>System Overview</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A24FD3DA-E556-0A09-681C-8C6ECEEE13EB}"/>
              </a:ext>
            </a:extLst>
          </p:cNvPr>
          <p:cNvSpPr>
            <a:spLocks noGrp="1"/>
          </p:cNvSpPr>
          <p:nvPr>
            <p:ph type="subTitle" idx="1"/>
          </p:nvPr>
        </p:nvSpPr>
        <p:spPr>
          <a:xfrm>
            <a:off x="99060" y="1319702"/>
            <a:ext cx="9032448" cy="3657600"/>
          </a:xfrm>
        </p:spPr>
        <p:txBody>
          <a:bodyPr>
            <a:noAutofit/>
          </a:bodyPr>
          <a:lstStyle/>
          <a:p>
            <a:pPr algn="l"/>
            <a:r>
              <a:rPr lang="en-US" sz="2400" dirty="0">
                <a:solidFill>
                  <a:schemeClr val="tx1"/>
                </a:solidFill>
                <a:latin typeface="Times New Roman" panose="02020603050405020304" pitchFamily="18" charset="0"/>
                <a:cs typeface="Times New Roman" panose="02020603050405020304" pitchFamily="18" charset="0"/>
              </a:rPr>
              <a:t>“Dhaka Urban Management System (DUMS)” is a centralized software platform designed to help city authorities manage three major urban problems in Dhaka: </a:t>
            </a:r>
            <a:r>
              <a:rPr lang="en-US" sz="2400" b="1" dirty="0">
                <a:solidFill>
                  <a:schemeClr val="tx1"/>
                </a:solidFill>
                <a:latin typeface="Times New Roman" panose="02020603050405020304" pitchFamily="18" charset="0"/>
                <a:cs typeface="Times New Roman" panose="02020603050405020304" pitchFamily="18" charset="0"/>
              </a:rPr>
              <a:t>housing allocation, garbage management, and traffic control</a:t>
            </a:r>
            <a:r>
              <a:rPr lang="en-US" sz="2400" dirty="0">
                <a:solidFill>
                  <a:schemeClr val="tx1"/>
                </a:solidFill>
                <a:latin typeface="Times New Roman" panose="02020603050405020304" pitchFamily="18" charset="0"/>
                <a:cs typeface="Times New Roman" panose="02020603050405020304" pitchFamily="18" charset="0"/>
              </a:rPr>
              <a:t>. Citizens, government officials, garbage workers, and traffic authorities will use the system through a web or mobile application.</a:t>
            </a:r>
          </a:p>
          <a:p>
            <a:pPr algn="l"/>
            <a:r>
              <a:rPr lang="en-US" sz="2400" dirty="0">
                <a:solidFill>
                  <a:schemeClr val="tx1"/>
                </a:solidFill>
                <a:latin typeface="Times New Roman" panose="02020603050405020304" pitchFamily="18" charset="0"/>
                <a:cs typeface="Times New Roman" panose="02020603050405020304" pitchFamily="18" charset="0"/>
              </a:rPr>
              <a:t>The system will collect real-time data, store it in a central database, and use AI/ML-based decision support to improve housing distribution, waste collection, and traffic flow.</a:t>
            </a:r>
          </a:p>
        </p:txBody>
      </p:sp>
      <p:sp>
        <p:nvSpPr>
          <p:cNvPr id="3" name="Slide Number Placeholder 2">
            <a:extLst>
              <a:ext uri="{FF2B5EF4-FFF2-40B4-BE49-F238E27FC236}">
                <a16:creationId xmlns:a16="http://schemas.microsoft.com/office/drawing/2014/main" id="{45B8C70E-37E9-BB7D-7B3E-8A374ACF3ADB}"/>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9</a:t>
            </a:fld>
            <a:endParaRPr lang="en-US" dirty="0">
              <a:solidFill>
                <a:schemeClr val="tx1"/>
              </a:solidFill>
            </a:endParaRPr>
          </a:p>
        </p:txBody>
      </p:sp>
      <p:pic>
        <p:nvPicPr>
          <p:cNvPr id="6" name="Picture 5">
            <a:extLst>
              <a:ext uri="{FF2B5EF4-FFF2-40B4-BE49-F238E27FC236}">
                <a16:creationId xmlns:a16="http://schemas.microsoft.com/office/drawing/2014/main" id="{DE036C10-9E27-030B-A2AF-6A5A6A6B5361}"/>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20ACCF78-41DA-2F9B-CE8E-C358FB6511A4}"/>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TextBox 6">
            <a:extLst>
              <a:ext uri="{FF2B5EF4-FFF2-40B4-BE49-F238E27FC236}">
                <a16:creationId xmlns:a16="http://schemas.microsoft.com/office/drawing/2014/main" id="{6C3C23F3-3DB4-7139-A198-D7A488BC6614}"/>
              </a:ext>
            </a:extLst>
          </p:cNvPr>
          <p:cNvSpPr txBox="1"/>
          <p:nvPr/>
        </p:nvSpPr>
        <p:spPr>
          <a:xfrm>
            <a:off x="748123" y="6458115"/>
            <a:ext cx="7318190" cy="369332"/>
          </a:xfrm>
          <a:prstGeom prst="rect">
            <a:avLst/>
          </a:prstGeom>
          <a:noFill/>
        </p:spPr>
        <p:txBody>
          <a:bodyPr wrap="square">
            <a:spAutoFit/>
          </a:bodyPr>
          <a:lstStyle/>
          <a:p>
            <a:r>
              <a:rPr lang="en-US" dirty="0"/>
              <a:t>Use Case Scenario: “Dhaka Urban Management System (DUMS)</a:t>
            </a:r>
          </a:p>
        </p:txBody>
      </p:sp>
    </p:spTree>
    <p:extLst>
      <p:ext uri="{BB962C8B-B14F-4D97-AF65-F5344CB8AC3E}">
        <p14:creationId xmlns:p14="http://schemas.microsoft.com/office/powerpoint/2010/main" val="258208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sv-SE" sz="3600" b="1" dirty="0">
                <a:latin typeface="Times New Roman" pitchFamily="18" charset="0"/>
                <a:cs typeface="Times New Roman" pitchFamily="18" charset="0"/>
              </a:rPr>
              <a:t>System Scenario-1: "Dhaka Urban Management System (DUMS)”</a:t>
            </a:r>
            <a:endParaRPr lang="en-US" sz="3600" b="1" dirty="0">
              <a:latin typeface="Times New Roman" pitchFamily="18" charset="0"/>
              <a:cs typeface="Times New Roman" pitchFamily="18" charset="0"/>
            </a:endParaRPr>
          </a:p>
        </p:txBody>
      </p:sp>
      <p:sp>
        <p:nvSpPr>
          <p:cNvPr id="4" name="Subtitle 3"/>
          <p:cNvSpPr>
            <a:spLocks noGrp="1"/>
          </p:cNvSpPr>
          <p:nvPr>
            <p:ph type="subTitle" idx="1"/>
          </p:nvPr>
        </p:nvSpPr>
        <p:spPr>
          <a:xfrm>
            <a:off x="0" y="1319702"/>
            <a:ext cx="9131508" cy="5309698"/>
          </a:xfrm>
        </p:spPr>
        <p:txBody>
          <a:bodyPr>
            <a:noAutofit/>
          </a:bodyPr>
          <a:lstStyle/>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Goal: A centralized platform to manage housing allocation, garbage collection, and traffic control in Dhaka.</a:t>
            </a:r>
          </a:p>
          <a:p>
            <a:pPr marL="457200" indent="-457200" algn="l">
              <a:buFont typeface="Wingdings" panose="05000000000000000000" pitchFamily="2" charset="2"/>
              <a:buChar char="ü"/>
            </a:pPr>
            <a:r>
              <a:rPr lang="en-US" altLang="ja-JP" sz="2400" i="0" dirty="0">
                <a:solidFill>
                  <a:srgbClr val="00B050"/>
                </a:solidFill>
                <a:effectLst/>
                <a:latin typeface="Times New Roman" panose="02020603050405020304" pitchFamily="18" charset="0"/>
                <a:cs typeface="Times New Roman" panose="02020603050405020304" pitchFamily="18" charset="0"/>
              </a:rPr>
              <a:t>Housing Allocation Module</a:t>
            </a:r>
          </a:p>
          <a:p>
            <a:pPr marL="1257300" lvl="2" indent="-342900" algn="l">
              <a:buFont typeface="Wingdings" panose="05000000000000000000" pitchFamily="2" charset="2"/>
              <a:buChar char="Ø"/>
            </a:pPr>
            <a:r>
              <a:rPr lang="en-US" altLang="ja-JP" sz="2000" b="0" i="0" dirty="0">
                <a:solidFill>
                  <a:srgbClr val="404040"/>
                </a:solidFill>
                <a:effectLst/>
                <a:latin typeface="Times New Roman" panose="02020603050405020304" pitchFamily="18" charset="0"/>
                <a:cs typeface="Times New Roman" panose="02020603050405020304" pitchFamily="18" charset="0"/>
              </a:rPr>
              <a:t>Citizens apply for housing permits.</a:t>
            </a:r>
          </a:p>
          <a:p>
            <a:pPr marL="1257300" lvl="2" indent="-342900" algn="l">
              <a:buFont typeface="Wingdings" panose="05000000000000000000" pitchFamily="2" charset="2"/>
              <a:buChar char="Ø"/>
            </a:pPr>
            <a:r>
              <a:rPr lang="en-US" altLang="ja-JP" sz="2000" b="0" i="0" dirty="0">
                <a:solidFill>
                  <a:srgbClr val="404040"/>
                </a:solidFill>
                <a:effectLst/>
                <a:latin typeface="Times New Roman" panose="02020603050405020304" pitchFamily="18" charset="0"/>
                <a:cs typeface="Times New Roman" panose="02020603050405020304" pitchFamily="18" charset="0"/>
              </a:rPr>
              <a:t>Government reviews applications based on availability.</a:t>
            </a:r>
          </a:p>
          <a:p>
            <a:pPr marL="1257300" lvl="2" indent="-342900" algn="l">
              <a:buFont typeface="Wingdings" panose="05000000000000000000" pitchFamily="2" charset="2"/>
              <a:buChar char="Ø"/>
            </a:pPr>
            <a:r>
              <a:rPr lang="en-US" altLang="ja-JP" sz="2000" b="0" i="0" dirty="0">
                <a:solidFill>
                  <a:srgbClr val="404040"/>
                </a:solidFill>
                <a:effectLst/>
                <a:latin typeface="Times New Roman" panose="02020603050405020304" pitchFamily="18" charset="0"/>
                <a:cs typeface="Times New Roman" panose="02020603050405020304" pitchFamily="18" charset="0"/>
              </a:rPr>
              <a:t>Automated allocation based on income, family size, and location /area.</a:t>
            </a:r>
          </a:p>
          <a:p>
            <a:pPr marL="457200" indent="-457200" algn="l">
              <a:buFont typeface="Wingdings" panose="05000000000000000000" pitchFamily="2" charset="2"/>
              <a:buChar char="ü"/>
            </a:pPr>
            <a:r>
              <a:rPr lang="en-US" altLang="ja-JP" sz="2400" b="1" i="0" dirty="0">
                <a:solidFill>
                  <a:srgbClr val="00B050"/>
                </a:solidFill>
                <a:effectLst/>
                <a:latin typeface="Times New Roman" panose="02020603050405020304" pitchFamily="18" charset="0"/>
                <a:cs typeface="Times New Roman" panose="02020603050405020304" pitchFamily="18" charset="0"/>
              </a:rPr>
              <a:t>Garbage Management Module</a:t>
            </a:r>
            <a:endParaRPr lang="en-US" altLang="ja-JP" sz="2400" b="0" i="0" dirty="0">
              <a:solidFill>
                <a:srgbClr val="00B050"/>
              </a:solidFill>
              <a:effectLst/>
              <a:latin typeface="Times New Roman" panose="02020603050405020304" pitchFamily="18" charset="0"/>
              <a:cs typeface="Times New Roman" panose="02020603050405020304" pitchFamily="18" charset="0"/>
            </a:endParaRPr>
          </a:p>
          <a:p>
            <a:pPr marL="1371600" lvl="2" indent="-457200" algn="l">
              <a:buFont typeface="Wingdings" panose="05000000000000000000" pitchFamily="2" charset="2"/>
              <a:buChar char="Ø"/>
            </a:pPr>
            <a:r>
              <a:rPr lang="en-US" altLang="ja-JP" sz="2000" b="0" i="0" dirty="0">
                <a:solidFill>
                  <a:srgbClr val="404040"/>
                </a:solidFill>
                <a:effectLst/>
                <a:latin typeface="Times New Roman" panose="02020603050405020304" pitchFamily="18" charset="0"/>
                <a:cs typeface="Times New Roman" panose="02020603050405020304" pitchFamily="18" charset="0"/>
              </a:rPr>
              <a:t>Track garbage collection zones.</a:t>
            </a:r>
          </a:p>
          <a:p>
            <a:pPr marL="1371600" lvl="2" indent="-457200" algn="l">
              <a:buFont typeface="Wingdings" panose="05000000000000000000" pitchFamily="2" charset="2"/>
              <a:buChar char="Ø"/>
            </a:pPr>
            <a:r>
              <a:rPr lang="en-US" altLang="ja-JP" sz="2000" b="0" i="0" dirty="0">
                <a:solidFill>
                  <a:srgbClr val="404040"/>
                </a:solidFill>
                <a:effectLst/>
                <a:latin typeface="Times New Roman" panose="02020603050405020304" pitchFamily="18" charset="0"/>
                <a:cs typeface="Times New Roman" panose="02020603050405020304" pitchFamily="18" charset="0"/>
              </a:rPr>
              <a:t>Assign cleanup schedules.</a:t>
            </a:r>
          </a:p>
          <a:p>
            <a:pPr marL="1371600" lvl="2" indent="-457200" algn="l">
              <a:buFont typeface="Wingdings" panose="05000000000000000000" pitchFamily="2" charset="2"/>
              <a:buChar char="Ø"/>
            </a:pPr>
            <a:r>
              <a:rPr lang="en-US" altLang="ja-JP" sz="2000" b="0" i="0" dirty="0">
                <a:solidFill>
                  <a:srgbClr val="404040"/>
                </a:solidFill>
                <a:effectLst/>
                <a:latin typeface="Times New Roman" panose="02020603050405020304" pitchFamily="18" charset="0"/>
                <a:cs typeface="Times New Roman" panose="02020603050405020304" pitchFamily="18" charset="0"/>
              </a:rPr>
              <a:t>Citizen complaints for uncollected waste.</a:t>
            </a:r>
          </a:p>
          <a:p>
            <a:pPr marL="342900" indent="-342900" algn="l">
              <a:buFont typeface="Wingdings" panose="05000000000000000000" pitchFamily="2" charset="2"/>
              <a:buChar char="ü"/>
            </a:pPr>
            <a:r>
              <a:rPr lang="en-US" altLang="ja-JP" sz="2400" b="1" i="0" dirty="0">
                <a:solidFill>
                  <a:srgbClr val="00B050"/>
                </a:solidFill>
                <a:effectLst/>
                <a:latin typeface="Times New Roman" panose="02020603050405020304" pitchFamily="18" charset="0"/>
                <a:cs typeface="Times New Roman" panose="02020603050405020304" pitchFamily="18" charset="0"/>
              </a:rPr>
              <a:t> Traffic Control Module</a:t>
            </a:r>
            <a:endParaRPr lang="en-US" altLang="ja-JP" sz="2400" b="0" i="0" dirty="0">
              <a:solidFill>
                <a:srgbClr val="00B050"/>
              </a:solidFill>
              <a:effectLst/>
              <a:latin typeface="Times New Roman" panose="02020603050405020304" pitchFamily="18" charset="0"/>
              <a:cs typeface="Times New Roman" panose="02020603050405020304" pitchFamily="18" charset="0"/>
            </a:endParaRPr>
          </a:p>
          <a:p>
            <a:pPr marL="1714500" lvl="3" indent="-342900" algn="l">
              <a:buFont typeface="Wingdings" panose="05000000000000000000" pitchFamily="2" charset="2"/>
              <a:buChar char="Ø"/>
            </a:pPr>
            <a:r>
              <a:rPr lang="en-US" altLang="ja-JP" b="0" i="0" dirty="0">
                <a:solidFill>
                  <a:srgbClr val="404040"/>
                </a:solidFill>
                <a:effectLst/>
                <a:latin typeface="Times New Roman" panose="02020603050405020304" pitchFamily="18" charset="0"/>
                <a:cs typeface="Times New Roman" panose="02020603050405020304" pitchFamily="18" charset="0"/>
              </a:rPr>
              <a:t>Real-time traffic monitoring and  Dynamic signal adjustments.</a:t>
            </a:r>
          </a:p>
          <a:p>
            <a:pPr marL="1714500" lvl="3" indent="-342900" algn="l">
              <a:buFont typeface="Wingdings" panose="05000000000000000000" pitchFamily="2" charset="2"/>
              <a:buChar char="Ø"/>
            </a:pPr>
            <a:r>
              <a:rPr lang="en-US" altLang="ja-JP" b="0" i="0" dirty="0">
                <a:solidFill>
                  <a:srgbClr val="404040"/>
                </a:solidFill>
                <a:effectLst/>
                <a:latin typeface="Times New Roman" panose="02020603050405020304" pitchFamily="18" charset="0"/>
                <a:cs typeface="Times New Roman" panose="02020603050405020304" pitchFamily="18" charset="0"/>
              </a:rPr>
              <a:t>Accident/blockage reporting.</a:t>
            </a:r>
          </a:p>
          <a:p>
            <a:pPr marL="1371600" lvl="2" indent="-457200" algn="l">
              <a:buFont typeface="Wingdings" panose="05000000000000000000" pitchFamily="2" charset="2"/>
              <a:buChar char="Ø"/>
            </a:pPr>
            <a:endParaRPr lang="en-US" altLang="ja-JP" sz="2000" b="0" i="0" dirty="0">
              <a:solidFill>
                <a:srgbClr val="404040"/>
              </a:solidFill>
              <a:effectLst/>
              <a:latin typeface="quote-cjk-patch"/>
            </a:endParaRPr>
          </a:p>
          <a:p>
            <a:pPr marL="457200" indent="-457200" algn="l">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10</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2339403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283" y="94396"/>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Main Actors</a:t>
            </a:r>
            <a:endParaRPr lang="en-US" sz="3600" b="1"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11</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graphicFrame>
        <p:nvGraphicFramePr>
          <p:cNvPr id="9" name="Table 8">
            <a:extLst>
              <a:ext uri="{FF2B5EF4-FFF2-40B4-BE49-F238E27FC236}">
                <a16:creationId xmlns:a16="http://schemas.microsoft.com/office/drawing/2014/main" id="{3949721C-F61D-1EB3-6F4B-14ED71DDBDAE}"/>
              </a:ext>
            </a:extLst>
          </p:cNvPr>
          <p:cNvGraphicFramePr>
            <a:graphicFrameLocks noGrp="1"/>
          </p:cNvGraphicFramePr>
          <p:nvPr>
            <p:extLst>
              <p:ext uri="{D42A27DB-BD31-4B8C-83A1-F6EECF244321}">
                <p14:modId xmlns:p14="http://schemas.microsoft.com/office/powerpoint/2010/main" val="257659499"/>
              </p:ext>
            </p:extLst>
          </p:nvPr>
        </p:nvGraphicFramePr>
        <p:xfrm>
          <a:off x="840865" y="1963091"/>
          <a:ext cx="7146258" cy="4616058"/>
        </p:xfrm>
        <a:graphic>
          <a:graphicData uri="http://schemas.openxmlformats.org/drawingml/2006/table">
            <a:tbl>
              <a:tblPr>
                <a:tableStyleId>{3C2FFA5D-87B4-456A-9821-1D502468CF0F}</a:tableStyleId>
              </a:tblPr>
              <a:tblGrid>
                <a:gridCol w="3573129">
                  <a:extLst>
                    <a:ext uri="{9D8B030D-6E8A-4147-A177-3AD203B41FA5}">
                      <a16:colId xmlns:a16="http://schemas.microsoft.com/office/drawing/2014/main" val="3832000660"/>
                    </a:ext>
                  </a:extLst>
                </a:gridCol>
                <a:gridCol w="3573129">
                  <a:extLst>
                    <a:ext uri="{9D8B030D-6E8A-4147-A177-3AD203B41FA5}">
                      <a16:colId xmlns:a16="http://schemas.microsoft.com/office/drawing/2014/main" val="118804699"/>
                    </a:ext>
                  </a:extLst>
                </a:gridCol>
              </a:tblGrid>
              <a:tr h="317611">
                <a:tc>
                  <a:txBody>
                    <a:bodyPr/>
                    <a:lstStyle/>
                    <a:p>
                      <a:pPr>
                        <a:buNone/>
                      </a:pPr>
                      <a:r>
                        <a:rPr lang="en-US" sz="1600" b="1"/>
                        <a:t>Actor</a:t>
                      </a:r>
                    </a:p>
                  </a:txBody>
                  <a:tcPr marL="79403" marR="79403" marT="39701" marB="39701" anchor="ctr"/>
                </a:tc>
                <a:tc>
                  <a:txBody>
                    <a:bodyPr/>
                    <a:lstStyle/>
                    <a:p>
                      <a:pPr>
                        <a:buNone/>
                      </a:pPr>
                      <a:r>
                        <a:rPr lang="en-US" sz="1600" b="1" dirty="0"/>
                        <a:t>Role</a:t>
                      </a:r>
                    </a:p>
                  </a:txBody>
                  <a:tcPr marL="79403" marR="79403" marT="39701" marB="39701" anchor="ctr"/>
                </a:tc>
                <a:extLst>
                  <a:ext uri="{0D108BD9-81ED-4DB2-BD59-A6C34878D82A}">
                    <a16:rowId xmlns:a16="http://schemas.microsoft.com/office/drawing/2014/main" val="781118032"/>
                  </a:ext>
                </a:extLst>
              </a:tr>
              <a:tr h="555820">
                <a:tc>
                  <a:txBody>
                    <a:bodyPr/>
                    <a:lstStyle/>
                    <a:p>
                      <a:pPr>
                        <a:buNone/>
                      </a:pPr>
                      <a:r>
                        <a:rPr lang="en-US" sz="1600" dirty="0">
                          <a:latin typeface="Times New Roman" panose="02020603050405020304" pitchFamily="18" charset="0"/>
                          <a:cs typeface="Times New Roman" panose="02020603050405020304" pitchFamily="18" charset="0"/>
                        </a:rPr>
                        <a:t>Citizen</a:t>
                      </a:r>
                    </a:p>
                  </a:txBody>
                  <a:tcPr marL="79403" marR="79403" marT="39701" marB="39701" anchor="ctr"/>
                </a:tc>
                <a:tc>
                  <a:txBody>
                    <a:bodyPr/>
                    <a:lstStyle/>
                    <a:p>
                      <a:pPr>
                        <a:buNone/>
                      </a:pPr>
                      <a:r>
                        <a:rPr lang="en-US" sz="1600">
                          <a:latin typeface="Times New Roman" panose="02020603050405020304" pitchFamily="18" charset="0"/>
                          <a:cs typeface="Times New Roman" panose="02020603050405020304" pitchFamily="18" charset="0"/>
                        </a:rPr>
                        <a:t>Applies for housing, reports garbage issues, reports traffic accidents/blockages</a:t>
                      </a:r>
                    </a:p>
                  </a:txBody>
                  <a:tcPr marL="79403" marR="79403" marT="39701" marB="39701" anchor="ctr"/>
                </a:tc>
                <a:extLst>
                  <a:ext uri="{0D108BD9-81ED-4DB2-BD59-A6C34878D82A}">
                    <a16:rowId xmlns:a16="http://schemas.microsoft.com/office/drawing/2014/main" val="3335153828"/>
                  </a:ext>
                </a:extLst>
              </a:tr>
              <a:tr h="555820">
                <a:tc>
                  <a:txBody>
                    <a:bodyPr/>
                    <a:lstStyle/>
                    <a:p>
                      <a:pPr>
                        <a:buNone/>
                      </a:pPr>
                      <a:r>
                        <a:rPr lang="en-US" sz="1600" dirty="0">
                          <a:latin typeface="Times New Roman" panose="02020603050405020304" pitchFamily="18" charset="0"/>
                          <a:cs typeface="Times New Roman" panose="02020603050405020304" pitchFamily="18" charset="0"/>
                        </a:rPr>
                        <a:t>Housing Authority</a:t>
                      </a:r>
                    </a:p>
                  </a:txBody>
                  <a:tcPr marL="79403" marR="79403" marT="39701" marB="39701" anchor="ctr"/>
                </a:tc>
                <a:tc>
                  <a:txBody>
                    <a:bodyPr/>
                    <a:lstStyle/>
                    <a:p>
                      <a:pPr>
                        <a:buNone/>
                      </a:pPr>
                      <a:r>
                        <a:rPr lang="en-US" sz="1600">
                          <a:latin typeface="Times New Roman" panose="02020603050405020304" pitchFamily="18" charset="0"/>
                          <a:cs typeface="Times New Roman" panose="02020603050405020304" pitchFamily="18" charset="0"/>
                        </a:rPr>
                        <a:t>Reviews housing applications and approves allocation</a:t>
                      </a:r>
                    </a:p>
                  </a:txBody>
                  <a:tcPr marL="79403" marR="79403" marT="39701" marB="39701" anchor="ctr"/>
                </a:tc>
                <a:extLst>
                  <a:ext uri="{0D108BD9-81ED-4DB2-BD59-A6C34878D82A}">
                    <a16:rowId xmlns:a16="http://schemas.microsoft.com/office/drawing/2014/main" val="1007694944"/>
                  </a:ext>
                </a:extLst>
              </a:tr>
              <a:tr h="555820">
                <a:tc>
                  <a:txBody>
                    <a:bodyPr/>
                    <a:lstStyle/>
                    <a:p>
                      <a:pPr>
                        <a:buNone/>
                      </a:pPr>
                      <a:r>
                        <a:rPr lang="en-US" sz="1600" dirty="0">
                          <a:latin typeface="Times New Roman" panose="02020603050405020304" pitchFamily="18" charset="0"/>
                          <a:cs typeface="Times New Roman" panose="02020603050405020304" pitchFamily="18" charset="0"/>
                        </a:rPr>
                        <a:t>City Authority/Admin</a:t>
                      </a:r>
                    </a:p>
                  </a:txBody>
                  <a:tcPr marL="79403" marR="79403" marT="39701" marB="39701" anchor="ctr"/>
                </a:tc>
                <a:tc>
                  <a:txBody>
                    <a:bodyPr/>
                    <a:lstStyle/>
                    <a:p>
                      <a:pPr>
                        <a:buNone/>
                      </a:pPr>
                      <a:r>
                        <a:rPr lang="en-US" sz="1600" dirty="0">
                          <a:latin typeface="Times New Roman" panose="02020603050405020304" pitchFamily="18" charset="0"/>
                          <a:cs typeface="Times New Roman" panose="02020603050405020304" pitchFamily="18" charset="0"/>
                        </a:rPr>
                        <a:t>Monitors the whole system and makes policy decisions</a:t>
                      </a:r>
                    </a:p>
                  </a:txBody>
                  <a:tcPr marL="79403" marR="79403" marT="39701" marB="39701" anchor="ctr"/>
                </a:tc>
                <a:extLst>
                  <a:ext uri="{0D108BD9-81ED-4DB2-BD59-A6C34878D82A}">
                    <a16:rowId xmlns:a16="http://schemas.microsoft.com/office/drawing/2014/main" val="2628378007"/>
                  </a:ext>
                </a:extLst>
              </a:tr>
              <a:tr h="555820">
                <a:tc>
                  <a:txBody>
                    <a:bodyPr/>
                    <a:lstStyle/>
                    <a:p>
                      <a:pPr>
                        <a:buNone/>
                      </a:pPr>
                      <a:r>
                        <a:rPr lang="en-US" sz="1600">
                          <a:latin typeface="Times New Roman" panose="02020603050405020304" pitchFamily="18" charset="0"/>
                          <a:cs typeface="Times New Roman" panose="02020603050405020304" pitchFamily="18" charset="0"/>
                        </a:rPr>
                        <a:t>Garbage Management Officer</a:t>
                      </a:r>
                    </a:p>
                  </a:txBody>
                  <a:tcPr marL="79403" marR="79403" marT="39701" marB="39701" anchor="ctr"/>
                </a:tc>
                <a:tc>
                  <a:txBody>
                    <a:bodyPr/>
                    <a:lstStyle/>
                    <a:p>
                      <a:pPr>
                        <a:buNone/>
                      </a:pPr>
                      <a:r>
                        <a:rPr lang="en-US" sz="1600" dirty="0">
                          <a:latin typeface="Times New Roman" panose="02020603050405020304" pitchFamily="18" charset="0"/>
                          <a:cs typeface="Times New Roman" panose="02020603050405020304" pitchFamily="18" charset="0"/>
                        </a:rPr>
                        <a:t>Creates collection schedules and assigns trucks</a:t>
                      </a:r>
                    </a:p>
                  </a:txBody>
                  <a:tcPr marL="79403" marR="79403" marT="39701" marB="39701" anchor="ctr"/>
                </a:tc>
                <a:extLst>
                  <a:ext uri="{0D108BD9-81ED-4DB2-BD59-A6C34878D82A}">
                    <a16:rowId xmlns:a16="http://schemas.microsoft.com/office/drawing/2014/main" val="1518086109"/>
                  </a:ext>
                </a:extLst>
              </a:tr>
              <a:tr h="317611">
                <a:tc>
                  <a:txBody>
                    <a:bodyPr/>
                    <a:lstStyle/>
                    <a:p>
                      <a:pPr>
                        <a:buNone/>
                      </a:pPr>
                      <a:r>
                        <a:rPr lang="en-US" sz="1600">
                          <a:latin typeface="Times New Roman" panose="02020603050405020304" pitchFamily="18" charset="0"/>
                          <a:cs typeface="Times New Roman" panose="02020603050405020304" pitchFamily="18" charset="0"/>
                        </a:rPr>
                        <a:t>Garbage Truck Driver</a:t>
                      </a:r>
                    </a:p>
                  </a:txBody>
                  <a:tcPr marL="79403" marR="79403" marT="39701" marB="39701" anchor="ctr"/>
                </a:tc>
                <a:tc>
                  <a:txBody>
                    <a:bodyPr/>
                    <a:lstStyle/>
                    <a:p>
                      <a:pPr>
                        <a:buNone/>
                      </a:pPr>
                      <a:r>
                        <a:rPr lang="en-US" sz="1600" dirty="0">
                          <a:latin typeface="Times New Roman" panose="02020603050405020304" pitchFamily="18" charset="0"/>
                          <a:cs typeface="Times New Roman" panose="02020603050405020304" pitchFamily="18" charset="0"/>
                        </a:rPr>
                        <a:t>Collects waste from assigned zones</a:t>
                      </a:r>
                    </a:p>
                  </a:txBody>
                  <a:tcPr marL="79403" marR="79403" marT="39701" marB="39701" anchor="ctr"/>
                </a:tc>
                <a:extLst>
                  <a:ext uri="{0D108BD9-81ED-4DB2-BD59-A6C34878D82A}">
                    <a16:rowId xmlns:a16="http://schemas.microsoft.com/office/drawing/2014/main" val="1848471990"/>
                  </a:ext>
                </a:extLst>
              </a:tr>
              <a:tr h="555820">
                <a:tc>
                  <a:txBody>
                    <a:bodyPr/>
                    <a:lstStyle/>
                    <a:p>
                      <a:pPr>
                        <a:buNone/>
                      </a:pPr>
                      <a:r>
                        <a:rPr lang="en-US" sz="1600">
                          <a:latin typeface="Times New Roman" panose="02020603050405020304" pitchFamily="18" charset="0"/>
                          <a:cs typeface="Times New Roman" panose="02020603050405020304" pitchFamily="18" charset="0"/>
                        </a:rPr>
                        <a:t>Traffic Control Officer</a:t>
                      </a:r>
                    </a:p>
                  </a:txBody>
                  <a:tcPr marL="79403" marR="79403" marT="39701" marB="39701" anchor="ctr"/>
                </a:tc>
                <a:tc>
                  <a:txBody>
                    <a:bodyPr/>
                    <a:lstStyle/>
                    <a:p>
                      <a:pPr>
                        <a:buNone/>
                      </a:pPr>
                      <a:r>
                        <a:rPr lang="en-US" sz="1600" dirty="0">
                          <a:latin typeface="Times New Roman" panose="02020603050405020304" pitchFamily="18" charset="0"/>
                          <a:cs typeface="Times New Roman" panose="02020603050405020304" pitchFamily="18" charset="0"/>
                        </a:rPr>
                        <a:t>Monitors congestion and handles accidents/blockages</a:t>
                      </a:r>
                    </a:p>
                  </a:txBody>
                  <a:tcPr marL="79403" marR="79403" marT="39701" marB="39701" anchor="ctr"/>
                </a:tc>
                <a:extLst>
                  <a:ext uri="{0D108BD9-81ED-4DB2-BD59-A6C34878D82A}">
                    <a16:rowId xmlns:a16="http://schemas.microsoft.com/office/drawing/2014/main" val="4269809374"/>
                  </a:ext>
                </a:extLst>
              </a:tr>
              <a:tr h="555820">
                <a:tc>
                  <a:txBody>
                    <a:bodyPr/>
                    <a:lstStyle/>
                    <a:p>
                      <a:pPr>
                        <a:buNone/>
                      </a:pPr>
                      <a:r>
                        <a:rPr lang="en-US" sz="1600">
                          <a:latin typeface="Times New Roman" panose="02020603050405020304" pitchFamily="18" charset="0"/>
                          <a:cs typeface="Times New Roman" panose="02020603050405020304" pitchFamily="18" charset="0"/>
                        </a:rPr>
                        <a:t>AI/ML System</a:t>
                      </a:r>
                    </a:p>
                  </a:txBody>
                  <a:tcPr marL="79403" marR="79403" marT="39701" marB="39701" anchor="ctr"/>
                </a:tc>
                <a:tc>
                  <a:txBody>
                    <a:bodyPr/>
                    <a:lstStyle/>
                    <a:p>
                      <a:pPr>
                        <a:buNone/>
                      </a:pPr>
                      <a:r>
                        <a:rPr lang="en-US" sz="1600" dirty="0">
                          <a:latin typeface="Times New Roman" panose="02020603050405020304" pitchFamily="18" charset="0"/>
                          <a:cs typeface="Times New Roman" panose="02020603050405020304" pitchFamily="18" charset="0"/>
                        </a:rPr>
                        <a:t>Suggests housing allocation, garbage routes, and traffic signal timing</a:t>
                      </a:r>
                    </a:p>
                  </a:txBody>
                  <a:tcPr marL="79403" marR="79403" marT="39701" marB="39701" anchor="ctr"/>
                </a:tc>
                <a:extLst>
                  <a:ext uri="{0D108BD9-81ED-4DB2-BD59-A6C34878D82A}">
                    <a16:rowId xmlns:a16="http://schemas.microsoft.com/office/drawing/2014/main" val="1139547572"/>
                  </a:ext>
                </a:extLst>
              </a:tr>
              <a:tr h="555820">
                <a:tc>
                  <a:txBody>
                    <a:bodyPr/>
                    <a:lstStyle/>
                    <a:p>
                      <a:pPr>
                        <a:buNone/>
                      </a:pPr>
                      <a:r>
                        <a:rPr lang="en-US" sz="1600">
                          <a:latin typeface="Times New Roman" panose="02020603050405020304" pitchFamily="18" charset="0"/>
                          <a:cs typeface="Times New Roman" panose="02020603050405020304" pitchFamily="18" charset="0"/>
                        </a:rPr>
                        <a:t>External Systems</a:t>
                      </a:r>
                    </a:p>
                  </a:txBody>
                  <a:tcPr marL="79403" marR="79403" marT="39701" marB="39701" anchor="ctr"/>
                </a:tc>
                <a:tc>
                  <a:txBody>
                    <a:bodyPr/>
                    <a:lstStyle/>
                    <a:p>
                      <a:pPr>
                        <a:buNone/>
                      </a:pPr>
                      <a:r>
                        <a:rPr lang="en-US" sz="1600" dirty="0">
                          <a:latin typeface="Times New Roman" panose="02020603050405020304" pitchFamily="18" charset="0"/>
                          <a:cs typeface="Times New Roman" panose="02020603050405020304" pitchFamily="18" charset="0"/>
                        </a:rPr>
                        <a:t>Dhaka City Corporation, BRTA, traffic sensors, GPS systems</a:t>
                      </a:r>
                    </a:p>
                  </a:txBody>
                  <a:tcPr marL="79403" marR="79403" marT="39701" marB="39701" anchor="ctr"/>
                </a:tc>
                <a:extLst>
                  <a:ext uri="{0D108BD9-81ED-4DB2-BD59-A6C34878D82A}">
                    <a16:rowId xmlns:a16="http://schemas.microsoft.com/office/drawing/2014/main" val="488548714"/>
                  </a:ext>
                </a:extLst>
              </a:tr>
            </a:tbl>
          </a:graphicData>
        </a:graphic>
      </p:graphicFrame>
      <p:sp>
        <p:nvSpPr>
          <p:cNvPr id="11" name="TextBox 10">
            <a:extLst>
              <a:ext uri="{FF2B5EF4-FFF2-40B4-BE49-F238E27FC236}">
                <a16:creationId xmlns:a16="http://schemas.microsoft.com/office/drawing/2014/main" id="{04EC80B5-4FB3-E773-1C85-2B2A16C7FC6A}"/>
              </a:ext>
            </a:extLst>
          </p:cNvPr>
          <p:cNvSpPr txBox="1"/>
          <p:nvPr/>
        </p:nvSpPr>
        <p:spPr>
          <a:xfrm>
            <a:off x="367122" y="1176150"/>
            <a:ext cx="8243477" cy="646331"/>
          </a:xfrm>
          <a:prstGeom prst="rect">
            <a:avLst/>
          </a:prstGeom>
          <a:noFill/>
        </p:spPr>
        <p:txBody>
          <a:bodyPr wrap="square">
            <a:spAutoFit/>
          </a:bodyPr>
          <a:lstStyle/>
          <a:p>
            <a:pPr marL="457200" indent="-457200" algn="l">
              <a:buFont typeface="Wingdings" panose="05000000000000000000" pitchFamily="2" charset="2"/>
              <a:buChar char="ü"/>
            </a:pPr>
            <a:r>
              <a:rPr lang="en-US" altLang="ja-JP" sz="1800" dirty="0">
                <a:solidFill>
                  <a:schemeClr val="tx1"/>
                </a:solidFill>
                <a:latin typeface="Times New Roman" panose="02020603050405020304" pitchFamily="18" charset="0"/>
                <a:cs typeface="Times New Roman" panose="02020603050405020304" pitchFamily="18" charset="0"/>
              </a:rPr>
              <a:t>Step 1: Understanding the problem domain</a:t>
            </a:r>
          </a:p>
          <a:p>
            <a:pPr marL="457200" indent="-457200" algn="l">
              <a:buFont typeface="Wingdings" panose="05000000000000000000" pitchFamily="2" charset="2"/>
              <a:buChar char="ü"/>
            </a:pPr>
            <a:r>
              <a:rPr lang="en-US" altLang="ja-JP" sz="1800" dirty="0">
                <a:solidFill>
                  <a:schemeClr val="tx1"/>
                </a:solidFill>
                <a:latin typeface="Times New Roman" panose="02020603050405020304" pitchFamily="18" charset="0"/>
                <a:cs typeface="Times New Roman" panose="02020603050405020304" pitchFamily="18" charset="0"/>
              </a:rPr>
              <a:t>We identify the main objects (entities) from the problem</a:t>
            </a:r>
            <a:endParaRPr lang="en-US" dirty="0"/>
          </a:p>
        </p:txBody>
      </p:sp>
    </p:spTree>
    <p:extLst>
      <p:ext uri="{BB962C8B-B14F-4D97-AF65-F5344CB8AC3E}">
        <p14:creationId xmlns:p14="http://schemas.microsoft.com/office/powerpoint/2010/main" val="3151804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5833E-9343-6FAE-46F2-52DD7FA21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A19FA-ED2A-1445-0DF8-AF2CE6FAC7E6}"/>
              </a:ext>
            </a:extLst>
          </p:cNvPr>
          <p:cNvSpPr>
            <a:spLocks noGrp="1"/>
          </p:cNvSpPr>
          <p:nvPr>
            <p:ph type="ctrTitle"/>
          </p:nvPr>
        </p:nvSpPr>
        <p:spPr>
          <a:xfrm>
            <a:off x="390283" y="94396"/>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Use Case 1: Housing Allocation</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6C0E3665-42BB-CDB9-E8F6-D15C53FBA528}"/>
              </a:ext>
            </a:extLst>
          </p:cNvPr>
          <p:cNvSpPr>
            <a:spLocks noGrp="1"/>
          </p:cNvSpPr>
          <p:nvPr>
            <p:ph type="subTitle" idx="1"/>
          </p:nvPr>
        </p:nvSpPr>
        <p:spPr>
          <a:xfrm>
            <a:off x="152400" y="1347297"/>
            <a:ext cx="8979108" cy="4953001"/>
          </a:xfrm>
        </p:spPr>
        <p:txBody>
          <a:bodyPr>
            <a:noAutofit/>
          </a:bodyPr>
          <a:lstStyle/>
          <a:p>
            <a:pPr algn="l"/>
            <a:r>
              <a:rPr lang="en-US" sz="1800" b="1" dirty="0">
                <a:solidFill>
                  <a:schemeClr val="tx1"/>
                </a:solidFill>
                <a:latin typeface="Times New Roman" panose="02020603050405020304" pitchFamily="18" charset="0"/>
                <a:cs typeface="Times New Roman" panose="02020603050405020304" pitchFamily="18" charset="0"/>
              </a:rPr>
              <a:t>Use Case Name: Apply and Allocate Housing Permit</a:t>
            </a:r>
            <a:endParaRPr lang="en-US" sz="1800" dirty="0">
              <a:solidFill>
                <a:schemeClr val="tx1"/>
              </a:solidFill>
              <a:latin typeface="Times New Roman" panose="02020603050405020304" pitchFamily="18" charset="0"/>
              <a:cs typeface="Times New Roman" panose="02020603050405020304" pitchFamily="18" charset="0"/>
            </a:endParaRPr>
          </a:p>
          <a:p>
            <a:pPr algn="l"/>
            <a:r>
              <a:rPr lang="en-US" sz="1800" b="1" dirty="0">
                <a:solidFill>
                  <a:schemeClr val="tx1"/>
                </a:solidFill>
                <a:latin typeface="Times New Roman" panose="02020603050405020304" pitchFamily="18" charset="0"/>
                <a:cs typeface="Times New Roman" panose="02020603050405020304" pitchFamily="18" charset="0"/>
              </a:rPr>
              <a:t>Goal : </a:t>
            </a:r>
            <a:r>
              <a:rPr lang="en-US" sz="1800" dirty="0">
                <a:solidFill>
                  <a:schemeClr val="tx1"/>
                </a:solidFill>
                <a:latin typeface="Times New Roman" panose="02020603050405020304" pitchFamily="18" charset="0"/>
                <a:cs typeface="Times New Roman" panose="02020603050405020304" pitchFamily="18" charset="0"/>
              </a:rPr>
              <a:t>To allocate available housing fairly based on income, family size, and preferred location.</a:t>
            </a:r>
          </a:p>
          <a:p>
            <a:pPr algn="l"/>
            <a:r>
              <a:rPr lang="en-US" sz="1800" b="1" dirty="0">
                <a:solidFill>
                  <a:schemeClr val="tx1"/>
                </a:solidFill>
                <a:latin typeface="Times New Roman" panose="02020603050405020304" pitchFamily="18" charset="0"/>
                <a:cs typeface="Times New Roman" panose="02020603050405020304" pitchFamily="18" charset="0"/>
              </a:rPr>
              <a:t>Primary Actor : </a:t>
            </a:r>
            <a:r>
              <a:rPr lang="en-US" sz="1800" dirty="0">
                <a:solidFill>
                  <a:schemeClr val="tx1"/>
                </a:solidFill>
                <a:latin typeface="Times New Roman" panose="02020603050405020304" pitchFamily="18" charset="0"/>
                <a:cs typeface="Times New Roman" panose="02020603050405020304" pitchFamily="18" charset="0"/>
              </a:rPr>
              <a:t>Citizen</a:t>
            </a:r>
          </a:p>
          <a:p>
            <a:pPr algn="l"/>
            <a:r>
              <a:rPr lang="en-US" sz="1800" b="1" dirty="0">
                <a:solidFill>
                  <a:schemeClr val="tx1"/>
                </a:solidFill>
                <a:latin typeface="Times New Roman" panose="02020603050405020304" pitchFamily="18" charset="0"/>
                <a:cs typeface="Times New Roman" panose="02020603050405020304" pitchFamily="18" charset="0"/>
              </a:rPr>
              <a:t>Supporting Actors: </a:t>
            </a:r>
            <a:r>
              <a:rPr lang="en-US" sz="1800" dirty="0">
                <a:solidFill>
                  <a:schemeClr val="tx1"/>
                </a:solidFill>
                <a:latin typeface="Times New Roman" panose="02020603050405020304" pitchFamily="18" charset="0"/>
                <a:cs typeface="Times New Roman" panose="02020603050405020304" pitchFamily="18" charset="0"/>
              </a:rPr>
              <a:t>Housing Authority, AI/ML Allocation System, City Authority System</a:t>
            </a:r>
          </a:p>
          <a:p>
            <a:pPr algn="l"/>
            <a:r>
              <a:rPr lang="en-US" sz="1800" b="1" dirty="0">
                <a:solidFill>
                  <a:schemeClr val="tx1"/>
                </a:solidFill>
                <a:latin typeface="Times New Roman" panose="02020603050405020304" pitchFamily="18" charset="0"/>
                <a:cs typeface="Times New Roman" panose="02020603050405020304" pitchFamily="18" charset="0"/>
              </a:rPr>
              <a:t>Preconditions: </a:t>
            </a:r>
            <a:r>
              <a:rPr lang="en-US" sz="1800" dirty="0">
                <a:solidFill>
                  <a:schemeClr val="tx1"/>
                </a:solidFill>
                <a:latin typeface="Times New Roman" panose="02020603050405020304" pitchFamily="18" charset="0"/>
                <a:cs typeface="Times New Roman" panose="02020603050405020304" pitchFamily="18" charset="0"/>
              </a:rPr>
              <a:t>The citizen must be registered in the DUMS platform. Housing data must be available in the system database.</a:t>
            </a:r>
          </a:p>
          <a:p>
            <a:pPr marL="457200" indent="-457200" algn="l">
              <a:buFont typeface="Wingdings" panose="05000000000000000000" pitchFamily="2" charset="2"/>
              <a:buChar char="ü"/>
            </a:pPr>
            <a:endParaRPr lang="en-US" sz="1400" dirty="0">
              <a:solidFill>
                <a:srgbClr val="00B0F0"/>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79FD5CE-7418-4135-A21F-7B8C68EC565E}"/>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12</a:t>
            </a:fld>
            <a:endParaRPr lang="en-US" dirty="0">
              <a:solidFill>
                <a:schemeClr val="tx1"/>
              </a:solidFill>
            </a:endParaRPr>
          </a:p>
        </p:txBody>
      </p:sp>
      <p:pic>
        <p:nvPicPr>
          <p:cNvPr id="6" name="Picture 5">
            <a:extLst>
              <a:ext uri="{FF2B5EF4-FFF2-40B4-BE49-F238E27FC236}">
                <a16:creationId xmlns:a16="http://schemas.microsoft.com/office/drawing/2014/main" id="{80AE25E7-3C5C-27AD-1EBA-7C8A37E18629}"/>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851723B5-C3FA-24DC-D353-0784B1AC687D}"/>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615807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996FF-8B82-7214-1816-F3BC89982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1F175-CE5F-5244-B122-93E1249B8978}"/>
              </a:ext>
            </a:extLst>
          </p:cNvPr>
          <p:cNvSpPr>
            <a:spLocks noGrp="1"/>
          </p:cNvSpPr>
          <p:nvPr>
            <p:ph type="ctrTitle"/>
          </p:nvPr>
        </p:nvSpPr>
        <p:spPr>
          <a:xfrm>
            <a:off x="390283" y="94396"/>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Main Scenario</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445C09C9-B388-6B5F-2D3C-21FC53F74644}"/>
              </a:ext>
            </a:extLst>
          </p:cNvPr>
          <p:cNvSpPr>
            <a:spLocks noGrp="1"/>
          </p:cNvSpPr>
          <p:nvPr>
            <p:ph type="subTitle" idx="1"/>
          </p:nvPr>
        </p:nvSpPr>
        <p:spPr>
          <a:xfrm>
            <a:off x="82446" y="1162842"/>
            <a:ext cx="8979108" cy="5416307"/>
          </a:xfrm>
          <a:solidFill>
            <a:schemeClr val="bg1"/>
          </a:solidFill>
        </p:spPr>
        <p:txBody>
          <a:bodyPr>
            <a:noAutofit/>
          </a:bodyPr>
          <a:lstStyle/>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citizen logs into the DUMS mobile or web app.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citizen selects “Apply for Housing Permit.”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citizen submits personal information, income level, family size, current address, and preferred area.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system verifies the application and stores it in the database.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AI/ML component analyzes housing availability, applicant income, family size, and location demand.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system generates a ranked allocation list.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Housing Authority reviews the recommendation.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If the application is valid, the authority approves the allocation.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citizen receives a notification with housing permit details. </a:t>
            </a:r>
          </a:p>
          <a:p>
            <a:pPr marL="285750" indent="-285750" algn="l">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The database is updated with the new allocation record. </a:t>
            </a:r>
          </a:p>
          <a:p>
            <a:pPr algn="l"/>
            <a:r>
              <a:rPr lang="en-US" sz="1800" b="1" dirty="0">
                <a:solidFill>
                  <a:srgbClr val="FF0000"/>
                </a:solidFill>
                <a:latin typeface="Times New Roman" panose="02020603050405020304" pitchFamily="18" charset="0"/>
                <a:cs typeface="Times New Roman" panose="02020603050405020304" pitchFamily="18" charset="0"/>
              </a:rPr>
              <a:t>Alternative Scenario: </a:t>
            </a:r>
            <a:r>
              <a:rPr lang="en-US" sz="1800" dirty="0">
                <a:solidFill>
                  <a:schemeClr val="tx1"/>
                </a:solidFill>
                <a:latin typeface="Times New Roman" panose="02020603050405020304" pitchFamily="18" charset="0"/>
                <a:cs typeface="Times New Roman" panose="02020603050405020304" pitchFamily="18" charset="0"/>
              </a:rPr>
              <a:t>If no house is available in the preferred area, the system suggests nearby alternative areas.</a:t>
            </a:r>
          </a:p>
          <a:p>
            <a:pPr algn="l"/>
            <a:r>
              <a:rPr lang="en-US" sz="1800" b="1" dirty="0">
                <a:solidFill>
                  <a:srgbClr val="FF0000"/>
                </a:solidFill>
                <a:latin typeface="Times New Roman" panose="02020603050405020304" pitchFamily="18" charset="0"/>
                <a:cs typeface="Times New Roman" panose="02020603050405020304" pitchFamily="18" charset="0"/>
              </a:rPr>
              <a:t>Output: </a:t>
            </a:r>
            <a:r>
              <a:rPr lang="en-US" sz="1800" dirty="0">
                <a:solidFill>
                  <a:schemeClr val="tx1"/>
                </a:solidFill>
                <a:latin typeface="Times New Roman" panose="02020603050405020304" pitchFamily="18" charset="0"/>
                <a:cs typeface="Times New Roman" panose="02020603050405020304" pitchFamily="18" charset="0"/>
              </a:rPr>
              <a:t>A fair and automated housing allocation decision.</a:t>
            </a:r>
          </a:p>
        </p:txBody>
      </p:sp>
      <p:sp>
        <p:nvSpPr>
          <p:cNvPr id="3" name="Slide Number Placeholder 2">
            <a:extLst>
              <a:ext uri="{FF2B5EF4-FFF2-40B4-BE49-F238E27FC236}">
                <a16:creationId xmlns:a16="http://schemas.microsoft.com/office/drawing/2014/main" id="{AA815DA2-EB49-8BB0-5CD9-F57FA295416E}"/>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13</a:t>
            </a:fld>
            <a:endParaRPr lang="en-US" dirty="0">
              <a:solidFill>
                <a:schemeClr val="tx1"/>
              </a:solidFill>
            </a:endParaRPr>
          </a:p>
        </p:txBody>
      </p:sp>
      <p:pic>
        <p:nvPicPr>
          <p:cNvPr id="8" name="Picture 7">
            <a:extLst>
              <a:ext uri="{FF2B5EF4-FFF2-40B4-BE49-F238E27FC236}">
                <a16:creationId xmlns:a16="http://schemas.microsoft.com/office/drawing/2014/main" id="{F38DC0AE-E015-E769-E416-F95960C7BF9C}"/>
              </a:ext>
            </a:extLst>
          </p:cNvPr>
          <p:cNvPicPr>
            <a:picLocks noChangeAspect="1"/>
          </p:cNvPicPr>
          <p:nvPr/>
        </p:nvPicPr>
        <p:blipFill>
          <a:blip r:embed="rId3"/>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1393986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62BFF-7FB7-4874-3E8A-7A3E255A3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77332-1225-3E1E-449C-32611242557C}"/>
              </a:ext>
            </a:extLst>
          </p:cNvPr>
          <p:cNvSpPr>
            <a:spLocks noGrp="1"/>
          </p:cNvSpPr>
          <p:nvPr>
            <p:ph type="ctrTitle"/>
          </p:nvPr>
        </p:nvSpPr>
        <p:spPr>
          <a:xfrm>
            <a:off x="304800" y="-6927"/>
            <a:ext cx="8534400" cy="593725"/>
          </a:xfrm>
        </p:spPr>
        <p:style>
          <a:lnRef idx="2">
            <a:schemeClr val="accent6"/>
          </a:lnRef>
          <a:fillRef idx="1">
            <a:schemeClr val="lt1"/>
          </a:fillRef>
          <a:effectRef idx="0">
            <a:schemeClr val="accent6"/>
          </a:effectRef>
          <a:fontRef idx="minor">
            <a:schemeClr val="dk1"/>
          </a:fontRef>
        </p:style>
        <p:txBody>
          <a:bodyPr>
            <a:noAutofit/>
          </a:bodyPr>
          <a:lstStyle/>
          <a:p>
            <a:pPr algn="l"/>
            <a:r>
              <a:rPr lang="en-US" sz="3600" b="1" dirty="0"/>
              <a:t>Use Case 2: Garbage Management</a:t>
            </a:r>
          </a:p>
        </p:txBody>
      </p:sp>
      <p:sp>
        <p:nvSpPr>
          <p:cNvPr id="4" name="Subtitle 3">
            <a:extLst>
              <a:ext uri="{FF2B5EF4-FFF2-40B4-BE49-F238E27FC236}">
                <a16:creationId xmlns:a16="http://schemas.microsoft.com/office/drawing/2014/main" id="{D79E4F68-57A5-FF15-9F0D-38F67AEE7665}"/>
              </a:ext>
            </a:extLst>
          </p:cNvPr>
          <p:cNvSpPr>
            <a:spLocks noGrp="1"/>
          </p:cNvSpPr>
          <p:nvPr>
            <p:ph type="subTitle" idx="1"/>
          </p:nvPr>
        </p:nvSpPr>
        <p:spPr>
          <a:xfrm>
            <a:off x="82446" y="522147"/>
            <a:ext cx="9137754" cy="6239160"/>
          </a:xfrm>
          <a:solidFill>
            <a:schemeClr val="bg1"/>
          </a:solidFill>
        </p:spPr>
        <p:txBody>
          <a:bodyPr>
            <a:noAutofit/>
          </a:bodyPr>
          <a:lstStyle/>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Use Case Name: Report and Manage Uncollected Garbage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Goal: </a:t>
            </a:r>
            <a:r>
              <a:rPr lang="en-US" sz="1800" dirty="0">
                <a:solidFill>
                  <a:schemeClr val="tx1"/>
                </a:solidFill>
                <a:latin typeface="Times New Roman" panose="02020603050405020304" pitchFamily="18" charset="0"/>
                <a:cs typeface="Times New Roman" panose="02020603050405020304" pitchFamily="18" charset="0"/>
              </a:rPr>
              <a:t>To ensure timely garbage collection and reduce waste disposal problems in Dhaka.</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Primary Actor: </a:t>
            </a:r>
            <a:r>
              <a:rPr lang="en-US" sz="1800" dirty="0">
                <a:solidFill>
                  <a:schemeClr val="tx1"/>
                </a:solidFill>
                <a:latin typeface="Times New Roman" panose="02020603050405020304" pitchFamily="18" charset="0"/>
                <a:cs typeface="Times New Roman" panose="02020603050405020304" pitchFamily="18" charset="0"/>
              </a:rPr>
              <a:t>Citizen</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Supporting Actors: </a:t>
            </a:r>
            <a:r>
              <a:rPr lang="en-US" sz="1800" dirty="0">
                <a:solidFill>
                  <a:schemeClr val="tx1"/>
                </a:solidFill>
                <a:latin typeface="Times New Roman" panose="02020603050405020304" pitchFamily="18" charset="0"/>
                <a:cs typeface="Times New Roman" panose="02020603050405020304" pitchFamily="18" charset="0"/>
              </a:rPr>
              <a:t>Garbage Management Officer, Garbage Truck Driver, Dhaka City Corporation API</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Preconditions: </a:t>
            </a:r>
            <a:r>
              <a:rPr lang="en-US" sz="1800" dirty="0">
                <a:solidFill>
                  <a:schemeClr val="tx1"/>
                </a:solidFill>
                <a:latin typeface="Times New Roman" panose="02020603050405020304" pitchFamily="18" charset="0"/>
                <a:cs typeface="Times New Roman" panose="02020603050405020304" pitchFamily="18" charset="0"/>
              </a:rPr>
              <a:t>Garbage zones, bins, trucks, and collection schedules must be registered in the system.</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Main Scenario</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A citizen notices uncollected garbage in their area.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citizen opens the DUMS app and selects “Report Garbage Issue.”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citizen uploads a photo, location, and short description.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system identifies the garbage zone using GPS/location data.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complaint is stored in the database and sent to the Garbage Management Officer.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system checks the nearest available garbage truck.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AI/ML routing system suggests the most efficient truck route.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Garbage Management Officer assigns the task to a truck driver.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truck driver collects the waste and updates the task status.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citizen receives a notification that the complaint has been resolved.</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Alternative Scenario: </a:t>
            </a:r>
            <a:r>
              <a:rPr lang="en-US" sz="1800" dirty="0">
                <a:solidFill>
                  <a:schemeClr val="tx1"/>
                </a:solidFill>
                <a:latin typeface="Times New Roman" panose="02020603050405020304" pitchFamily="18" charset="0"/>
                <a:cs typeface="Times New Roman" panose="02020603050405020304" pitchFamily="18" charset="0"/>
              </a:rPr>
              <a:t>If no truck is available, the complaint is placed in the next available collection schedule.</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Output: </a:t>
            </a:r>
            <a:r>
              <a:rPr lang="en-US" sz="1800" dirty="0">
                <a:solidFill>
                  <a:schemeClr val="tx1"/>
                </a:solidFill>
                <a:latin typeface="Times New Roman" panose="02020603050405020304" pitchFamily="18" charset="0"/>
                <a:cs typeface="Times New Roman" panose="02020603050405020304" pitchFamily="18" charset="0"/>
              </a:rPr>
              <a:t>Cleaner city zones and faster response to waste complaints.</a:t>
            </a:r>
          </a:p>
        </p:txBody>
      </p:sp>
      <p:sp>
        <p:nvSpPr>
          <p:cNvPr id="3" name="Slide Number Placeholder 2">
            <a:extLst>
              <a:ext uri="{FF2B5EF4-FFF2-40B4-BE49-F238E27FC236}">
                <a16:creationId xmlns:a16="http://schemas.microsoft.com/office/drawing/2014/main" id="{8C52646C-0728-7C58-E766-1DA1D22AE5EB}"/>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14</a:t>
            </a:fld>
            <a:endParaRPr lang="en-US" dirty="0">
              <a:solidFill>
                <a:schemeClr val="tx1"/>
              </a:solidFill>
            </a:endParaRPr>
          </a:p>
        </p:txBody>
      </p:sp>
    </p:spTree>
    <p:extLst>
      <p:ext uri="{BB962C8B-B14F-4D97-AF65-F5344CB8AC3E}">
        <p14:creationId xmlns:p14="http://schemas.microsoft.com/office/powerpoint/2010/main" val="2452451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9A0E-6D65-6721-E8FC-736660F05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4253E-7FA1-A906-0384-C3CED5BA0C3C}"/>
              </a:ext>
            </a:extLst>
          </p:cNvPr>
          <p:cNvSpPr>
            <a:spLocks noGrp="1"/>
          </p:cNvSpPr>
          <p:nvPr>
            <p:ph type="ctrTitle"/>
          </p:nvPr>
        </p:nvSpPr>
        <p:spPr>
          <a:xfrm>
            <a:off x="390283" y="94396"/>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t>Use Case 3: Traffic Control</a:t>
            </a:r>
          </a:p>
        </p:txBody>
      </p:sp>
      <p:sp>
        <p:nvSpPr>
          <p:cNvPr id="4" name="Subtitle 3">
            <a:extLst>
              <a:ext uri="{FF2B5EF4-FFF2-40B4-BE49-F238E27FC236}">
                <a16:creationId xmlns:a16="http://schemas.microsoft.com/office/drawing/2014/main" id="{C24AFE82-DD48-0FDA-2091-C845C1D140BD}"/>
              </a:ext>
            </a:extLst>
          </p:cNvPr>
          <p:cNvSpPr>
            <a:spLocks noGrp="1"/>
          </p:cNvSpPr>
          <p:nvPr>
            <p:ph type="subTitle" idx="1"/>
          </p:nvPr>
        </p:nvSpPr>
        <p:spPr>
          <a:xfrm>
            <a:off x="164892" y="879528"/>
            <a:ext cx="8979108" cy="5884076"/>
          </a:xfrm>
          <a:solidFill>
            <a:schemeClr val="bg1"/>
          </a:solidFill>
        </p:spPr>
        <p:txBody>
          <a:bodyPr>
            <a:noAutofit/>
          </a:bodyPr>
          <a:lstStyle/>
          <a:p>
            <a:pPr marL="285750" indent="-285750" algn="l">
              <a:buFont typeface="Wingdings" panose="05000000000000000000" pitchFamily="2" charset="2"/>
              <a:buChar char="v"/>
            </a:pPr>
            <a:r>
              <a:rPr lang="en-US" sz="1800" b="1" dirty="0">
                <a:solidFill>
                  <a:srgbClr val="FF0000"/>
                </a:solidFill>
                <a:latin typeface="Times New Roman" panose="02020603050405020304" pitchFamily="18" charset="0"/>
                <a:cs typeface="Times New Roman" panose="02020603050405020304" pitchFamily="18" charset="0"/>
              </a:rPr>
              <a:t>Use Case Name: Monitor Traffic and Adjust Signals Dynamically</a:t>
            </a:r>
            <a:endParaRPr lang="en-US" sz="1800" dirty="0">
              <a:solidFill>
                <a:srgbClr val="FF0000"/>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Goal: </a:t>
            </a:r>
            <a:r>
              <a:rPr lang="en-US" sz="1800" dirty="0">
                <a:solidFill>
                  <a:schemeClr val="tx1"/>
                </a:solidFill>
                <a:latin typeface="Times New Roman" panose="02020603050405020304" pitchFamily="18" charset="0"/>
                <a:cs typeface="Times New Roman" panose="02020603050405020304" pitchFamily="18" charset="0"/>
              </a:rPr>
              <a:t>To reduce traffic congestion and improve vehicle flow in Dhaka.</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Primary Actor: </a:t>
            </a:r>
            <a:r>
              <a:rPr lang="en-US" sz="1800" dirty="0">
                <a:solidFill>
                  <a:schemeClr val="tx1"/>
                </a:solidFill>
                <a:latin typeface="Times New Roman" panose="02020603050405020304" pitchFamily="18" charset="0"/>
                <a:cs typeface="Times New Roman" panose="02020603050405020304" pitchFamily="18" charset="0"/>
              </a:rPr>
              <a:t>Traffic Control Officer</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Supporting Actors: </a:t>
            </a:r>
            <a:r>
              <a:rPr lang="en-US" sz="1800" dirty="0">
                <a:solidFill>
                  <a:schemeClr val="tx1"/>
                </a:solidFill>
                <a:latin typeface="Times New Roman" panose="02020603050405020304" pitchFamily="18" charset="0"/>
                <a:cs typeface="Times New Roman" panose="02020603050405020304" pitchFamily="18" charset="0"/>
              </a:rPr>
              <a:t>Vehicle, Traffic Signal, Citizen, BRTA API, AI Traffic System</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Preconditions: </a:t>
            </a:r>
            <a:r>
              <a:rPr lang="en-US" sz="1800" dirty="0">
                <a:solidFill>
                  <a:schemeClr val="tx1"/>
                </a:solidFill>
                <a:latin typeface="Times New Roman" panose="02020603050405020304" pitchFamily="18" charset="0"/>
                <a:cs typeface="Times New Roman" panose="02020603050405020304" pitchFamily="18" charset="0"/>
              </a:rPr>
              <a:t>Traffic signals, road sensors, cameras, and vehicle flow data must be connected to the system.</a:t>
            </a:r>
          </a:p>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Main Scenario</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traffic monitoring system collects real-time data from road sensors, cameras, and GPS-enabled vehicles.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system detects heavy congestion at a major intersection.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AI/ML traffic module analyzes vehicle density and road flow.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system automatically adjusts traffic signal timing.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Green-light duration is increased for the congested road.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Traffic Control Officer monitors the result through the central dashboard.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If congestion decreases, the signal timing returns to normal. </a:t>
            </a:r>
          </a:p>
          <a:p>
            <a:pPr marL="742950" lvl="1" indent="-285750" algn="l">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system stores traffic flow data for future analysis. </a:t>
            </a:r>
          </a:p>
          <a:p>
            <a:pPr algn="l"/>
            <a:r>
              <a:rPr lang="en-US" sz="1800" b="1" dirty="0">
                <a:solidFill>
                  <a:schemeClr val="tx1"/>
                </a:solidFill>
                <a:latin typeface="Times New Roman" panose="02020603050405020304" pitchFamily="18" charset="0"/>
                <a:cs typeface="Times New Roman" panose="02020603050405020304" pitchFamily="18" charset="0"/>
              </a:rPr>
              <a:t>Alternative Scenario: </a:t>
            </a:r>
            <a:r>
              <a:rPr lang="en-US" sz="1800" dirty="0">
                <a:solidFill>
                  <a:schemeClr val="tx1"/>
                </a:solidFill>
                <a:latin typeface="Times New Roman" panose="02020603050405020304" pitchFamily="18" charset="0"/>
                <a:cs typeface="Times New Roman" panose="02020603050405020304" pitchFamily="18" charset="0"/>
              </a:rPr>
              <a:t>If a citizen reports an accident or road blockage, the system alerts the Traffic Control Officer and suggests alternative routes.</a:t>
            </a:r>
          </a:p>
          <a:p>
            <a:pPr algn="l"/>
            <a:r>
              <a:rPr lang="en-US" sz="1800" b="1" dirty="0">
                <a:solidFill>
                  <a:schemeClr val="tx1"/>
                </a:solidFill>
                <a:latin typeface="Times New Roman" panose="02020603050405020304" pitchFamily="18" charset="0"/>
                <a:cs typeface="Times New Roman" panose="02020603050405020304" pitchFamily="18" charset="0"/>
              </a:rPr>
              <a:t>Output: </a:t>
            </a:r>
            <a:r>
              <a:rPr lang="en-US" sz="1800" dirty="0">
                <a:solidFill>
                  <a:schemeClr val="tx1"/>
                </a:solidFill>
                <a:latin typeface="Times New Roman" panose="02020603050405020304" pitchFamily="18" charset="0"/>
                <a:cs typeface="Times New Roman" panose="02020603050405020304" pitchFamily="18" charset="0"/>
              </a:rPr>
              <a:t>Improved traffic flow, reduced congestion, and faster accident response.</a:t>
            </a:r>
          </a:p>
        </p:txBody>
      </p:sp>
      <p:sp>
        <p:nvSpPr>
          <p:cNvPr id="3" name="Slide Number Placeholder 2">
            <a:extLst>
              <a:ext uri="{FF2B5EF4-FFF2-40B4-BE49-F238E27FC236}">
                <a16:creationId xmlns:a16="http://schemas.microsoft.com/office/drawing/2014/main" id="{865C6BDB-3C1A-9B4A-5371-9592361793B2}"/>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15</a:t>
            </a:fld>
            <a:endParaRPr lang="en-US" dirty="0">
              <a:solidFill>
                <a:schemeClr val="tx1"/>
              </a:solidFill>
            </a:endParaRPr>
          </a:p>
        </p:txBody>
      </p:sp>
    </p:spTree>
    <p:extLst>
      <p:ext uri="{BB962C8B-B14F-4D97-AF65-F5344CB8AC3E}">
        <p14:creationId xmlns:p14="http://schemas.microsoft.com/office/powerpoint/2010/main" val="2633559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E8499-ED4F-F528-6D94-D40EA75A3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A1AB1-2AF8-7FB5-EFF8-02C90132EAC6}"/>
              </a:ext>
            </a:extLst>
          </p:cNvPr>
          <p:cNvSpPr>
            <a:spLocks noGrp="1"/>
          </p:cNvSpPr>
          <p:nvPr>
            <p:ph type="ctrTitle"/>
          </p:nvPr>
        </p:nvSpPr>
        <p:spPr>
          <a:xfrm>
            <a:off x="390283" y="94396"/>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t>Integrated System Scenario</a:t>
            </a:r>
          </a:p>
        </p:txBody>
      </p:sp>
      <p:sp>
        <p:nvSpPr>
          <p:cNvPr id="4" name="Subtitle 3">
            <a:extLst>
              <a:ext uri="{FF2B5EF4-FFF2-40B4-BE49-F238E27FC236}">
                <a16:creationId xmlns:a16="http://schemas.microsoft.com/office/drawing/2014/main" id="{FB2C2E00-621E-AD68-CD27-561B802B2034}"/>
              </a:ext>
            </a:extLst>
          </p:cNvPr>
          <p:cNvSpPr>
            <a:spLocks noGrp="1"/>
          </p:cNvSpPr>
          <p:nvPr>
            <p:ph type="subTitle" idx="1"/>
          </p:nvPr>
        </p:nvSpPr>
        <p:spPr>
          <a:xfrm>
            <a:off x="152400" y="1347297"/>
            <a:ext cx="8979108" cy="5510703"/>
          </a:xfrm>
        </p:spPr>
        <p:txBody>
          <a:bodyPr>
            <a:noAutofit/>
          </a:bodyPr>
          <a:lstStyle/>
          <a:p>
            <a:pPr marL="285750" indent="-285750" algn="l">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Scenario Title: </a:t>
            </a:r>
            <a:r>
              <a:rPr lang="en-US" sz="1800" b="1" dirty="0">
                <a:solidFill>
                  <a:srgbClr val="FF0000"/>
                </a:solidFill>
                <a:latin typeface="Times New Roman" panose="02020603050405020304" pitchFamily="18" charset="0"/>
                <a:cs typeface="Times New Roman" panose="02020603050405020304" pitchFamily="18" charset="0"/>
              </a:rPr>
              <a:t>A Day in Dhaka Managed by DUMS</a:t>
            </a:r>
            <a:endParaRPr lang="en-US" sz="1800" dirty="0">
              <a:solidFill>
                <a:srgbClr val="FF0000"/>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In the morning, a citizen named Rahim logs into the DUMS app and applies for a housing permit because his family is living in an overcrowded area. The system collects his income, family size, and preferred location. The AI-based housing module analyzes available houses and suggests a suitable allocation. The Housing Authority reviews and approves the application.</a:t>
            </a:r>
          </a:p>
          <a:p>
            <a:pPr marL="285750" indent="-285750" algn="l">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Later, Rahim notices a large amount of garbage near his neighborhood. He reports it through the same app by uploading a photo and location. The garbage module identifies the zone, assigns the nearest garbage truck, and updates the complaint status after collection.</a:t>
            </a:r>
          </a:p>
          <a:p>
            <a:pPr marL="285750" indent="-285750" algn="l">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During the evening rush hour, traffic congestion increases near a major road intersection. The traffic control module detects the congestion using real-time monitoring data. The system dynamically changes the traffic signal timing to improve vehicle flow. At the same time, if an accident is reported, the system alerts traffic officers and suggests alternative routes.</a:t>
            </a:r>
          </a:p>
          <a:p>
            <a:pPr marL="285750" indent="-285750" algn="l">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Through one centralized platform, DUMS helps the city authority make faster, fairer, and data-driven decisions for housing, garbage, and traffic management.</a:t>
            </a:r>
          </a:p>
        </p:txBody>
      </p:sp>
      <p:sp>
        <p:nvSpPr>
          <p:cNvPr id="3" name="Slide Number Placeholder 2">
            <a:extLst>
              <a:ext uri="{FF2B5EF4-FFF2-40B4-BE49-F238E27FC236}">
                <a16:creationId xmlns:a16="http://schemas.microsoft.com/office/drawing/2014/main" id="{3F26EA78-2352-638F-46EE-DD4C49BE1E14}"/>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16</a:t>
            </a:fld>
            <a:endParaRPr lang="en-US" dirty="0">
              <a:solidFill>
                <a:schemeClr val="tx1"/>
              </a:solidFill>
            </a:endParaRPr>
          </a:p>
        </p:txBody>
      </p:sp>
      <p:pic>
        <p:nvPicPr>
          <p:cNvPr id="6" name="Picture 5">
            <a:extLst>
              <a:ext uri="{FF2B5EF4-FFF2-40B4-BE49-F238E27FC236}">
                <a16:creationId xmlns:a16="http://schemas.microsoft.com/office/drawing/2014/main" id="{6290C6ED-CC02-1D16-35F0-9F12D0B08125}"/>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E0C3BE21-CE2E-DACE-CC64-7414AB5BA600}"/>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907402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61B0-15B9-A8E6-3C4C-96483EF9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5F8BC-484F-4B43-8AC8-3AD7583DAADB}"/>
              </a:ext>
            </a:extLst>
          </p:cNvPr>
          <p:cNvSpPr>
            <a:spLocks noGrp="1"/>
          </p:cNvSpPr>
          <p:nvPr>
            <p:ph type="ctrTitle"/>
          </p:nvPr>
        </p:nvSpPr>
        <p:spPr>
          <a:xfrm>
            <a:off x="390283" y="94396"/>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Summary of Use Cases</a:t>
            </a:r>
            <a:endParaRPr lang="en-US" sz="3600"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14818EF8-FB18-BE0C-3B37-EC2DA169445E}"/>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17</a:t>
            </a:fld>
            <a:endParaRPr lang="en-US" dirty="0">
              <a:solidFill>
                <a:schemeClr val="tx1"/>
              </a:solidFill>
            </a:endParaRPr>
          </a:p>
        </p:txBody>
      </p:sp>
      <p:graphicFrame>
        <p:nvGraphicFramePr>
          <p:cNvPr id="9" name="Table 8">
            <a:extLst>
              <a:ext uri="{FF2B5EF4-FFF2-40B4-BE49-F238E27FC236}">
                <a16:creationId xmlns:a16="http://schemas.microsoft.com/office/drawing/2014/main" id="{415DD224-8E09-C1FF-B5B6-28EF5F1F6A4C}"/>
              </a:ext>
            </a:extLst>
          </p:cNvPr>
          <p:cNvGraphicFramePr>
            <a:graphicFrameLocks noGrp="1"/>
          </p:cNvGraphicFramePr>
          <p:nvPr>
            <p:extLst>
              <p:ext uri="{D42A27DB-BD31-4B8C-83A1-F6EECF244321}">
                <p14:modId xmlns:p14="http://schemas.microsoft.com/office/powerpoint/2010/main" val="3791225675"/>
              </p:ext>
            </p:extLst>
          </p:nvPr>
        </p:nvGraphicFramePr>
        <p:xfrm>
          <a:off x="228600" y="1220134"/>
          <a:ext cx="8229600" cy="2926080"/>
        </p:xfrm>
        <a:graphic>
          <a:graphicData uri="http://schemas.openxmlformats.org/drawingml/2006/table">
            <a:tbl>
              <a:tblPr>
                <a:tableStyleId>{3C2FFA5D-87B4-456A-9821-1D502468CF0F}</a:tableStyleId>
              </a:tblPr>
              <a:tblGrid>
                <a:gridCol w="2743200">
                  <a:extLst>
                    <a:ext uri="{9D8B030D-6E8A-4147-A177-3AD203B41FA5}">
                      <a16:colId xmlns:a16="http://schemas.microsoft.com/office/drawing/2014/main" val="301354211"/>
                    </a:ext>
                  </a:extLst>
                </a:gridCol>
                <a:gridCol w="2743200">
                  <a:extLst>
                    <a:ext uri="{9D8B030D-6E8A-4147-A177-3AD203B41FA5}">
                      <a16:colId xmlns:a16="http://schemas.microsoft.com/office/drawing/2014/main" val="92447293"/>
                    </a:ext>
                  </a:extLst>
                </a:gridCol>
                <a:gridCol w="2743200">
                  <a:extLst>
                    <a:ext uri="{9D8B030D-6E8A-4147-A177-3AD203B41FA5}">
                      <a16:colId xmlns:a16="http://schemas.microsoft.com/office/drawing/2014/main" val="1793008328"/>
                    </a:ext>
                  </a:extLst>
                </a:gridCol>
              </a:tblGrid>
              <a:tr h="0">
                <a:tc>
                  <a:txBody>
                    <a:bodyPr/>
                    <a:lstStyle/>
                    <a:p>
                      <a:pPr>
                        <a:buNone/>
                      </a:pPr>
                      <a:r>
                        <a:rPr lang="en-US" dirty="0">
                          <a:latin typeface="Times New Roman" panose="02020603050405020304" pitchFamily="18" charset="0"/>
                          <a:cs typeface="Times New Roman" panose="02020603050405020304" pitchFamily="18" charset="0"/>
                        </a:rPr>
                        <a:t>Module</a:t>
                      </a:r>
                    </a:p>
                  </a:txBody>
                  <a:tcPr anchor="ctr"/>
                </a:tc>
                <a:tc>
                  <a:txBody>
                    <a:bodyPr/>
                    <a:lstStyle/>
                    <a:p>
                      <a:pPr>
                        <a:buNone/>
                      </a:pPr>
                      <a:r>
                        <a:rPr lang="en-US">
                          <a:latin typeface="Times New Roman" panose="02020603050405020304" pitchFamily="18" charset="0"/>
                          <a:cs typeface="Times New Roman" panose="02020603050405020304" pitchFamily="18" charset="0"/>
                        </a:rPr>
                        <a:t>Main Use Case</a:t>
                      </a:r>
                    </a:p>
                  </a:txBody>
                  <a:tcPr anchor="ctr"/>
                </a:tc>
                <a:tc>
                  <a:txBody>
                    <a:bodyPr/>
                    <a:lstStyle/>
                    <a:p>
                      <a:pPr>
                        <a:buNone/>
                      </a:pPr>
                      <a:r>
                        <a:rPr lang="en-US">
                          <a:latin typeface="Times New Roman" panose="02020603050405020304" pitchFamily="18" charset="0"/>
                          <a:cs typeface="Times New Roman" panose="02020603050405020304" pitchFamily="18" charset="0"/>
                        </a:rPr>
                        <a:t>Main Benefit</a:t>
                      </a:r>
                    </a:p>
                  </a:txBody>
                  <a:tcPr anchor="ctr"/>
                </a:tc>
                <a:extLst>
                  <a:ext uri="{0D108BD9-81ED-4DB2-BD59-A6C34878D82A}">
                    <a16:rowId xmlns:a16="http://schemas.microsoft.com/office/drawing/2014/main" val="1161985018"/>
                  </a:ext>
                </a:extLst>
              </a:tr>
              <a:tr h="0">
                <a:tc>
                  <a:txBody>
                    <a:bodyPr/>
                    <a:lstStyle/>
                    <a:p>
                      <a:pPr>
                        <a:buNone/>
                      </a:pPr>
                      <a:r>
                        <a:rPr lang="en-US" dirty="0">
                          <a:latin typeface="Times New Roman" panose="02020603050405020304" pitchFamily="18" charset="0"/>
                          <a:cs typeface="Times New Roman" panose="02020603050405020304" pitchFamily="18" charset="0"/>
                        </a:rPr>
                        <a:t>Housing Allocation</a:t>
                      </a:r>
                    </a:p>
                  </a:txBody>
                  <a:tcPr anchor="ctr"/>
                </a:tc>
                <a:tc>
                  <a:txBody>
                    <a:bodyPr/>
                    <a:lstStyle/>
                    <a:p>
                      <a:pPr>
                        <a:buNone/>
                      </a:pPr>
                      <a:r>
                        <a:rPr lang="en-US" dirty="0">
                          <a:latin typeface="Times New Roman" panose="02020603050405020304" pitchFamily="18" charset="0"/>
                          <a:cs typeface="Times New Roman" panose="02020603050405020304" pitchFamily="18" charset="0"/>
                        </a:rPr>
                        <a:t>Apply and allocate housing permits</a:t>
                      </a:r>
                    </a:p>
                  </a:txBody>
                  <a:tcPr anchor="ctr"/>
                </a:tc>
                <a:tc>
                  <a:txBody>
                    <a:bodyPr/>
                    <a:lstStyle/>
                    <a:p>
                      <a:pPr>
                        <a:buNone/>
                      </a:pPr>
                      <a:r>
                        <a:rPr lang="en-US">
                          <a:latin typeface="Times New Roman" panose="02020603050405020304" pitchFamily="18" charset="0"/>
                          <a:cs typeface="Times New Roman" panose="02020603050405020304" pitchFamily="18" charset="0"/>
                        </a:rPr>
                        <a:t>Fair distribution of housing</a:t>
                      </a:r>
                    </a:p>
                  </a:txBody>
                  <a:tcPr anchor="ctr"/>
                </a:tc>
                <a:extLst>
                  <a:ext uri="{0D108BD9-81ED-4DB2-BD59-A6C34878D82A}">
                    <a16:rowId xmlns:a16="http://schemas.microsoft.com/office/drawing/2014/main" val="1270929075"/>
                  </a:ext>
                </a:extLst>
              </a:tr>
              <a:tr h="0">
                <a:tc>
                  <a:txBody>
                    <a:bodyPr/>
                    <a:lstStyle/>
                    <a:p>
                      <a:pPr>
                        <a:buNone/>
                      </a:pPr>
                      <a:r>
                        <a:rPr lang="en-US">
                          <a:latin typeface="Times New Roman" panose="02020603050405020304" pitchFamily="18" charset="0"/>
                          <a:cs typeface="Times New Roman" panose="02020603050405020304" pitchFamily="18" charset="0"/>
                        </a:rPr>
                        <a:t>Garbage Management</a:t>
                      </a:r>
                    </a:p>
                  </a:txBody>
                  <a:tcPr anchor="ctr"/>
                </a:tc>
                <a:tc>
                  <a:txBody>
                    <a:bodyPr/>
                    <a:lstStyle/>
                    <a:p>
                      <a:pPr>
                        <a:buNone/>
                      </a:pPr>
                      <a:r>
                        <a:rPr lang="en-US" dirty="0">
                          <a:latin typeface="Times New Roman" panose="02020603050405020304" pitchFamily="18" charset="0"/>
                          <a:cs typeface="Times New Roman" panose="02020603050405020304" pitchFamily="18" charset="0"/>
                        </a:rPr>
                        <a:t>Report and collect uncollected waste</a:t>
                      </a:r>
                    </a:p>
                  </a:txBody>
                  <a:tcPr anchor="ctr"/>
                </a:tc>
                <a:tc>
                  <a:txBody>
                    <a:bodyPr/>
                    <a:lstStyle/>
                    <a:p>
                      <a:pPr>
                        <a:buNone/>
                      </a:pPr>
                      <a:r>
                        <a:rPr lang="en-US">
                          <a:latin typeface="Times New Roman" panose="02020603050405020304" pitchFamily="18" charset="0"/>
                          <a:cs typeface="Times New Roman" panose="02020603050405020304" pitchFamily="18" charset="0"/>
                        </a:rPr>
                        <a:t>Cleaner city environment</a:t>
                      </a:r>
                    </a:p>
                  </a:txBody>
                  <a:tcPr anchor="ctr"/>
                </a:tc>
                <a:extLst>
                  <a:ext uri="{0D108BD9-81ED-4DB2-BD59-A6C34878D82A}">
                    <a16:rowId xmlns:a16="http://schemas.microsoft.com/office/drawing/2014/main" val="1326450264"/>
                  </a:ext>
                </a:extLst>
              </a:tr>
              <a:tr h="0">
                <a:tc>
                  <a:txBody>
                    <a:bodyPr/>
                    <a:lstStyle/>
                    <a:p>
                      <a:pPr>
                        <a:buNone/>
                      </a:pPr>
                      <a:r>
                        <a:rPr lang="en-US" dirty="0">
                          <a:latin typeface="Times New Roman" panose="02020603050405020304" pitchFamily="18" charset="0"/>
                          <a:cs typeface="Times New Roman" panose="02020603050405020304" pitchFamily="18" charset="0"/>
                        </a:rPr>
                        <a:t>Traffic Control</a:t>
                      </a:r>
                    </a:p>
                  </a:txBody>
                  <a:tcPr anchor="ctr"/>
                </a:tc>
                <a:tc>
                  <a:txBody>
                    <a:bodyPr/>
                    <a:lstStyle/>
                    <a:p>
                      <a:pPr>
                        <a:buNone/>
                      </a:pPr>
                      <a:r>
                        <a:rPr lang="en-US">
                          <a:latin typeface="Times New Roman" panose="02020603050405020304" pitchFamily="18" charset="0"/>
                          <a:cs typeface="Times New Roman" panose="02020603050405020304" pitchFamily="18" charset="0"/>
                        </a:rPr>
                        <a:t>Monitor traffic and adjust signals</a:t>
                      </a:r>
                    </a:p>
                  </a:txBody>
                  <a:tcPr anchor="ctr"/>
                </a:tc>
                <a:tc>
                  <a:txBody>
                    <a:bodyPr/>
                    <a:lstStyle/>
                    <a:p>
                      <a:pPr>
                        <a:buNone/>
                      </a:pPr>
                      <a:r>
                        <a:rPr lang="en-US" dirty="0">
                          <a:latin typeface="Times New Roman" panose="02020603050405020304" pitchFamily="18" charset="0"/>
                          <a:cs typeface="Times New Roman" panose="02020603050405020304" pitchFamily="18" charset="0"/>
                        </a:rPr>
                        <a:t>Reduced congestion</a:t>
                      </a:r>
                    </a:p>
                  </a:txBody>
                  <a:tcPr anchor="ctr"/>
                </a:tc>
                <a:extLst>
                  <a:ext uri="{0D108BD9-81ED-4DB2-BD59-A6C34878D82A}">
                    <a16:rowId xmlns:a16="http://schemas.microsoft.com/office/drawing/2014/main" val="4251290777"/>
                  </a:ext>
                </a:extLst>
              </a:tr>
              <a:tr h="0">
                <a:tc>
                  <a:txBody>
                    <a:bodyPr/>
                    <a:lstStyle/>
                    <a:p>
                      <a:pPr>
                        <a:buNone/>
                      </a:pPr>
                      <a:r>
                        <a:rPr lang="en-US">
                          <a:latin typeface="Times New Roman" panose="02020603050405020304" pitchFamily="18" charset="0"/>
                          <a:cs typeface="Times New Roman" panose="02020603050405020304" pitchFamily="18" charset="0"/>
                        </a:rPr>
                        <a:t>Central Dashboard</a:t>
                      </a:r>
                    </a:p>
                  </a:txBody>
                  <a:tcPr anchor="ctr"/>
                </a:tc>
                <a:tc>
                  <a:txBody>
                    <a:bodyPr/>
                    <a:lstStyle/>
                    <a:p>
                      <a:pPr>
                        <a:buNone/>
                      </a:pPr>
                      <a:r>
                        <a:rPr lang="en-US">
                          <a:latin typeface="Times New Roman" panose="02020603050405020304" pitchFamily="18" charset="0"/>
                          <a:cs typeface="Times New Roman" panose="02020603050405020304" pitchFamily="18" charset="0"/>
                        </a:rPr>
                        <a:t>Monitor all city services</a:t>
                      </a:r>
                    </a:p>
                  </a:txBody>
                  <a:tcPr anchor="ctr"/>
                </a:tc>
                <a:tc>
                  <a:txBody>
                    <a:bodyPr/>
                    <a:lstStyle/>
                    <a:p>
                      <a:pPr>
                        <a:buNone/>
                      </a:pPr>
                      <a:r>
                        <a:rPr lang="en-US" dirty="0">
                          <a:latin typeface="Times New Roman" panose="02020603050405020304" pitchFamily="18" charset="0"/>
                          <a:cs typeface="Times New Roman" panose="02020603050405020304" pitchFamily="18" charset="0"/>
                        </a:rPr>
                        <a:t>Better urban decision-making</a:t>
                      </a:r>
                    </a:p>
                  </a:txBody>
                  <a:tcPr anchor="ctr"/>
                </a:tc>
                <a:extLst>
                  <a:ext uri="{0D108BD9-81ED-4DB2-BD59-A6C34878D82A}">
                    <a16:rowId xmlns:a16="http://schemas.microsoft.com/office/drawing/2014/main" val="46106520"/>
                  </a:ext>
                </a:extLst>
              </a:tr>
            </a:tbl>
          </a:graphicData>
        </a:graphic>
      </p:graphicFrame>
      <p:sp>
        <p:nvSpPr>
          <p:cNvPr id="11" name="TextBox 10">
            <a:extLst>
              <a:ext uri="{FF2B5EF4-FFF2-40B4-BE49-F238E27FC236}">
                <a16:creationId xmlns:a16="http://schemas.microsoft.com/office/drawing/2014/main" id="{213D178F-9655-4EE8-EA41-FA11FEDCFC65}"/>
              </a:ext>
            </a:extLst>
          </p:cNvPr>
          <p:cNvSpPr txBox="1"/>
          <p:nvPr/>
        </p:nvSpPr>
        <p:spPr>
          <a:xfrm>
            <a:off x="87792" y="4495800"/>
            <a:ext cx="8827608" cy="1754326"/>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Final Use Case Statement</a:t>
            </a:r>
          </a:p>
          <a:p>
            <a:pPr>
              <a:buNone/>
            </a:pPr>
            <a:r>
              <a:rPr lang="en-US" dirty="0">
                <a:latin typeface="Times New Roman" panose="02020603050405020304" pitchFamily="18" charset="0"/>
                <a:cs typeface="Times New Roman" panose="02020603050405020304" pitchFamily="18" charset="0"/>
              </a:rPr>
              <a:t>The “Dhaka Urban Management System” allows citizens and government authorities to work through one centralized digital platform. Citizens can apply for housing, report garbage problems, and submit traffic complaints, while city authorities can monitor real-time data, assign resources, and make AI-supported decisions. This system helps Dhaka manage overpopulation, waste disposal, and traffic congestion in a smarter and more organized way.</a:t>
            </a:r>
          </a:p>
        </p:txBody>
      </p:sp>
    </p:spTree>
    <p:extLst>
      <p:ext uri="{BB962C8B-B14F-4D97-AF65-F5344CB8AC3E}">
        <p14:creationId xmlns:p14="http://schemas.microsoft.com/office/powerpoint/2010/main" val="2758518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UML Diagram</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18</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10" name="TextBox 9">
            <a:extLst>
              <a:ext uri="{FF2B5EF4-FFF2-40B4-BE49-F238E27FC236}">
                <a16:creationId xmlns:a16="http://schemas.microsoft.com/office/drawing/2014/main" id="{9552BDA3-0A0C-4C6C-E41E-3DB5E5724F05}"/>
              </a:ext>
            </a:extLst>
          </p:cNvPr>
          <p:cNvSpPr txBox="1"/>
          <p:nvPr/>
        </p:nvSpPr>
        <p:spPr>
          <a:xfrm>
            <a:off x="2272145" y="3246643"/>
            <a:ext cx="4581236" cy="369332"/>
          </a:xfrm>
          <a:prstGeom prst="rect">
            <a:avLst/>
          </a:prstGeom>
          <a:noFill/>
        </p:spPr>
        <p:txBody>
          <a:bodyPr wrap="square">
            <a:spAutoFit/>
          </a:bodyPr>
          <a:lstStyle/>
          <a:p>
            <a:endParaRPr lang="en-US" dirty="0"/>
          </a:p>
        </p:txBody>
      </p:sp>
      <p:sp>
        <p:nvSpPr>
          <p:cNvPr id="12" name="TextBox 11">
            <a:extLst>
              <a:ext uri="{FF2B5EF4-FFF2-40B4-BE49-F238E27FC236}">
                <a16:creationId xmlns:a16="http://schemas.microsoft.com/office/drawing/2014/main" id="{54ABEC10-5888-67B9-9E72-8AA87F4EE71A}"/>
              </a:ext>
            </a:extLst>
          </p:cNvPr>
          <p:cNvSpPr txBox="1"/>
          <p:nvPr/>
        </p:nvSpPr>
        <p:spPr>
          <a:xfrm>
            <a:off x="2272145" y="3246643"/>
            <a:ext cx="4581236" cy="369332"/>
          </a:xfrm>
          <a:prstGeom prst="rect">
            <a:avLst/>
          </a:prstGeom>
          <a:noFill/>
        </p:spPr>
        <p:txBody>
          <a:bodyPr wrap="square">
            <a:spAutoFit/>
          </a:bodyPr>
          <a:lstStyle/>
          <a:p>
            <a:endParaRPr lang="en-US" dirty="0"/>
          </a:p>
        </p:txBody>
      </p:sp>
      <p:pic>
        <p:nvPicPr>
          <p:cNvPr id="14" name="Picture 13">
            <a:extLst>
              <a:ext uri="{FF2B5EF4-FFF2-40B4-BE49-F238E27FC236}">
                <a16:creationId xmlns:a16="http://schemas.microsoft.com/office/drawing/2014/main" id="{2957DF69-B2E2-D5A4-3B19-9BA572A4AF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16428"/>
            <a:ext cx="9144000" cy="5225143"/>
          </a:xfrm>
          <a:prstGeom prst="rect">
            <a:avLst/>
          </a:prstGeom>
        </p:spPr>
      </p:pic>
    </p:spTree>
    <p:extLst>
      <p:ext uri="{BB962C8B-B14F-4D97-AF65-F5344CB8AC3E}">
        <p14:creationId xmlns:p14="http://schemas.microsoft.com/office/powerpoint/2010/main" val="2813824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EC20-C214-41B8-61F1-6428812C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C9DBE-C4D5-C5BE-AB50-0D4C71C19CD4}"/>
              </a:ext>
            </a:extLst>
          </p:cNvPr>
          <p:cNvSpPr>
            <a:spLocks noGrp="1"/>
          </p:cNvSpPr>
          <p:nvPr>
            <p:ph type="ctrTitle"/>
          </p:nvPr>
        </p:nvSpPr>
        <p:spPr>
          <a:xfrm>
            <a:off x="228600" y="92075"/>
            <a:ext cx="7696200" cy="302731"/>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UML Diagram</a:t>
            </a:r>
          </a:p>
        </p:txBody>
      </p:sp>
      <p:sp>
        <p:nvSpPr>
          <p:cNvPr id="3" name="Slide Number Placeholder 2">
            <a:extLst>
              <a:ext uri="{FF2B5EF4-FFF2-40B4-BE49-F238E27FC236}">
                <a16:creationId xmlns:a16="http://schemas.microsoft.com/office/drawing/2014/main" id="{6847F8B3-98EE-BAC4-8219-9CA56A3862B2}"/>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19</a:t>
            </a:fld>
            <a:endParaRPr lang="en-US" dirty="0">
              <a:solidFill>
                <a:schemeClr val="tx1"/>
              </a:solidFill>
            </a:endParaRPr>
          </a:p>
        </p:txBody>
      </p:sp>
      <p:pic>
        <p:nvPicPr>
          <p:cNvPr id="6" name="Picture 5">
            <a:extLst>
              <a:ext uri="{FF2B5EF4-FFF2-40B4-BE49-F238E27FC236}">
                <a16:creationId xmlns:a16="http://schemas.microsoft.com/office/drawing/2014/main" id="{1AB03856-961D-427B-055E-F3F0E55D960F}"/>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3353BF24-4EBC-0FD8-E82A-28CE8CA27A2C}"/>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10" name="TextBox 9">
            <a:extLst>
              <a:ext uri="{FF2B5EF4-FFF2-40B4-BE49-F238E27FC236}">
                <a16:creationId xmlns:a16="http://schemas.microsoft.com/office/drawing/2014/main" id="{040792A1-F017-71BF-6265-B39353F4467E}"/>
              </a:ext>
            </a:extLst>
          </p:cNvPr>
          <p:cNvSpPr txBox="1"/>
          <p:nvPr/>
        </p:nvSpPr>
        <p:spPr>
          <a:xfrm>
            <a:off x="2272145" y="3246643"/>
            <a:ext cx="4581236" cy="369332"/>
          </a:xfrm>
          <a:prstGeom prst="rect">
            <a:avLst/>
          </a:prstGeom>
          <a:noFill/>
        </p:spPr>
        <p:txBody>
          <a:bodyPr wrap="square">
            <a:spAutoFit/>
          </a:bodyPr>
          <a:lstStyle/>
          <a:p>
            <a:endParaRPr lang="en-US" dirty="0"/>
          </a:p>
        </p:txBody>
      </p:sp>
      <p:sp>
        <p:nvSpPr>
          <p:cNvPr id="12" name="TextBox 11">
            <a:extLst>
              <a:ext uri="{FF2B5EF4-FFF2-40B4-BE49-F238E27FC236}">
                <a16:creationId xmlns:a16="http://schemas.microsoft.com/office/drawing/2014/main" id="{C6D36C97-18DD-5B19-3C1B-00F28E5CB502}"/>
              </a:ext>
            </a:extLst>
          </p:cNvPr>
          <p:cNvSpPr txBox="1"/>
          <p:nvPr/>
        </p:nvSpPr>
        <p:spPr>
          <a:xfrm>
            <a:off x="2272145" y="3246643"/>
            <a:ext cx="4581236" cy="369332"/>
          </a:xfrm>
          <a:prstGeom prst="rect">
            <a:avLst/>
          </a:prstGeom>
          <a:noFill/>
        </p:spPr>
        <p:txBody>
          <a:bodyPr wrap="square">
            <a:spAutoFit/>
          </a:bodyPr>
          <a:lstStyle/>
          <a:p>
            <a:endParaRPr lang="en-US" dirty="0"/>
          </a:p>
        </p:txBody>
      </p:sp>
      <p:pic>
        <p:nvPicPr>
          <p:cNvPr id="9" name="Picture 8">
            <a:extLst>
              <a:ext uri="{FF2B5EF4-FFF2-40B4-BE49-F238E27FC236}">
                <a16:creationId xmlns:a16="http://schemas.microsoft.com/office/drawing/2014/main" id="{E809E67A-3F79-DFCF-5665-CC63BD15B16F}"/>
              </a:ext>
            </a:extLst>
          </p:cNvPr>
          <p:cNvPicPr>
            <a:picLocks noChangeAspect="1"/>
          </p:cNvPicPr>
          <p:nvPr/>
        </p:nvPicPr>
        <p:blipFill>
          <a:blip r:embed="rId5"/>
          <a:stretch>
            <a:fillRect/>
          </a:stretch>
        </p:blipFill>
        <p:spPr>
          <a:xfrm>
            <a:off x="304800" y="394806"/>
            <a:ext cx="7481477" cy="6754111"/>
          </a:xfrm>
          <a:prstGeom prst="rect">
            <a:avLst/>
          </a:prstGeom>
        </p:spPr>
      </p:pic>
    </p:spTree>
    <p:extLst>
      <p:ext uri="{BB962C8B-B14F-4D97-AF65-F5344CB8AC3E}">
        <p14:creationId xmlns:p14="http://schemas.microsoft.com/office/powerpoint/2010/main" val="2076117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2C909-9C7C-B9EE-36F5-7A313EEFA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4ACA4-997B-D463-BBF1-66C5D9A70FE6}"/>
              </a:ext>
            </a:extLst>
          </p:cNvPr>
          <p:cNvSpPr>
            <a:spLocks noGrp="1"/>
          </p:cNvSpPr>
          <p:nvPr>
            <p:ph type="ctrTitle"/>
          </p:nvPr>
        </p:nvSpPr>
        <p:spPr>
          <a:xfrm>
            <a:off x="228600" y="92075"/>
            <a:ext cx="7696200" cy="974725"/>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Sequential Model (Example for Housing Allocation)</a:t>
            </a:r>
            <a:endParaRPr lang="en-US" sz="3600"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7FA29EB2-C5BF-2B85-9AAA-215A34D624E1}"/>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20</a:t>
            </a:fld>
            <a:endParaRPr lang="en-US" dirty="0">
              <a:solidFill>
                <a:schemeClr val="tx1"/>
              </a:solidFill>
            </a:endParaRPr>
          </a:p>
        </p:txBody>
      </p:sp>
      <p:pic>
        <p:nvPicPr>
          <p:cNvPr id="6" name="Picture 5">
            <a:extLst>
              <a:ext uri="{FF2B5EF4-FFF2-40B4-BE49-F238E27FC236}">
                <a16:creationId xmlns:a16="http://schemas.microsoft.com/office/drawing/2014/main" id="{BCB95FFE-CF70-1AD5-E45A-DB4C3DAB14D2}"/>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930B5E00-459E-A1D8-A0FD-62D936624C6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10" name="TextBox 9">
            <a:extLst>
              <a:ext uri="{FF2B5EF4-FFF2-40B4-BE49-F238E27FC236}">
                <a16:creationId xmlns:a16="http://schemas.microsoft.com/office/drawing/2014/main" id="{9BA90DEA-8FF5-8BE5-F384-0DB5C2E490E7}"/>
              </a:ext>
            </a:extLst>
          </p:cNvPr>
          <p:cNvSpPr txBox="1"/>
          <p:nvPr/>
        </p:nvSpPr>
        <p:spPr>
          <a:xfrm>
            <a:off x="2272145" y="3246643"/>
            <a:ext cx="4581236" cy="369332"/>
          </a:xfrm>
          <a:prstGeom prst="rect">
            <a:avLst/>
          </a:prstGeom>
          <a:noFill/>
        </p:spPr>
        <p:txBody>
          <a:bodyPr wrap="square">
            <a:spAutoFit/>
          </a:bodyPr>
          <a:lstStyle/>
          <a:p>
            <a:endParaRPr lang="en-US" dirty="0"/>
          </a:p>
        </p:txBody>
      </p:sp>
      <p:sp>
        <p:nvSpPr>
          <p:cNvPr id="12" name="TextBox 11">
            <a:extLst>
              <a:ext uri="{FF2B5EF4-FFF2-40B4-BE49-F238E27FC236}">
                <a16:creationId xmlns:a16="http://schemas.microsoft.com/office/drawing/2014/main" id="{B56C6341-4077-7FBA-EB50-A6127E749C96}"/>
              </a:ext>
            </a:extLst>
          </p:cNvPr>
          <p:cNvSpPr txBox="1"/>
          <p:nvPr/>
        </p:nvSpPr>
        <p:spPr>
          <a:xfrm>
            <a:off x="2272145" y="3246643"/>
            <a:ext cx="4581236" cy="369332"/>
          </a:xfrm>
          <a:prstGeom prst="rect">
            <a:avLst/>
          </a:prstGeom>
          <a:noFill/>
        </p:spPr>
        <p:txBody>
          <a:bodyPr wrap="square">
            <a:spAutoFit/>
          </a:bodyPr>
          <a:lstStyle/>
          <a:p>
            <a:endParaRPr lang="en-US" dirty="0"/>
          </a:p>
        </p:txBody>
      </p:sp>
      <p:sp>
        <p:nvSpPr>
          <p:cNvPr id="5" name="TextBox 4">
            <a:extLst>
              <a:ext uri="{FF2B5EF4-FFF2-40B4-BE49-F238E27FC236}">
                <a16:creationId xmlns:a16="http://schemas.microsoft.com/office/drawing/2014/main" id="{4AC674B6-A883-E59F-CF8D-2138CF10CCE7}"/>
              </a:ext>
            </a:extLst>
          </p:cNvPr>
          <p:cNvSpPr txBox="1"/>
          <p:nvPr/>
        </p:nvSpPr>
        <p:spPr>
          <a:xfrm>
            <a:off x="210126" y="1034473"/>
            <a:ext cx="8705274" cy="4801314"/>
          </a:xfrm>
          <a:prstGeom prst="rect">
            <a:avLst/>
          </a:prstGeom>
          <a:noFill/>
        </p:spPr>
        <p:txBody>
          <a:bodyPr wrap="square">
            <a:spAutoFit/>
          </a:bodyPr>
          <a:lstStyle/>
          <a:p>
            <a:pPr>
              <a:buNone/>
            </a:pPr>
            <a:r>
              <a:rPr lang="en-US" b="1" dirty="0"/>
              <a:t>Scenario:</a:t>
            </a:r>
            <a:r>
              <a:rPr lang="en-US" dirty="0"/>
              <a:t> Citizen applies for housing → AI system suggests allocation → Housing Authority approves → Citizen notified.</a:t>
            </a:r>
          </a:p>
          <a:p>
            <a:pPr>
              <a:buNone/>
            </a:pPr>
            <a:r>
              <a:rPr lang="en-US" b="1" dirty="0"/>
              <a:t>Steps (Sequence Diagram in Text):</a:t>
            </a:r>
            <a:endParaRPr lang="en-US" dirty="0"/>
          </a:p>
          <a:p>
            <a:pPr rtl="0">
              <a:buNone/>
            </a:pPr>
            <a:r>
              <a:rPr lang="en-US" dirty="0">
                <a:latin typeface="Courier New" panose="02070309020205020404" pitchFamily="49" charset="0"/>
              </a:rPr>
              <a:t>Citizen -&gt; DUMS_UI: Submit Housing Application</a:t>
            </a:r>
            <a:br>
              <a:rPr lang="en-US" dirty="0">
                <a:latin typeface="Courier New" panose="02070309020205020404" pitchFamily="49" charset="0"/>
              </a:rPr>
            </a:br>
            <a:r>
              <a:rPr lang="en-US" dirty="0">
                <a:latin typeface="Courier New" panose="02070309020205020404" pitchFamily="49" charset="0"/>
              </a:rPr>
              <a:t>DUMS_UI -&gt; Database: Store Application Data</a:t>
            </a:r>
            <a:br>
              <a:rPr lang="en-US" dirty="0">
                <a:latin typeface="Courier New" panose="02070309020205020404" pitchFamily="49" charset="0"/>
              </a:rPr>
            </a:br>
            <a:r>
              <a:rPr lang="en-US" dirty="0">
                <a:latin typeface="Courier New" panose="02070309020205020404" pitchFamily="49" charset="0"/>
              </a:rPr>
              <a:t>Database -&gt; </a:t>
            </a:r>
            <a:r>
              <a:rPr lang="en-US" dirty="0" err="1">
                <a:latin typeface="Courier New" panose="02070309020205020404" pitchFamily="49" charset="0"/>
              </a:rPr>
              <a:t>AI_Module</a:t>
            </a:r>
            <a:r>
              <a:rPr lang="en-US" dirty="0">
                <a:latin typeface="Courier New" panose="02070309020205020404" pitchFamily="49" charset="0"/>
              </a:rPr>
              <a:t>: Analyze eligibility &amp; generate allocation suggestion</a:t>
            </a:r>
            <a:br>
              <a:rPr lang="en-US" dirty="0">
                <a:latin typeface="Courier New" panose="02070309020205020404" pitchFamily="49" charset="0"/>
              </a:rPr>
            </a:br>
            <a:r>
              <a:rPr lang="en-US" dirty="0" err="1">
                <a:latin typeface="Courier New" panose="02070309020205020404" pitchFamily="49" charset="0"/>
              </a:rPr>
              <a:t>AI_Module</a:t>
            </a:r>
            <a:r>
              <a:rPr lang="en-US" dirty="0">
                <a:latin typeface="Courier New" panose="02070309020205020404" pitchFamily="49" charset="0"/>
              </a:rPr>
              <a:t> -&gt; </a:t>
            </a:r>
            <a:r>
              <a:rPr lang="en-US" dirty="0" err="1">
                <a:latin typeface="Courier New" panose="02070309020205020404" pitchFamily="49" charset="0"/>
              </a:rPr>
              <a:t>HousingAuthority</a:t>
            </a:r>
            <a:r>
              <a:rPr lang="en-US" dirty="0">
                <a:latin typeface="Courier New" panose="02070309020205020404" pitchFamily="49" charset="0"/>
              </a:rPr>
              <a:t>: Send suggested allocation</a:t>
            </a:r>
            <a:br>
              <a:rPr lang="en-US" dirty="0">
                <a:latin typeface="Courier New" panose="02070309020205020404" pitchFamily="49" charset="0"/>
              </a:rPr>
            </a:br>
            <a:r>
              <a:rPr lang="en-US" dirty="0" err="1">
                <a:latin typeface="Courier New" panose="02070309020205020404" pitchFamily="49" charset="0"/>
              </a:rPr>
              <a:t>HousingAuthority</a:t>
            </a:r>
            <a:r>
              <a:rPr lang="en-US" dirty="0">
                <a:latin typeface="Courier New" panose="02070309020205020404" pitchFamily="49" charset="0"/>
              </a:rPr>
              <a:t> -&gt; </a:t>
            </a:r>
            <a:r>
              <a:rPr lang="en-US" dirty="0" err="1">
                <a:latin typeface="Courier New" panose="02070309020205020404" pitchFamily="49" charset="0"/>
              </a:rPr>
              <a:t>AI_Module</a:t>
            </a:r>
            <a:r>
              <a:rPr lang="en-US" dirty="0">
                <a:latin typeface="Courier New" panose="02070309020205020404" pitchFamily="49" charset="0"/>
              </a:rPr>
              <a:t>: Approve or adjust suggestion</a:t>
            </a:r>
            <a:br>
              <a:rPr lang="en-US" dirty="0">
                <a:latin typeface="Courier New" panose="02070309020205020404" pitchFamily="49" charset="0"/>
              </a:rPr>
            </a:br>
            <a:r>
              <a:rPr lang="en-US" dirty="0" err="1">
                <a:latin typeface="Courier New" panose="02070309020205020404" pitchFamily="49" charset="0"/>
              </a:rPr>
              <a:t>HousingAuthority</a:t>
            </a:r>
            <a:r>
              <a:rPr lang="en-US" dirty="0">
                <a:latin typeface="Courier New" panose="02070309020205020404" pitchFamily="49" charset="0"/>
              </a:rPr>
              <a:t> -&gt; Database: Update house allocation</a:t>
            </a:r>
            <a:br>
              <a:rPr lang="en-US" dirty="0">
                <a:latin typeface="Courier New" panose="02070309020205020404" pitchFamily="49" charset="0"/>
              </a:rPr>
            </a:br>
            <a:r>
              <a:rPr lang="en-US" dirty="0">
                <a:latin typeface="Courier New" panose="02070309020205020404" pitchFamily="49" charset="0"/>
              </a:rPr>
              <a:t>Database -&gt; DUMS_UI: Notify citizen of allocation</a:t>
            </a:r>
            <a:br>
              <a:rPr lang="en-US" dirty="0">
                <a:latin typeface="Courier New" panose="02070309020205020404" pitchFamily="49" charset="0"/>
              </a:rPr>
            </a:br>
            <a:r>
              <a:rPr lang="en-US" dirty="0">
                <a:latin typeface="Courier New" panose="02070309020205020404" pitchFamily="49" charset="0"/>
              </a:rPr>
              <a:t>DUMS_UI -&gt; Citizen: Display allocated house</a:t>
            </a:r>
          </a:p>
          <a:p>
            <a:pPr>
              <a:buNone/>
            </a:pPr>
            <a:r>
              <a:rPr lang="en-US" dirty="0"/>
              <a:t>Similarly, garbage collection and traffic control sequences follow:</a:t>
            </a:r>
          </a:p>
          <a:p>
            <a:pPr>
              <a:buFont typeface="Arial" panose="020B0604020202020204" pitchFamily="34" charset="0"/>
              <a:buChar char="•"/>
            </a:pPr>
            <a:r>
              <a:rPr lang="en-US" b="1" dirty="0"/>
              <a:t>Garbage:</a:t>
            </a:r>
            <a:r>
              <a:rPr lang="en-US" dirty="0"/>
              <a:t> Citizen reports → System identifies zone → Assign truck → Truck collects → Citizen notified </a:t>
            </a:r>
          </a:p>
          <a:p>
            <a:pPr>
              <a:buFont typeface="Arial" panose="020B0604020202020204" pitchFamily="34" charset="0"/>
              <a:buChar char="•"/>
            </a:pPr>
            <a:r>
              <a:rPr lang="en-US" b="1" dirty="0"/>
              <a:t>Traffic:</a:t>
            </a:r>
            <a:r>
              <a:rPr lang="en-US" dirty="0"/>
              <a:t> System monitors sensors → Detect congestion → Adjust traffic signal → Notify officer → Log for analytics</a:t>
            </a:r>
          </a:p>
        </p:txBody>
      </p:sp>
    </p:spTree>
    <p:extLst>
      <p:ext uri="{BB962C8B-B14F-4D97-AF65-F5344CB8AC3E}">
        <p14:creationId xmlns:p14="http://schemas.microsoft.com/office/powerpoint/2010/main" val="3853740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9F2E9-EC20-676D-B0E4-60F12AEB7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189B4-409A-EB19-7EC7-AF6D0CEA81FF}"/>
              </a:ext>
            </a:extLst>
          </p:cNvPr>
          <p:cNvSpPr>
            <a:spLocks noGrp="1"/>
          </p:cNvSpPr>
          <p:nvPr>
            <p:ph type="ctrTitle"/>
          </p:nvPr>
        </p:nvSpPr>
        <p:spPr>
          <a:xfrm>
            <a:off x="228600" y="92075"/>
            <a:ext cx="7696200" cy="517525"/>
          </a:xfrm>
        </p:spPr>
        <p:style>
          <a:lnRef idx="2">
            <a:schemeClr val="accent6"/>
          </a:lnRef>
          <a:fillRef idx="1">
            <a:schemeClr val="lt1"/>
          </a:fillRef>
          <a:effectRef idx="0">
            <a:schemeClr val="accent6"/>
          </a:effectRef>
          <a:fontRef idx="minor">
            <a:schemeClr val="dk1"/>
          </a:fontRef>
        </p:style>
        <p:txBody>
          <a:bodyPr>
            <a:noAutofit/>
          </a:bodyPr>
          <a:lstStyle/>
          <a:p>
            <a:r>
              <a:rPr lang="en-US" sz="2400" b="1" dirty="0"/>
              <a:t>Java Code Skeleton (Basic OOP Implementation)</a:t>
            </a:r>
            <a:br>
              <a:rPr lang="en-US" sz="2400" b="1" dirty="0"/>
            </a:br>
            <a:endParaRPr lang="en-US" sz="2400" dirty="0"/>
          </a:p>
        </p:txBody>
      </p:sp>
      <p:sp>
        <p:nvSpPr>
          <p:cNvPr id="3" name="Slide Number Placeholder 2">
            <a:extLst>
              <a:ext uri="{FF2B5EF4-FFF2-40B4-BE49-F238E27FC236}">
                <a16:creationId xmlns:a16="http://schemas.microsoft.com/office/drawing/2014/main" id="{D747F6BE-D3B0-8704-D478-ECC9D85235C7}"/>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21</a:t>
            </a:fld>
            <a:endParaRPr lang="en-US" dirty="0">
              <a:solidFill>
                <a:schemeClr val="tx1"/>
              </a:solidFill>
            </a:endParaRPr>
          </a:p>
        </p:txBody>
      </p:sp>
      <p:pic>
        <p:nvPicPr>
          <p:cNvPr id="6" name="Picture 5">
            <a:extLst>
              <a:ext uri="{FF2B5EF4-FFF2-40B4-BE49-F238E27FC236}">
                <a16:creationId xmlns:a16="http://schemas.microsoft.com/office/drawing/2014/main" id="{0DFEFF6E-0A4D-5C37-1262-F0E8ACD07907}"/>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0B02CA34-821F-60AB-9E91-4EB01201BB77}"/>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10" name="TextBox 9">
            <a:extLst>
              <a:ext uri="{FF2B5EF4-FFF2-40B4-BE49-F238E27FC236}">
                <a16:creationId xmlns:a16="http://schemas.microsoft.com/office/drawing/2014/main" id="{757A4332-3CC8-CD54-3E67-B6B6E1269955}"/>
              </a:ext>
            </a:extLst>
          </p:cNvPr>
          <p:cNvSpPr txBox="1"/>
          <p:nvPr/>
        </p:nvSpPr>
        <p:spPr>
          <a:xfrm>
            <a:off x="2272145" y="3246643"/>
            <a:ext cx="4581236" cy="369332"/>
          </a:xfrm>
          <a:prstGeom prst="rect">
            <a:avLst/>
          </a:prstGeom>
          <a:noFill/>
        </p:spPr>
        <p:txBody>
          <a:bodyPr wrap="square">
            <a:spAutoFit/>
          </a:bodyPr>
          <a:lstStyle/>
          <a:p>
            <a:endParaRPr lang="en-US" dirty="0"/>
          </a:p>
        </p:txBody>
      </p:sp>
      <p:sp>
        <p:nvSpPr>
          <p:cNvPr id="12" name="TextBox 11">
            <a:extLst>
              <a:ext uri="{FF2B5EF4-FFF2-40B4-BE49-F238E27FC236}">
                <a16:creationId xmlns:a16="http://schemas.microsoft.com/office/drawing/2014/main" id="{93C33782-AF20-75AD-7839-C063659E92EF}"/>
              </a:ext>
            </a:extLst>
          </p:cNvPr>
          <p:cNvSpPr txBox="1"/>
          <p:nvPr/>
        </p:nvSpPr>
        <p:spPr>
          <a:xfrm>
            <a:off x="2272145" y="3246643"/>
            <a:ext cx="4581236" cy="369332"/>
          </a:xfrm>
          <a:prstGeom prst="rect">
            <a:avLst/>
          </a:prstGeom>
          <a:noFill/>
        </p:spPr>
        <p:txBody>
          <a:bodyPr wrap="square">
            <a:spAutoFit/>
          </a:bodyPr>
          <a:lstStyle/>
          <a:p>
            <a:endParaRPr lang="en-US" dirty="0"/>
          </a:p>
        </p:txBody>
      </p:sp>
      <p:pic>
        <p:nvPicPr>
          <p:cNvPr id="7" name="Picture 6">
            <a:extLst>
              <a:ext uri="{FF2B5EF4-FFF2-40B4-BE49-F238E27FC236}">
                <a16:creationId xmlns:a16="http://schemas.microsoft.com/office/drawing/2014/main" id="{38671F5D-135A-D231-048F-70BD2A3166DD}"/>
              </a:ext>
            </a:extLst>
          </p:cNvPr>
          <p:cNvPicPr>
            <a:picLocks noChangeAspect="1"/>
          </p:cNvPicPr>
          <p:nvPr/>
        </p:nvPicPr>
        <p:blipFill>
          <a:blip r:embed="rId5"/>
          <a:stretch>
            <a:fillRect/>
          </a:stretch>
        </p:blipFill>
        <p:spPr>
          <a:xfrm>
            <a:off x="367122" y="1031452"/>
            <a:ext cx="8243477" cy="5521574"/>
          </a:xfrm>
          <a:prstGeom prst="rect">
            <a:avLst/>
          </a:prstGeom>
        </p:spPr>
      </p:pic>
      <p:sp>
        <p:nvSpPr>
          <p:cNvPr id="11" name="TextBox 10">
            <a:extLst>
              <a:ext uri="{FF2B5EF4-FFF2-40B4-BE49-F238E27FC236}">
                <a16:creationId xmlns:a16="http://schemas.microsoft.com/office/drawing/2014/main" id="{95075F77-8542-8B1E-363B-3589CC107516}"/>
              </a:ext>
            </a:extLst>
          </p:cNvPr>
          <p:cNvSpPr txBox="1"/>
          <p:nvPr/>
        </p:nvSpPr>
        <p:spPr>
          <a:xfrm>
            <a:off x="228600" y="635860"/>
            <a:ext cx="8132618" cy="369332"/>
          </a:xfrm>
          <a:prstGeom prst="rect">
            <a:avLst/>
          </a:prstGeom>
          <a:noFill/>
        </p:spPr>
        <p:txBody>
          <a:bodyPr wrap="square">
            <a:spAutoFit/>
          </a:bodyPr>
          <a:lstStyle/>
          <a:p>
            <a:r>
              <a:rPr lang="en-US" sz="1800" b="1" dirty="0"/>
              <a:t>Simplified Java version</a:t>
            </a:r>
            <a:r>
              <a:rPr lang="en-US" sz="1800" dirty="0"/>
              <a:t> to illustrate the core functionality:</a:t>
            </a:r>
            <a:endParaRPr lang="en-US" dirty="0"/>
          </a:p>
        </p:txBody>
      </p:sp>
    </p:spTree>
    <p:extLst>
      <p:ext uri="{BB962C8B-B14F-4D97-AF65-F5344CB8AC3E}">
        <p14:creationId xmlns:p14="http://schemas.microsoft.com/office/powerpoint/2010/main" val="1573748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38C2D-515B-72C4-588C-D7D5552DA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6B32C-CBDA-5CD2-0A80-C0A09E1DBB42}"/>
              </a:ext>
            </a:extLst>
          </p:cNvPr>
          <p:cNvSpPr>
            <a:spLocks noGrp="1"/>
          </p:cNvSpPr>
          <p:nvPr>
            <p:ph type="ctrTitle"/>
          </p:nvPr>
        </p:nvSpPr>
        <p:spPr>
          <a:xfrm>
            <a:off x="228600" y="92075"/>
            <a:ext cx="7696200" cy="517525"/>
          </a:xfrm>
        </p:spPr>
        <p:style>
          <a:lnRef idx="2">
            <a:schemeClr val="accent6"/>
          </a:lnRef>
          <a:fillRef idx="1">
            <a:schemeClr val="lt1"/>
          </a:fillRef>
          <a:effectRef idx="0">
            <a:schemeClr val="accent6"/>
          </a:effectRef>
          <a:fontRef idx="minor">
            <a:schemeClr val="dk1"/>
          </a:fontRef>
        </p:style>
        <p:txBody>
          <a:bodyPr>
            <a:noAutofit/>
          </a:bodyPr>
          <a:lstStyle/>
          <a:p>
            <a:r>
              <a:rPr lang="en-US" sz="2400" b="1" dirty="0"/>
              <a:t>Java Code Skeleton (Basic OOP Implementation)</a:t>
            </a:r>
            <a:br>
              <a:rPr lang="en-US" sz="2400" b="1" dirty="0"/>
            </a:br>
            <a:endParaRPr lang="en-US" sz="2400" dirty="0"/>
          </a:p>
        </p:txBody>
      </p:sp>
      <p:sp>
        <p:nvSpPr>
          <p:cNvPr id="3" name="Slide Number Placeholder 2">
            <a:extLst>
              <a:ext uri="{FF2B5EF4-FFF2-40B4-BE49-F238E27FC236}">
                <a16:creationId xmlns:a16="http://schemas.microsoft.com/office/drawing/2014/main" id="{54872143-9C58-5C71-0F8B-5163712CCC28}"/>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22</a:t>
            </a:fld>
            <a:endParaRPr lang="en-US" dirty="0">
              <a:solidFill>
                <a:schemeClr val="tx1"/>
              </a:solidFill>
            </a:endParaRPr>
          </a:p>
        </p:txBody>
      </p:sp>
      <p:sp>
        <p:nvSpPr>
          <p:cNvPr id="10" name="TextBox 9">
            <a:extLst>
              <a:ext uri="{FF2B5EF4-FFF2-40B4-BE49-F238E27FC236}">
                <a16:creationId xmlns:a16="http://schemas.microsoft.com/office/drawing/2014/main" id="{AF9E532A-CAB7-2425-95E1-D393939A5560}"/>
              </a:ext>
            </a:extLst>
          </p:cNvPr>
          <p:cNvSpPr txBox="1"/>
          <p:nvPr/>
        </p:nvSpPr>
        <p:spPr>
          <a:xfrm>
            <a:off x="2272145" y="3246643"/>
            <a:ext cx="4581236" cy="369332"/>
          </a:xfrm>
          <a:prstGeom prst="rect">
            <a:avLst/>
          </a:prstGeom>
          <a:noFill/>
        </p:spPr>
        <p:txBody>
          <a:bodyPr wrap="square">
            <a:spAutoFit/>
          </a:bodyPr>
          <a:lstStyle/>
          <a:p>
            <a:endParaRPr lang="en-US" dirty="0"/>
          </a:p>
        </p:txBody>
      </p:sp>
      <p:sp>
        <p:nvSpPr>
          <p:cNvPr id="11" name="TextBox 10">
            <a:extLst>
              <a:ext uri="{FF2B5EF4-FFF2-40B4-BE49-F238E27FC236}">
                <a16:creationId xmlns:a16="http://schemas.microsoft.com/office/drawing/2014/main" id="{04DA0F15-BE41-A90B-5BFE-32C8DBC8E30E}"/>
              </a:ext>
            </a:extLst>
          </p:cNvPr>
          <p:cNvSpPr txBox="1"/>
          <p:nvPr/>
        </p:nvSpPr>
        <p:spPr>
          <a:xfrm>
            <a:off x="228600" y="635860"/>
            <a:ext cx="8132618" cy="369332"/>
          </a:xfrm>
          <a:prstGeom prst="rect">
            <a:avLst/>
          </a:prstGeom>
          <a:noFill/>
        </p:spPr>
        <p:txBody>
          <a:bodyPr wrap="square">
            <a:spAutoFit/>
          </a:bodyPr>
          <a:lstStyle/>
          <a:p>
            <a:r>
              <a:rPr lang="en-US" sz="1800" b="1" dirty="0"/>
              <a:t>Simplified Java version</a:t>
            </a:r>
            <a:r>
              <a:rPr lang="en-US" sz="1800" dirty="0"/>
              <a:t> to illustrate the core functionality:</a:t>
            </a:r>
            <a:endParaRPr lang="en-US" dirty="0"/>
          </a:p>
        </p:txBody>
      </p:sp>
      <p:pic>
        <p:nvPicPr>
          <p:cNvPr id="5" name="Picture 4">
            <a:extLst>
              <a:ext uri="{FF2B5EF4-FFF2-40B4-BE49-F238E27FC236}">
                <a16:creationId xmlns:a16="http://schemas.microsoft.com/office/drawing/2014/main" id="{5007F71A-4859-40CB-57FC-31EA796B4F9B}"/>
              </a:ext>
            </a:extLst>
          </p:cNvPr>
          <p:cNvPicPr>
            <a:picLocks noChangeAspect="1"/>
          </p:cNvPicPr>
          <p:nvPr/>
        </p:nvPicPr>
        <p:blipFill>
          <a:blip r:embed="rId3"/>
          <a:stretch>
            <a:fillRect/>
          </a:stretch>
        </p:blipFill>
        <p:spPr>
          <a:xfrm>
            <a:off x="369432" y="952285"/>
            <a:ext cx="7326768" cy="6249868"/>
          </a:xfrm>
          <a:prstGeom prst="rect">
            <a:avLst/>
          </a:prstGeom>
        </p:spPr>
      </p:pic>
    </p:spTree>
    <p:extLst>
      <p:ext uri="{BB962C8B-B14F-4D97-AF65-F5344CB8AC3E}">
        <p14:creationId xmlns:p14="http://schemas.microsoft.com/office/powerpoint/2010/main" val="4173236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94AF-A5F8-93C2-2913-3F01FB65D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8A08C-7BB3-5796-8385-971D10F47460}"/>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Others Module</a:t>
            </a:r>
          </a:p>
        </p:txBody>
      </p:sp>
      <p:sp>
        <p:nvSpPr>
          <p:cNvPr id="4" name="Subtitle 3">
            <a:extLst>
              <a:ext uri="{FF2B5EF4-FFF2-40B4-BE49-F238E27FC236}">
                <a16:creationId xmlns:a16="http://schemas.microsoft.com/office/drawing/2014/main" id="{08570F2D-DB29-EF9F-4385-169E0F0EDAD1}"/>
              </a:ext>
            </a:extLst>
          </p:cNvPr>
          <p:cNvSpPr>
            <a:spLocks noGrp="1"/>
          </p:cNvSpPr>
          <p:nvPr>
            <p:ph type="subTitle" idx="1"/>
          </p:nvPr>
        </p:nvSpPr>
        <p:spPr>
          <a:xfrm>
            <a:off x="152400" y="1523999"/>
            <a:ext cx="8979108" cy="4953001"/>
          </a:xfrm>
        </p:spPr>
        <p:txBody>
          <a:bodyPr>
            <a:noAutofit/>
          </a:bodyPr>
          <a:lstStyle/>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System Integration (High-Level Workflow)</a:t>
            </a:r>
          </a:p>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User Interface (Web/Mobile App):</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Citizens apply for housing, report garbage issues, or submit traffic complaints.</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Government officials review data and take action.</a:t>
            </a:r>
          </a:p>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Database:</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Stores applicant details, housing units, garbage zones, and traffic signals.</a:t>
            </a:r>
          </a:p>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AI/ML Components:</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Predictive housing allocation. </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Optimal garbage truck routing and Smart traffic light automation.</a:t>
            </a:r>
          </a:p>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APIs for External Systems:</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Dhaka City Corporation (garbage trucks).</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BRTA (traffic management).</a:t>
            </a:r>
          </a:p>
        </p:txBody>
      </p:sp>
      <p:sp>
        <p:nvSpPr>
          <p:cNvPr id="3" name="Slide Number Placeholder 2">
            <a:extLst>
              <a:ext uri="{FF2B5EF4-FFF2-40B4-BE49-F238E27FC236}">
                <a16:creationId xmlns:a16="http://schemas.microsoft.com/office/drawing/2014/main" id="{BAD226F4-5AB1-833E-EDFC-A86466C2BF4B}"/>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23</a:t>
            </a:fld>
            <a:endParaRPr lang="en-US" dirty="0">
              <a:solidFill>
                <a:schemeClr val="tx1"/>
              </a:solidFill>
            </a:endParaRPr>
          </a:p>
        </p:txBody>
      </p:sp>
      <p:pic>
        <p:nvPicPr>
          <p:cNvPr id="6" name="Picture 5">
            <a:extLst>
              <a:ext uri="{FF2B5EF4-FFF2-40B4-BE49-F238E27FC236}">
                <a16:creationId xmlns:a16="http://schemas.microsoft.com/office/drawing/2014/main" id="{EC55A436-6E3A-2DEE-4298-DE1A9519E544}"/>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B2FA4B42-1B98-EBFD-9553-61DEC8724DEC}"/>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119301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3E921-77B8-A481-0CC8-11CD68C96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E3278-6676-5202-A723-F5BB57A854A8}"/>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sv-SE" sz="3600" b="1" dirty="0">
                <a:latin typeface="Times New Roman" pitchFamily="18" charset="0"/>
                <a:cs typeface="Times New Roman" pitchFamily="18" charset="0"/>
              </a:rPr>
              <a:t>System Scenario-2: "Agricultural Automation System (AAS)”</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34AFC0BA-B5C7-57E4-F256-AC831802284A}"/>
              </a:ext>
            </a:extLst>
          </p:cNvPr>
          <p:cNvSpPr>
            <a:spLocks noGrp="1"/>
          </p:cNvSpPr>
          <p:nvPr>
            <p:ph type="subTitle" idx="1"/>
          </p:nvPr>
        </p:nvSpPr>
        <p:spPr>
          <a:xfrm>
            <a:off x="0" y="1319702"/>
            <a:ext cx="9131508" cy="5309698"/>
          </a:xfrm>
        </p:spPr>
        <p:txBody>
          <a:bodyPr>
            <a:noAutofit/>
          </a:bodyPr>
          <a:lstStyle/>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Agriculture is one of the most important sectors in Bangladesh. Farmers face several challenges:</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Inefficient irrigation management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Excessive fertilizer usage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Pest and weed attacks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Labor shortages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Low crop yield prediction accuracy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Delayed harvesting decisions </a:t>
            </a:r>
          </a:p>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a:t>
            </a:r>
            <a:r>
              <a:rPr lang="en-US" sz="2000" b="1" dirty="0">
                <a:solidFill>
                  <a:schemeClr val="tx1"/>
                </a:solidFill>
                <a:latin typeface="Times New Roman" panose="02020603050405020304" pitchFamily="18" charset="0"/>
                <a:cs typeface="Times New Roman" panose="02020603050405020304" pitchFamily="18" charset="0"/>
              </a:rPr>
              <a:t>Agricultural Automation System (AAS)</a:t>
            </a:r>
            <a:r>
              <a:rPr lang="en-US" sz="2000" dirty="0">
                <a:solidFill>
                  <a:schemeClr val="tx1"/>
                </a:solidFill>
                <a:latin typeface="Times New Roman" panose="02020603050405020304" pitchFamily="18" charset="0"/>
                <a:cs typeface="Times New Roman" panose="02020603050405020304" pitchFamily="18" charset="0"/>
              </a:rPr>
              <a:t> is a centralized smart farming platform designed to automate the rice cultivation process using </a:t>
            </a:r>
            <a:r>
              <a:rPr lang="en-US" sz="2000" b="1" dirty="0">
                <a:solidFill>
                  <a:srgbClr val="FF0000"/>
                </a:solidFill>
                <a:latin typeface="Times New Roman" panose="02020603050405020304" pitchFamily="18" charset="0"/>
                <a:cs typeface="Times New Roman" panose="02020603050405020304" pitchFamily="18" charset="0"/>
              </a:rPr>
              <a:t>IoT sensors, AI/ML, drones, and automated machinery.</a:t>
            </a:r>
          </a:p>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a:t>
            </a:r>
            <a:r>
              <a:rPr lang="en-US" sz="2000" b="1" dirty="0">
                <a:solidFill>
                  <a:srgbClr val="00B050"/>
                </a:solidFill>
                <a:latin typeface="Times New Roman" panose="02020603050405020304" pitchFamily="18" charset="0"/>
                <a:cs typeface="Times New Roman" panose="02020603050405020304" pitchFamily="18" charset="0"/>
              </a:rPr>
              <a:t>system can be accessed through web and mobile applications by farmers, agricultural officers, field workers, and farm managers.</a:t>
            </a:r>
          </a:p>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system </a:t>
            </a:r>
            <a:r>
              <a:rPr lang="en-US" sz="2000" b="1" dirty="0">
                <a:solidFill>
                  <a:srgbClr val="00B0F0"/>
                </a:solidFill>
                <a:latin typeface="Times New Roman" panose="02020603050405020304" pitchFamily="18" charset="0"/>
                <a:cs typeface="Times New Roman" panose="02020603050405020304" pitchFamily="18" charset="0"/>
              </a:rPr>
              <a:t>continuously collects field data from sensors and cameras and automatically controls irrigation, fertilization, pest control, and harvesting operations.</a:t>
            </a:r>
          </a:p>
        </p:txBody>
      </p:sp>
      <p:sp>
        <p:nvSpPr>
          <p:cNvPr id="3" name="Slide Number Placeholder 2">
            <a:extLst>
              <a:ext uri="{FF2B5EF4-FFF2-40B4-BE49-F238E27FC236}">
                <a16:creationId xmlns:a16="http://schemas.microsoft.com/office/drawing/2014/main" id="{C5E50664-1EC4-DE0C-EE58-83789B53DE5E}"/>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24</a:t>
            </a:fld>
            <a:endParaRPr lang="en-US" dirty="0">
              <a:solidFill>
                <a:schemeClr val="tx1"/>
              </a:solidFill>
            </a:endParaRPr>
          </a:p>
        </p:txBody>
      </p:sp>
      <p:pic>
        <p:nvPicPr>
          <p:cNvPr id="6" name="Picture 5">
            <a:extLst>
              <a:ext uri="{FF2B5EF4-FFF2-40B4-BE49-F238E27FC236}">
                <a16:creationId xmlns:a16="http://schemas.microsoft.com/office/drawing/2014/main" id="{BF7FE0EA-19EC-9845-338E-060F44738C98}"/>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E34BC358-8DF5-5854-F0E7-C728AD23B560}"/>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2527275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3BE08-7604-9027-7E97-08EC5B4D1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E4EA-2170-A5C5-759F-BC5EA9BF51A3}"/>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latin typeface="Times New Roman" panose="02020603050405020304" pitchFamily="18" charset="0"/>
                <a:cs typeface="Times New Roman" panose="02020603050405020304" pitchFamily="18" charset="0"/>
              </a:rPr>
              <a:t>System Goal</a:t>
            </a:r>
            <a:endParaRPr lang="en-US" sz="3600" b="1" dirty="0">
              <a:latin typeface="Times New Roman" panose="02020603050405020304" pitchFamily="18" charset="0"/>
              <a:cs typeface="Times New Roman" pitchFamily="18" charset="0"/>
            </a:endParaRPr>
          </a:p>
        </p:txBody>
      </p:sp>
      <p:sp>
        <p:nvSpPr>
          <p:cNvPr id="4" name="Subtitle 3">
            <a:extLst>
              <a:ext uri="{FF2B5EF4-FFF2-40B4-BE49-F238E27FC236}">
                <a16:creationId xmlns:a16="http://schemas.microsoft.com/office/drawing/2014/main" id="{9EE53BB7-35BB-2DBB-FC76-EF30AC99E2B8}"/>
              </a:ext>
            </a:extLst>
          </p:cNvPr>
          <p:cNvSpPr>
            <a:spLocks noGrp="1"/>
          </p:cNvSpPr>
          <p:nvPr>
            <p:ph type="subTitle" idx="1"/>
          </p:nvPr>
        </p:nvSpPr>
        <p:spPr>
          <a:xfrm>
            <a:off x="0" y="1319702"/>
            <a:ext cx="9131508" cy="5309698"/>
          </a:xfrm>
        </p:spPr>
        <p:txBody>
          <a:bodyPr>
            <a:noAutofit/>
          </a:bodyPr>
          <a:lstStyle/>
          <a:p>
            <a:pPr marL="342900" indent="-342900" algn="l">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Develop a smart farming platform that:</a:t>
            </a:r>
          </a:p>
          <a:p>
            <a:pPr marL="800100" lvl="1"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Monitors crop growth </a:t>
            </a:r>
          </a:p>
          <a:p>
            <a:pPr marL="800100" lvl="1"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Controls irrigation automatically </a:t>
            </a:r>
          </a:p>
          <a:p>
            <a:pPr marL="800100" lvl="1"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Detects diseases and pests </a:t>
            </a:r>
          </a:p>
          <a:p>
            <a:pPr marL="800100" lvl="1"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Optimizes fertilizer application </a:t>
            </a:r>
          </a:p>
          <a:p>
            <a:pPr marL="800100" lvl="1"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Predicts harvesting time </a:t>
            </a:r>
          </a:p>
          <a:p>
            <a:pPr marL="800100" lvl="1"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Increases crop production</a:t>
            </a:r>
          </a:p>
        </p:txBody>
      </p:sp>
      <p:sp>
        <p:nvSpPr>
          <p:cNvPr id="3" name="Slide Number Placeholder 2">
            <a:extLst>
              <a:ext uri="{FF2B5EF4-FFF2-40B4-BE49-F238E27FC236}">
                <a16:creationId xmlns:a16="http://schemas.microsoft.com/office/drawing/2014/main" id="{6DA6B07D-935A-9741-23F6-92D76AD705E2}"/>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25</a:t>
            </a:fld>
            <a:endParaRPr lang="en-US" dirty="0">
              <a:solidFill>
                <a:schemeClr val="tx1"/>
              </a:solidFill>
            </a:endParaRPr>
          </a:p>
        </p:txBody>
      </p:sp>
      <p:pic>
        <p:nvPicPr>
          <p:cNvPr id="6" name="Picture 5">
            <a:extLst>
              <a:ext uri="{FF2B5EF4-FFF2-40B4-BE49-F238E27FC236}">
                <a16:creationId xmlns:a16="http://schemas.microsoft.com/office/drawing/2014/main" id="{3C67DD31-D30B-6B58-9AFD-F2562DF9C599}"/>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AA516B72-A6DD-B57D-978B-707AA4E2B232}"/>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861695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AAS Main Modules</a:t>
            </a:r>
            <a:endParaRPr lang="en-US" sz="3600" b="1" dirty="0">
              <a:latin typeface="Times New Roman" pitchFamily="18" charset="0"/>
              <a:cs typeface="Times New Roman" pitchFamily="18" charset="0"/>
            </a:endParaRPr>
          </a:p>
        </p:txBody>
      </p:sp>
      <p:sp>
        <p:nvSpPr>
          <p:cNvPr id="4" name="Subtitle 3"/>
          <p:cNvSpPr>
            <a:spLocks noGrp="1"/>
          </p:cNvSpPr>
          <p:nvPr>
            <p:ph type="subTitle" idx="1"/>
          </p:nvPr>
        </p:nvSpPr>
        <p:spPr>
          <a:xfrm>
            <a:off x="0" y="1319702"/>
            <a:ext cx="4267200" cy="5309698"/>
          </a:xfrm>
        </p:spPr>
        <p:txBody>
          <a:bodyPr>
            <a:no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1.Field Preparation Module</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Responsibilities:</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Register farm land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Analyze soil condition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Measure pH level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Detect moisture level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Prepare cultivation schedule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Input: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Soil sensor data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Farmer information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Output:</a:t>
            </a:r>
          </a:p>
          <a:p>
            <a:pPr marL="800100" lvl="1"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Land readiness report</a:t>
            </a:r>
          </a:p>
          <a:p>
            <a:pPr marL="1371600" lvl="2" indent="-457200" algn="l">
              <a:buFont typeface="Wingdings" panose="05000000000000000000" pitchFamily="2" charset="2"/>
              <a:buChar char="Ø"/>
            </a:pPr>
            <a:endParaRPr lang="en-US" altLang="ja-JP" sz="2000" b="0" i="0" dirty="0">
              <a:solidFill>
                <a:srgbClr val="404040"/>
              </a:solidFill>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26</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Subtitle 3">
            <a:extLst>
              <a:ext uri="{FF2B5EF4-FFF2-40B4-BE49-F238E27FC236}">
                <a16:creationId xmlns:a16="http://schemas.microsoft.com/office/drawing/2014/main" id="{A014809A-994E-446C-A38E-8602CDD5FC95}"/>
              </a:ext>
            </a:extLst>
          </p:cNvPr>
          <p:cNvSpPr txBox="1">
            <a:spLocks/>
          </p:cNvSpPr>
          <p:nvPr/>
        </p:nvSpPr>
        <p:spPr>
          <a:xfrm>
            <a:off x="4384929" y="1293032"/>
            <a:ext cx="4267200" cy="530969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rgbClr val="FF0000"/>
                </a:solidFill>
                <a:latin typeface="Times New Roman" panose="02020603050405020304" pitchFamily="18" charset="0"/>
                <a:cs typeface="Times New Roman" panose="02020603050405020304" pitchFamily="18" charset="0"/>
              </a:rPr>
              <a:t>2.Planting Module</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Responsibilities:</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Manage seed information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Schedule planting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Control automatic seed planter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Input: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Seed type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Field information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Output: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Planting confirmation</a:t>
            </a:r>
          </a:p>
          <a:p>
            <a:pPr marL="1371600" lvl="2" indent="-457200" algn="l">
              <a:buFont typeface="Wingdings" panose="05000000000000000000" pitchFamily="2" charset="2"/>
              <a:buChar char="Ø"/>
            </a:pPr>
            <a:endParaRPr lang="en-US" altLang="ja-JP" sz="2000" dirty="0">
              <a:solidFill>
                <a:srgbClr val="404040"/>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576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07A1B-FD21-C902-71B2-E428D7F05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030E5-D761-C5C4-A8FF-BBFFB4105F08}"/>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AAS Main Modules</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EFA7CA42-4F49-96D2-7DDC-827988C20E83}"/>
              </a:ext>
            </a:extLst>
          </p:cNvPr>
          <p:cNvSpPr>
            <a:spLocks noGrp="1"/>
          </p:cNvSpPr>
          <p:nvPr>
            <p:ph type="subTitle" idx="1"/>
          </p:nvPr>
        </p:nvSpPr>
        <p:spPr>
          <a:xfrm>
            <a:off x="0" y="1319702"/>
            <a:ext cx="4267200" cy="5309698"/>
          </a:xfrm>
        </p:spPr>
        <p:txBody>
          <a:bodyPr>
            <a:noAutofit/>
          </a:bodyPr>
          <a:lstStyle/>
          <a:p>
            <a:pPr algn="l"/>
            <a:r>
              <a:rPr lang="en-US" sz="2400" dirty="0"/>
              <a:t>3</a:t>
            </a:r>
            <a:r>
              <a:rPr lang="en-US" sz="2400" dirty="0">
                <a:solidFill>
                  <a:schemeClr val="tx1"/>
                </a:solidFill>
              </a:rPr>
              <a:t>.</a:t>
            </a:r>
            <a:r>
              <a:rPr lang="en-US" sz="2400" b="1" dirty="0">
                <a:solidFill>
                  <a:srgbClr val="FF0000"/>
                </a:solidFill>
              </a:rPr>
              <a:t>Irrigation Control Module</a:t>
            </a:r>
          </a:p>
          <a:p>
            <a:pPr marL="342900" indent="-342900" algn="l">
              <a:buFont typeface="Wingdings" panose="05000000000000000000" pitchFamily="2" charset="2"/>
              <a:buChar char="ü"/>
            </a:pPr>
            <a:r>
              <a:rPr lang="en-US" sz="2400" b="1" dirty="0">
                <a:solidFill>
                  <a:srgbClr val="00B050"/>
                </a:solidFill>
              </a:rPr>
              <a:t>Responsibilities:</a:t>
            </a:r>
          </a:p>
          <a:p>
            <a:pPr marL="800100" lvl="1" indent="-342900" algn="l">
              <a:buFont typeface="Wingdings" panose="05000000000000000000" pitchFamily="2" charset="2"/>
              <a:buChar char="v"/>
            </a:pPr>
            <a:r>
              <a:rPr lang="en-US" sz="2000" dirty="0">
                <a:solidFill>
                  <a:schemeClr val="tx1"/>
                </a:solidFill>
              </a:rPr>
              <a:t>Monitor soil moisture </a:t>
            </a:r>
          </a:p>
          <a:p>
            <a:pPr marL="800100" lvl="1" indent="-342900" algn="l">
              <a:buFont typeface="Wingdings" panose="05000000000000000000" pitchFamily="2" charset="2"/>
              <a:buChar char="v"/>
            </a:pPr>
            <a:r>
              <a:rPr lang="en-US" sz="2000" dirty="0">
                <a:solidFill>
                  <a:schemeClr val="tx1"/>
                </a:solidFill>
              </a:rPr>
              <a:t>Control water pumps </a:t>
            </a:r>
          </a:p>
          <a:p>
            <a:pPr marL="800100" lvl="1" indent="-342900" algn="l">
              <a:buFont typeface="Wingdings" panose="05000000000000000000" pitchFamily="2" charset="2"/>
              <a:buChar char="v"/>
            </a:pPr>
            <a:r>
              <a:rPr lang="en-US" sz="2000" dirty="0">
                <a:solidFill>
                  <a:schemeClr val="tx1"/>
                </a:solidFill>
              </a:rPr>
              <a:t>Manage irrigation schedules </a:t>
            </a:r>
          </a:p>
          <a:p>
            <a:pPr marL="342900" indent="-342900" algn="l">
              <a:buFont typeface="Wingdings" panose="05000000000000000000" pitchFamily="2" charset="2"/>
              <a:buChar char="ü"/>
            </a:pPr>
            <a:r>
              <a:rPr lang="en-US" sz="2400" b="1" dirty="0">
                <a:solidFill>
                  <a:srgbClr val="00B050"/>
                </a:solidFill>
              </a:rPr>
              <a:t>Input:</a:t>
            </a:r>
          </a:p>
          <a:p>
            <a:pPr marL="800100" lvl="1" indent="-342900" algn="l">
              <a:buFont typeface="Wingdings" panose="05000000000000000000" pitchFamily="2" charset="2"/>
              <a:buChar char="v"/>
            </a:pPr>
            <a:r>
              <a:rPr lang="en-US" sz="2000" dirty="0">
                <a:solidFill>
                  <a:schemeClr val="tx1"/>
                </a:solidFill>
              </a:rPr>
              <a:t>Moisture sensors </a:t>
            </a:r>
          </a:p>
          <a:p>
            <a:pPr marL="800100" lvl="1" indent="-342900" algn="l">
              <a:buFont typeface="Wingdings" panose="05000000000000000000" pitchFamily="2" charset="2"/>
              <a:buChar char="v"/>
            </a:pPr>
            <a:r>
              <a:rPr lang="en-US" sz="2000" dirty="0">
                <a:solidFill>
                  <a:schemeClr val="tx1"/>
                </a:solidFill>
              </a:rPr>
              <a:t>Weather forecast </a:t>
            </a:r>
          </a:p>
          <a:p>
            <a:pPr marL="342900" indent="-342900" algn="l">
              <a:buFont typeface="Wingdings" panose="05000000000000000000" pitchFamily="2" charset="2"/>
              <a:buChar char="ü"/>
            </a:pPr>
            <a:r>
              <a:rPr lang="en-US" sz="2400" b="1" dirty="0">
                <a:solidFill>
                  <a:srgbClr val="00B050"/>
                </a:solidFill>
              </a:rPr>
              <a:t>Output:</a:t>
            </a:r>
          </a:p>
          <a:p>
            <a:pPr marL="800100" lvl="1" indent="-342900" algn="l">
              <a:buFont typeface="Wingdings" panose="05000000000000000000" pitchFamily="2" charset="2"/>
              <a:buChar char="v"/>
            </a:pPr>
            <a:r>
              <a:rPr lang="en-US" sz="2000" dirty="0">
                <a:solidFill>
                  <a:schemeClr val="tx1"/>
                </a:solidFill>
              </a:rPr>
              <a:t>Automatic irrigation decision</a:t>
            </a:r>
          </a:p>
          <a:p>
            <a:pPr marL="1371600" lvl="2" indent="-457200" algn="l">
              <a:buFont typeface="Wingdings" panose="05000000000000000000" pitchFamily="2" charset="2"/>
              <a:buChar char="Ø"/>
            </a:pPr>
            <a:endParaRPr lang="en-US" altLang="ja-JP" sz="2000" b="0" i="0" dirty="0">
              <a:solidFill>
                <a:srgbClr val="404040"/>
              </a:solidFill>
              <a:effectLst/>
              <a:latin typeface="quote-cjk-patch"/>
            </a:endParaRPr>
          </a:p>
          <a:p>
            <a:pPr marL="457200" indent="-457200" algn="l">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41EAB9E-7EC8-BBB8-9ACA-8E30EEFB5CA8}"/>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27</a:t>
            </a:fld>
            <a:endParaRPr lang="en-US" dirty="0">
              <a:solidFill>
                <a:schemeClr val="tx1"/>
              </a:solidFill>
            </a:endParaRPr>
          </a:p>
        </p:txBody>
      </p:sp>
      <p:pic>
        <p:nvPicPr>
          <p:cNvPr id="6" name="Picture 5">
            <a:extLst>
              <a:ext uri="{FF2B5EF4-FFF2-40B4-BE49-F238E27FC236}">
                <a16:creationId xmlns:a16="http://schemas.microsoft.com/office/drawing/2014/main" id="{A8FE5C01-609A-3765-2266-CE1EFF1C8E77}"/>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98847F81-363F-D3E5-F2CC-F8D7C75737AD}"/>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Subtitle 3">
            <a:extLst>
              <a:ext uri="{FF2B5EF4-FFF2-40B4-BE49-F238E27FC236}">
                <a16:creationId xmlns:a16="http://schemas.microsoft.com/office/drawing/2014/main" id="{0B828A01-6628-0B0E-2635-5BADF7AFC5F8}"/>
              </a:ext>
            </a:extLst>
          </p:cNvPr>
          <p:cNvSpPr txBox="1">
            <a:spLocks/>
          </p:cNvSpPr>
          <p:nvPr/>
        </p:nvSpPr>
        <p:spPr>
          <a:xfrm>
            <a:off x="4384928" y="1293032"/>
            <a:ext cx="4606671" cy="530969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rgbClr val="FF0000"/>
                </a:solidFill>
                <a:latin typeface="Times New Roman" panose="02020603050405020304" pitchFamily="18" charset="0"/>
                <a:cs typeface="Times New Roman" panose="02020603050405020304" pitchFamily="18" charset="0"/>
              </a:rPr>
              <a:t>4. Fertilization Module</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Responsibilities:</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Monitor nutrient levels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Calculate fertilizer requirements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Schedule fertilizer application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Input: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Soil nutrients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Crop growth stage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Output: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Fertilizer recommendation </a:t>
            </a:r>
          </a:p>
          <a:p>
            <a:pPr marL="1371600" lvl="2" indent="-457200" algn="l">
              <a:buFont typeface="Wingdings" panose="05000000000000000000" pitchFamily="2" charset="2"/>
              <a:buChar char="ü"/>
            </a:pPr>
            <a:endParaRPr lang="en-US" altLang="ja-JP" sz="20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384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6FE1-BDD5-2C68-0BB6-F6F54BAA2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6F232-85F1-A1C2-8C3D-1F509E401C62}"/>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AAS Main Modules</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5FF44574-2AD2-89E8-C7DE-ED3DB84376A7}"/>
              </a:ext>
            </a:extLst>
          </p:cNvPr>
          <p:cNvSpPr>
            <a:spLocks noGrp="1"/>
          </p:cNvSpPr>
          <p:nvPr>
            <p:ph type="subTitle" idx="1"/>
          </p:nvPr>
        </p:nvSpPr>
        <p:spPr>
          <a:xfrm>
            <a:off x="0" y="1319702"/>
            <a:ext cx="4267200" cy="5309698"/>
          </a:xfrm>
        </p:spPr>
        <p:txBody>
          <a:bodyPr>
            <a:no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5. Pest &amp; Weed Control Module</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Responsibilities:</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Detect pests using camera images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Detect weeds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Recommend pesticide usage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Control spraying drones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Input: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Drone images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Camera feeds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Output: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Pest treatment plan </a:t>
            </a:r>
          </a:p>
        </p:txBody>
      </p:sp>
      <p:sp>
        <p:nvSpPr>
          <p:cNvPr id="3" name="Slide Number Placeholder 2">
            <a:extLst>
              <a:ext uri="{FF2B5EF4-FFF2-40B4-BE49-F238E27FC236}">
                <a16:creationId xmlns:a16="http://schemas.microsoft.com/office/drawing/2014/main" id="{9BE3BA6E-7B83-774C-767E-5F5E3B00C425}"/>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28</a:t>
            </a:fld>
            <a:endParaRPr lang="en-US" dirty="0">
              <a:solidFill>
                <a:schemeClr val="tx1"/>
              </a:solidFill>
            </a:endParaRPr>
          </a:p>
        </p:txBody>
      </p:sp>
      <p:pic>
        <p:nvPicPr>
          <p:cNvPr id="6" name="Picture 5">
            <a:extLst>
              <a:ext uri="{FF2B5EF4-FFF2-40B4-BE49-F238E27FC236}">
                <a16:creationId xmlns:a16="http://schemas.microsoft.com/office/drawing/2014/main" id="{31C963A4-DB7A-88D4-B386-34F84D510B53}"/>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4D4C23E9-1C92-ED6C-E0FF-2449AA2FC898}"/>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Subtitle 3">
            <a:extLst>
              <a:ext uri="{FF2B5EF4-FFF2-40B4-BE49-F238E27FC236}">
                <a16:creationId xmlns:a16="http://schemas.microsoft.com/office/drawing/2014/main" id="{AEE4DD9F-BE5B-11D8-53CA-97FAFE6D8568}"/>
              </a:ext>
            </a:extLst>
          </p:cNvPr>
          <p:cNvSpPr txBox="1">
            <a:spLocks/>
          </p:cNvSpPr>
          <p:nvPr/>
        </p:nvSpPr>
        <p:spPr>
          <a:xfrm>
            <a:off x="4384929" y="1293032"/>
            <a:ext cx="4267200" cy="530969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rgbClr val="FF0000"/>
                </a:solidFill>
                <a:latin typeface="Times New Roman" panose="02020603050405020304" pitchFamily="18" charset="0"/>
                <a:cs typeface="Times New Roman" panose="02020603050405020304" pitchFamily="18" charset="0"/>
              </a:rPr>
              <a:t>6. Growth Monitoring Module</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Responsibilities:</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Monitor plant growth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Calculate crop health index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Estimate yield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Input: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Drone images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Sensor data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Output: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Growth report </a:t>
            </a:r>
          </a:p>
        </p:txBody>
      </p:sp>
    </p:spTree>
    <p:extLst>
      <p:ext uri="{BB962C8B-B14F-4D97-AF65-F5344CB8AC3E}">
        <p14:creationId xmlns:p14="http://schemas.microsoft.com/office/powerpoint/2010/main" val="723615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1A607-3995-9948-FE9D-727E73F8C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609E7-E762-B028-100E-F933C7870FA3}"/>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AAS Main Modules</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4AE1ADE8-CE15-D8C7-DBEE-8D4C382F3D2A}"/>
              </a:ext>
            </a:extLst>
          </p:cNvPr>
          <p:cNvSpPr>
            <a:spLocks noGrp="1"/>
          </p:cNvSpPr>
          <p:nvPr>
            <p:ph type="subTitle" idx="1"/>
          </p:nvPr>
        </p:nvSpPr>
        <p:spPr>
          <a:xfrm>
            <a:off x="0" y="1319702"/>
            <a:ext cx="4267200" cy="5309698"/>
          </a:xfrm>
        </p:spPr>
        <p:txBody>
          <a:bodyPr>
            <a:no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7. Harvesting Module</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Responsibilities:</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Predict harvesting date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Control harvesting machines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Input: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Growth stage </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Weather condition </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Output:</a:t>
            </a:r>
          </a:p>
          <a:p>
            <a:pPr marL="800100" lvl="1" indent="-342900" algn="l">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Harvest schedule</a:t>
            </a:r>
          </a:p>
        </p:txBody>
      </p:sp>
      <p:sp>
        <p:nvSpPr>
          <p:cNvPr id="3" name="Slide Number Placeholder 2">
            <a:extLst>
              <a:ext uri="{FF2B5EF4-FFF2-40B4-BE49-F238E27FC236}">
                <a16:creationId xmlns:a16="http://schemas.microsoft.com/office/drawing/2014/main" id="{8ED03805-53C1-A044-D1DF-BF17FFA3CC1F}"/>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29</a:t>
            </a:fld>
            <a:endParaRPr lang="en-US" dirty="0">
              <a:solidFill>
                <a:schemeClr val="tx1"/>
              </a:solidFill>
            </a:endParaRPr>
          </a:p>
        </p:txBody>
      </p:sp>
      <p:pic>
        <p:nvPicPr>
          <p:cNvPr id="6" name="Picture 5">
            <a:extLst>
              <a:ext uri="{FF2B5EF4-FFF2-40B4-BE49-F238E27FC236}">
                <a16:creationId xmlns:a16="http://schemas.microsoft.com/office/drawing/2014/main" id="{74BA9480-3554-25B7-C88D-A5630B225BD9}"/>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702A8244-C32C-D592-6725-4446F118A311}"/>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Subtitle 3">
            <a:extLst>
              <a:ext uri="{FF2B5EF4-FFF2-40B4-BE49-F238E27FC236}">
                <a16:creationId xmlns:a16="http://schemas.microsoft.com/office/drawing/2014/main" id="{D247E8AE-DC03-E34B-D0DD-0D3330EC4A73}"/>
              </a:ext>
            </a:extLst>
          </p:cNvPr>
          <p:cNvSpPr txBox="1">
            <a:spLocks/>
          </p:cNvSpPr>
          <p:nvPr/>
        </p:nvSpPr>
        <p:spPr>
          <a:xfrm>
            <a:off x="4384929" y="1293032"/>
            <a:ext cx="4267200" cy="530969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rgbClr val="FF0000"/>
                </a:solidFill>
              </a:rPr>
              <a:t>8. Post-Harvest Module</a:t>
            </a:r>
          </a:p>
          <a:p>
            <a:pPr marL="342900" indent="-342900" algn="l">
              <a:buFont typeface="Wingdings" panose="05000000000000000000" pitchFamily="2" charset="2"/>
              <a:buChar char="ü"/>
            </a:pPr>
            <a:r>
              <a:rPr lang="en-US" sz="2400" b="1" dirty="0">
                <a:solidFill>
                  <a:srgbClr val="00B050"/>
                </a:solidFill>
              </a:rPr>
              <a:t>Responsibilities:</a:t>
            </a:r>
          </a:p>
          <a:p>
            <a:pPr marL="800100" lvl="1" indent="-342900" algn="l">
              <a:buFont typeface="Wingdings" panose="05000000000000000000" pitchFamily="2" charset="2"/>
              <a:buChar char="v"/>
            </a:pPr>
            <a:r>
              <a:rPr lang="en-US" sz="2000" dirty="0">
                <a:solidFill>
                  <a:schemeClr val="tx1"/>
                </a:solidFill>
              </a:rPr>
              <a:t>Store harvested rice </a:t>
            </a:r>
          </a:p>
          <a:p>
            <a:pPr marL="800100" lvl="1" indent="-342900" algn="l">
              <a:buFont typeface="Wingdings" panose="05000000000000000000" pitchFamily="2" charset="2"/>
              <a:buChar char="v"/>
            </a:pPr>
            <a:r>
              <a:rPr lang="en-US" sz="2000" dirty="0">
                <a:solidFill>
                  <a:schemeClr val="tx1"/>
                </a:solidFill>
              </a:rPr>
              <a:t>Manage transportation </a:t>
            </a:r>
          </a:p>
          <a:p>
            <a:pPr marL="800100" lvl="1" indent="-342900" algn="l">
              <a:buFont typeface="Wingdings" panose="05000000000000000000" pitchFamily="2" charset="2"/>
              <a:buChar char="v"/>
            </a:pPr>
            <a:r>
              <a:rPr lang="en-US" sz="2000" dirty="0">
                <a:solidFill>
                  <a:schemeClr val="tx1"/>
                </a:solidFill>
              </a:rPr>
              <a:t>Track warehouse inventory </a:t>
            </a:r>
          </a:p>
          <a:p>
            <a:pPr marL="342900" indent="-342900" algn="l">
              <a:buFont typeface="Wingdings" panose="05000000000000000000" pitchFamily="2" charset="2"/>
              <a:buChar char="ü"/>
            </a:pPr>
            <a:r>
              <a:rPr lang="en-US" sz="2400" b="1" dirty="0">
                <a:solidFill>
                  <a:srgbClr val="00B050"/>
                </a:solidFill>
              </a:rPr>
              <a:t>Input:</a:t>
            </a:r>
          </a:p>
          <a:p>
            <a:pPr marL="800100" lvl="1" indent="-342900" algn="l">
              <a:buFont typeface="Wingdings" panose="05000000000000000000" pitchFamily="2" charset="2"/>
              <a:buChar char="v"/>
            </a:pPr>
            <a:r>
              <a:rPr lang="en-US" sz="2000" dirty="0">
                <a:solidFill>
                  <a:schemeClr val="tx1"/>
                </a:solidFill>
              </a:rPr>
              <a:t>Harvest quantity </a:t>
            </a:r>
          </a:p>
          <a:p>
            <a:pPr marL="342900" indent="-342900" algn="l">
              <a:buFont typeface="Wingdings" panose="05000000000000000000" pitchFamily="2" charset="2"/>
              <a:buChar char="ü"/>
            </a:pPr>
            <a:r>
              <a:rPr lang="en-US" sz="2400" dirty="0">
                <a:solidFill>
                  <a:srgbClr val="00B050"/>
                </a:solidFill>
              </a:rPr>
              <a:t>Output:</a:t>
            </a:r>
          </a:p>
          <a:p>
            <a:pPr marL="800100" lvl="1" indent="-342900" algn="l">
              <a:buFont typeface="Wingdings" panose="05000000000000000000" pitchFamily="2" charset="2"/>
              <a:buChar char="v"/>
            </a:pPr>
            <a:r>
              <a:rPr lang="en-US" sz="2000" dirty="0">
                <a:solidFill>
                  <a:schemeClr val="tx1"/>
                </a:solidFill>
              </a:rPr>
              <a:t>Storage report </a:t>
            </a:r>
          </a:p>
        </p:txBody>
      </p:sp>
    </p:spTree>
    <p:extLst>
      <p:ext uri="{BB962C8B-B14F-4D97-AF65-F5344CB8AC3E}">
        <p14:creationId xmlns:p14="http://schemas.microsoft.com/office/powerpoint/2010/main" val="29612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89AC-A641-10C8-D646-9D1E9C768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EAD0D7-5873-6CE1-2073-96694731F9E9}"/>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AAS Main Modules</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08B9D630-7A14-86E3-081F-CB802657F46A}"/>
              </a:ext>
            </a:extLst>
          </p:cNvPr>
          <p:cNvSpPr>
            <a:spLocks noGrp="1"/>
          </p:cNvSpPr>
          <p:nvPr>
            <p:ph type="subTitle" idx="1"/>
          </p:nvPr>
        </p:nvSpPr>
        <p:spPr>
          <a:xfrm>
            <a:off x="0" y="1319702"/>
            <a:ext cx="4267200" cy="5309698"/>
          </a:xfrm>
        </p:spPr>
        <p:txBody>
          <a:bodyPr>
            <a:noAutofit/>
          </a:bodyPr>
          <a:lstStyle/>
          <a:p>
            <a:pPr algn="l"/>
            <a:r>
              <a:rPr lang="en-US" sz="2400" b="1" dirty="0">
                <a:solidFill>
                  <a:schemeClr val="tx1"/>
                </a:solidFill>
                <a:latin typeface="Times New Roman" panose="02020603050405020304" pitchFamily="18" charset="0"/>
                <a:cs typeface="Times New Roman" panose="02020603050405020304" pitchFamily="18" charset="0"/>
              </a:rPr>
              <a:t>9. Central Control System</a:t>
            </a:r>
          </a:p>
          <a:p>
            <a:pPr marL="800100" lvl="1"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Responsibilities:</a:t>
            </a:r>
          </a:p>
          <a:p>
            <a:pPr marL="800100" lvl="1"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Coordinate all modules </a:t>
            </a:r>
          </a:p>
          <a:p>
            <a:pPr marL="800100" lvl="1"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Store data </a:t>
            </a:r>
          </a:p>
          <a:p>
            <a:pPr marL="800100" lvl="1"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Generate reports </a:t>
            </a:r>
          </a:p>
          <a:p>
            <a:pPr marL="800100" lvl="1"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Run AI prediction models</a:t>
            </a:r>
          </a:p>
        </p:txBody>
      </p:sp>
      <p:sp>
        <p:nvSpPr>
          <p:cNvPr id="3" name="Slide Number Placeholder 2">
            <a:extLst>
              <a:ext uri="{FF2B5EF4-FFF2-40B4-BE49-F238E27FC236}">
                <a16:creationId xmlns:a16="http://schemas.microsoft.com/office/drawing/2014/main" id="{F5A5F409-5B2A-BFD3-34B7-EC6587347D67}"/>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30</a:t>
            </a:fld>
            <a:endParaRPr lang="en-US" dirty="0">
              <a:solidFill>
                <a:schemeClr val="tx1"/>
              </a:solidFill>
            </a:endParaRPr>
          </a:p>
        </p:txBody>
      </p:sp>
      <p:pic>
        <p:nvPicPr>
          <p:cNvPr id="6" name="Picture 5">
            <a:extLst>
              <a:ext uri="{FF2B5EF4-FFF2-40B4-BE49-F238E27FC236}">
                <a16:creationId xmlns:a16="http://schemas.microsoft.com/office/drawing/2014/main" id="{BB2353E3-4BEF-0C40-DDA6-0797C35FDBB4}"/>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9ACC3A06-D9E8-406A-B4D8-0A8033FB35C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636246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DC70-4974-DB37-0A29-91B77F3C6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BC265-2278-973A-080A-9319C85C3849}"/>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AAS Main Modules</a:t>
            </a:r>
            <a:endParaRPr lang="en-US" sz="3600" b="1" dirty="0">
              <a:latin typeface="Times New Roman" pitchFamily="18" charset="0"/>
              <a:cs typeface="Times New Roman" pitchFamily="18" charset="0"/>
            </a:endParaRPr>
          </a:p>
        </p:txBody>
      </p:sp>
      <p:sp>
        <p:nvSpPr>
          <p:cNvPr id="4" name="Subtitle 3">
            <a:extLst>
              <a:ext uri="{FF2B5EF4-FFF2-40B4-BE49-F238E27FC236}">
                <a16:creationId xmlns:a16="http://schemas.microsoft.com/office/drawing/2014/main" id="{002374B1-01A4-1855-12C0-ACC76B936BD3}"/>
              </a:ext>
            </a:extLst>
          </p:cNvPr>
          <p:cNvSpPr>
            <a:spLocks noGrp="1"/>
          </p:cNvSpPr>
          <p:nvPr>
            <p:ph type="subTitle" idx="1"/>
          </p:nvPr>
        </p:nvSpPr>
        <p:spPr>
          <a:xfrm>
            <a:off x="0" y="1319702"/>
            <a:ext cx="6172200" cy="557702"/>
          </a:xfrm>
        </p:spPr>
        <p:txBody>
          <a:bodyPr>
            <a:noAutofit/>
          </a:bodyPr>
          <a:lstStyle/>
          <a:p>
            <a:pPr algn="l"/>
            <a:r>
              <a:rPr lang="en-US" sz="2400" dirty="0">
                <a:solidFill>
                  <a:schemeClr val="tx1"/>
                </a:solidFill>
                <a:latin typeface="Times New Roman" panose="02020603050405020304" pitchFamily="18" charset="0"/>
                <a:cs typeface="Times New Roman" panose="02020603050405020304" pitchFamily="18" charset="0"/>
              </a:rPr>
              <a:t>Step-1: Understanding the Problem Domain</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43BD7B3-E5D3-5A51-3D9A-2EEBAA8329A8}"/>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31</a:t>
            </a:fld>
            <a:endParaRPr lang="en-US" dirty="0">
              <a:solidFill>
                <a:schemeClr val="tx1"/>
              </a:solidFill>
            </a:endParaRPr>
          </a:p>
        </p:txBody>
      </p:sp>
      <p:pic>
        <p:nvPicPr>
          <p:cNvPr id="6" name="Picture 5">
            <a:extLst>
              <a:ext uri="{FF2B5EF4-FFF2-40B4-BE49-F238E27FC236}">
                <a16:creationId xmlns:a16="http://schemas.microsoft.com/office/drawing/2014/main" id="{662382A3-9573-D7AF-DC50-D0DF80434544}"/>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10DE751D-DFCB-65E9-96EE-176B3D5545E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TextBox 6">
            <a:extLst>
              <a:ext uri="{FF2B5EF4-FFF2-40B4-BE49-F238E27FC236}">
                <a16:creationId xmlns:a16="http://schemas.microsoft.com/office/drawing/2014/main" id="{674B848C-E9BA-4579-A781-D1208E28A716}"/>
              </a:ext>
            </a:extLst>
          </p:cNvPr>
          <p:cNvSpPr txBox="1"/>
          <p:nvPr/>
        </p:nvSpPr>
        <p:spPr>
          <a:xfrm>
            <a:off x="0" y="1977906"/>
            <a:ext cx="4617720" cy="4524315"/>
          </a:xfrm>
          <a:prstGeom prst="rect">
            <a:avLst/>
          </a:prstGeom>
          <a:noFill/>
        </p:spPr>
        <p:txBody>
          <a:bodyPr wrap="square">
            <a:spAutoFit/>
          </a:bodyPr>
          <a:lstStyle/>
          <a:p>
            <a:pPr marL="285750"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Main Actors</a:t>
            </a:r>
          </a:p>
          <a:p>
            <a:pPr marL="742950" lvl="1"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Human Actors</a:t>
            </a:r>
          </a:p>
          <a:p>
            <a:pPr lvl="2">
              <a:buFont typeface="+mj-lt"/>
              <a:buAutoNum type="arabicPeriod"/>
            </a:pPr>
            <a:r>
              <a:rPr lang="en-US" dirty="0">
                <a:latin typeface="Times New Roman" panose="02020603050405020304" pitchFamily="18" charset="0"/>
                <a:cs typeface="Times New Roman" panose="02020603050405020304" pitchFamily="18" charset="0"/>
              </a:rPr>
              <a:t>Farmer </a:t>
            </a:r>
          </a:p>
          <a:p>
            <a:pPr lvl="2">
              <a:buFont typeface="+mj-lt"/>
              <a:buAutoNum type="arabicPeriod"/>
            </a:pPr>
            <a:r>
              <a:rPr lang="en-US" dirty="0">
                <a:latin typeface="Times New Roman" panose="02020603050405020304" pitchFamily="18" charset="0"/>
                <a:cs typeface="Times New Roman" panose="02020603050405020304" pitchFamily="18" charset="0"/>
              </a:rPr>
              <a:t>Agricultural Officer </a:t>
            </a:r>
          </a:p>
          <a:p>
            <a:pPr lvl="2">
              <a:buFont typeface="+mj-lt"/>
              <a:buAutoNum type="arabicPeriod"/>
            </a:pPr>
            <a:r>
              <a:rPr lang="en-US" dirty="0">
                <a:latin typeface="Times New Roman" panose="02020603050405020304" pitchFamily="18" charset="0"/>
                <a:cs typeface="Times New Roman" panose="02020603050405020304" pitchFamily="18" charset="0"/>
              </a:rPr>
              <a:t>Farm Manager </a:t>
            </a:r>
          </a:p>
          <a:p>
            <a:pPr lvl="2">
              <a:buFont typeface="+mj-lt"/>
              <a:buAutoNum type="arabicPeriod"/>
            </a:pPr>
            <a:r>
              <a:rPr lang="en-US" dirty="0">
                <a:latin typeface="Times New Roman" panose="02020603050405020304" pitchFamily="18" charset="0"/>
                <a:cs typeface="Times New Roman" panose="02020603050405020304" pitchFamily="18" charset="0"/>
              </a:rPr>
              <a:t>Drone Operator</a:t>
            </a:r>
          </a:p>
          <a:p>
            <a:pPr marL="1657350" lvl="3"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System Actors</a:t>
            </a:r>
          </a:p>
          <a:p>
            <a:pPr marL="1257300" lvl="2" indent="-342900">
              <a:buFont typeface="+mj-lt"/>
              <a:buAutoNum type="arabicPeriod"/>
            </a:pPr>
            <a:r>
              <a:rPr lang="en-US" dirty="0">
                <a:latin typeface="Times New Roman" panose="02020603050405020304" pitchFamily="18" charset="0"/>
                <a:cs typeface="Times New Roman" panose="02020603050405020304" pitchFamily="18" charset="0"/>
              </a:rPr>
              <a:t>Soil Sensor </a:t>
            </a:r>
          </a:p>
          <a:p>
            <a:pPr marL="1257300" lvl="2" indent="-342900">
              <a:buFont typeface="+mj-lt"/>
              <a:buAutoNum type="arabicPeriod"/>
            </a:pPr>
            <a:r>
              <a:rPr lang="en-US" dirty="0">
                <a:latin typeface="Times New Roman" panose="02020603050405020304" pitchFamily="18" charset="0"/>
                <a:cs typeface="Times New Roman" panose="02020603050405020304" pitchFamily="18" charset="0"/>
              </a:rPr>
              <a:t>Moisture Sensor </a:t>
            </a:r>
          </a:p>
          <a:p>
            <a:pPr marL="1257300" lvl="2" indent="-342900">
              <a:buFont typeface="+mj-lt"/>
              <a:buAutoNum type="arabicPeriod"/>
            </a:pPr>
            <a:r>
              <a:rPr lang="en-US" dirty="0">
                <a:latin typeface="Times New Roman" panose="02020603050405020304" pitchFamily="18" charset="0"/>
                <a:cs typeface="Times New Roman" panose="02020603050405020304" pitchFamily="18" charset="0"/>
              </a:rPr>
              <a:t>Weather API </a:t>
            </a:r>
          </a:p>
          <a:p>
            <a:pPr marL="1257300" lvl="2" indent="-342900">
              <a:buFont typeface="+mj-lt"/>
              <a:buAutoNum type="arabicPeriod"/>
            </a:pPr>
            <a:r>
              <a:rPr lang="en-US" dirty="0">
                <a:latin typeface="Times New Roman" panose="02020603050405020304" pitchFamily="18" charset="0"/>
                <a:cs typeface="Times New Roman" panose="02020603050405020304" pitchFamily="18" charset="0"/>
              </a:rPr>
              <a:t>AI/ML Prediction Engine </a:t>
            </a:r>
          </a:p>
          <a:p>
            <a:pPr marL="1257300" lvl="2" indent="-342900">
              <a:buFont typeface="+mj-lt"/>
              <a:buAutoNum type="arabicPeriod"/>
            </a:pPr>
            <a:r>
              <a:rPr lang="en-US" dirty="0">
                <a:latin typeface="Times New Roman" panose="02020603050405020304" pitchFamily="18" charset="0"/>
                <a:cs typeface="Times New Roman" panose="02020603050405020304" pitchFamily="18" charset="0"/>
              </a:rPr>
              <a:t>Irrigation Pump </a:t>
            </a:r>
          </a:p>
          <a:p>
            <a:pPr marL="1257300" lvl="2" indent="-342900">
              <a:buFont typeface="+mj-lt"/>
              <a:buAutoNum type="arabicPeriod"/>
            </a:pPr>
            <a:r>
              <a:rPr lang="en-US" dirty="0">
                <a:latin typeface="Times New Roman" panose="02020603050405020304" pitchFamily="18" charset="0"/>
                <a:cs typeface="Times New Roman" panose="02020603050405020304" pitchFamily="18" charset="0"/>
              </a:rPr>
              <a:t>Drone Sprayer </a:t>
            </a:r>
          </a:p>
          <a:p>
            <a:pPr marL="1257300" lvl="2" indent="-342900">
              <a:buFont typeface="+mj-lt"/>
              <a:buAutoNum type="arabicPeriod"/>
            </a:pPr>
            <a:r>
              <a:rPr lang="en-US" dirty="0">
                <a:latin typeface="Times New Roman" panose="02020603050405020304" pitchFamily="18" charset="0"/>
                <a:cs typeface="Times New Roman" panose="02020603050405020304" pitchFamily="18" charset="0"/>
              </a:rPr>
              <a:t>Harvesting Machine</a:t>
            </a:r>
          </a:p>
          <a:p>
            <a:pPr lvl="2">
              <a:buFont typeface="+mj-lt"/>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0895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38A58-8CF3-E29C-DFCE-767C6208E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5294C-8A3D-429F-7013-DFA33981FD36}"/>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t>Use Case 1:</a:t>
            </a:r>
            <a:br>
              <a:rPr lang="en-US" sz="3600" b="1" dirty="0"/>
            </a:br>
            <a:r>
              <a:rPr lang="en-US" sz="3600" b="1" dirty="0"/>
              <a:t>Smart Irrigation Control</a:t>
            </a:r>
          </a:p>
        </p:txBody>
      </p:sp>
      <p:sp>
        <p:nvSpPr>
          <p:cNvPr id="3" name="Slide Number Placeholder 2">
            <a:extLst>
              <a:ext uri="{FF2B5EF4-FFF2-40B4-BE49-F238E27FC236}">
                <a16:creationId xmlns:a16="http://schemas.microsoft.com/office/drawing/2014/main" id="{15C353D9-2192-A9B0-D504-826E3A6B5EAC}"/>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32</a:t>
            </a:fld>
            <a:endParaRPr lang="en-US" dirty="0">
              <a:solidFill>
                <a:schemeClr val="tx1"/>
              </a:solidFill>
            </a:endParaRPr>
          </a:p>
        </p:txBody>
      </p:sp>
      <p:pic>
        <p:nvPicPr>
          <p:cNvPr id="6" name="Picture 5">
            <a:extLst>
              <a:ext uri="{FF2B5EF4-FFF2-40B4-BE49-F238E27FC236}">
                <a16:creationId xmlns:a16="http://schemas.microsoft.com/office/drawing/2014/main" id="{D8F35385-3A84-504F-295C-62728A8B2C15}"/>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A60DC48B-21E3-BA5F-2E44-8801E0630FAE}"/>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TextBox 6">
            <a:extLst>
              <a:ext uri="{FF2B5EF4-FFF2-40B4-BE49-F238E27FC236}">
                <a16:creationId xmlns:a16="http://schemas.microsoft.com/office/drawing/2014/main" id="{0BAA07D7-65A2-5A09-D3B0-1275FCAB5BAE}"/>
              </a:ext>
            </a:extLst>
          </p:cNvPr>
          <p:cNvSpPr txBox="1"/>
          <p:nvPr/>
        </p:nvSpPr>
        <p:spPr>
          <a:xfrm>
            <a:off x="152400" y="1582340"/>
            <a:ext cx="4419600" cy="3693319"/>
          </a:xfrm>
          <a:prstGeom prst="rect">
            <a:avLst/>
          </a:prstGeom>
          <a:noFill/>
        </p:spPr>
        <p:txBody>
          <a:bodyPr wrap="square">
            <a:spAutoFit/>
          </a:bodyPr>
          <a:lstStyle/>
          <a:p>
            <a:pPr marL="285750"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Goal</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Automatically irrigate fields based on </a:t>
            </a:r>
          </a:p>
          <a:p>
            <a:pPr lvl="1"/>
            <a:r>
              <a:rPr lang="en-US" dirty="0">
                <a:latin typeface="Times New Roman" panose="02020603050405020304" pitchFamily="18" charset="0"/>
                <a:cs typeface="Times New Roman" panose="02020603050405020304" pitchFamily="18" charset="0"/>
              </a:rPr>
              <a:t>soil moisture and weather conditions.</a:t>
            </a:r>
          </a:p>
          <a:p>
            <a:pPr marL="285750"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Primary Actor</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Farmer</a:t>
            </a:r>
          </a:p>
          <a:p>
            <a:pPr marL="285750"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Supporting Actors</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Moisture Sensor </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Weather API </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Irrigation Pump </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AI Irrigation System </a:t>
            </a:r>
          </a:p>
          <a:p>
            <a:pPr marL="285750"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Preconditions</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Sensors are connected. </a:t>
            </a:r>
          </a:p>
          <a:p>
            <a:pPr marL="742950" lvl="1"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Irrigation pumps are registered.</a:t>
            </a:r>
          </a:p>
        </p:txBody>
      </p:sp>
      <p:sp>
        <p:nvSpPr>
          <p:cNvPr id="11" name="TextBox 10">
            <a:extLst>
              <a:ext uri="{FF2B5EF4-FFF2-40B4-BE49-F238E27FC236}">
                <a16:creationId xmlns:a16="http://schemas.microsoft.com/office/drawing/2014/main" id="{699B0E73-64DD-25D4-1EC7-A97AB6A71E7F}"/>
              </a:ext>
            </a:extLst>
          </p:cNvPr>
          <p:cNvSpPr txBox="1"/>
          <p:nvPr/>
        </p:nvSpPr>
        <p:spPr>
          <a:xfrm>
            <a:off x="4541982" y="1490265"/>
            <a:ext cx="4659744" cy="3416320"/>
          </a:xfrm>
          <a:prstGeom prst="rect">
            <a:avLst/>
          </a:prstGeom>
          <a:noFill/>
        </p:spPr>
        <p:txBody>
          <a:bodyPr wrap="square">
            <a:spAutoFit/>
          </a:bodyPr>
          <a:lstStyle/>
          <a:p>
            <a:pPr>
              <a:buNone/>
            </a:pPr>
            <a:r>
              <a:rPr lang="en-US" b="1" dirty="0"/>
              <a:t>Main Scenario</a:t>
            </a:r>
          </a:p>
          <a:p>
            <a:pPr>
              <a:buFont typeface="+mj-lt"/>
              <a:buAutoNum type="arabicPeriod"/>
            </a:pPr>
            <a:r>
              <a:rPr lang="en-US" dirty="0">
                <a:latin typeface="Times New Roman" panose="02020603050405020304" pitchFamily="18" charset="0"/>
                <a:cs typeface="Times New Roman" panose="02020603050405020304" pitchFamily="18" charset="0"/>
              </a:rPr>
              <a:t>Moisture sensors continuously monitor soil. </a:t>
            </a:r>
          </a:p>
          <a:p>
            <a:pPr>
              <a:buFont typeface="+mj-lt"/>
              <a:buAutoNum type="arabicPeriod"/>
            </a:pPr>
            <a:r>
              <a:rPr lang="en-US" dirty="0">
                <a:latin typeface="Times New Roman" panose="02020603050405020304" pitchFamily="18" charset="0"/>
                <a:cs typeface="Times New Roman" panose="02020603050405020304" pitchFamily="18" charset="0"/>
              </a:rPr>
              <a:t>Soil moisture drops below threshold. </a:t>
            </a:r>
          </a:p>
          <a:p>
            <a:pPr>
              <a:buFont typeface="+mj-lt"/>
              <a:buAutoNum type="arabicPeriod"/>
            </a:pPr>
            <a:r>
              <a:rPr lang="en-US" dirty="0">
                <a:latin typeface="Times New Roman" panose="02020603050405020304" pitchFamily="18" charset="0"/>
                <a:cs typeface="Times New Roman" panose="02020603050405020304" pitchFamily="18" charset="0"/>
              </a:rPr>
              <a:t>Sensor sends data to AAS. </a:t>
            </a:r>
          </a:p>
          <a:p>
            <a:pPr>
              <a:buFont typeface="+mj-lt"/>
              <a:buAutoNum type="arabicPeriod"/>
            </a:pPr>
            <a:r>
              <a:rPr lang="en-US" dirty="0">
                <a:latin typeface="Times New Roman" panose="02020603050405020304" pitchFamily="18" charset="0"/>
                <a:cs typeface="Times New Roman" panose="02020603050405020304" pitchFamily="18" charset="0"/>
              </a:rPr>
              <a:t>Weather API provides forecast. </a:t>
            </a:r>
          </a:p>
          <a:p>
            <a:pPr>
              <a:buFont typeface="+mj-lt"/>
              <a:buAutoNum type="arabicPeriod"/>
            </a:pPr>
            <a:r>
              <a:rPr lang="en-US" dirty="0">
                <a:latin typeface="Times New Roman" panose="02020603050405020304" pitchFamily="18" charset="0"/>
                <a:cs typeface="Times New Roman" panose="02020603050405020304" pitchFamily="18" charset="0"/>
              </a:rPr>
              <a:t>AI module analyzes moisture and weather. </a:t>
            </a:r>
          </a:p>
          <a:p>
            <a:pPr>
              <a:buFont typeface="+mj-lt"/>
              <a:buAutoNum type="arabicPeriod"/>
            </a:pPr>
            <a:r>
              <a:rPr lang="en-US" dirty="0">
                <a:latin typeface="Times New Roman" panose="02020603050405020304" pitchFamily="18" charset="0"/>
                <a:cs typeface="Times New Roman" panose="02020603050405020304" pitchFamily="18" charset="0"/>
              </a:rPr>
              <a:t>System decides irrigation is necessary. </a:t>
            </a:r>
          </a:p>
          <a:p>
            <a:pPr>
              <a:buFont typeface="+mj-lt"/>
              <a:buAutoNum type="arabicPeriod"/>
            </a:pPr>
            <a:r>
              <a:rPr lang="en-US" dirty="0">
                <a:latin typeface="Times New Roman" panose="02020603050405020304" pitchFamily="18" charset="0"/>
                <a:cs typeface="Times New Roman" panose="02020603050405020304" pitchFamily="18" charset="0"/>
              </a:rPr>
              <a:t>Pump receives activation command. </a:t>
            </a:r>
          </a:p>
          <a:p>
            <a:pPr>
              <a:buFont typeface="+mj-lt"/>
              <a:buAutoNum type="arabicPeriod"/>
            </a:pPr>
            <a:r>
              <a:rPr lang="en-US" dirty="0">
                <a:latin typeface="Times New Roman" panose="02020603050405020304" pitchFamily="18" charset="0"/>
                <a:cs typeface="Times New Roman" panose="02020603050405020304" pitchFamily="18" charset="0"/>
              </a:rPr>
              <a:t>Water is supplied automatically. </a:t>
            </a:r>
          </a:p>
          <a:p>
            <a:pPr>
              <a:buFont typeface="+mj-lt"/>
              <a:buAutoNum type="arabicPeriod"/>
            </a:pPr>
            <a:r>
              <a:rPr lang="en-US" dirty="0">
                <a:latin typeface="Times New Roman" panose="02020603050405020304" pitchFamily="18" charset="0"/>
                <a:cs typeface="Times New Roman" panose="02020603050405020304" pitchFamily="18" charset="0"/>
              </a:rPr>
              <a:t>Moisture reaches target level. </a:t>
            </a:r>
          </a:p>
          <a:p>
            <a:pPr>
              <a:buFont typeface="+mj-lt"/>
              <a:buAutoNum type="arabicPeriod"/>
            </a:pPr>
            <a:r>
              <a:rPr lang="en-US" dirty="0">
                <a:latin typeface="Times New Roman" panose="02020603050405020304" pitchFamily="18" charset="0"/>
                <a:cs typeface="Times New Roman" panose="02020603050405020304" pitchFamily="18" charset="0"/>
              </a:rPr>
              <a:t>Pump stops. </a:t>
            </a:r>
          </a:p>
          <a:p>
            <a:pPr>
              <a:buFont typeface="+mj-lt"/>
              <a:buAutoNum type="arabicPeriod"/>
            </a:pPr>
            <a:r>
              <a:rPr lang="en-US" dirty="0">
                <a:latin typeface="Times New Roman" panose="02020603050405020304" pitchFamily="18" charset="0"/>
                <a:cs typeface="Times New Roman" panose="02020603050405020304" pitchFamily="18" charset="0"/>
              </a:rPr>
              <a:t>Farmer receives notification.</a:t>
            </a:r>
          </a:p>
        </p:txBody>
      </p:sp>
      <p:sp>
        <p:nvSpPr>
          <p:cNvPr id="13" name="TextBox 12">
            <a:extLst>
              <a:ext uri="{FF2B5EF4-FFF2-40B4-BE49-F238E27FC236}">
                <a16:creationId xmlns:a16="http://schemas.microsoft.com/office/drawing/2014/main" id="{AAA11A3E-338B-3FD1-F31A-2DA8F9413148}"/>
              </a:ext>
            </a:extLst>
          </p:cNvPr>
          <p:cNvSpPr txBox="1"/>
          <p:nvPr/>
        </p:nvSpPr>
        <p:spPr>
          <a:xfrm>
            <a:off x="1447800" y="5429071"/>
            <a:ext cx="7986785" cy="1200329"/>
          </a:xfrm>
          <a:prstGeom prst="rect">
            <a:avLst/>
          </a:prstGeom>
          <a:noFill/>
        </p:spPr>
        <p:txBody>
          <a:bodyPr wrap="square">
            <a:spAutoFit/>
          </a:bodyPr>
          <a:lstStyle/>
          <a:p>
            <a:pPr marL="285750" indent="-285750">
              <a:buFont typeface="Wingdings" panose="05000000000000000000" pitchFamily="2" charset="2"/>
              <a:buChar char="ü"/>
            </a:pPr>
            <a:r>
              <a:rPr lang="en-US" b="1" dirty="0"/>
              <a:t>Alternative Scenario</a:t>
            </a:r>
          </a:p>
          <a:p>
            <a:pPr marL="742950" lvl="1" indent="-285750">
              <a:buFont typeface="Wingdings" panose="05000000000000000000" pitchFamily="2" charset="2"/>
              <a:buChar char="v"/>
            </a:pPr>
            <a:r>
              <a:rPr lang="en-US" dirty="0"/>
              <a:t>If rain is expected within a few hours, irrigation is postponed.</a:t>
            </a:r>
          </a:p>
          <a:p>
            <a:pPr marL="285750" indent="-285750">
              <a:buFont typeface="Wingdings" panose="05000000000000000000" pitchFamily="2" charset="2"/>
              <a:buChar char="ü"/>
            </a:pPr>
            <a:r>
              <a:rPr lang="en-US" b="1" dirty="0"/>
              <a:t>Output</a:t>
            </a:r>
          </a:p>
          <a:p>
            <a:pPr marL="742950" lvl="1" indent="-285750">
              <a:buFont typeface="Wingdings" panose="05000000000000000000" pitchFamily="2" charset="2"/>
              <a:buChar char="v"/>
            </a:pPr>
            <a:r>
              <a:rPr lang="en-US" dirty="0"/>
              <a:t>Efficient water management.</a:t>
            </a:r>
          </a:p>
        </p:txBody>
      </p:sp>
    </p:spTree>
    <p:extLst>
      <p:ext uri="{BB962C8B-B14F-4D97-AF65-F5344CB8AC3E}">
        <p14:creationId xmlns:p14="http://schemas.microsoft.com/office/powerpoint/2010/main" val="384955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35849-6425-6147-66A0-98761A6D4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1F460-8899-1CC8-5172-FA30DEA7D5FA}"/>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t>Use Case 2</a:t>
            </a:r>
            <a:br>
              <a:rPr lang="en-US" sz="3600" b="1" dirty="0"/>
            </a:br>
            <a:r>
              <a:rPr lang="en-US" sz="3600" b="1" dirty="0"/>
              <a:t>Pest Detection and Control</a:t>
            </a:r>
          </a:p>
        </p:txBody>
      </p:sp>
      <p:sp>
        <p:nvSpPr>
          <p:cNvPr id="3" name="Slide Number Placeholder 2">
            <a:extLst>
              <a:ext uri="{FF2B5EF4-FFF2-40B4-BE49-F238E27FC236}">
                <a16:creationId xmlns:a16="http://schemas.microsoft.com/office/drawing/2014/main" id="{04CFCF0C-2719-F21F-88E4-EC5375A78437}"/>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33</a:t>
            </a:fld>
            <a:endParaRPr lang="en-US" dirty="0">
              <a:solidFill>
                <a:schemeClr val="tx1"/>
              </a:solidFill>
            </a:endParaRPr>
          </a:p>
        </p:txBody>
      </p:sp>
      <p:pic>
        <p:nvPicPr>
          <p:cNvPr id="6" name="Picture 5">
            <a:extLst>
              <a:ext uri="{FF2B5EF4-FFF2-40B4-BE49-F238E27FC236}">
                <a16:creationId xmlns:a16="http://schemas.microsoft.com/office/drawing/2014/main" id="{61967FBE-F24B-B1A8-5415-8507EE4EFFDC}"/>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81382BAF-933C-7151-873A-13F90EA90533}"/>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TextBox 6">
            <a:extLst>
              <a:ext uri="{FF2B5EF4-FFF2-40B4-BE49-F238E27FC236}">
                <a16:creationId xmlns:a16="http://schemas.microsoft.com/office/drawing/2014/main" id="{E59C8FA8-E9C4-ACB6-E7F9-675F014BEF59}"/>
              </a:ext>
            </a:extLst>
          </p:cNvPr>
          <p:cNvSpPr txBox="1"/>
          <p:nvPr/>
        </p:nvSpPr>
        <p:spPr>
          <a:xfrm>
            <a:off x="152400" y="1582340"/>
            <a:ext cx="4419600" cy="286232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Goal</a:t>
            </a:r>
          </a:p>
          <a:p>
            <a:r>
              <a:rPr lang="en-US" dirty="0">
                <a:latin typeface="Times New Roman" panose="02020603050405020304" pitchFamily="18" charset="0"/>
                <a:cs typeface="Times New Roman" panose="02020603050405020304" pitchFamily="18" charset="0"/>
              </a:rPr>
              <a:t>Automatically detect and control pest attacks.</a:t>
            </a:r>
          </a:p>
          <a:p>
            <a:r>
              <a:rPr lang="en-US" b="1" dirty="0">
                <a:latin typeface="Times New Roman" panose="02020603050405020304" pitchFamily="18" charset="0"/>
                <a:cs typeface="Times New Roman" panose="02020603050405020304" pitchFamily="18" charset="0"/>
              </a:rPr>
              <a:t>Primary Actor</a:t>
            </a:r>
          </a:p>
          <a:p>
            <a:r>
              <a:rPr lang="en-US" dirty="0">
                <a:latin typeface="Times New Roman" panose="02020603050405020304" pitchFamily="18" charset="0"/>
                <a:cs typeface="Times New Roman" panose="02020603050405020304" pitchFamily="18" charset="0"/>
              </a:rPr>
              <a:t>Agricultural Officer</a:t>
            </a:r>
          </a:p>
          <a:p>
            <a:r>
              <a:rPr lang="en-US" b="1" dirty="0">
                <a:latin typeface="Times New Roman" panose="02020603050405020304" pitchFamily="18" charset="0"/>
                <a:cs typeface="Times New Roman" panose="02020603050405020304" pitchFamily="18" charset="0"/>
              </a:rPr>
              <a:t>Supporting Actors</a:t>
            </a:r>
          </a:p>
          <a:p>
            <a:r>
              <a:rPr lang="en-US" dirty="0">
                <a:latin typeface="Times New Roman" panose="02020603050405020304" pitchFamily="18" charset="0"/>
                <a:cs typeface="Times New Roman" panose="02020603050405020304" pitchFamily="18" charset="0"/>
              </a:rPr>
              <a:t>Drone Camera </a:t>
            </a:r>
          </a:p>
          <a:p>
            <a:r>
              <a:rPr lang="en-US" dirty="0">
                <a:latin typeface="Times New Roman" panose="02020603050405020304" pitchFamily="18" charset="0"/>
                <a:cs typeface="Times New Roman" panose="02020603050405020304" pitchFamily="18" charset="0"/>
              </a:rPr>
              <a:t>AI Vision System </a:t>
            </a:r>
          </a:p>
          <a:p>
            <a:r>
              <a:rPr lang="en-US" dirty="0">
                <a:latin typeface="Times New Roman" panose="02020603050405020304" pitchFamily="18" charset="0"/>
                <a:cs typeface="Times New Roman" panose="02020603050405020304" pitchFamily="18" charset="0"/>
              </a:rPr>
              <a:t>Drone Sprayer </a:t>
            </a:r>
          </a:p>
          <a:p>
            <a:r>
              <a:rPr lang="en-US" b="1" dirty="0">
                <a:latin typeface="Times New Roman" panose="02020603050405020304" pitchFamily="18" charset="0"/>
                <a:cs typeface="Times New Roman" panose="02020603050405020304" pitchFamily="18" charset="0"/>
              </a:rPr>
              <a:t>Preconditions</a:t>
            </a:r>
          </a:p>
          <a:p>
            <a:r>
              <a:rPr lang="en-US" dirty="0">
                <a:latin typeface="Times New Roman" panose="02020603050405020304" pitchFamily="18" charset="0"/>
                <a:cs typeface="Times New Roman" panose="02020603050405020304" pitchFamily="18" charset="0"/>
              </a:rPr>
              <a:t>Drone system operational.</a:t>
            </a:r>
          </a:p>
        </p:txBody>
      </p:sp>
      <p:sp>
        <p:nvSpPr>
          <p:cNvPr id="11" name="TextBox 10">
            <a:extLst>
              <a:ext uri="{FF2B5EF4-FFF2-40B4-BE49-F238E27FC236}">
                <a16:creationId xmlns:a16="http://schemas.microsoft.com/office/drawing/2014/main" id="{36C6AA46-977E-1F26-E041-170A78D67C3C}"/>
              </a:ext>
            </a:extLst>
          </p:cNvPr>
          <p:cNvSpPr txBox="1"/>
          <p:nvPr/>
        </p:nvSpPr>
        <p:spPr>
          <a:xfrm>
            <a:off x="4541982" y="1490265"/>
            <a:ext cx="4659744" cy="313932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Main Scenario</a:t>
            </a:r>
          </a:p>
          <a:p>
            <a:r>
              <a:rPr lang="en-US" dirty="0">
                <a:latin typeface="Times New Roman" panose="02020603050405020304" pitchFamily="18" charset="0"/>
                <a:cs typeface="Times New Roman" panose="02020603050405020304" pitchFamily="18" charset="0"/>
              </a:rPr>
              <a:t>Drone captures field images. </a:t>
            </a:r>
          </a:p>
          <a:p>
            <a:r>
              <a:rPr lang="en-US" dirty="0">
                <a:latin typeface="Times New Roman" panose="02020603050405020304" pitchFamily="18" charset="0"/>
                <a:cs typeface="Times New Roman" panose="02020603050405020304" pitchFamily="18" charset="0"/>
              </a:rPr>
              <a:t>Images uploaded to AAS. </a:t>
            </a:r>
          </a:p>
          <a:p>
            <a:r>
              <a:rPr lang="en-US" dirty="0">
                <a:latin typeface="Times New Roman" panose="02020603050405020304" pitchFamily="18" charset="0"/>
                <a:cs typeface="Times New Roman" panose="02020603050405020304" pitchFamily="18" charset="0"/>
              </a:rPr>
              <a:t>AI detects pest infection. </a:t>
            </a:r>
          </a:p>
          <a:p>
            <a:r>
              <a:rPr lang="en-US" dirty="0">
                <a:latin typeface="Times New Roman" panose="02020603050405020304" pitchFamily="18" charset="0"/>
                <a:cs typeface="Times New Roman" panose="02020603050405020304" pitchFamily="18" charset="0"/>
              </a:rPr>
              <a:t>Infection severity calculated. </a:t>
            </a:r>
          </a:p>
          <a:p>
            <a:r>
              <a:rPr lang="en-US" dirty="0">
                <a:latin typeface="Times New Roman" panose="02020603050405020304" pitchFamily="18" charset="0"/>
                <a:cs typeface="Times New Roman" panose="02020603050405020304" pitchFamily="18" charset="0"/>
              </a:rPr>
              <a:t>Treatment recommendation generated. </a:t>
            </a:r>
          </a:p>
          <a:p>
            <a:r>
              <a:rPr lang="en-US" dirty="0">
                <a:latin typeface="Times New Roman" panose="02020603050405020304" pitchFamily="18" charset="0"/>
                <a:cs typeface="Times New Roman" panose="02020603050405020304" pitchFamily="18" charset="0"/>
              </a:rPr>
              <a:t>Agricultural Officer approves. </a:t>
            </a:r>
          </a:p>
          <a:p>
            <a:r>
              <a:rPr lang="en-US" dirty="0">
                <a:latin typeface="Times New Roman" panose="02020603050405020304" pitchFamily="18" charset="0"/>
                <a:cs typeface="Times New Roman" panose="02020603050405020304" pitchFamily="18" charset="0"/>
              </a:rPr>
              <a:t>Sprayer drone receives task. </a:t>
            </a:r>
          </a:p>
          <a:p>
            <a:r>
              <a:rPr lang="en-US" dirty="0">
                <a:latin typeface="Times New Roman" panose="02020603050405020304" pitchFamily="18" charset="0"/>
                <a:cs typeface="Times New Roman" panose="02020603050405020304" pitchFamily="18" charset="0"/>
              </a:rPr>
              <a:t>Pesticide sprayed. </a:t>
            </a:r>
          </a:p>
          <a:p>
            <a:r>
              <a:rPr lang="en-US" dirty="0">
                <a:latin typeface="Times New Roman" panose="02020603050405020304" pitchFamily="18" charset="0"/>
                <a:cs typeface="Times New Roman" panose="02020603050405020304" pitchFamily="18" charset="0"/>
              </a:rPr>
              <a:t>Treatment report stored. </a:t>
            </a:r>
          </a:p>
          <a:p>
            <a:r>
              <a:rPr lang="en-US" dirty="0">
                <a:latin typeface="Times New Roman" panose="02020603050405020304" pitchFamily="18" charset="0"/>
                <a:cs typeface="Times New Roman" panose="02020603050405020304" pitchFamily="18" charset="0"/>
              </a:rPr>
              <a:t>Farmer notified.</a:t>
            </a:r>
          </a:p>
        </p:txBody>
      </p:sp>
      <p:sp>
        <p:nvSpPr>
          <p:cNvPr id="13" name="TextBox 12">
            <a:extLst>
              <a:ext uri="{FF2B5EF4-FFF2-40B4-BE49-F238E27FC236}">
                <a16:creationId xmlns:a16="http://schemas.microsoft.com/office/drawing/2014/main" id="{88399882-8052-0275-B9F7-A39B93B93D8B}"/>
              </a:ext>
            </a:extLst>
          </p:cNvPr>
          <p:cNvSpPr txBox="1"/>
          <p:nvPr/>
        </p:nvSpPr>
        <p:spPr>
          <a:xfrm>
            <a:off x="1447800" y="5429071"/>
            <a:ext cx="7986785"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Alternative Scenario</a:t>
            </a:r>
          </a:p>
          <a:p>
            <a:r>
              <a:rPr lang="en-US" dirty="0">
                <a:latin typeface="Times New Roman" panose="02020603050405020304" pitchFamily="18" charset="0"/>
                <a:cs typeface="Times New Roman" panose="02020603050405020304" pitchFamily="18" charset="0"/>
              </a:rPr>
              <a:t>If no pest is detected, monitoring continues.</a:t>
            </a:r>
          </a:p>
          <a:p>
            <a:r>
              <a:rPr lang="en-US" b="1" dirty="0">
                <a:latin typeface="Times New Roman" panose="02020603050405020304" pitchFamily="18" charset="0"/>
                <a:cs typeface="Times New Roman" panose="02020603050405020304" pitchFamily="18" charset="0"/>
              </a:rPr>
              <a:t>Output</a:t>
            </a:r>
          </a:p>
          <a:p>
            <a:r>
              <a:rPr lang="en-US" dirty="0">
                <a:latin typeface="Times New Roman" panose="02020603050405020304" pitchFamily="18" charset="0"/>
                <a:cs typeface="Times New Roman" panose="02020603050405020304" pitchFamily="18" charset="0"/>
              </a:rPr>
              <a:t>Reduced crop loss.</a:t>
            </a:r>
          </a:p>
        </p:txBody>
      </p:sp>
    </p:spTree>
    <p:extLst>
      <p:ext uri="{BB962C8B-B14F-4D97-AF65-F5344CB8AC3E}">
        <p14:creationId xmlns:p14="http://schemas.microsoft.com/office/powerpoint/2010/main" val="322763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B0AB0-CB6F-D0FD-976A-9470B83BE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80A9C-4AA9-01E5-E9C7-5D69127A2BB8}"/>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t>Use Case 3</a:t>
            </a:r>
            <a:br>
              <a:rPr lang="en-US" sz="3600" b="1" dirty="0"/>
            </a:br>
            <a:r>
              <a:rPr lang="en-US" sz="3600" b="1" dirty="0"/>
              <a:t>Harvest Prediction and Scheduling</a:t>
            </a:r>
          </a:p>
        </p:txBody>
      </p:sp>
      <p:sp>
        <p:nvSpPr>
          <p:cNvPr id="3" name="Slide Number Placeholder 2">
            <a:extLst>
              <a:ext uri="{FF2B5EF4-FFF2-40B4-BE49-F238E27FC236}">
                <a16:creationId xmlns:a16="http://schemas.microsoft.com/office/drawing/2014/main" id="{5263CC5E-B7AE-405F-EFD9-BC40ACADC725}"/>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34</a:t>
            </a:fld>
            <a:endParaRPr lang="en-US" dirty="0">
              <a:solidFill>
                <a:schemeClr val="tx1"/>
              </a:solidFill>
            </a:endParaRPr>
          </a:p>
        </p:txBody>
      </p:sp>
      <p:pic>
        <p:nvPicPr>
          <p:cNvPr id="6" name="Picture 5">
            <a:extLst>
              <a:ext uri="{FF2B5EF4-FFF2-40B4-BE49-F238E27FC236}">
                <a16:creationId xmlns:a16="http://schemas.microsoft.com/office/drawing/2014/main" id="{074D16A1-5AE5-6C9A-63E7-5512FB49BD2B}"/>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196CFB0D-7EC5-A5E9-36E9-8FD0E787A4A3}"/>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TextBox 6">
            <a:extLst>
              <a:ext uri="{FF2B5EF4-FFF2-40B4-BE49-F238E27FC236}">
                <a16:creationId xmlns:a16="http://schemas.microsoft.com/office/drawing/2014/main" id="{51DD92D4-6DE9-786D-DCB8-466ED6EFB135}"/>
              </a:ext>
            </a:extLst>
          </p:cNvPr>
          <p:cNvSpPr txBox="1"/>
          <p:nvPr/>
        </p:nvSpPr>
        <p:spPr>
          <a:xfrm>
            <a:off x="152400" y="1582340"/>
            <a:ext cx="4419600" cy="2862322"/>
          </a:xfrm>
          <a:prstGeom prst="rect">
            <a:avLst/>
          </a:prstGeom>
          <a:noFill/>
        </p:spPr>
        <p:txBody>
          <a:bodyPr wrap="square">
            <a:spAutoFit/>
          </a:bodyPr>
          <a:lstStyle/>
          <a:p>
            <a:r>
              <a:rPr lang="en-US" b="1" dirty="0"/>
              <a:t>Goal</a:t>
            </a:r>
          </a:p>
          <a:p>
            <a:r>
              <a:rPr lang="en-US" dirty="0"/>
              <a:t>Predict optimal harvesting time.</a:t>
            </a:r>
          </a:p>
          <a:p>
            <a:r>
              <a:rPr lang="en-US" b="1" dirty="0"/>
              <a:t>Primary Actor</a:t>
            </a:r>
          </a:p>
          <a:p>
            <a:r>
              <a:rPr lang="en-US" dirty="0"/>
              <a:t>Farm Manager</a:t>
            </a:r>
          </a:p>
          <a:p>
            <a:r>
              <a:rPr lang="en-US" b="1" dirty="0"/>
              <a:t>Supporting Actors</a:t>
            </a:r>
          </a:p>
          <a:p>
            <a:r>
              <a:rPr lang="en-US" dirty="0"/>
              <a:t>Growth Monitoring Module </a:t>
            </a:r>
          </a:p>
          <a:p>
            <a:r>
              <a:rPr lang="en-US" dirty="0"/>
              <a:t>Weather API </a:t>
            </a:r>
          </a:p>
          <a:p>
            <a:r>
              <a:rPr lang="en-US" dirty="0"/>
              <a:t>Harvesting Machine </a:t>
            </a:r>
          </a:p>
          <a:p>
            <a:r>
              <a:rPr lang="en-US" b="1" dirty="0"/>
              <a:t>Preconditions</a:t>
            </a:r>
          </a:p>
          <a:p>
            <a:r>
              <a:rPr lang="en-US" dirty="0"/>
              <a:t>Crop growth data available. </a:t>
            </a:r>
          </a:p>
        </p:txBody>
      </p:sp>
      <p:sp>
        <p:nvSpPr>
          <p:cNvPr id="11" name="TextBox 10">
            <a:extLst>
              <a:ext uri="{FF2B5EF4-FFF2-40B4-BE49-F238E27FC236}">
                <a16:creationId xmlns:a16="http://schemas.microsoft.com/office/drawing/2014/main" id="{202539B1-0E5F-69AF-6349-A9A35EA43F96}"/>
              </a:ext>
            </a:extLst>
          </p:cNvPr>
          <p:cNvSpPr txBox="1"/>
          <p:nvPr/>
        </p:nvSpPr>
        <p:spPr>
          <a:xfrm>
            <a:off x="4541982" y="1490265"/>
            <a:ext cx="4659744" cy="2585323"/>
          </a:xfrm>
          <a:prstGeom prst="rect">
            <a:avLst/>
          </a:prstGeom>
          <a:noFill/>
        </p:spPr>
        <p:txBody>
          <a:bodyPr wrap="square">
            <a:spAutoFit/>
          </a:bodyPr>
          <a:lstStyle/>
          <a:p>
            <a:r>
              <a:rPr lang="en-US" b="1" dirty="0"/>
              <a:t>Main Scenario</a:t>
            </a:r>
          </a:p>
          <a:p>
            <a:r>
              <a:rPr lang="en-US" dirty="0"/>
              <a:t>Growth module analyzes crop maturity. </a:t>
            </a:r>
          </a:p>
          <a:p>
            <a:r>
              <a:rPr lang="en-US" dirty="0"/>
              <a:t>Weather forecast retrieved. </a:t>
            </a:r>
          </a:p>
          <a:p>
            <a:r>
              <a:rPr lang="en-US" dirty="0"/>
              <a:t>AI predicts harvesting date. </a:t>
            </a:r>
          </a:p>
          <a:p>
            <a:r>
              <a:rPr lang="en-US" dirty="0"/>
              <a:t>Harvest schedule generated. </a:t>
            </a:r>
          </a:p>
          <a:p>
            <a:r>
              <a:rPr lang="en-US" dirty="0"/>
              <a:t>Manager reviews schedule. </a:t>
            </a:r>
          </a:p>
          <a:p>
            <a:r>
              <a:rPr lang="en-US" dirty="0"/>
              <a:t>Harvesting machine assigned. </a:t>
            </a:r>
          </a:p>
          <a:p>
            <a:r>
              <a:rPr lang="en-US" dirty="0"/>
              <a:t>Harvest operation completed. </a:t>
            </a:r>
          </a:p>
          <a:p>
            <a:r>
              <a:rPr lang="en-US" dirty="0"/>
              <a:t>Storage information updated.</a:t>
            </a:r>
          </a:p>
        </p:txBody>
      </p:sp>
      <p:sp>
        <p:nvSpPr>
          <p:cNvPr id="13" name="TextBox 12">
            <a:extLst>
              <a:ext uri="{FF2B5EF4-FFF2-40B4-BE49-F238E27FC236}">
                <a16:creationId xmlns:a16="http://schemas.microsoft.com/office/drawing/2014/main" id="{0E85142C-0824-FF77-3A17-400CF2484A3C}"/>
              </a:ext>
            </a:extLst>
          </p:cNvPr>
          <p:cNvSpPr txBox="1"/>
          <p:nvPr/>
        </p:nvSpPr>
        <p:spPr>
          <a:xfrm>
            <a:off x="1447800" y="5429071"/>
            <a:ext cx="7986785" cy="1200329"/>
          </a:xfrm>
          <a:prstGeom prst="rect">
            <a:avLst/>
          </a:prstGeom>
          <a:noFill/>
        </p:spPr>
        <p:txBody>
          <a:bodyPr wrap="square">
            <a:spAutoFit/>
          </a:bodyPr>
          <a:lstStyle/>
          <a:p>
            <a:r>
              <a:rPr lang="en-US" b="1" dirty="0"/>
              <a:t>Alternative Scenario</a:t>
            </a:r>
          </a:p>
          <a:p>
            <a:r>
              <a:rPr lang="en-US" dirty="0"/>
              <a:t>If severe weather is expected, harvesting date is adjusted.</a:t>
            </a:r>
          </a:p>
          <a:p>
            <a:r>
              <a:rPr lang="en-US" b="1" dirty="0"/>
              <a:t>Output</a:t>
            </a:r>
          </a:p>
          <a:p>
            <a:r>
              <a:rPr lang="en-US" dirty="0"/>
              <a:t>Timely harvesting and reduced crop damage.</a:t>
            </a:r>
          </a:p>
        </p:txBody>
      </p:sp>
    </p:spTree>
    <p:extLst>
      <p:ext uri="{BB962C8B-B14F-4D97-AF65-F5344CB8AC3E}">
        <p14:creationId xmlns:p14="http://schemas.microsoft.com/office/powerpoint/2010/main" val="2617555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t>Integrated Scenario:</a:t>
            </a:r>
            <a:br>
              <a:rPr lang="en-US" sz="3600" b="1" dirty="0"/>
            </a:br>
            <a:r>
              <a:rPr lang="en-US" sz="3600" b="1" dirty="0"/>
              <a:t>A Day in Smart Farming Managed by AAS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35</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10" name="Rectangle 3">
            <a:extLst>
              <a:ext uri="{FF2B5EF4-FFF2-40B4-BE49-F238E27FC236}">
                <a16:creationId xmlns:a16="http://schemas.microsoft.com/office/drawing/2014/main" id="{7E75648E-7869-4154-9BDC-ACAF9A512BA4}"/>
              </a:ext>
            </a:extLst>
          </p:cNvPr>
          <p:cNvSpPr txBox="1">
            <a:spLocks noChangeArrowheads="1"/>
          </p:cNvSpPr>
          <p:nvPr/>
        </p:nvSpPr>
        <p:spPr bwMode="auto">
          <a:xfrm>
            <a:off x="14416" y="1329917"/>
            <a:ext cx="8953500"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In the morning, soil moisture sensors detect that water levels are below the required threshold. The Irrigation Control Module consults weather forecasts and automatically activates irrigation pumps.</a:t>
            </a:r>
          </a:p>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Later, drones fly over the rice field and capture images. The Pest &amp; Weed Control Module analyzes the images and detects a pest outbreak in one section of the farm. The Agricultural Officer approves the treatment recommendation, and a spraying drone applies pesticide automatically.</a:t>
            </a:r>
          </a:p>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In the afternoon, the Growth Monitoring Module evaluates crop maturity and predicts that harvesting should begin within five days. The Harvesting Module schedules harvesting machinery and updates the farmer.</a:t>
            </a:r>
          </a:p>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Throughout the day, the Central Control System collects data from all modules and provides real-time reports through the farmer’s mobile application.</a:t>
            </a:r>
          </a:p>
          <a:p>
            <a:pPr marL="342900" indent="-342900" algn="l">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AAS enables data-driven, automated, and efficient farming operations while improving crop yield and reducing labor costs.</a:t>
            </a:r>
          </a:p>
        </p:txBody>
      </p:sp>
    </p:spTree>
    <p:extLst>
      <p:ext uri="{BB962C8B-B14F-4D97-AF65-F5344CB8AC3E}">
        <p14:creationId xmlns:p14="http://schemas.microsoft.com/office/powerpoint/2010/main" val="916094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9FFC-66AA-A606-C42A-D24B8759D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0EBCD-50CF-9B7C-BCA0-99E1AC1D2A92}"/>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OOAD – Main Classes (Domain Model)</a:t>
            </a:r>
            <a:endParaRPr lang="en-US" sz="3600" b="1" dirty="0"/>
          </a:p>
        </p:txBody>
      </p:sp>
      <p:sp>
        <p:nvSpPr>
          <p:cNvPr id="3" name="Slide Number Placeholder 2">
            <a:extLst>
              <a:ext uri="{FF2B5EF4-FFF2-40B4-BE49-F238E27FC236}">
                <a16:creationId xmlns:a16="http://schemas.microsoft.com/office/drawing/2014/main" id="{C8BE8905-F466-1FC6-A8C7-22BF779FA32B}"/>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36</a:t>
            </a:fld>
            <a:endParaRPr lang="en-US" dirty="0">
              <a:solidFill>
                <a:schemeClr val="tx1"/>
              </a:solidFill>
            </a:endParaRPr>
          </a:p>
        </p:txBody>
      </p:sp>
      <p:pic>
        <p:nvPicPr>
          <p:cNvPr id="6" name="Picture 5">
            <a:extLst>
              <a:ext uri="{FF2B5EF4-FFF2-40B4-BE49-F238E27FC236}">
                <a16:creationId xmlns:a16="http://schemas.microsoft.com/office/drawing/2014/main" id="{B83BF982-FA5E-84CA-E796-52A3CD144A96}"/>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06504C7-9336-73F9-A72A-B1ECC04BBFA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10" name="Rectangle 3">
            <a:extLst>
              <a:ext uri="{FF2B5EF4-FFF2-40B4-BE49-F238E27FC236}">
                <a16:creationId xmlns:a16="http://schemas.microsoft.com/office/drawing/2014/main" id="{0870AC13-47F9-7328-C460-C969969A06D3}"/>
              </a:ext>
            </a:extLst>
          </p:cNvPr>
          <p:cNvSpPr txBox="1">
            <a:spLocks noChangeArrowheads="1"/>
          </p:cNvSpPr>
          <p:nvPr/>
        </p:nvSpPr>
        <p:spPr bwMode="auto">
          <a:xfrm>
            <a:off x="292443" y="1566952"/>
            <a:ext cx="4024184"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Font typeface="Wingdings" panose="05000000000000000000" pitchFamily="2" charset="2"/>
              <a:buChar char="ü"/>
            </a:pPr>
            <a:r>
              <a:rPr lang="en-US" sz="2000" b="1" dirty="0">
                <a:solidFill>
                  <a:srgbClr val="FF0000"/>
                </a:solidFill>
                <a:latin typeface="Times New Roman" panose="02020603050405020304" pitchFamily="18" charset="0"/>
                <a:cs typeface="Times New Roman" panose="02020603050405020304" pitchFamily="18" charset="0"/>
              </a:rPr>
              <a:t>Farmer</a:t>
            </a:r>
          </a:p>
          <a:p>
            <a:pPr marL="342900" indent="-342900" algn="l">
              <a:buFont typeface="Wingdings" panose="05000000000000000000" pitchFamily="2" charset="2"/>
              <a:buChar char="ü"/>
            </a:pPr>
            <a:r>
              <a:rPr lang="en-US" sz="2000" b="1" dirty="0" err="1">
                <a:solidFill>
                  <a:srgbClr val="FF0000"/>
                </a:solidFill>
                <a:latin typeface="Times New Roman" panose="02020603050405020304" pitchFamily="18" charset="0"/>
                <a:cs typeface="Times New Roman" panose="02020603050405020304" pitchFamily="18" charset="0"/>
              </a:rPr>
              <a:t>AgriculturalOfficer</a:t>
            </a:r>
            <a:endParaRPr lang="en-US" sz="2000" b="1" dirty="0">
              <a:solidFill>
                <a:srgbClr val="FF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FF0000"/>
                </a:solidFill>
                <a:latin typeface="Times New Roman" panose="02020603050405020304" pitchFamily="18" charset="0"/>
                <a:cs typeface="Times New Roman" panose="02020603050405020304" pitchFamily="18" charset="0"/>
              </a:rPr>
              <a:t>FarmManager</a:t>
            </a:r>
            <a:endParaRPr lang="en-US" sz="2000" b="1" dirty="0">
              <a:solidFill>
                <a:srgbClr val="FF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a:solidFill>
                  <a:srgbClr val="00B050"/>
                </a:solidFill>
                <a:latin typeface="Times New Roman" panose="02020603050405020304" pitchFamily="18" charset="0"/>
                <a:cs typeface="Times New Roman" panose="02020603050405020304" pitchFamily="18" charset="0"/>
              </a:rPr>
              <a:t>Field</a:t>
            </a:r>
          </a:p>
          <a:p>
            <a:pPr marL="342900" indent="-342900" algn="l">
              <a:buFont typeface="Wingdings" panose="05000000000000000000" pitchFamily="2" charset="2"/>
              <a:buChar char="ü"/>
            </a:pPr>
            <a:r>
              <a:rPr lang="en-US" sz="2000" b="1" dirty="0">
                <a:solidFill>
                  <a:srgbClr val="00B050"/>
                </a:solidFill>
                <a:latin typeface="Times New Roman" panose="02020603050405020304" pitchFamily="18" charset="0"/>
                <a:cs typeface="Times New Roman" panose="02020603050405020304" pitchFamily="18" charset="0"/>
              </a:rPr>
              <a:t>Crop</a:t>
            </a:r>
          </a:p>
          <a:p>
            <a:pPr marL="342900" indent="-342900" algn="l">
              <a:buFont typeface="Wingdings" panose="05000000000000000000" pitchFamily="2" charset="2"/>
              <a:buChar char="ü"/>
            </a:pPr>
            <a:r>
              <a:rPr lang="en-US" sz="2000" b="1" dirty="0">
                <a:solidFill>
                  <a:srgbClr val="00B050"/>
                </a:solidFill>
                <a:latin typeface="Times New Roman" panose="02020603050405020304" pitchFamily="18" charset="0"/>
                <a:cs typeface="Times New Roman" panose="02020603050405020304" pitchFamily="18" charset="0"/>
              </a:rPr>
              <a:t>Sensor</a:t>
            </a:r>
          </a:p>
          <a:p>
            <a:pPr marL="342900" indent="-342900" algn="l">
              <a:buFont typeface="Wingdings" panose="05000000000000000000" pitchFamily="2" charset="2"/>
              <a:buChar char="ü"/>
            </a:pPr>
            <a:r>
              <a:rPr lang="en-US" sz="2000" b="1" dirty="0" err="1">
                <a:solidFill>
                  <a:srgbClr val="00B050"/>
                </a:solidFill>
                <a:latin typeface="Times New Roman" panose="02020603050405020304" pitchFamily="18" charset="0"/>
                <a:cs typeface="Times New Roman" panose="02020603050405020304" pitchFamily="18" charset="0"/>
              </a:rPr>
              <a:t>SoilSensor</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00B050"/>
                </a:solidFill>
                <a:latin typeface="Times New Roman" panose="02020603050405020304" pitchFamily="18" charset="0"/>
                <a:cs typeface="Times New Roman" panose="02020603050405020304" pitchFamily="18" charset="0"/>
              </a:rPr>
              <a:t>MoistureSensor</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A7665A4-3CC8-4FAC-7126-90136BBB4CFF}"/>
              </a:ext>
            </a:extLst>
          </p:cNvPr>
          <p:cNvSpPr txBox="1">
            <a:spLocks noChangeArrowheads="1"/>
          </p:cNvSpPr>
          <p:nvPr/>
        </p:nvSpPr>
        <p:spPr bwMode="auto">
          <a:xfrm>
            <a:off x="4218904" y="1319702"/>
            <a:ext cx="402418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Font typeface="Wingdings" panose="05000000000000000000" pitchFamily="2" charset="2"/>
              <a:buChar char="ü"/>
            </a:pPr>
            <a:r>
              <a:rPr lang="en-US" sz="2000" b="1" dirty="0" err="1">
                <a:solidFill>
                  <a:srgbClr val="00B050"/>
                </a:solidFill>
                <a:latin typeface="Times New Roman" panose="02020603050405020304" pitchFamily="18" charset="0"/>
                <a:cs typeface="Times New Roman" panose="02020603050405020304" pitchFamily="18" charset="0"/>
              </a:rPr>
              <a:t>IrrigationController</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00B050"/>
                </a:solidFill>
                <a:latin typeface="Times New Roman" panose="02020603050405020304" pitchFamily="18" charset="0"/>
                <a:cs typeface="Times New Roman" panose="02020603050405020304" pitchFamily="18" charset="0"/>
              </a:rPr>
              <a:t>FertilizerController</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00B050"/>
                </a:solidFill>
                <a:latin typeface="Times New Roman" panose="02020603050405020304" pitchFamily="18" charset="0"/>
                <a:cs typeface="Times New Roman" panose="02020603050405020304" pitchFamily="18" charset="0"/>
              </a:rPr>
              <a:t>PestController</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00B050"/>
                </a:solidFill>
                <a:latin typeface="Times New Roman" panose="02020603050405020304" pitchFamily="18" charset="0"/>
                <a:cs typeface="Times New Roman" panose="02020603050405020304" pitchFamily="18" charset="0"/>
              </a:rPr>
              <a:t>GrowthMonitor</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00B050"/>
                </a:solidFill>
                <a:latin typeface="Times New Roman" panose="02020603050405020304" pitchFamily="18" charset="0"/>
                <a:cs typeface="Times New Roman" panose="02020603050405020304" pitchFamily="18" charset="0"/>
              </a:rPr>
              <a:t>HarvestManager</a:t>
            </a:r>
            <a:endParaRPr lang="en-US" sz="2000" b="1" dirty="0">
              <a:solidFill>
                <a:srgbClr val="00B05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a:solidFill>
                  <a:srgbClr val="7030A0"/>
                </a:solidFill>
                <a:latin typeface="Times New Roman" panose="02020603050405020304" pitchFamily="18" charset="0"/>
                <a:cs typeface="Times New Roman" panose="02020603050405020304" pitchFamily="18" charset="0"/>
              </a:rPr>
              <a:t>Drone</a:t>
            </a:r>
          </a:p>
          <a:p>
            <a:pPr marL="342900" indent="-342900" algn="l">
              <a:buFont typeface="Wingdings" panose="05000000000000000000" pitchFamily="2" charset="2"/>
              <a:buChar char="ü"/>
            </a:pPr>
            <a:r>
              <a:rPr lang="en-US" sz="2000" b="1" dirty="0" err="1">
                <a:solidFill>
                  <a:srgbClr val="7030A0"/>
                </a:solidFill>
                <a:latin typeface="Times New Roman" panose="02020603050405020304" pitchFamily="18" charset="0"/>
                <a:cs typeface="Times New Roman" panose="02020603050405020304" pitchFamily="18" charset="0"/>
              </a:rPr>
              <a:t>SprayerDrone</a:t>
            </a:r>
            <a:endParaRPr lang="en-US" sz="2000" b="1" dirty="0">
              <a:solidFill>
                <a:srgbClr val="7030A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7030A0"/>
                </a:solidFill>
                <a:latin typeface="Times New Roman" panose="02020603050405020304" pitchFamily="18" charset="0"/>
                <a:cs typeface="Times New Roman" panose="02020603050405020304" pitchFamily="18" charset="0"/>
              </a:rPr>
              <a:t>HarvestMachine</a:t>
            </a:r>
            <a:endParaRPr lang="en-US" sz="2000" b="1" dirty="0">
              <a:solidFill>
                <a:srgbClr val="7030A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endParaRPr lang="en-US" sz="2000" b="1" dirty="0">
              <a:solidFill>
                <a:srgbClr val="0070C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0070C0"/>
                </a:solidFill>
                <a:latin typeface="Times New Roman" panose="02020603050405020304" pitchFamily="18" charset="0"/>
                <a:cs typeface="Times New Roman" panose="02020603050405020304" pitchFamily="18" charset="0"/>
              </a:rPr>
              <a:t>WeatherService</a:t>
            </a:r>
            <a:endParaRPr lang="en-US" sz="2000" b="1" dirty="0">
              <a:solidFill>
                <a:srgbClr val="0070C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err="1">
                <a:solidFill>
                  <a:srgbClr val="0070C0"/>
                </a:solidFill>
                <a:latin typeface="Times New Roman" panose="02020603050405020304" pitchFamily="18" charset="0"/>
                <a:cs typeface="Times New Roman" panose="02020603050405020304" pitchFamily="18" charset="0"/>
              </a:rPr>
              <a:t>AIEngine</a:t>
            </a:r>
            <a:endParaRPr lang="en-US" sz="2000" b="1" dirty="0">
              <a:solidFill>
                <a:srgbClr val="0070C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sz="2000" b="1" dirty="0">
                <a:solidFill>
                  <a:srgbClr val="0070C0"/>
                </a:solidFill>
                <a:latin typeface="Times New Roman" panose="02020603050405020304" pitchFamily="18" charset="0"/>
                <a:cs typeface="Times New Roman" panose="02020603050405020304" pitchFamily="18" charset="0"/>
              </a:rPr>
              <a:t>ReportGenerator</a:t>
            </a:r>
          </a:p>
        </p:txBody>
      </p:sp>
    </p:spTree>
    <p:extLst>
      <p:ext uri="{BB962C8B-B14F-4D97-AF65-F5344CB8AC3E}">
        <p14:creationId xmlns:p14="http://schemas.microsoft.com/office/powerpoint/2010/main" val="1552434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2BCD8-31F7-742A-9BC8-A0D8D5559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21EB0-6291-3B61-8AE3-F38DDECB999D}"/>
              </a:ext>
            </a:extLst>
          </p:cNvPr>
          <p:cNvSpPr>
            <a:spLocks noGrp="1"/>
          </p:cNvSpPr>
          <p:nvPr>
            <p:ph type="ctrTitle"/>
          </p:nvPr>
        </p:nvSpPr>
        <p:spPr>
          <a:xfrm>
            <a:off x="304800" y="0"/>
            <a:ext cx="8534400" cy="722376"/>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OOAD – Main Classes (Domain Model)</a:t>
            </a:r>
            <a:endParaRPr lang="en-US" sz="3600" b="1" dirty="0"/>
          </a:p>
        </p:txBody>
      </p:sp>
      <p:sp>
        <p:nvSpPr>
          <p:cNvPr id="3" name="Slide Number Placeholder 2">
            <a:extLst>
              <a:ext uri="{FF2B5EF4-FFF2-40B4-BE49-F238E27FC236}">
                <a16:creationId xmlns:a16="http://schemas.microsoft.com/office/drawing/2014/main" id="{06B04911-AAF9-0CD3-D459-DAF91098485A}"/>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37</a:t>
            </a:fld>
            <a:endParaRPr lang="en-US" dirty="0">
              <a:solidFill>
                <a:schemeClr val="tx1"/>
              </a:solidFill>
            </a:endParaRPr>
          </a:p>
        </p:txBody>
      </p:sp>
      <p:pic>
        <p:nvPicPr>
          <p:cNvPr id="6" name="Picture 5">
            <a:extLst>
              <a:ext uri="{FF2B5EF4-FFF2-40B4-BE49-F238E27FC236}">
                <a16:creationId xmlns:a16="http://schemas.microsoft.com/office/drawing/2014/main" id="{58546EAD-9282-79A4-069D-56DA3A35DF53}"/>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E4064B2C-94BC-5ECD-7B73-D41A59DBF338}"/>
              </a:ext>
            </a:extLst>
          </p:cNvPr>
          <p:cNvPicPr>
            <a:picLocks noChangeAspect="1"/>
          </p:cNvPicPr>
          <p:nvPr/>
        </p:nvPicPr>
        <p:blipFill>
          <a:blip r:embed="rId4"/>
          <a:stretch>
            <a:fillRect/>
          </a:stretch>
        </p:blipFill>
        <p:spPr>
          <a:xfrm flipV="1">
            <a:off x="8203231" y="6300298"/>
            <a:ext cx="928277" cy="557702"/>
          </a:xfrm>
          <a:prstGeom prst="rect">
            <a:avLst/>
          </a:prstGeom>
        </p:spPr>
      </p:pic>
      <p:pic>
        <p:nvPicPr>
          <p:cNvPr id="7" name="Picture 6">
            <a:extLst>
              <a:ext uri="{FF2B5EF4-FFF2-40B4-BE49-F238E27FC236}">
                <a16:creationId xmlns:a16="http://schemas.microsoft.com/office/drawing/2014/main" id="{2CB9DB40-E084-E03F-C918-86850456E35C}"/>
              </a:ext>
            </a:extLst>
          </p:cNvPr>
          <p:cNvPicPr>
            <a:picLocks noChangeAspect="1"/>
          </p:cNvPicPr>
          <p:nvPr/>
        </p:nvPicPr>
        <p:blipFill>
          <a:blip r:embed="rId5"/>
          <a:stretch>
            <a:fillRect/>
          </a:stretch>
        </p:blipFill>
        <p:spPr>
          <a:xfrm>
            <a:off x="152400" y="519767"/>
            <a:ext cx="2622354" cy="3200400"/>
          </a:xfrm>
          <a:prstGeom prst="rect">
            <a:avLst/>
          </a:prstGeom>
        </p:spPr>
      </p:pic>
      <p:pic>
        <p:nvPicPr>
          <p:cNvPr id="11" name="Picture 10">
            <a:extLst>
              <a:ext uri="{FF2B5EF4-FFF2-40B4-BE49-F238E27FC236}">
                <a16:creationId xmlns:a16="http://schemas.microsoft.com/office/drawing/2014/main" id="{F2C84454-E692-E526-5D4A-3C8ECCEA4110}"/>
              </a:ext>
            </a:extLst>
          </p:cNvPr>
          <p:cNvPicPr>
            <a:picLocks noChangeAspect="1"/>
          </p:cNvPicPr>
          <p:nvPr/>
        </p:nvPicPr>
        <p:blipFill>
          <a:blip r:embed="rId6"/>
          <a:stretch>
            <a:fillRect/>
          </a:stretch>
        </p:blipFill>
        <p:spPr>
          <a:xfrm>
            <a:off x="2514600" y="531932"/>
            <a:ext cx="2384316" cy="3423988"/>
          </a:xfrm>
          <a:prstGeom prst="rect">
            <a:avLst/>
          </a:prstGeom>
        </p:spPr>
      </p:pic>
      <p:pic>
        <p:nvPicPr>
          <p:cNvPr id="13" name="Picture 12">
            <a:extLst>
              <a:ext uri="{FF2B5EF4-FFF2-40B4-BE49-F238E27FC236}">
                <a16:creationId xmlns:a16="http://schemas.microsoft.com/office/drawing/2014/main" id="{95173F7A-D6A6-29DB-F5D1-D57A02E58913}"/>
              </a:ext>
            </a:extLst>
          </p:cNvPr>
          <p:cNvPicPr>
            <a:picLocks noChangeAspect="1"/>
          </p:cNvPicPr>
          <p:nvPr/>
        </p:nvPicPr>
        <p:blipFill>
          <a:blip r:embed="rId7"/>
          <a:stretch>
            <a:fillRect/>
          </a:stretch>
        </p:blipFill>
        <p:spPr>
          <a:xfrm>
            <a:off x="2780394" y="3732332"/>
            <a:ext cx="2477406" cy="2858546"/>
          </a:xfrm>
          <a:prstGeom prst="rect">
            <a:avLst/>
          </a:prstGeom>
        </p:spPr>
      </p:pic>
      <p:pic>
        <p:nvPicPr>
          <p:cNvPr id="15" name="Picture 14">
            <a:extLst>
              <a:ext uri="{FF2B5EF4-FFF2-40B4-BE49-F238E27FC236}">
                <a16:creationId xmlns:a16="http://schemas.microsoft.com/office/drawing/2014/main" id="{779EE7D8-7B63-E138-E8BE-B5FAF70A9D89}"/>
              </a:ext>
            </a:extLst>
          </p:cNvPr>
          <p:cNvPicPr>
            <a:picLocks noChangeAspect="1"/>
          </p:cNvPicPr>
          <p:nvPr/>
        </p:nvPicPr>
        <p:blipFill>
          <a:blip r:embed="rId8"/>
          <a:stretch>
            <a:fillRect/>
          </a:stretch>
        </p:blipFill>
        <p:spPr>
          <a:xfrm>
            <a:off x="5607445" y="722376"/>
            <a:ext cx="2781631" cy="4687824"/>
          </a:xfrm>
          <a:prstGeom prst="rect">
            <a:avLst/>
          </a:prstGeom>
        </p:spPr>
      </p:pic>
    </p:spTree>
    <p:extLst>
      <p:ext uri="{BB962C8B-B14F-4D97-AF65-F5344CB8AC3E}">
        <p14:creationId xmlns:p14="http://schemas.microsoft.com/office/powerpoint/2010/main" val="27207915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3A249-0401-7B4B-9478-53A6AF56B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A3C0A-D0AB-8158-E8AF-253BB3F8D939}"/>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sz="4800" dirty="0"/>
              <a:t>Suitable Design Patterns for AAS</a:t>
            </a:r>
            <a:endParaRPr lang="en-US" sz="4800"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13DB0A19-D606-651A-18E6-984832F49982}"/>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38</a:t>
            </a:fld>
            <a:endParaRPr lang="en-US" dirty="0">
              <a:solidFill>
                <a:schemeClr val="tx1"/>
              </a:solidFill>
            </a:endParaRPr>
          </a:p>
        </p:txBody>
      </p:sp>
      <p:pic>
        <p:nvPicPr>
          <p:cNvPr id="6" name="Picture 5">
            <a:extLst>
              <a:ext uri="{FF2B5EF4-FFF2-40B4-BE49-F238E27FC236}">
                <a16:creationId xmlns:a16="http://schemas.microsoft.com/office/drawing/2014/main" id="{F04145E6-3D24-9833-27B5-DA18AD531F5C}"/>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1FDB5126-CC06-CA27-CB70-F1A139049B28}"/>
              </a:ext>
            </a:extLst>
          </p:cNvPr>
          <p:cNvPicPr>
            <a:picLocks noChangeAspect="1"/>
          </p:cNvPicPr>
          <p:nvPr/>
        </p:nvPicPr>
        <p:blipFill>
          <a:blip r:embed="rId4"/>
          <a:stretch>
            <a:fillRect/>
          </a:stretch>
        </p:blipFill>
        <p:spPr>
          <a:xfrm flipV="1">
            <a:off x="8203231" y="6300298"/>
            <a:ext cx="928277" cy="557702"/>
          </a:xfrm>
          <a:prstGeom prst="rect">
            <a:avLst/>
          </a:prstGeom>
        </p:spPr>
      </p:pic>
      <p:graphicFrame>
        <p:nvGraphicFramePr>
          <p:cNvPr id="5" name="Table 4">
            <a:extLst>
              <a:ext uri="{FF2B5EF4-FFF2-40B4-BE49-F238E27FC236}">
                <a16:creationId xmlns:a16="http://schemas.microsoft.com/office/drawing/2014/main" id="{384DACAB-24A7-2007-3E2B-9D81C4ED5C38}"/>
              </a:ext>
            </a:extLst>
          </p:cNvPr>
          <p:cNvGraphicFramePr>
            <a:graphicFrameLocks noGrp="1"/>
          </p:cNvGraphicFramePr>
          <p:nvPr>
            <p:extLst>
              <p:ext uri="{D42A27DB-BD31-4B8C-83A1-F6EECF244321}">
                <p14:modId xmlns:p14="http://schemas.microsoft.com/office/powerpoint/2010/main" val="2257365758"/>
              </p:ext>
            </p:extLst>
          </p:nvPr>
        </p:nvGraphicFramePr>
        <p:xfrm>
          <a:off x="367123" y="1447800"/>
          <a:ext cx="8229600" cy="2926080"/>
        </p:xfrm>
        <a:graphic>
          <a:graphicData uri="http://schemas.openxmlformats.org/drawingml/2006/table">
            <a:tbl>
              <a:tblPr>
                <a:tableStyleId>{5940675A-B579-460E-94D1-54222C63F5DA}</a:tableStyleId>
              </a:tblPr>
              <a:tblGrid>
                <a:gridCol w="4114800">
                  <a:extLst>
                    <a:ext uri="{9D8B030D-6E8A-4147-A177-3AD203B41FA5}">
                      <a16:colId xmlns:a16="http://schemas.microsoft.com/office/drawing/2014/main" val="645434945"/>
                    </a:ext>
                  </a:extLst>
                </a:gridCol>
                <a:gridCol w="4114800">
                  <a:extLst>
                    <a:ext uri="{9D8B030D-6E8A-4147-A177-3AD203B41FA5}">
                      <a16:colId xmlns:a16="http://schemas.microsoft.com/office/drawing/2014/main" val="908340759"/>
                    </a:ext>
                  </a:extLst>
                </a:gridCol>
              </a:tblGrid>
              <a:tr h="0">
                <a:tc>
                  <a:txBody>
                    <a:bodyPr/>
                    <a:lstStyle/>
                    <a:p>
                      <a:pPr>
                        <a:buNone/>
                      </a:pPr>
                      <a:r>
                        <a:rPr lang="en-US" b="1" dirty="0">
                          <a:solidFill>
                            <a:srgbClr val="00B050"/>
                          </a:solidFill>
                          <a:latin typeface="Times New Roman" panose="02020603050405020304" pitchFamily="18" charset="0"/>
                          <a:cs typeface="Times New Roman" panose="02020603050405020304" pitchFamily="18" charset="0"/>
                        </a:rPr>
                        <a:t>Module</a:t>
                      </a:r>
                    </a:p>
                  </a:txBody>
                  <a:tcPr anchor="ctr"/>
                </a:tc>
                <a:tc>
                  <a:txBody>
                    <a:bodyPr/>
                    <a:lstStyle/>
                    <a:p>
                      <a:pPr>
                        <a:buNone/>
                      </a:pPr>
                      <a:r>
                        <a:rPr lang="en-US" b="1" dirty="0">
                          <a:solidFill>
                            <a:srgbClr val="00B050"/>
                          </a:solidFill>
                          <a:latin typeface="Times New Roman" panose="02020603050405020304" pitchFamily="18" charset="0"/>
                          <a:cs typeface="Times New Roman" panose="02020603050405020304" pitchFamily="18" charset="0"/>
                        </a:rPr>
                        <a:t>Design Pattern</a:t>
                      </a:r>
                    </a:p>
                  </a:txBody>
                  <a:tcPr anchor="ctr"/>
                </a:tc>
                <a:extLst>
                  <a:ext uri="{0D108BD9-81ED-4DB2-BD59-A6C34878D82A}">
                    <a16:rowId xmlns:a16="http://schemas.microsoft.com/office/drawing/2014/main" val="2413581223"/>
                  </a:ext>
                </a:extLst>
              </a:tr>
              <a:tr h="0">
                <a:tc>
                  <a:txBody>
                    <a:bodyPr/>
                    <a:lstStyle/>
                    <a:p>
                      <a:pPr>
                        <a:buNone/>
                      </a:pPr>
                      <a:r>
                        <a:rPr lang="en-US" dirty="0">
                          <a:latin typeface="Times New Roman" panose="02020603050405020304" pitchFamily="18" charset="0"/>
                          <a:cs typeface="Times New Roman" panose="02020603050405020304" pitchFamily="18" charset="0"/>
                        </a:rPr>
                        <a:t>Central Control System</a:t>
                      </a:r>
                    </a:p>
                  </a:txBody>
                  <a:tcPr anchor="ctr"/>
                </a:tc>
                <a:tc>
                  <a:txBody>
                    <a:bodyPr/>
                    <a:lstStyle/>
                    <a:p>
                      <a:pPr>
                        <a:buNone/>
                      </a:pPr>
                      <a:r>
                        <a:rPr lang="en-US" b="1">
                          <a:solidFill>
                            <a:srgbClr val="FF0000"/>
                          </a:solidFill>
                          <a:latin typeface="Times New Roman" panose="02020603050405020304" pitchFamily="18" charset="0"/>
                          <a:cs typeface="Times New Roman" panose="02020603050405020304" pitchFamily="18" charset="0"/>
                        </a:rPr>
                        <a:t>Singleton</a:t>
                      </a:r>
                    </a:p>
                  </a:txBody>
                  <a:tcPr anchor="ctr"/>
                </a:tc>
                <a:extLst>
                  <a:ext uri="{0D108BD9-81ED-4DB2-BD59-A6C34878D82A}">
                    <a16:rowId xmlns:a16="http://schemas.microsoft.com/office/drawing/2014/main" val="2224167189"/>
                  </a:ext>
                </a:extLst>
              </a:tr>
              <a:tr h="0">
                <a:tc>
                  <a:txBody>
                    <a:bodyPr/>
                    <a:lstStyle/>
                    <a:p>
                      <a:pPr>
                        <a:buNone/>
                      </a:pPr>
                      <a:r>
                        <a:rPr lang="en-US">
                          <a:latin typeface="Times New Roman" panose="02020603050405020304" pitchFamily="18" charset="0"/>
                          <a:cs typeface="Times New Roman" panose="02020603050405020304" pitchFamily="18" charset="0"/>
                        </a:rPr>
                        <a:t>Sensor Notification</a:t>
                      </a:r>
                    </a:p>
                  </a:txBody>
                  <a:tcPr anchor="ctr"/>
                </a:tc>
                <a:tc>
                  <a:txBody>
                    <a:bodyPr/>
                    <a:lstStyle/>
                    <a:p>
                      <a:pPr>
                        <a:buNone/>
                      </a:pPr>
                      <a:r>
                        <a:rPr lang="en-US" b="1">
                          <a:solidFill>
                            <a:srgbClr val="FF0000"/>
                          </a:solidFill>
                          <a:latin typeface="Times New Roman" panose="02020603050405020304" pitchFamily="18" charset="0"/>
                          <a:cs typeface="Times New Roman" panose="02020603050405020304" pitchFamily="18" charset="0"/>
                        </a:rPr>
                        <a:t>Observer</a:t>
                      </a:r>
                    </a:p>
                  </a:txBody>
                  <a:tcPr anchor="ctr"/>
                </a:tc>
                <a:extLst>
                  <a:ext uri="{0D108BD9-81ED-4DB2-BD59-A6C34878D82A}">
                    <a16:rowId xmlns:a16="http://schemas.microsoft.com/office/drawing/2014/main" val="4086667497"/>
                  </a:ext>
                </a:extLst>
              </a:tr>
              <a:tr h="0">
                <a:tc>
                  <a:txBody>
                    <a:bodyPr/>
                    <a:lstStyle/>
                    <a:p>
                      <a:pPr>
                        <a:buNone/>
                      </a:pPr>
                      <a:r>
                        <a:rPr lang="en-US">
                          <a:latin typeface="Times New Roman" panose="02020603050405020304" pitchFamily="18" charset="0"/>
                          <a:cs typeface="Times New Roman" panose="02020603050405020304" pitchFamily="18" charset="0"/>
                        </a:rPr>
                        <a:t>AI Decision Engine</a:t>
                      </a:r>
                    </a:p>
                  </a:txBody>
                  <a:tcPr anchor="ctr"/>
                </a:tc>
                <a:tc>
                  <a:txBody>
                    <a:bodyPr/>
                    <a:lstStyle/>
                    <a:p>
                      <a:pPr>
                        <a:buNone/>
                      </a:pPr>
                      <a:r>
                        <a:rPr lang="en-US" b="1">
                          <a:solidFill>
                            <a:srgbClr val="FF0000"/>
                          </a:solidFill>
                          <a:latin typeface="Times New Roman" panose="02020603050405020304" pitchFamily="18" charset="0"/>
                          <a:cs typeface="Times New Roman" panose="02020603050405020304" pitchFamily="18" charset="0"/>
                        </a:rPr>
                        <a:t>Strategy</a:t>
                      </a:r>
                    </a:p>
                  </a:txBody>
                  <a:tcPr anchor="ctr"/>
                </a:tc>
                <a:extLst>
                  <a:ext uri="{0D108BD9-81ED-4DB2-BD59-A6C34878D82A}">
                    <a16:rowId xmlns:a16="http://schemas.microsoft.com/office/drawing/2014/main" val="3385563253"/>
                  </a:ext>
                </a:extLst>
              </a:tr>
              <a:tr h="0">
                <a:tc>
                  <a:txBody>
                    <a:bodyPr/>
                    <a:lstStyle/>
                    <a:p>
                      <a:pPr>
                        <a:buNone/>
                      </a:pPr>
                      <a:r>
                        <a:rPr lang="en-US">
                          <a:latin typeface="Times New Roman" panose="02020603050405020304" pitchFamily="18" charset="0"/>
                          <a:cs typeface="Times New Roman" panose="02020603050405020304" pitchFamily="18" charset="0"/>
                        </a:rPr>
                        <a:t>Report Generation</a:t>
                      </a:r>
                    </a:p>
                  </a:txBody>
                  <a:tcPr anchor="ctr"/>
                </a:tc>
                <a:tc>
                  <a:txBody>
                    <a:bodyPr/>
                    <a:lstStyle/>
                    <a:p>
                      <a:pPr>
                        <a:buNone/>
                      </a:pPr>
                      <a:r>
                        <a:rPr lang="en-US" b="1" dirty="0">
                          <a:solidFill>
                            <a:srgbClr val="FF0000"/>
                          </a:solidFill>
                          <a:latin typeface="Times New Roman" panose="02020603050405020304" pitchFamily="18" charset="0"/>
                          <a:cs typeface="Times New Roman" panose="02020603050405020304" pitchFamily="18" charset="0"/>
                        </a:rPr>
                        <a:t>Factory</a:t>
                      </a:r>
                    </a:p>
                  </a:txBody>
                  <a:tcPr anchor="ctr"/>
                </a:tc>
                <a:extLst>
                  <a:ext uri="{0D108BD9-81ED-4DB2-BD59-A6C34878D82A}">
                    <a16:rowId xmlns:a16="http://schemas.microsoft.com/office/drawing/2014/main" val="1421402138"/>
                  </a:ext>
                </a:extLst>
              </a:tr>
              <a:tr h="0">
                <a:tc>
                  <a:txBody>
                    <a:bodyPr/>
                    <a:lstStyle/>
                    <a:p>
                      <a:pPr>
                        <a:buNone/>
                      </a:pPr>
                      <a:r>
                        <a:rPr lang="en-US">
                          <a:latin typeface="Times New Roman" panose="02020603050405020304" pitchFamily="18" charset="0"/>
                          <a:cs typeface="Times New Roman" panose="02020603050405020304" pitchFamily="18" charset="0"/>
                        </a:rPr>
                        <a:t>Irrigation Controller</a:t>
                      </a:r>
                    </a:p>
                  </a:txBody>
                  <a:tcPr anchor="ctr"/>
                </a:tc>
                <a:tc>
                  <a:txBody>
                    <a:bodyPr/>
                    <a:lstStyle/>
                    <a:p>
                      <a:pPr>
                        <a:buNone/>
                      </a:pPr>
                      <a:r>
                        <a:rPr lang="en-US" b="1">
                          <a:solidFill>
                            <a:srgbClr val="FF0000"/>
                          </a:solidFill>
                          <a:latin typeface="Times New Roman" panose="02020603050405020304" pitchFamily="18" charset="0"/>
                          <a:cs typeface="Times New Roman" panose="02020603050405020304" pitchFamily="18" charset="0"/>
                        </a:rPr>
                        <a:t>Command</a:t>
                      </a:r>
                    </a:p>
                  </a:txBody>
                  <a:tcPr anchor="ctr"/>
                </a:tc>
                <a:extLst>
                  <a:ext uri="{0D108BD9-81ED-4DB2-BD59-A6C34878D82A}">
                    <a16:rowId xmlns:a16="http://schemas.microsoft.com/office/drawing/2014/main" val="1078153076"/>
                  </a:ext>
                </a:extLst>
              </a:tr>
              <a:tr h="0">
                <a:tc>
                  <a:txBody>
                    <a:bodyPr/>
                    <a:lstStyle/>
                    <a:p>
                      <a:pPr>
                        <a:buNone/>
                      </a:pPr>
                      <a:r>
                        <a:rPr lang="en-US">
                          <a:latin typeface="Times New Roman" panose="02020603050405020304" pitchFamily="18" charset="0"/>
                          <a:cs typeface="Times New Roman" panose="02020603050405020304" pitchFamily="18" charset="0"/>
                        </a:rPr>
                        <a:t>Drone Control</a:t>
                      </a:r>
                    </a:p>
                  </a:txBody>
                  <a:tcPr anchor="ctr"/>
                </a:tc>
                <a:tc>
                  <a:txBody>
                    <a:bodyPr/>
                    <a:lstStyle/>
                    <a:p>
                      <a:pPr>
                        <a:buNone/>
                      </a:pPr>
                      <a:r>
                        <a:rPr lang="en-US" b="1" dirty="0">
                          <a:solidFill>
                            <a:srgbClr val="FF0000"/>
                          </a:solidFill>
                          <a:latin typeface="Times New Roman" panose="02020603050405020304" pitchFamily="18" charset="0"/>
                          <a:cs typeface="Times New Roman" panose="02020603050405020304" pitchFamily="18" charset="0"/>
                        </a:rPr>
                        <a:t>Adapter</a:t>
                      </a:r>
                    </a:p>
                  </a:txBody>
                  <a:tcPr anchor="ctr"/>
                </a:tc>
                <a:extLst>
                  <a:ext uri="{0D108BD9-81ED-4DB2-BD59-A6C34878D82A}">
                    <a16:rowId xmlns:a16="http://schemas.microsoft.com/office/drawing/2014/main" val="2093006480"/>
                  </a:ext>
                </a:extLst>
              </a:tr>
              <a:tr h="0">
                <a:tc>
                  <a:txBody>
                    <a:bodyPr/>
                    <a:lstStyle/>
                    <a:p>
                      <a:pPr>
                        <a:buNone/>
                      </a:pPr>
                      <a:r>
                        <a:rPr lang="en-US">
                          <a:latin typeface="Times New Roman" panose="02020603050405020304" pitchFamily="18" charset="0"/>
                          <a:cs typeface="Times New Roman" panose="02020603050405020304" pitchFamily="18" charset="0"/>
                        </a:rPr>
                        <a:t>Module Integration</a:t>
                      </a:r>
                    </a:p>
                  </a:txBody>
                  <a:tcPr anchor="ctr"/>
                </a:tc>
                <a:tc>
                  <a:txBody>
                    <a:bodyPr/>
                    <a:lstStyle/>
                    <a:p>
                      <a:pPr>
                        <a:buNone/>
                      </a:pPr>
                      <a:r>
                        <a:rPr lang="en-US" b="1" dirty="0">
                          <a:solidFill>
                            <a:srgbClr val="FF0000"/>
                          </a:solidFill>
                          <a:latin typeface="Times New Roman" panose="02020603050405020304" pitchFamily="18" charset="0"/>
                          <a:cs typeface="Times New Roman" panose="02020603050405020304" pitchFamily="18" charset="0"/>
                        </a:rPr>
                        <a:t>Facade</a:t>
                      </a:r>
                    </a:p>
                  </a:txBody>
                  <a:tcPr anchor="ctr"/>
                </a:tc>
                <a:extLst>
                  <a:ext uri="{0D108BD9-81ED-4DB2-BD59-A6C34878D82A}">
                    <a16:rowId xmlns:a16="http://schemas.microsoft.com/office/drawing/2014/main" val="4020807602"/>
                  </a:ext>
                </a:extLst>
              </a:tr>
            </a:tbl>
          </a:graphicData>
        </a:graphic>
      </p:graphicFrame>
    </p:spTree>
    <p:extLst>
      <p:ext uri="{BB962C8B-B14F-4D97-AF65-F5344CB8AC3E}">
        <p14:creationId xmlns:p14="http://schemas.microsoft.com/office/powerpoint/2010/main" val="3041684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6BCE5-53EF-4FC7-FB51-6905D2C13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FF29A-2890-7B08-B044-9B6DCD8986D0}"/>
              </a:ext>
            </a:extLst>
          </p:cNvPr>
          <p:cNvSpPr>
            <a:spLocks noGrp="1"/>
          </p:cNvSpPr>
          <p:nvPr>
            <p:ph type="ctrTitle"/>
          </p:nvPr>
        </p:nvSpPr>
        <p:spPr>
          <a:xfrm>
            <a:off x="209550" y="0"/>
            <a:ext cx="8724900" cy="12954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sz="4800" dirty="0">
                <a:latin typeface="Times New Roman" panose="02020603050405020304" pitchFamily="18" charset="0"/>
                <a:cs typeface="Times New Roman" panose="02020603050405020304" pitchFamily="18" charset="0"/>
              </a:rPr>
              <a:t>Example UML Sequence Diagram (Irrigation)</a:t>
            </a:r>
            <a:endParaRPr lang="en-US" sz="4800" b="1" dirty="0">
              <a:latin typeface="Times New Roman" panose="02020603050405020304" pitchFamily="18" charset="0"/>
              <a:cs typeface="Times New Roman" pitchFamily="18" charset="0"/>
            </a:endParaRPr>
          </a:p>
        </p:txBody>
      </p:sp>
      <p:sp>
        <p:nvSpPr>
          <p:cNvPr id="3" name="Slide Number Placeholder 2">
            <a:extLst>
              <a:ext uri="{FF2B5EF4-FFF2-40B4-BE49-F238E27FC236}">
                <a16:creationId xmlns:a16="http://schemas.microsoft.com/office/drawing/2014/main" id="{E0833940-A4B7-1D4C-50FE-680AE2B0DECA}"/>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39</a:t>
            </a:fld>
            <a:endParaRPr lang="en-US" dirty="0">
              <a:solidFill>
                <a:schemeClr val="tx1"/>
              </a:solidFill>
            </a:endParaRPr>
          </a:p>
        </p:txBody>
      </p:sp>
      <p:pic>
        <p:nvPicPr>
          <p:cNvPr id="6" name="Picture 5">
            <a:extLst>
              <a:ext uri="{FF2B5EF4-FFF2-40B4-BE49-F238E27FC236}">
                <a16:creationId xmlns:a16="http://schemas.microsoft.com/office/drawing/2014/main" id="{0D77BFF0-23ED-045A-AF29-803DEA335539}"/>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E607634D-D24E-749C-9F93-773C7FA16D6F}"/>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Rectangle 3">
            <a:extLst>
              <a:ext uri="{FF2B5EF4-FFF2-40B4-BE49-F238E27FC236}">
                <a16:creationId xmlns:a16="http://schemas.microsoft.com/office/drawing/2014/main" id="{BD9C8B69-7526-934C-6F0F-8B032A60003E}"/>
              </a:ext>
            </a:extLst>
          </p:cNvPr>
          <p:cNvSpPr>
            <a:spLocks noGrp="1" noChangeArrowheads="1"/>
          </p:cNvSpPr>
          <p:nvPr>
            <p:ph type="subTitle" idx="1"/>
          </p:nvPr>
        </p:nvSpPr>
        <p:spPr bwMode="auto">
          <a:xfrm>
            <a:off x="114300" y="1216150"/>
            <a:ext cx="8915400" cy="553997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Farmer</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a:t>
            </a:r>
          </a:p>
          <a:p>
            <a:pPr marL="342900" lvl="0" indent="-342900" algn="l" eaLnBrk="0" fontAlgn="base" hangingPunct="0">
              <a:spcBef>
                <a:spcPct val="0"/>
              </a:spcBef>
              <a:spcAft>
                <a:spcPts val="1200"/>
              </a:spcAft>
              <a:buFont typeface="Wingdings" panose="05000000000000000000" pitchFamily="2" charset="2"/>
              <a:buChar char="ü"/>
            </a:pPr>
            <a:r>
              <a:rPr lang="en-US" sz="1600" dirty="0" err="1">
                <a:solidFill>
                  <a:schemeClr val="tx1"/>
                </a:solidFill>
                <a:latin typeface="Times New Roman" panose="02020603050405020304" pitchFamily="18" charset="0"/>
                <a:cs typeface="Times New Roman" panose="02020603050405020304" pitchFamily="18" charset="0"/>
              </a:rPr>
              <a:t>MoistureSensor</a:t>
            </a:r>
            <a:endParaRPr lang="en-US" sz="1600" dirty="0">
              <a:solidFill>
                <a:schemeClr val="tx1"/>
              </a:solidFill>
              <a:latin typeface="Times New Roman" panose="02020603050405020304" pitchFamily="18" charset="0"/>
              <a:cs typeface="Times New Roman" panose="02020603050405020304" pitchFamily="18" charset="0"/>
            </a:endParaRPr>
          </a:p>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   |</a:t>
            </a:r>
          </a:p>
          <a:p>
            <a:pPr marL="342900" lvl="0" indent="-342900" algn="l" eaLnBrk="0" fontAlgn="base" hangingPunct="0">
              <a:spcBef>
                <a:spcPct val="0"/>
              </a:spcBef>
              <a:spcAft>
                <a:spcPts val="1200"/>
              </a:spcAft>
              <a:buFont typeface="Wingdings" panose="05000000000000000000" pitchFamily="2" charset="2"/>
              <a:buChar char="ü"/>
            </a:pPr>
            <a:r>
              <a:rPr lang="en-US" sz="1600" dirty="0" err="1">
                <a:solidFill>
                  <a:schemeClr val="tx1"/>
                </a:solidFill>
                <a:latin typeface="Times New Roman" panose="02020603050405020304" pitchFamily="18" charset="0"/>
                <a:cs typeface="Times New Roman" panose="02020603050405020304" pitchFamily="18" charset="0"/>
              </a:rPr>
              <a:t>AIEngine</a:t>
            </a:r>
            <a:endParaRPr lang="en-US" sz="1600" dirty="0">
              <a:solidFill>
                <a:schemeClr val="tx1"/>
              </a:solidFill>
              <a:latin typeface="Times New Roman" panose="02020603050405020304" pitchFamily="18" charset="0"/>
              <a:cs typeface="Times New Roman" panose="02020603050405020304" pitchFamily="18" charset="0"/>
            </a:endParaRPr>
          </a:p>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   |</a:t>
            </a:r>
          </a:p>
          <a:p>
            <a:pPr marL="342900" lvl="0" indent="-342900" algn="l" eaLnBrk="0" fontAlgn="base" hangingPunct="0">
              <a:spcBef>
                <a:spcPct val="0"/>
              </a:spcBef>
              <a:spcAft>
                <a:spcPts val="1200"/>
              </a:spcAft>
              <a:buFont typeface="Wingdings" panose="05000000000000000000" pitchFamily="2" charset="2"/>
              <a:buChar char="ü"/>
            </a:pPr>
            <a:r>
              <a:rPr lang="en-US" sz="1600" dirty="0" err="1">
                <a:solidFill>
                  <a:schemeClr val="tx1"/>
                </a:solidFill>
                <a:latin typeface="Times New Roman" panose="02020603050405020304" pitchFamily="18" charset="0"/>
                <a:cs typeface="Times New Roman" panose="02020603050405020304" pitchFamily="18" charset="0"/>
              </a:rPr>
              <a:t>IrrigationController</a:t>
            </a:r>
            <a:endParaRPr lang="en-US" sz="1600" dirty="0">
              <a:solidFill>
                <a:schemeClr val="tx1"/>
              </a:solidFill>
              <a:latin typeface="Times New Roman" panose="02020603050405020304" pitchFamily="18" charset="0"/>
              <a:cs typeface="Times New Roman" panose="02020603050405020304" pitchFamily="18" charset="0"/>
            </a:endParaRPr>
          </a:p>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   |</a:t>
            </a:r>
          </a:p>
          <a:p>
            <a:pPr marL="342900" lvl="0" indent="-342900" algn="l" eaLnBrk="0" fontAlgn="base" hangingPunct="0">
              <a:spcBef>
                <a:spcPct val="0"/>
              </a:spcBef>
              <a:spcAft>
                <a:spcPts val="1200"/>
              </a:spcAft>
              <a:buFont typeface="Wingdings" panose="05000000000000000000" pitchFamily="2" charset="2"/>
              <a:buChar char="ü"/>
            </a:pPr>
            <a:r>
              <a:rPr lang="en-US" sz="1600" dirty="0" err="1">
                <a:solidFill>
                  <a:schemeClr val="tx1"/>
                </a:solidFill>
                <a:latin typeface="Times New Roman" panose="02020603050405020304" pitchFamily="18" charset="0"/>
                <a:cs typeface="Times New Roman" panose="02020603050405020304" pitchFamily="18" charset="0"/>
              </a:rPr>
              <a:t>WaterPump</a:t>
            </a:r>
            <a:endParaRPr lang="en-US" sz="1600" dirty="0">
              <a:solidFill>
                <a:schemeClr val="tx1"/>
              </a:solidFill>
              <a:latin typeface="Times New Roman" panose="02020603050405020304" pitchFamily="18" charset="0"/>
              <a:cs typeface="Times New Roman" panose="02020603050405020304" pitchFamily="18" charset="0"/>
            </a:endParaRPr>
          </a:p>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Sensor -&gt; </a:t>
            </a:r>
            <a:r>
              <a:rPr lang="en-US" sz="1600" dirty="0" err="1">
                <a:solidFill>
                  <a:schemeClr val="tx1"/>
                </a:solidFill>
                <a:latin typeface="Times New Roman" panose="02020603050405020304" pitchFamily="18" charset="0"/>
                <a:cs typeface="Times New Roman" panose="02020603050405020304" pitchFamily="18" charset="0"/>
              </a:rPr>
              <a:t>AIEngine</a:t>
            </a:r>
            <a:r>
              <a:rPr lang="en-US" sz="1600" dirty="0">
                <a:solidFill>
                  <a:schemeClr val="tx1"/>
                </a:solidFill>
                <a:latin typeface="Times New Roman" panose="02020603050405020304" pitchFamily="18" charset="0"/>
                <a:cs typeface="Times New Roman" panose="02020603050405020304" pitchFamily="18" charset="0"/>
              </a:rPr>
              <a:t> : </a:t>
            </a:r>
            <a:r>
              <a:rPr lang="en-US" sz="1600" dirty="0" err="1">
                <a:solidFill>
                  <a:schemeClr val="tx1"/>
                </a:solidFill>
                <a:latin typeface="Times New Roman" panose="02020603050405020304" pitchFamily="18" charset="0"/>
                <a:cs typeface="Times New Roman" panose="02020603050405020304" pitchFamily="18" charset="0"/>
              </a:rPr>
              <a:t>sendData</a:t>
            </a:r>
            <a:r>
              <a:rPr lang="en-US" sz="1600" dirty="0">
                <a:solidFill>
                  <a:schemeClr val="tx1"/>
                </a:solidFill>
                <a:latin typeface="Times New Roman" panose="02020603050405020304" pitchFamily="18" charset="0"/>
                <a:cs typeface="Times New Roman" panose="02020603050405020304" pitchFamily="18" charset="0"/>
              </a:rPr>
              <a:t>()</a:t>
            </a:r>
          </a:p>
          <a:p>
            <a:pPr marL="342900" lvl="0" indent="-342900" algn="l" eaLnBrk="0" fontAlgn="base" hangingPunct="0">
              <a:spcBef>
                <a:spcPct val="0"/>
              </a:spcBef>
              <a:spcAft>
                <a:spcPts val="1200"/>
              </a:spcAft>
              <a:buFont typeface="Wingdings" panose="05000000000000000000" pitchFamily="2" charset="2"/>
              <a:buChar char="ü"/>
            </a:pPr>
            <a:r>
              <a:rPr lang="en-US" sz="1600" dirty="0" err="1">
                <a:solidFill>
                  <a:schemeClr val="tx1"/>
                </a:solidFill>
                <a:latin typeface="Times New Roman" panose="02020603050405020304" pitchFamily="18" charset="0"/>
                <a:cs typeface="Times New Roman" panose="02020603050405020304" pitchFamily="18" charset="0"/>
              </a:rPr>
              <a:t>AIEngine</a:t>
            </a:r>
            <a:r>
              <a:rPr lang="en-US" sz="1600" dirty="0">
                <a:solidFill>
                  <a:schemeClr val="tx1"/>
                </a:solidFill>
                <a:latin typeface="Times New Roman" panose="02020603050405020304" pitchFamily="18" charset="0"/>
                <a:cs typeface="Times New Roman" panose="02020603050405020304" pitchFamily="18" charset="0"/>
              </a:rPr>
              <a:t> -&gt; Controller : irrigate()</a:t>
            </a:r>
          </a:p>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Controller -&gt; Pump : start()</a:t>
            </a:r>
          </a:p>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Pump -&gt; Controller : completed()</a:t>
            </a:r>
          </a:p>
          <a:p>
            <a:pPr marL="342900" lvl="0" indent="-342900" algn="l" eaLnBrk="0" fontAlgn="base" hangingPunct="0">
              <a:spcBef>
                <a:spcPct val="0"/>
              </a:spcBef>
              <a:spcAft>
                <a:spcPts val="120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Controller -&gt; Farmer : notify()</a:t>
            </a:r>
          </a:p>
        </p:txBody>
      </p:sp>
    </p:spTree>
    <p:extLst>
      <p:ext uri="{BB962C8B-B14F-4D97-AF65-F5344CB8AC3E}">
        <p14:creationId xmlns:p14="http://schemas.microsoft.com/office/powerpoint/2010/main" val="23478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75F3A-AB31-6FB3-BD61-635332C8A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F00CE-1E2B-64F5-1476-F13DEF477ED1}"/>
              </a:ext>
            </a:extLst>
          </p:cNvPr>
          <p:cNvSpPr>
            <a:spLocks noGrp="1"/>
          </p:cNvSpPr>
          <p:nvPr>
            <p:ph type="ctrTitle"/>
          </p:nvPr>
        </p:nvSpPr>
        <p:spPr>
          <a:xfrm>
            <a:off x="209550" y="0"/>
            <a:ext cx="8724900" cy="12954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sz="4800" dirty="0"/>
              <a:t>Simple Python Demonstration (Observer Pattern)</a:t>
            </a:r>
            <a:endParaRPr lang="en-US" sz="4800" b="1" dirty="0">
              <a:latin typeface="Times New Roman" panose="02020603050405020304" pitchFamily="18" charset="0"/>
              <a:cs typeface="Times New Roman" pitchFamily="18" charset="0"/>
            </a:endParaRPr>
          </a:p>
        </p:txBody>
      </p:sp>
      <p:sp>
        <p:nvSpPr>
          <p:cNvPr id="3" name="Slide Number Placeholder 2">
            <a:extLst>
              <a:ext uri="{FF2B5EF4-FFF2-40B4-BE49-F238E27FC236}">
                <a16:creationId xmlns:a16="http://schemas.microsoft.com/office/drawing/2014/main" id="{B6C8025C-FB14-3A6B-EBC0-9DD8054B8551}"/>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40</a:t>
            </a:fld>
            <a:endParaRPr lang="en-US" dirty="0">
              <a:solidFill>
                <a:schemeClr val="tx1"/>
              </a:solidFill>
            </a:endParaRPr>
          </a:p>
        </p:txBody>
      </p:sp>
      <p:pic>
        <p:nvPicPr>
          <p:cNvPr id="6" name="Picture 5">
            <a:extLst>
              <a:ext uri="{FF2B5EF4-FFF2-40B4-BE49-F238E27FC236}">
                <a16:creationId xmlns:a16="http://schemas.microsoft.com/office/drawing/2014/main" id="{825A388A-5157-7383-7903-4D5AEE65E34D}"/>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C175F842-D4BA-9FEF-24F5-5F6FD1F41351}"/>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Rectangle 3">
            <a:extLst>
              <a:ext uri="{FF2B5EF4-FFF2-40B4-BE49-F238E27FC236}">
                <a16:creationId xmlns:a16="http://schemas.microsoft.com/office/drawing/2014/main" id="{D472EFE1-3ADB-E09A-B232-BB4C44E605C1}"/>
              </a:ext>
            </a:extLst>
          </p:cNvPr>
          <p:cNvSpPr>
            <a:spLocks noGrp="1" noChangeArrowheads="1"/>
          </p:cNvSpPr>
          <p:nvPr>
            <p:ph type="subTitle" idx="1"/>
          </p:nvPr>
        </p:nvSpPr>
        <p:spPr bwMode="auto">
          <a:xfrm>
            <a:off x="21728" y="762000"/>
            <a:ext cx="5464672" cy="6340197"/>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class Farmer:</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def update(self, message):</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print("Farmer Notification:", message)</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class </a:t>
            </a:r>
            <a:r>
              <a:rPr lang="en-US" sz="1600" dirty="0" err="1">
                <a:solidFill>
                  <a:schemeClr val="tx1"/>
                </a:solidFill>
                <a:latin typeface="Times New Roman" panose="02020603050405020304" pitchFamily="18" charset="0"/>
                <a:cs typeface="Times New Roman" panose="02020603050405020304" pitchFamily="18" charset="0"/>
              </a:rPr>
              <a:t>MoistureSensor</a:t>
            </a:r>
            <a:r>
              <a:rPr lang="en-US" sz="1600" dirty="0">
                <a:solidFill>
                  <a:schemeClr val="tx1"/>
                </a:solidFill>
                <a:latin typeface="Times New Roman" panose="02020603050405020304" pitchFamily="18" charset="0"/>
                <a:cs typeface="Times New Roman" panose="02020603050405020304" pitchFamily="18" charset="0"/>
              </a:rPr>
              <a:t>:</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def __</a:t>
            </a:r>
            <a:r>
              <a:rPr lang="en-US" sz="1600" dirty="0" err="1">
                <a:solidFill>
                  <a:schemeClr val="tx1"/>
                </a:solidFill>
                <a:latin typeface="Times New Roman" panose="02020603050405020304" pitchFamily="18" charset="0"/>
                <a:cs typeface="Times New Roman" panose="02020603050405020304" pitchFamily="18" charset="0"/>
              </a:rPr>
              <a:t>init</a:t>
            </a:r>
            <a:r>
              <a:rPr lang="en-US" sz="1600" dirty="0">
                <a:solidFill>
                  <a:schemeClr val="tx1"/>
                </a:solidFill>
                <a:latin typeface="Times New Roman" panose="02020603050405020304" pitchFamily="18" charset="0"/>
                <a:cs typeface="Times New Roman" panose="02020603050405020304" pitchFamily="18" charset="0"/>
              </a:rPr>
              <a:t>__(self):</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self.observers</a:t>
            </a:r>
            <a:r>
              <a:rPr lang="en-US" sz="1600" dirty="0">
                <a:solidFill>
                  <a:schemeClr val="tx1"/>
                </a:solidFill>
                <a:latin typeface="Times New Roman" panose="02020603050405020304" pitchFamily="18" charset="0"/>
                <a:cs typeface="Times New Roman" panose="02020603050405020304" pitchFamily="18" charset="0"/>
              </a:rPr>
              <a:t> = []</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def attach(self, observer):</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self.observers.append</a:t>
            </a:r>
            <a:r>
              <a:rPr lang="en-US" sz="1600" dirty="0">
                <a:solidFill>
                  <a:schemeClr val="tx1"/>
                </a:solidFill>
                <a:latin typeface="Times New Roman" panose="02020603050405020304" pitchFamily="18" charset="0"/>
                <a:cs typeface="Times New Roman" panose="02020603050405020304" pitchFamily="18" charset="0"/>
              </a:rPr>
              <a:t>(observer)</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def notify(self, message):</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for observer in </a:t>
            </a:r>
            <a:r>
              <a:rPr lang="en-US" sz="1600" dirty="0" err="1">
                <a:solidFill>
                  <a:schemeClr val="tx1"/>
                </a:solidFill>
                <a:latin typeface="Times New Roman" panose="02020603050405020304" pitchFamily="18" charset="0"/>
                <a:cs typeface="Times New Roman" panose="02020603050405020304" pitchFamily="18" charset="0"/>
              </a:rPr>
              <a:t>self.observers</a:t>
            </a:r>
            <a:r>
              <a:rPr lang="en-US" sz="1600" dirty="0">
                <a:solidFill>
                  <a:schemeClr val="tx1"/>
                </a:solidFill>
                <a:latin typeface="Times New Roman" panose="02020603050405020304" pitchFamily="18" charset="0"/>
                <a:cs typeface="Times New Roman" panose="02020603050405020304" pitchFamily="18" charset="0"/>
              </a:rPr>
              <a:t>:</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observer.update</a:t>
            </a:r>
            <a:r>
              <a:rPr lang="en-US" sz="1600" dirty="0">
                <a:solidFill>
                  <a:schemeClr val="tx1"/>
                </a:solidFill>
                <a:latin typeface="Times New Roman" panose="02020603050405020304" pitchFamily="18" charset="0"/>
                <a:cs typeface="Times New Roman" panose="02020603050405020304" pitchFamily="18" charset="0"/>
              </a:rPr>
              <a:t>(message)</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def </a:t>
            </a:r>
            <a:r>
              <a:rPr lang="en-US" sz="1600" dirty="0" err="1">
                <a:solidFill>
                  <a:schemeClr val="tx1"/>
                </a:solidFill>
                <a:latin typeface="Times New Roman" panose="02020603050405020304" pitchFamily="18" charset="0"/>
                <a:cs typeface="Times New Roman" panose="02020603050405020304" pitchFamily="18" charset="0"/>
              </a:rPr>
              <a:t>check_moisture</a:t>
            </a:r>
            <a:r>
              <a:rPr lang="en-US" sz="1600" dirty="0">
                <a:solidFill>
                  <a:schemeClr val="tx1"/>
                </a:solidFill>
                <a:latin typeface="Times New Roman" panose="02020603050405020304" pitchFamily="18" charset="0"/>
                <a:cs typeface="Times New Roman" panose="02020603050405020304" pitchFamily="18" charset="0"/>
              </a:rPr>
              <a:t>(self, level):</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if level &lt; 30:</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self.notify</a:t>
            </a:r>
            <a:r>
              <a:rPr lang="en-US" sz="1600" dirty="0">
                <a:solidFill>
                  <a:schemeClr val="tx1"/>
                </a:solidFill>
                <a:latin typeface="Times New Roman" panose="02020603050405020304" pitchFamily="18" charset="0"/>
                <a:cs typeface="Times New Roman" panose="02020603050405020304" pitchFamily="18" charset="0"/>
              </a:rPr>
              <a:t>(</a:t>
            </a:r>
          </a:p>
          <a:p>
            <a:pPr lvl="0" algn="l" eaLnBrk="0" fontAlgn="base" hangingPunct="0">
              <a:spcBef>
                <a:spcPct val="0"/>
              </a:spcBef>
              <a:spcAft>
                <a:spcPts val="1200"/>
              </a:spcAft>
            </a:pPr>
            <a:r>
              <a:rPr lang="en-US" sz="1600" dirty="0">
                <a:solidFill>
                  <a:schemeClr val="tx1"/>
                </a:solidFill>
                <a:latin typeface="Times New Roman" panose="02020603050405020304" pitchFamily="18" charset="0"/>
                <a:cs typeface="Times New Roman" panose="02020603050405020304" pitchFamily="18" charset="0"/>
              </a:rPr>
              <a:t>                "Soil moisture is low. Irrigation started."            )</a:t>
            </a:r>
          </a:p>
          <a:p>
            <a:pPr lvl="0" algn="l" eaLnBrk="0" fontAlgn="base" hangingPunct="0">
              <a:spcBef>
                <a:spcPct val="0"/>
              </a:spcBef>
              <a:spcAft>
                <a:spcPts val="1200"/>
              </a:spcAft>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3975E5C-2BC9-367F-2410-9BB2DDE2A2CA}"/>
              </a:ext>
            </a:extLst>
          </p:cNvPr>
          <p:cNvSpPr txBox="1"/>
          <p:nvPr/>
        </p:nvSpPr>
        <p:spPr>
          <a:xfrm>
            <a:off x="5557982" y="893444"/>
            <a:ext cx="4581236" cy="3662541"/>
          </a:xfrm>
          <a:prstGeom prst="rect">
            <a:avLst/>
          </a:prstGeom>
          <a:noFill/>
        </p:spPr>
        <p:txBody>
          <a:bodyPr wrap="square">
            <a:spAutoFit/>
          </a:bodyPr>
          <a:lstStyle/>
          <a:p>
            <a:pPr marL="342900" lvl="0" indent="-342900" algn="l" eaLnBrk="0" fontAlgn="base" hangingPunct="0">
              <a:spcBef>
                <a:spcPct val="0"/>
              </a:spcBef>
              <a:spcAft>
                <a:spcPts val="1200"/>
              </a:spcAft>
              <a:buFont typeface="Wingdings" panose="05000000000000000000" pitchFamily="2" charset="2"/>
              <a:buChar char="ü"/>
            </a:pPr>
            <a:endParaRPr lang="en-US" sz="1800" dirty="0">
              <a:solidFill>
                <a:schemeClr val="tx1"/>
              </a:solidFill>
              <a:latin typeface="Times New Roman" panose="02020603050405020304" pitchFamily="18" charset="0"/>
              <a:cs typeface="Times New Roman" panose="02020603050405020304" pitchFamily="18" charset="0"/>
            </a:endParaRPr>
          </a:p>
          <a:p>
            <a:pPr marL="342900" lvl="0" indent="-342900" algn="l" eaLnBrk="0" fontAlgn="base" hangingPunct="0">
              <a:spcBef>
                <a:spcPct val="0"/>
              </a:spcBef>
              <a:spcAft>
                <a:spcPts val="1200"/>
              </a:spcAft>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farmer = Farmer()</a:t>
            </a:r>
          </a:p>
          <a:p>
            <a:pPr marL="342900" lvl="0" indent="-342900" algn="l" eaLnBrk="0" fontAlgn="base" hangingPunct="0">
              <a:spcBef>
                <a:spcPct val="0"/>
              </a:spcBef>
              <a:spcAft>
                <a:spcPts val="1200"/>
              </a:spcAft>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sensor = </a:t>
            </a:r>
            <a:r>
              <a:rPr lang="en-US" sz="1800" dirty="0" err="1">
                <a:solidFill>
                  <a:schemeClr val="tx1"/>
                </a:solidFill>
                <a:latin typeface="Times New Roman" panose="02020603050405020304" pitchFamily="18" charset="0"/>
                <a:cs typeface="Times New Roman" panose="02020603050405020304" pitchFamily="18" charset="0"/>
              </a:rPr>
              <a:t>MoistureSensor</a:t>
            </a:r>
            <a:r>
              <a:rPr lang="en-US" sz="1800" dirty="0">
                <a:solidFill>
                  <a:schemeClr val="tx1"/>
                </a:solidFill>
                <a:latin typeface="Times New Roman" panose="02020603050405020304" pitchFamily="18" charset="0"/>
                <a:cs typeface="Times New Roman" panose="02020603050405020304" pitchFamily="18" charset="0"/>
              </a:rPr>
              <a:t>()</a:t>
            </a:r>
          </a:p>
          <a:p>
            <a:pPr marL="342900" lvl="0" indent="-342900" algn="l" eaLnBrk="0" fontAlgn="base" hangingPunct="0">
              <a:spcBef>
                <a:spcPct val="0"/>
              </a:spcBef>
              <a:spcAft>
                <a:spcPts val="1200"/>
              </a:spcAft>
              <a:buFont typeface="Wingdings" panose="05000000000000000000" pitchFamily="2" charset="2"/>
              <a:buChar char="ü"/>
            </a:pPr>
            <a:r>
              <a:rPr lang="en-US" sz="1800" dirty="0" err="1">
                <a:solidFill>
                  <a:schemeClr val="tx1"/>
                </a:solidFill>
                <a:latin typeface="Times New Roman" panose="02020603050405020304" pitchFamily="18" charset="0"/>
                <a:cs typeface="Times New Roman" panose="02020603050405020304" pitchFamily="18" charset="0"/>
              </a:rPr>
              <a:t>sensor.attach</a:t>
            </a:r>
            <a:r>
              <a:rPr lang="en-US" sz="1800" dirty="0">
                <a:solidFill>
                  <a:schemeClr val="tx1"/>
                </a:solidFill>
                <a:latin typeface="Times New Roman" panose="02020603050405020304" pitchFamily="18" charset="0"/>
                <a:cs typeface="Times New Roman" panose="02020603050405020304" pitchFamily="18" charset="0"/>
              </a:rPr>
              <a:t>(farmer)</a:t>
            </a:r>
          </a:p>
          <a:p>
            <a:pPr marL="342900" lvl="0" indent="-342900" algn="l" eaLnBrk="0" fontAlgn="base" hangingPunct="0">
              <a:spcBef>
                <a:spcPct val="0"/>
              </a:spcBef>
              <a:spcAft>
                <a:spcPts val="1200"/>
              </a:spcAft>
              <a:buFont typeface="Wingdings" panose="05000000000000000000" pitchFamily="2" charset="2"/>
              <a:buChar char="ü"/>
            </a:pPr>
            <a:r>
              <a:rPr lang="en-US" sz="1800" dirty="0" err="1">
                <a:solidFill>
                  <a:schemeClr val="tx1"/>
                </a:solidFill>
                <a:latin typeface="Times New Roman" panose="02020603050405020304" pitchFamily="18" charset="0"/>
                <a:cs typeface="Times New Roman" panose="02020603050405020304" pitchFamily="18" charset="0"/>
              </a:rPr>
              <a:t>sensor.check_moisture</a:t>
            </a:r>
            <a:r>
              <a:rPr lang="en-US" sz="1800" dirty="0">
                <a:solidFill>
                  <a:schemeClr val="tx1"/>
                </a:solidFill>
                <a:latin typeface="Times New Roman" panose="02020603050405020304" pitchFamily="18" charset="0"/>
                <a:cs typeface="Times New Roman" panose="02020603050405020304" pitchFamily="18" charset="0"/>
              </a:rPr>
              <a:t>(25)</a:t>
            </a:r>
          </a:p>
          <a:p>
            <a:pPr marL="342900" lvl="0" indent="-342900" algn="l" eaLnBrk="0" fontAlgn="base" hangingPunct="0">
              <a:spcBef>
                <a:spcPct val="0"/>
              </a:spcBef>
              <a:spcAft>
                <a:spcPts val="1200"/>
              </a:spcAf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ts val="1200"/>
              </a:spcAft>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Output: </a:t>
            </a:r>
          </a:p>
          <a:p>
            <a:pPr marL="742950" lvl="1" indent="-285750" eaLnBrk="0" fontAlgn="base" hangingPunct="0">
              <a:spcBef>
                <a:spcPct val="0"/>
              </a:spcBef>
              <a:spcAft>
                <a:spcPts val="120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Farmer Notification: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Soil moisture is low. Irrigation started.</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7198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sz="4800" b="1" dirty="0">
                <a:latin typeface="Times New Roman" pitchFamily="18" charset="0"/>
                <a:cs typeface="Times New Roman" pitchFamily="18" charset="0"/>
              </a:rPr>
              <a:t>Real world object and </a:t>
            </a:r>
            <a:r>
              <a:rPr lang="en-US" sz="4800" b="1" dirty="0" err="1">
                <a:latin typeface="Times New Roman" pitchFamily="18" charset="0"/>
                <a:cs typeface="Times New Roman" pitchFamily="18" charset="0"/>
              </a:rPr>
              <a:t>Benifit</a:t>
            </a:r>
            <a:endParaRPr lang="en-US" sz="4800" b="1"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41</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Rectangle 3">
            <a:extLst>
              <a:ext uri="{FF2B5EF4-FFF2-40B4-BE49-F238E27FC236}">
                <a16:creationId xmlns:a16="http://schemas.microsoft.com/office/drawing/2014/main" id="{657284E6-5168-CF4B-2477-64DD30D66BC6}"/>
              </a:ext>
            </a:extLst>
          </p:cNvPr>
          <p:cNvSpPr>
            <a:spLocks noGrp="1" noChangeArrowheads="1"/>
          </p:cNvSpPr>
          <p:nvPr>
            <p:ph type="subTitle" idx="1"/>
          </p:nvPr>
        </p:nvSpPr>
        <p:spPr bwMode="auto">
          <a:xfrm>
            <a:off x="152400" y="1371600"/>
            <a:ext cx="8915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l" eaLnBrk="0" fontAlgn="base" hangingPunct="0">
              <a:spcBef>
                <a:spcPct val="0"/>
              </a:spcBef>
              <a:spcAft>
                <a:spcPts val="1200"/>
              </a:spcAft>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benefit of representing real-world entities—such as Farmer, </a:t>
            </a:r>
            <a:r>
              <a:rPr lang="en-US" sz="2000" dirty="0" err="1">
                <a:solidFill>
                  <a:schemeClr val="tx1"/>
                </a:solidFill>
                <a:latin typeface="Times New Roman" panose="02020603050405020304" pitchFamily="18" charset="0"/>
                <a:cs typeface="Times New Roman" panose="02020603050405020304" pitchFamily="18" charset="0"/>
              </a:rPr>
              <a:t>SensorModule</a:t>
            </a:r>
            <a:r>
              <a:rPr lang="en-US" sz="2000" dirty="0">
                <a:solidFill>
                  <a:schemeClr val="tx1"/>
                </a:solidFill>
                <a:latin typeface="Times New Roman" panose="02020603050405020304" pitchFamily="18" charset="0"/>
                <a:cs typeface="Times New Roman" panose="02020603050405020304" pitchFamily="18" charset="0"/>
              </a:rPr>
              <a:t>, and </a:t>
            </a:r>
            <a:r>
              <a:rPr lang="en-US" sz="2000" dirty="0" err="1">
                <a:solidFill>
                  <a:schemeClr val="tx1"/>
                </a:solidFill>
                <a:latin typeface="Times New Roman" panose="02020603050405020304" pitchFamily="18" charset="0"/>
                <a:cs typeface="Times New Roman" panose="02020603050405020304" pitchFamily="18" charset="0"/>
              </a:rPr>
              <a:t>IrrigationController</a:t>
            </a:r>
            <a:r>
              <a:rPr lang="en-US" sz="2000" dirty="0">
                <a:solidFill>
                  <a:schemeClr val="tx1"/>
                </a:solidFill>
                <a:latin typeface="Times New Roman" panose="02020603050405020304" pitchFamily="18" charset="0"/>
                <a:cs typeface="Times New Roman" panose="02020603050405020304" pitchFamily="18" charset="0"/>
              </a:rPr>
              <a:t>—in the Automated Agricultural System as objects in your code.</a:t>
            </a:r>
          </a:p>
        </p:txBody>
      </p:sp>
      <p:sp>
        <p:nvSpPr>
          <p:cNvPr id="10" name="Rectangle 3">
            <a:extLst>
              <a:ext uri="{FF2B5EF4-FFF2-40B4-BE49-F238E27FC236}">
                <a16:creationId xmlns:a16="http://schemas.microsoft.com/office/drawing/2014/main" id="{7E75648E-7869-4154-9BDC-ACAF9A512BA4}"/>
              </a:ext>
            </a:extLst>
          </p:cNvPr>
          <p:cNvSpPr txBox="1">
            <a:spLocks noChangeArrowheads="1"/>
          </p:cNvSpPr>
          <p:nvPr/>
        </p:nvSpPr>
        <p:spPr bwMode="auto">
          <a:xfrm>
            <a:off x="138862" y="2360109"/>
            <a:ext cx="89535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Modeling </a:t>
            </a:r>
            <a:r>
              <a:rPr lang="en-US" sz="2000" b="1" dirty="0">
                <a:solidFill>
                  <a:schemeClr val="tx1"/>
                </a:solidFill>
                <a:latin typeface="Times New Roman" panose="02020603050405020304" pitchFamily="18" charset="0"/>
                <a:cs typeface="Times New Roman" panose="02020603050405020304" pitchFamily="18" charset="0"/>
              </a:rPr>
              <a:t>Farmer</a:t>
            </a:r>
            <a:r>
              <a:rPr lang="en-US" sz="2000"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SensorModule</a:t>
            </a:r>
            <a:r>
              <a:rPr lang="en-US" sz="2000" dirty="0">
                <a:solidFill>
                  <a:schemeClr val="tx1"/>
                </a:solidFill>
                <a:latin typeface="Times New Roman" panose="02020603050405020304" pitchFamily="18" charset="0"/>
                <a:cs typeface="Times New Roman" panose="02020603050405020304" pitchFamily="18" charset="0"/>
              </a:rPr>
              <a:t>, and </a:t>
            </a:r>
            <a:r>
              <a:rPr lang="en-US" sz="2000" b="1" dirty="0" err="1">
                <a:solidFill>
                  <a:schemeClr val="tx1"/>
                </a:solidFill>
                <a:latin typeface="Times New Roman" panose="02020603050405020304" pitchFamily="18" charset="0"/>
                <a:cs typeface="Times New Roman" panose="02020603050405020304" pitchFamily="18" charset="0"/>
              </a:rPr>
              <a:t>IrrigationController</a:t>
            </a:r>
            <a:r>
              <a:rPr lang="en-US" sz="2000" dirty="0">
                <a:solidFill>
                  <a:schemeClr val="tx1"/>
                </a:solidFill>
                <a:latin typeface="Times New Roman" panose="02020603050405020304" pitchFamily="18" charset="0"/>
                <a:cs typeface="Times New Roman" panose="02020603050405020304" pitchFamily="18" charset="0"/>
              </a:rPr>
              <a:t> as objects helps create a clear, modular structure. Each object manages its own functions—such as monitoring soil data or controlling irrigation—making the system easier to update, automate, and integrate. This improves reliability, simplifies troubleshooting, and supports smart, data-driven farming.</a:t>
            </a:r>
          </a:p>
        </p:txBody>
      </p:sp>
    </p:spTree>
    <p:extLst>
      <p:ext uri="{BB962C8B-B14F-4D97-AF65-F5344CB8AC3E}">
        <p14:creationId xmlns:p14="http://schemas.microsoft.com/office/powerpoint/2010/main" val="4063376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Why "Good software design begins before coding"?</a:t>
            </a:r>
          </a:p>
        </p:txBody>
      </p:sp>
      <p:sp>
        <p:nvSpPr>
          <p:cNvPr id="4" name="Subtitle 3"/>
          <p:cNvSpPr>
            <a:spLocks noGrp="1"/>
          </p:cNvSpPr>
          <p:nvPr>
            <p:ph type="subTitle" idx="1"/>
          </p:nvPr>
        </p:nvSpPr>
        <p:spPr>
          <a:xfrm>
            <a:off x="152400" y="1523999"/>
            <a:ext cx="8839200" cy="5241925"/>
          </a:xfrm>
        </p:spPr>
        <p:txBody>
          <a:bodyPr>
            <a:noAutofit/>
          </a:bodyPr>
          <a:lstStyle/>
          <a:p>
            <a:pPr marL="457200" indent="-457200" algn="l">
              <a:buFont typeface="Wingdings" panose="05000000000000000000" pitchFamily="2" charset="2"/>
              <a:buChar char="ü"/>
            </a:pPr>
            <a:r>
              <a:rPr lang="en-US" altLang="ja-JP" sz="2400" b="1" dirty="0">
                <a:solidFill>
                  <a:srgbClr val="00B050"/>
                </a:solidFill>
                <a:latin typeface="Times New Roman" panose="02020603050405020304" pitchFamily="18" charset="0"/>
                <a:cs typeface="Times New Roman" panose="02020603050405020304" pitchFamily="18" charset="0"/>
              </a:rPr>
              <a:t>Key Concept: </a:t>
            </a:r>
            <a:r>
              <a:rPr lang="en-US" altLang="ja-JP" sz="2400" dirty="0">
                <a:solidFill>
                  <a:schemeClr val="tx1"/>
                </a:solidFill>
                <a:latin typeface="Times New Roman" panose="02020603050405020304" pitchFamily="18" charset="0"/>
                <a:cs typeface="Times New Roman" panose="02020603050405020304" pitchFamily="18" charset="0"/>
              </a:rPr>
              <a:t>Design is a blueprint; coding is implementation.</a:t>
            </a:r>
          </a:p>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If the design is weak, the software will be hard to understand, extend, or maintain.</a:t>
            </a:r>
          </a:p>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A good design ensures:</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Clear structure</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Easier debugging and testing</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Flexibility for future changes</a:t>
            </a:r>
          </a:p>
          <a:p>
            <a:pPr marL="342900" indent="-342900" algn="l">
              <a:buFont typeface="Wingdings" panose="05000000000000000000" pitchFamily="2" charset="2"/>
              <a:buChar char="ü"/>
            </a:pPr>
            <a:r>
              <a:rPr lang="en-US" sz="2400" dirty="0">
                <a:solidFill>
                  <a:srgbClr val="FF0000"/>
                </a:solidFill>
                <a:latin typeface="Times New Roman" panose="02020603050405020304" pitchFamily="18" charset="0"/>
                <a:cs typeface="Times New Roman" panose="02020603050405020304" pitchFamily="18" charset="0"/>
              </a:rPr>
              <a:t>Before writing code for housing allocation, we:</a:t>
            </a:r>
          </a:p>
          <a:p>
            <a:pPr marL="800100" lvl="1" indent="-3429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Identified core problems (overpopulation, garbage, traffic).</a:t>
            </a:r>
          </a:p>
          <a:p>
            <a:pPr marL="800100" lvl="1" indent="-3429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Defined requirements (e.g., "Applicants must submit income proof").</a:t>
            </a:r>
          </a:p>
          <a:p>
            <a:pPr marL="800100" lvl="1" indent="-3429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Designed classes (Applicant, </a:t>
            </a:r>
            <a:r>
              <a:rPr lang="en-US" sz="2000" dirty="0" err="1">
                <a:solidFill>
                  <a:schemeClr val="tx1"/>
                </a:solidFill>
                <a:latin typeface="Times New Roman" panose="02020603050405020304" pitchFamily="18" charset="0"/>
                <a:cs typeface="Times New Roman" panose="02020603050405020304" pitchFamily="18" charset="0"/>
              </a:rPr>
              <a:t>HousingUnit</a:t>
            </a:r>
            <a:r>
              <a:rPr lang="en-US" sz="2000" dirty="0">
                <a:solidFill>
                  <a:schemeClr val="tx1"/>
                </a:solidFill>
                <a:latin typeface="Times New Roman" panose="02020603050405020304" pitchFamily="18" charset="0"/>
                <a:cs typeface="Times New Roman" panose="02020603050405020304" pitchFamily="18" charset="0"/>
              </a:rPr>
              <a:t>) and workflows.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42</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885209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Establishing Initial Software Requirements</a:t>
            </a:r>
          </a:p>
        </p:txBody>
      </p:sp>
      <p:sp>
        <p:nvSpPr>
          <p:cNvPr id="4" name="Subtitle 3"/>
          <p:cNvSpPr>
            <a:spLocks noGrp="1"/>
          </p:cNvSpPr>
          <p:nvPr>
            <p:ph type="subTitle" idx="1"/>
          </p:nvPr>
        </p:nvSpPr>
        <p:spPr>
          <a:xfrm>
            <a:off x="152400" y="1523999"/>
            <a:ext cx="8839200" cy="5241925"/>
          </a:xfrm>
        </p:spPr>
        <p:txBody>
          <a:bodyPr>
            <a:noAutofit/>
          </a:bodyPr>
          <a:lstStyle/>
          <a:p>
            <a:pPr marL="457200" indent="-457200" algn="l">
              <a:buFont typeface="Wingdings" panose="05000000000000000000" pitchFamily="2" charset="2"/>
              <a:buChar char="ü"/>
            </a:pPr>
            <a:r>
              <a:rPr lang="en-US" altLang="ja-JP" sz="2400" b="1" dirty="0">
                <a:solidFill>
                  <a:srgbClr val="00B050"/>
                </a:solidFill>
                <a:latin typeface="Times New Roman" panose="02020603050405020304" pitchFamily="18" charset="0"/>
                <a:cs typeface="Times New Roman" panose="02020603050405020304" pitchFamily="18" charset="0"/>
              </a:rPr>
              <a:t>Key Concept: </a:t>
            </a:r>
            <a:r>
              <a:rPr lang="en-US" altLang="ja-JP" sz="2400" dirty="0">
                <a:solidFill>
                  <a:schemeClr val="tx1"/>
                </a:solidFill>
                <a:latin typeface="Times New Roman" panose="02020603050405020304" pitchFamily="18" charset="0"/>
                <a:cs typeface="Times New Roman" panose="02020603050405020304" pitchFamily="18" charset="0"/>
              </a:rPr>
              <a:t>Gather what the system must do (functional) and should do (non-functional).</a:t>
            </a:r>
          </a:p>
          <a:p>
            <a:pPr marL="457200" indent="-457200" algn="l">
              <a:buFont typeface="Wingdings" panose="05000000000000000000" pitchFamily="2" charset="2"/>
              <a:buChar char="ü"/>
            </a:pPr>
            <a:r>
              <a:rPr lang="en-US" altLang="ja-JP" sz="2400" dirty="0">
                <a:solidFill>
                  <a:srgbClr val="FF0000"/>
                </a:solidFill>
                <a:latin typeface="Times New Roman" panose="02020603050405020304" pitchFamily="18" charset="0"/>
                <a:cs typeface="Times New Roman" panose="02020603050405020304" pitchFamily="18" charset="0"/>
              </a:rPr>
              <a:t>DUMS Example:</a:t>
            </a:r>
          </a:p>
          <a:p>
            <a:pPr marL="457200" indent="-457200" algn="l">
              <a:buFont typeface="Wingdings" panose="05000000000000000000" pitchFamily="2" charset="2"/>
              <a:buChar char="ü"/>
            </a:pPr>
            <a:r>
              <a:rPr lang="en-US" altLang="ja-JP" sz="2400" b="1" dirty="0">
                <a:solidFill>
                  <a:srgbClr val="00B050"/>
                </a:solidFill>
                <a:latin typeface="Times New Roman" panose="02020603050405020304" pitchFamily="18" charset="0"/>
                <a:cs typeface="Times New Roman" panose="02020603050405020304" pitchFamily="18" charset="0"/>
              </a:rPr>
              <a:t>Functional Requirements:</a:t>
            </a:r>
          </a:p>
          <a:p>
            <a:pPr marL="914400" lvl="1" indent="-4572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Citizens can apply for housing online.</a:t>
            </a:r>
          </a:p>
          <a:p>
            <a:pPr marL="914400" lvl="1" indent="-4572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Garbage trucks are assigned based on zone complaints.</a:t>
            </a:r>
          </a:p>
          <a:p>
            <a:pPr marL="457200" indent="-457200" algn="l">
              <a:buFont typeface="Wingdings" panose="05000000000000000000" pitchFamily="2" charset="2"/>
              <a:buChar char="ü"/>
            </a:pPr>
            <a:r>
              <a:rPr lang="en-US" altLang="ja-JP" sz="2400" b="1" dirty="0">
                <a:solidFill>
                  <a:srgbClr val="00B050"/>
                </a:solidFill>
                <a:latin typeface="Times New Roman" panose="02020603050405020304" pitchFamily="18" charset="0"/>
                <a:cs typeface="Times New Roman" panose="02020603050405020304" pitchFamily="18" charset="0"/>
              </a:rPr>
              <a:t>Non-Functional Requirements:</a:t>
            </a:r>
          </a:p>
          <a:p>
            <a:pPr marL="914400" lvl="1" indent="-4572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Scalable to 10M users (Dhaka’s population).</a:t>
            </a:r>
          </a:p>
          <a:p>
            <a:pPr marL="914400" lvl="1" indent="-4572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Real-time traffic signal updates (&lt;1 sec latency).</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43</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2675452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17" y="78150"/>
            <a:ext cx="9208983" cy="6858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OOAD </a:t>
            </a:r>
            <a:r>
              <a:rPr lang="en-US" altLang="ja-JP" sz="3600" b="1" dirty="0">
                <a:latin typeface="Times New Roman" pitchFamily="18" charset="0"/>
                <a:cs typeface="Times New Roman" pitchFamily="18" charset="0"/>
              </a:rPr>
              <a:t>Main Activities </a:t>
            </a:r>
            <a:r>
              <a:rPr lang="en-US" sz="3600" b="1" dirty="0">
                <a:latin typeface="Times New Roman" pitchFamily="18" charset="0"/>
                <a:cs typeface="Times New Roman" pitchFamily="18" charset="0"/>
              </a:rPr>
              <a:t>: </a:t>
            </a:r>
            <a:r>
              <a:rPr lang="en-US" altLang="ja-JP" sz="3600" dirty="0">
                <a:solidFill>
                  <a:srgbClr val="00B050"/>
                </a:solidFill>
                <a:latin typeface="Times New Roman" panose="02020603050405020304" pitchFamily="18" charset="0"/>
                <a:cs typeface="Times New Roman" panose="02020603050405020304" pitchFamily="18" charset="0"/>
              </a:rPr>
              <a:t>1. </a:t>
            </a:r>
            <a:r>
              <a:rPr lang="en-US" altLang="ja-JP" sz="3600" b="1" dirty="0">
                <a:solidFill>
                  <a:srgbClr val="00B050"/>
                </a:solidFill>
                <a:latin typeface="Times New Roman" panose="02020603050405020304" pitchFamily="18" charset="0"/>
                <a:cs typeface="Times New Roman" panose="02020603050405020304" pitchFamily="18" charset="0"/>
              </a:rPr>
              <a:t>Conceptual Design</a:t>
            </a:r>
            <a:endParaRPr lang="en-US" sz="3600" b="1" dirty="0">
              <a:latin typeface="Times New Roman" pitchFamily="18" charset="0"/>
              <a:cs typeface="Times New Roman" pitchFamily="18" charset="0"/>
            </a:endParaRPr>
          </a:p>
        </p:txBody>
      </p:sp>
      <p:sp>
        <p:nvSpPr>
          <p:cNvPr id="4" name="Subtitle 3"/>
          <p:cNvSpPr>
            <a:spLocks noGrp="1"/>
          </p:cNvSpPr>
          <p:nvPr>
            <p:ph type="subTitle" idx="1"/>
          </p:nvPr>
        </p:nvSpPr>
        <p:spPr>
          <a:xfrm>
            <a:off x="152400" y="1524000"/>
            <a:ext cx="8839200" cy="5105400"/>
          </a:xfrm>
        </p:spPr>
        <p:txBody>
          <a:bodyPr>
            <a:noAutofit/>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Focuses on what the system should do</a:t>
            </a:r>
          </a:p>
          <a:p>
            <a:pPr marL="457200" indent="-457200" algn="l">
              <a:buFont typeface="Wingdings" panose="05000000000000000000" pitchFamily="2" charset="2"/>
              <a:buChar char="ü"/>
            </a:pPr>
            <a:r>
              <a:rPr lang="en-US" altLang="ja-JP" sz="2400" b="1" i="0" dirty="0">
                <a:solidFill>
                  <a:srgbClr val="00B050"/>
                </a:solidFill>
                <a:effectLst/>
                <a:latin typeface="quote-cjk-patch"/>
              </a:rPr>
              <a:t>Key Concept:</a:t>
            </a:r>
            <a:r>
              <a:rPr lang="en-US" altLang="ja-JP" sz="2400" b="0" i="0" dirty="0">
                <a:solidFill>
                  <a:srgbClr val="00B050"/>
                </a:solidFill>
                <a:effectLst/>
                <a:latin typeface="quote-cjk-patch"/>
              </a:rPr>
              <a:t> </a:t>
            </a:r>
            <a:r>
              <a:rPr lang="en-US" altLang="ja-JP" sz="2400" b="0" i="0" dirty="0">
                <a:solidFill>
                  <a:srgbClr val="404040"/>
                </a:solidFill>
                <a:effectLst/>
                <a:latin typeface="quote-cjk-patch"/>
              </a:rPr>
              <a:t>High-level architecture without technical details.</a:t>
            </a:r>
            <a:endParaRPr lang="en-US" altLang="ja-JP" sz="24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Involves understanding the problem key objects, classes, and their relationships.</a:t>
            </a:r>
          </a:p>
          <a:p>
            <a:pPr marL="457200" indent="-457200" algn="l">
              <a:buFont typeface="Wingdings" panose="05000000000000000000" pitchFamily="2" charset="2"/>
              <a:buChar char="Ø"/>
            </a:pPr>
            <a:r>
              <a:rPr lang="en-US" sz="2000" dirty="0">
                <a:solidFill>
                  <a:srgbClr val="FF0000"/>
                </a:solidFill>
                <a:latin typeface="Times New Roman" panose="02020603050405020304" pitchFamily="18" charset="0"/>
                <a:cs typeface="Times New Roman" panose="02020603050405020304" pitchFamily="18" charset="0"/>
              </a:rPr>
              <a:t>DUMS Example:</a:t>
            </a:r>
          </a:p>
          <a:p>
            <a:pPr marL="457200" indent="-4572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Entities/Objects Identified:</a:t>
            </a:r>
          </a:p>
          <a:p>
            <a:pPr marL="914400" lvl="1" indent="-45720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Applicant, </a:t>
            </a:r>
            <a:r>
              <a:rPr lang="en-US" sz="2000" dirty="0" err="1">
                <a:solidFill>
                  <a:schemeClr val="tx1"/>
                </a:solidFill>
                <a:latin typeface="Times New Roman" panose="02020603050405020304" pitchFamily="18" charset="0"/>
                <a:cs typeface="Times New Roman" panose="02020603050405020304" pitchFamily="18" charset="0"/>
              </a:rPr>
              <a:t>HousingUnit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GarbageZone</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TrafficSignal</a:t>
            </a:r>
            <a:r>
              <a:rPr lang="en-US" sz="2000" dirty="0">
                <a:solidFill>
                  <a:schemeClr val="tx1"/>
                </a:solidFill>
                <a:latin typeface="Times New Roman" panose="02020603050405020304" pitchFamily="18" charset="0"/>
                <a:cs typeface="Times New Roman" panose="02020603050405020304" pitchFamily="18" charset="0"/>
              </a:rPr>
              <a:t>.</a:t>
            </a:r>
          </a:p>
          <a:p>
            <a:pPr marL="457200" indent="-4572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Relationship: </a:t>
            </a:r>
          </a:p>
          <a:p>
            <a:pPr marL="914400" lvl="1" indent="-457200" algn="l">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A Citizen submits a Complaint linked to a </a:t>
            </a:r>
            <a:r>
              <a:rPr lang="en-US" sz="1600" dirty="0" err="1">
                <a:solidFill>
                  <a:schemeClr val="tx1"/>
                </a:solidFill>
                <a:latin typeface="Times New Roman" panose="02020603050405020304" pitchFamily="18" charset="0"/>
                <a:cs typeface="Times New Roman" panose="02020603050405020304" pitchFamily="18" charset="0"/>
              </a:rPr>
              <a:t>GarbageZone</a:t>
            </a:r>
            <a:r>
              <a:rPr lang="en-US" sz="1600" dirty="0">
                <a:solidFill>
                  <a:schemeClr val="tx1"/>
                </a:solidFill>
                <a:latin typeface="Times New Roman" panose="02020603050405020304" pitchFamily="18" charset="0"/>
                <a:cs typeface="Times New Roman" panose="02020603050405020304" pitchFamily="18" charset="0"/>
              </a:rPr>
              <a:t>.</a:t>
            </a:r>
          </a:p>
          <a:p>
            <a:pPr marL="914400" lvl="1" indent="-457200" algn="l">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Housing Allocation System matches Applicant to </a:t>
            </a:r>
            <a:r>
              <a:rPr lang="en-US" sz="1600" dirty="0" err="1">
                <a:solidFill>
                  <a:schemeClr val="tx1"/>
                </a:solidFill>
                <a:latin typeface="Times New Roman" panose="02020603050405020304" pitchFamily="18" charset="0"/>
                <a:cs typeface="Times New Roman" panose="02020603050405020304" pitchFamily="18" charset="0"/>
              </a:rPr>
              <a:t>HousingUnit</a:t>
            </a:r>
            <a:r>
              <a:rPr lang="en-US" sz="1600" dirty="0">
                <a:solidFill>
                  <a:schemeClr val="tx1"/>
                </a:solidFill>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44</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454413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3" y="228600"/>
            <a:ext cx="9145385"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OOAD </a:t>
            </a:r>
            <a:r>
              <a:rPr lang="en-US" altLang="ja-JP" sz="3600" b="1" dirty="0">
                <a:latin typeface="Times New Roman" pitchFamily="18" charset="0"/>
                <a:cs typeface="Times New Roman" pitchFamily="18" charset="0"/>
              </a:rPr>
              <a:t>Main Activities </a:t>
            </a:r>
            <a:r>
              <a:rPr lang="en-US" sz="3600" b="1" dirty="0">
                <a:latin typeface="Times New Roman" pitchFamily="18" charset="0"/>
                <a:cs typeface="Times New Roman" pitchFamily="18" charset="0"/>
              </a:rPr>
              <a:t>: </a:t>
            </a:r>
            <a:r>
              <a:rPr lang="en-US" altLang="ja-JP" sz="3600" dirty="0">
                <a:solidFill>
                  <a:srgbClr val="00B050"/>
                </a:solidFill>
                <a:latin typeface="Times New Roman" panose="02020603050405020304" pitchFamily="18" charset="0"/>
                <a:cs typeface="Times New Roman" panose="02020603050405020304" pitchFamily="18" charset="0"/>
              </a:rPr>
              <a:t>1. </a:t>
            </a:r>
            <a:r>
              <a:rPr lang="en-US" altLang="ja-JP" sz="3600" b="1" dirty="0">
                <a:solidFill>
                  <a:srgbClr val="00B050"/>
                </a:solidFill>
                <a:latin typeface="Times New Roman" panose="02020603050405020304" pitchFamily="18" charset="0"/>
                <a:cs typeface="Times New Roman" panose="02020603050405020304" pitchFamily="18" charset="0"/>
              </a:rPr>
              <a:t>Conceptual Design</a:t>
            </a:r>
            <a:br>
              <a:rPr lang="en-US" altLang="ja-JP" sz="3600" b="1" dirty="0">
                <a:solidFill>
                  <a:srgbClr val="00B050"/>
                </a:solidFill>
                <a:latin typeface="Times New Roman" panose="02020603050405020304" pitchFamily="18" charset="0"/>
                <a:cs typeface="Times New Roman" panose="02020603050405020304" pitchFamily="18" charset="0"/>
              </a:rPr>
            </a:br>
            <a:endParaRPr lang="en-US" sz="3600" b="1" dirty="0">
              <a:latin typeface="Times New Roman" pitchFamily="18" charset="0"/>
              <a:cs typeface="Times New Roman" pitchFamily="18" charset="0"/>
            </a:endParaRPr>
          </a:p>
        </p:txBody>
      </p:sp>
      <p:sp>
        <p:nvSpPr>
          <p:cNvPr id="4" name="Subtitle 3"/>
          <p:cNvSpPr>
            <a:spLocks noGrp="1"/>
          </p:cNvSpPr>
          <p:nvPr>
            <p:ph type="subTitle" idx="1"/>
          </p:nvPr>
        </p:nvSpPr>
        <p:spPr>
          <a:xfrm>
            <a:off x="152400" y="1524000"/>
            <a:ext cx="8839200" cy="5105400"/>
          </a:xfrm>
        </p:spPr>
        <p:txBody>
          <a:bodyPr>
            <a:noAutofit/>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The conceptual design recognizes appropriate </a:t>
            </a:r>
            <a:r>
              <a:rPr lang="en-US" altLang="ja-JP" sz="2400" b="1" dirty="0">
                <a:solidFill>
                  <a:srgbClr val="FF0000"/>
                </a:solidFill>
                <a:latin typeface="Times New Roman" panose="02020603050405020304" pitchFamily="18" charset="0"/>
                <a:cs typeface="Times New Roman" panose="02020603050405020304" pitchFamily="18" charset="0"/>
              </a:rPr>
              <a:t>components, connections, and responsibilities</a:t>
            </a:r>
            <a:r>
              <a:rPr lang="en-US" altLang="ja-JP" sz="2400" b="1" dirty="0">
                <a:solidFill>
                  <a:schemeClr val="tx1"/>
                </a:solidFill>
                <a:latin typeface="Times New Roman" panose="02020603050405020304" pitchFamily="18" charset="0"/>
                <a:cs typeface="Times New Roman" panose="02020603050405020304" pitchFamily="18" charset="0"/>
              </a:rPr>
              <a:t> </a:t>
            </a:r>
            <a:r>
              <a:rPr lang="en-US" altLang="ja-JP" sz="2400" dirty="0">
                <a:solidFill>
                  <a:schemeClr val="tx1"/>
                </a:solidFill>
                <a:latin typeface="Times New Roman" panose="02020603050405020304" pitchFamily="18" charset="0"/>
                <a:cs typeface="Times New Roman" panose="02020603050405020304" pitchFamily="18" charset="0"/>
              </a:rPr>
              <a:t>of the software product.</a:t>
            </a:r>
          </a:p>
          <a:p>
            <a:pPr marL="457200" indent="-457200" algn="l">
              <a:buFont typeface="Wingdings" panose="05000000000000000000" pitchFamily="2" charset="2"/>
              <a:buChar char="ü"/>
            </a:pPr>
            <a:r>
              <a:rPr lang="en-US" altLang="ja-JP" sz="2400" b="0" i="0" u="none" strike="noStrike" baseline="0" dirty="0">
                <a:solidFill>
                  <a:schemeClr val="tx1"/>
                </a:solidFill>
                <a:latin typeface="Times New Roman" panose="02020603050405020304" pitchFamily="18" charset="0"/>
                <a:cs typeface="Times New Roman" panose="02020603050405020304" pitchFamily="18" charset="0"/>
              </a:rPr>
              <a:t>Conceptual designs are expressed or communicated through </a:t>
            </a:r>
            <a:r>
              <a:rPr lang="en-US" altLang="ja-JP" sz="2400" b="1" i="0" u="none" strike="noStrike" baseline="0" dirty="0">
                <a:solidFill>
                  <a:srgbClr val="FF0000"/>
                </a:solidFill>
                <a:latin typeface="Times New Roman" panose="02020603050405020304" pitchFamily="18" charset="0"/>
                <a:cs typeface="Times New Roman" panose="02020603050405020304" pitchFamily="18" charset="0"/>
              </a:rPr>
              <a:t>conceptual mock-ups</a:t>
            </a:r>
            <a:r>
              <a:rPr lang="en-US" altLang="ja-JP" sz="2400" b="0" i="0" u="none" strike="noStrike" baseline="0" dirty="0">
                <a:solidFill>
                  <a:schemeClr val="tx1"/>
                </a:solidFill>
                <a:latin typeface="Times New Roman" panose="02020603050405020304" pitchFamily="18" charset="0"/>
                <a:cs typeface="Times New Roman" panose="02020603050405020304" pitchFamily="18" charset="0"/>
              </a:rPr>
              <a:t>. </a:t>
            </a:r>
          </a:p>
          <a:p>
            <a:pPr marL="285750" indent="-28575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A </a:t>
            </a:r>
            <a:r>
              <a:rPr lang="en-US" altLang="ja-JP" sz="2400" b="0" i="0" u="none" strike="noStrike" baseline="0" dirty="0">
                <a:solidFill>
                  <a:schemeClr val="tx1"/>
                </a:solidFill>
                <a:latin typeface="Times New Roman" panose="02020603050405020304" pitchFamily="18" charset="0"/>
                <a:cs typeface="Times New Roman" panose="02020603050405020304" pitchFamily="18" charset="0"/>
              </a:rPr>
              <a:t>visual notations that provide initial thoughts for how requirements will be satisfied. </a:t>
            </a:r>
          </a:p>
          <a:p>
            <a:pPr marL="285750" indent="-285750" algn="l">
              <a:buFont typeface="Wingdings" panose="05000000000000000000" pitchFamily="2" charset="2"/>
              <a:buChar char="ü"/>
            </a:pPr>
            <a:r>
              <a:rPr lang="en-US" altLang="ja-JP" sz="2400" b="0" i="0" u="none" strike="noStrike" baseline="0" dirty="0">
                <a:solidFill>
                  <a:schemeClr val="tx1"/>
                </a:solidFill>
                <a:latin typeface="Times New Roman" panose="02020603050405020304" pitchFamily="18" charset="0"/>
                <a:cs typeface="Times New Roman" panose="02020603050405020304" pitchFamily="18" charset="0"/>
              </a:rPr>
              <a:t>Mock-ups for software involving user interfaces are often presented as </a:t>
            </a:r>
            <a:r>
              <a:rPr lang="en-US" altLang="ja-JP" sz="2400" b="1" i="0" u="none" strike="noStrike" baseline="0" dirty="0">
                <a:solidFill>
                  <a:srgbClr val="0070C0"/>
                </a:solidFill>
                <a:latin typeface="Times New Roman" panose="02020603050405020304" pitchFamily="18" charset="0"/>
                <a:cs typeface="Times New Roman" panose="02020603050405020304" pitchFamily="18" charset="0"/>
              </a:rPr>
              <a:t>wireframes</a:t>
            </a:r>
            <a:r>
              <a:rPr lang="en-US" altLang="ja-JP" sz="2400" b="0" i="0" u="none" strike="noStrike" baseline="0" dirty="0">
                <a:solidFill>
                  <a:schemeClr val="tx1"/>
                </a:solidFill>
                <a:latin typeface="Times New Roman" panose="02020603050405020304" pitchFamily="18" charset="0"/>
                <a:cs typeface="Times New Roman" panose="02020603050405020304" pitchFamily="18" charset="0"/>
              </a:rPr>
              <a:t>, which are a kind of blueprint or basic visual representation of the product.</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45</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pic>
        <p:nvPicPr>
          <p:cNvPr id="7" name="Picture 6">
            <a:extLst>
              <a:ext uri="{FF2B5EF4-FFF2-40B4-BE49-F238E27FC236}">
                <a16:creationId xmlns:a16="http://schemas.microsoft.com/office/drawing/2014/main" id="{B4FF1196-BF5D-2003-E0BF-FE90C209A19D}"/>
              </a:ext>
            </a:extLst>
          </p:cNvPr>
          <p:cNvPicPr>
            <a:picLocks noChangeAspect="1"/>
          </p:cNvPicPr>
          <p:nvPr/>
        </p:nvPicPr>
        <p:blipFill>
          <a:blip r:embed="rId5"/>
          <a:stretch>
            <a:fillRect/>
          </a:stretch>
        </p:blipFill>
        <p:spPr>
          <a:xfrm>
            <a:off x="4953000" y="4830382"/>
            <a:ext cx="2338724" cy="1799018"/>
          </a:xfrm>
          <a:prstGeom prst="rect">
            <a:avLst/>
          </a:prstGeom>
        </p:spPr>
      </p:pic>
    </p:spTree>
    <p:extLst>
      <p:ext uri="{BB962C8B-B14F-4D97-AF65-F5344CB8AC3E}">
        <p14:creationId xmlns:p14="http://schemas.microsoft.com/office/powerpoint/2010/main" val="35034936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3" y="228600"/>
            <a:ext cx="9145385"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OOAD </a:t>
            </a:r>
            <a:r>
              <a:rPr lang="en-US" altLang="ja-JP" sz="3600" b="1" dirty="0">
                <a:latin typeface="Times New Roman" pitchFamily="18" charset="0"/>
                <a:cs typeface="Times New Roman" pitchFamily="18" charset="0"/>
              </a:rPr>
              <a:t>Main Activities </a:t>
            </a:r>
            <a:r>
              <a:rPr lang="en-US" sz="3600" b="1" dirty="0">
                <a:latin typeface="Times New Roman" pitchFamily="18" charset="0"/>
                <a:cs typeface="Times New Roman" pitchFamily="18" charset="0"/>
              </a:rPr>
              <a:t>: </a:t>
            </a:r>
            <a:r>
              <a:rPr lang="en-US" altLang="ja-JP" sz="3600" dirty="0">
                <a:solidFill>
                  <a:srgbClr val="00B050"/>
                </a:solidFill>
                <a:latin typeface="Times New Roman" panose="02020603050405020304" pitchFamily="18" charset="0"/>
                <a:cs typeface="Times New Roman" panose="02020603050405020304" pitchFamily="18" charset="0"/>
              </a:rPr>
              <a:t>1. </a:t>
            </a:r>
            <a:r>
              <a:rPr lang="en-US" altLang="ja-JP" sz="3600" b="1" dirty="0">
                <a:solidFill>
                  <a:srgbClr val="00B050"/>
                </a:solidFill>
                <a:latin typeface="Times New Roman" panose="02020603050405020304" pitchFamily="18" charset="0"/>
                <a:cs typeface="Times New Roman" panose="02020603050405020304" pitchFamily="18" charset="0"/>
              </a:rPr>
              <a:t>Conceptual Design</a:t>
            </a:r>
            <a:br>
              <a:rPr lang="en-US" altLang="ja-JP" sz="3600" b="1" dirty="0">
                <a:solidFill>
                  <a:srgbClr val="00B050"/>
                </a:solidFill>
                <a:latin typeface="Times New Roman" panose="02020603050405020304" pitchFamily="18" charset="0"/>
                <a:cs typeface="Times New Roman" panose="02020603050405020304" pitchFamily="18" charset="0"/>
              </a:rPr>
            </a:br>
            <a:endParaRPr lang="en-US" sz="3600" b="1" dirty="0">
              <a:latin typeface="Times New Roman" pitchFamily="18" charset="0"/>
              <a:cs typeface="Times New Roman" pitchFamily="18" charset="0"/>
            </a:endParaRPr>
          </a:p>
        </p:txBody>
      </p:sp>
      <p:sp>
        <p:nvSpPr>
          <p:cNvPr id="4" name="Subtitle 3"/>
          <p:cNvSpPr>
            <a:spLocks noGrp="1"/>
          </p:cNvSpPr>
          <p:nvPr>
            <p:ph type="subTitle" idx="1"/>
          </p:nvPr>
        </p:nvSpPr>
        <p:spPr>
          <a:xfrm>
            <a:off x="82445" y="1187810"/>
            <a:ext cx="8979108" cy="5105400"/>
          </a:xfrm>
        </p:spPr>
        <p:txBody>
          <a:bodyPr>
            <a:noAutofit/>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Mock-ups show </a:t>
            </a:r>
            <a:r>
              <a:rPr lang="en-US" altLang="ja-JP" sz="2400" b="1" dirty="0">
                <a:solidFill>
                  <a:srgbClr val="00B050"/>
                </a:solidFill>
                <a:latin typeface="Times New Roman" panose="02020603050405020304" pitchFamily="18" charset="0"/>
                <a:cs typeface="Times New Roman" panose="02020603050405020304" pitchFamily="18" charset="0"/>
              </a:rPr>
              <a:t>major components and their relations. </a:t>
            </a:r>
          </a:p>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They help identify missing or problematic parts, requiring clarification or further conceptual design.</a:t>
            </a:r>
          </a:p>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 Each component has </a:t>
            </a:r>
            <a:r>
              <a:rPr lang="en-US" altLang="ja-JP" sz="2400" b="1" dirty="0">
                <a:solidFill>
                  <a:srgbClr val="FF0000"/>
                </a:solidFill>
                <a:latin typeface="Times New Roman" panose="02020603050405020304" pitchFamily="18" charset="0"/>
                <a:cs typeface="Times New Roman" panose="02020603050405020304" pitchFamily="18" charset="0"/>
              </a:rPr>
              <a:t>specific responsibilities</a:t>
            </a:r>
            <a:r>
              <a:rPr lang="en-US" altLang="ja-JP" sz="2400" dirty="0">
                <a:solidFill>
                  <a:schemeClr val="tx1"/>
                </a:solidFill>
                <a:latin typeface="Times New Roman" panose="02020603050405020304" pitchFamily="18" charset="0"/>
                <a:cs typeface="Times New Roman" panose="02020603050405020304" pitchFamily="18" charset="0"/>
              </a:rPr>
              <a:t>. </a:t>
            </a:r>
          </a:p>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Mock-ups focus on structure, not technical details.</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46</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pic>
        <p:nvPicPr>
          <p:cNvPr id="9" name="Picture 8">
            <a:extLst>
              <a:ext uri="{FF2B5EF4-FFF2-40B4-BE49-F238E27FC236}">
                <a16:creationId xmlns:a16="http://schemas.microsoft.com/office/drawing/2014/main" id="{CAA74E37-C065-9AD9-D957-FC950C1E4B77}"/>
              </a:ext>
            </a:extLst>
          </p:cNvPr>
          <p:cNvPicPr>
            <a:picLocks noChangeAspect="1"/>
          </p:cNvPicPr>
          <p:nvPr/>
        </p:nvPicPr>
        <p:blipFill>
          <a:blip r:embed="rId5"/>
          <a:stretch>
            <a:fillRect/>
          </a:stretch>
        </p:blipFill>
        <p:spPr>
          <a:xfrm>
            <a:off x="2197500" y="3429000"/>
            <a:ext cx="5478470" cy="2843054"/>
          </a:xfrm>
          <a:prstGeom prst="rect">
            <a:avLst/>
          </a:prstGeom>
        </p:spPr>
      </p:pic>
    </p:spTree>
    <p:extLst>
      <p:ext uri="{BB962C8B-B14F-4D97-AF65-F5344CB8AC3E}">
        <p14:creationId xmlns:p14="http://schemas.microsoft.com/office/powerpoint/2010/main" val="2503563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3" y="228600"/>
            <a:ext cx="9145385"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OOAD </a:t>
            </a:r>
            <a:r>
              <a:rPr lang="en-US" altLang="ja-JP" sz="3600" b="1" dirty="0">
                <a:latin typeface="Times New Roman" pitchFamily="18" charset="0"/>
                <a:cs typeface="Times New Roman" pitchFamily="18" charset="0"/>
              </a:rPr>
              <a:t>Main Activities </a:t>
            </a:r>
            <a:r>
              <a:rPr lang="en-US" sz="3600" b="1" dirty="0">
                <a:latin typeface="Times New Roman" pitchFamily="18" charset="0"/>
                <a:cs typeface="Times New Roman" pitchFamily="18" charset="0"/>
              </a:rPr>
              <a:t>: </a:t>
            </a:r>
            <a:r>
              <a:rPr lang="en-US" altLang="ja-JP" sz="3600" dirty="0">
                <a:solidFill>
                  <a:srgbClr val="00B050"/>
                </a:solidFill>
                <a:latin typeface="Times New Roman" panose="02020603050405020304" pitchFamily="18" charset="0"/>
                <a:cs typeface="Times New Roman" panose="02020603050405020304" pitchFamily="18" charset="0"/>
              </a:rPr>
              <a:t>1. </a:t>
            </a:r>
            <a:r>
              <a:rPr lang="en-US" altLang="ja-JP" sz="3600" b="1" dirty="0">
                <a:solidFill>
                  <a:srgbClr val="00B050"/>
                </a:solidFill>
                <a:latin typeface="Times New Roman" panose="02020603050405020304" pitchFamily="18" charset="0"/>
                <a:cs typeface="Times New Roman" panose="02020603050405020304" pitchFamily="18" charset="0"/>
              </a:rPr>
              <a:t>Conceptual Design</a:t>
            </a:r>
            <a:br>
              <a:rPr lang="en-US" altLang="ja-JP" sz="3600" b="1" dirty="0">
                <a:solidFill>
                  <a:srgbClr val="00B050"/>
                </a:solidFill>
                <a:latin typeface="Times New Roman" panose="02020603050405020304" pitchFamily="18" charset="0"/>
                <a:cs typeface="Times New Roman" panose="02020603050405020304" pitchFamily="18" charset="0"/>
              </a:rPr>
            </a:br>
            <a:endParaRPr lang="en-US" sz="3600" b="1"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47</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11" name="TextBox 10">
            <a:extLst>
              <a:ext uri="{FF2B5EF4-FFF2-40B4-BE49-F238E27FC236}">
                <a16:creationId xmlns:a16="http://schemas.microsoft.com/office/drawing/2014/main" id="{CE905548-78AB-02CF-65CD-C3A1A3D49441}"/>
              </a:ext>
            </a:extLst>
          </p:cNvPr>
          <p:cNvSpPr txBox="1"/>
          <p:nvPr/>
        </p:nvSpPr>
        <p:spPr>
          <a:xfrm>
            <a:off x="367123" y="1319702"/>
            <a:ext cx="8014877" cy="3785652"/>
          </a:xfrm>
          <a:prstGeom prst="rect">
            <a:avLst/>
          </a:prstGeom>
          <a:noFill/>
        </p:spPr>
        <p:txBody>
          <a:bodyPr wrap="square">
            <a:spAutoFit/>
          </a:bodyPr>
          <a:lstStyle/>
          <a:p>
            <a:pPr eaLnBrk="0" fontAlgn="base" hangingPunct="0">
              <a:spcBef>
                <a:spcPct val="0"/>
              </a:spcBef>
              <a:spcAft>
                <a:spcPct val="0"/>
              </a:spcAft>
            </a:pPr>
            <a:r>
              <a:rPr kumimoji="0" lang="ja-JP" altLang="ja-JP" sz="2000" b="1"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Purpose</a:t>
            </a:r>
            <a:r>
              <a:rPr lang="en-US" altLang="ja-JP" sz="2000" dirty="0">
                <a:solidFill>
                  <a:srgbClr val="404040"/>
                </a:solidFill>
                <a:latin typeface="Times New Roman" panose="02020603050405020304" pitchFamily="18" charset="0"/>
                <a:ea typeface="quote-cjk-patch"/>
                <a:cs typeface="Times New Roman" panose="02020603050405020304" pitchFamily="18" charset="0"/>
              </a:rPr>
              <a:t> and </a:t>
            </a:r>
            <a:r>
              <a:rPr kumimoji="0" lang="ja-JP" altLang="ja-JP" sz="2000" b="1"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Role of Conceptual Mock-ups</a:t>
            </a:r>
            <a:endPar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Visualize OO Concepts</a:t>
            </a:r>
            <a:endPar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1"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Example</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 UML class diagrams for an </a:t>
            </a:r>
            <a:r>
              <a:rPr kumimoji="0" lang="ja-JP" altLang="ja-JP" sz="2000" b="0" i="0" u="none" strike="noStrike" cap="none" normalizeH="0" baseline="0" dirty="0">
                <a:ln>
                  <a:noFill/>
                </a:ln>
                <a:solidFill>
                  <a:srgbClr val="404040"/>
                </a:solidFill>
                <a:effectLst/>
                <a:latin typeface="Times New Roman" panose="02020603050405020304" pitchFamily="18" charset="0"/>
                <a:ea typeface="Menlo"/>
                <a:cs typeface="Times New Roman" panose="02020603050405020304" pitchFamily="18" charset="0"/>
              </a:rPr>
              <a:t>Order</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a:t>
            </a:r>
            <a:r>
              <a:rPr kumimoji="0" lang="ja-JP" altLang="ja-JP" sz="2000" b="0" i="0" u="none" strike="noStrike" cap="none" normalizeH="0" baseline="0" dirty="0">
                <a:ln>
                  <a:noFill/>
                </a:ln>
                <a:solidFill>
                  <a:srgbClr val="404040"/>
                </a:solidFill>
                <a:effectLst/>
                <a:latin typeface="Times New Roman" panose="02020603050405020304" pitchFamily="18" charset="0"/>
                <a:ea typeface="Menlo"/>
                <a:cs typeface="Times New Roman" panose="02020603050405020304" pitchFamily="18" charset="0"/>
              </a:rPr>
              <a:t>Product</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 relationship.</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Validate Design Early</a:t>
            </a:r>
            <a:endPar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1"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Example</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 Wireframes showing how </a:t>
            </a:r>
            <a:r>
              <a:rPr kumimoji="0" lang="ja-JP" altLang="ja-JP" sz="2000" b="0" i="0" u="none" strike="noStrike" cap="none" normalizeH="0" baseline="0" dirty="0">
                <a:ln>
                  <a:noFill/>
                </a:ln>
                <a:solidFill>
                  <a:srgbClr val="404040"/>
                </a:solidFill>
                <a:effectLst/>
                <a:latin typeface="Times New Roman" panose="02020603050405020304" pitchFamily="18" charset="0"/>
                <a:ea typeface="Menlo"/>
                <a:cs typeface="Times New Roman" panose="02020603050405020304" pitchFamily="18" charset="0"/>
              </a:rPr>
              <a:t>Cart</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 and </a:t>
            </a:r>
            <a:r>
              <a:rPr kumimoji="0" lang="ja-JP" altLang="ja-JP" sz="2000" b="0" i="0" u="none" strike="noStrike" cap="none" normalizeH="0" baseline="0" dirty="0">
                <a:ln>
                  <a:noFill/>
                </a:ln>
                <a:solidFill>
                  <a:srgbClr val="404040"/>
                </a:solidFill>
                <a:effectLst/>
                <a:latin typeface="Times New Roman" panose="02020603050405020304" pitchFamily="18" charset="0"/>
                <a:ea typeface="Menlo"/>
                <a:cs typeface="Times New Roman" panose="02020603050405020304" pitchFamily="18" charset="0"/>
              </a:rPr>
              <a:t>Checkout</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 classes interact.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Bridge Client-Developer Gaps</a:t>
            </a:r>
            <a:endPar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1"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Example</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 A mock-up of a </a:t>
            </a:r>
            <a:r>
              <a:rPr kumimoji="0" lang="ja-JP" altLang="ja-JP" sz="2000" b="0" i="0" u="none" strike="noStrike" cap="none" normalizeH="0" baseline="0" dirty="0">
                <a:ln>
                  <a:noFill/>
                </a:ln>
                <a:solidFill>
                  <a:srgbClr val="404040"/>
                </a:solidFill>
                <a:effectLst/>
                <a:latin typeface="Times New Roman" panose="02020603050405020304" pitchFamily="18" charset="0"/>
                <a:ea typeface="Menlo"/>
                <a:cs typeface="Times New Roman" panose="02020603050405020304" pitchFamily="18" charset="0"/>
              </a:rPr>
              <a:t>Dashboard</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 class with widgets (client thinks "features", dev thinks "composition").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Tools</a:t>
            </a: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UML Diagrams (Class, Sequence)</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rgbClr val="404040"/>
                </a:solidFill>
                <a:effectLst/>
                <a:latin typeface="Times New Roman" panose="02020603050405020304" pitchFamily="18" charset="0"/>
                <a:ea typeface="quote-cjk-patch"/>
                <a:cs typeface="Times New Roman" panose="02020603050405020304" pitchFamily="18" charset="0"/>
              </a:rPr>
              <a:t>Wireframing tools (Figma, Balsamiq)</a:t>
            </a:r>
          </a:p>
        </p:txBody>
      </p:sp>
    </p:spTree>
    <p:extLst>
      <p:ext uri="{BB962C8B-B14F-4D97-AF65-F5344CB8AC3E}">
        <p14:creationId xmlns:p14="http://schemas.microsoft.com/office/powerpoint/2010/main" val="31597399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3" y="228600"/>
            <a:ext cx="9145385"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Conceptual Mock-ups illustrate in the Software Design process</a:t>
            </a:r>
          </a:p>
        </p:txBody>
      </p:sp>
      <p:sp>
        <p:nvSpPr>
          <p:cNvPr id="4" name="Subtitle 3"/>
          <p:cNvSpPr>
            <a:spLocks noGrp="1"/>
          </p:cNvSpPr>
          <p:nvPr>
            <p:ph type="subTitle" idx="1"/>
          </p:nvPr>
        </p:nvSpPr>
        <p:spPr>
          <a:xfrm>
            <a:off x="82445" y="1495014"/>
            <a:ext cx="8979108" cy="5105400"/>
          </a:xfrm>
        </p:spPr>
        <p:txBody>
          <a:bodyPr>
            <a:noAutofit/>
          </a:bodyPr>
          <a:lstStyle/>
          <a:p>
            <a:pPr marL="457200" indent="-4572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Conceptual mock-ups are </a:t>
            </a:r>
            <a:r>
              <a:rPr lang="en-US" altLang="ja-JP" sz="2000" b="1" dirty="0">
                <a:solidFill>
                  <a:schemeClr val="tx1"/>
                </a:solidFill>
                <a:latin typeface="Times New Roman" panose="02020603050405020304" pitchFamily="18" charset="0"/>
                <a:cs typeface="Times New Roman" panose="02020603050405020304" pitchFamily="18" charset="0"/>
              </a:rPr>
              <a:t>visual representations</a:t>
            </a:r>
            <a:r>
              <a:rPr lang="en-US" altLang="ja-JP" sz="2000" dirty="0">
                <a:solidFill>
                  <a:schemeClr val="tx1"/>
                </a:solidFill>
                <a:latin typeface="Times New Roman" panose="02020603050405020304" pitchFamily="18" charset="0"/>
                <a:cs typeface="Times New Roman" panose="02020603050405020304" pitchFamily="18" charset="0"/>
              </a:rPr>
              <a:t> of how the system will look and behave before implementation. They illustrate:</a:t>
            </a:r>
          </a:p>
          <a:p>
            <a:pPr algn="l">
              <a:buFont typeface="+mj-lt"/>
              <a:buAutoNum type="arabicPeriod"/>
            </a:pPr>
            <a:r>
              <a:rPr lang="en-US" altLang="ja-JP" sz="2000" b="1" dirty="0">
                <a:solidFill>
                  <a:schemeClr val="tx1"/>
                </a:solidFill>
                <a:latin typeface="Times New Roman" panose="02020603050405020304" pitchFamily="18" charset="0"/>
                <a:cs typeface="Times New Roman" panose="02020603050405020304" pitchFamily="18" charset="0"/>
              </a:rPr>
              <a:t>User Interface (UI) Flow</a:t>
            </a:r>
            <a:r>
              <a:rPr lang="en-US" altLang="ja-JP" sz="2000" dirty="0">
                <a:solidFill>
                  <a:schemeClr val="tx1"/>
                </a:solidFill>
                <a:latin typeface="Times New Roman" panose="02020603050405020304" pitchFamily="18" charset="0"/>
                <a:cs typeface="Times New Roman" panose="02020603050405020304" pitchFamily="18" charset="0"/>
              </a:rPr>
              <a:t> – how users navigate screens.</a:t>
            </a:r>
          </a:p>
          <a:p>
            <a:pPr algn="l">
              <a:buFont typeface="+mj-lt"/>
              <a:buAutoNum type="arabicPeriod"/>
            </a:pPr>
            <a:r>
              <a:rPr lang="en-US" altLang="ja-JP" sz="2000" b="1" dirty="0">
                <a:solidFill>
                  <a:schemeClr val="tx1"/>
                </a:solidFill>
                <a:latin typeface="Times New Roman" panose="02020603050405020304" pitchFamily="18" charset="0"/>
                <a:cs typeface="Times New Roman" panose="02020603050405020304" pitchFamily="18" charset="0"/>
              </a:rPr>
              <a:t>System Behavior</a:t>
            </a:r>
            <a:r>
              <a:rPr lang="en-US" altLang="ja-JP" sz="2000" dirty="0">
                <a:solidFill>
                  <a:schemeClr val="tx1"/>
                </a:solidFill>
                <a:latin typeface="Times New Roman" panose="02020603050405020304" pitchFamily="18" charset="0"/>
                <a:cs typeface="Times New Roman" panose="02020603050405020304" pitchFamily="18" charset="0"/>
              </a:rPr>
              <a:t> – expected actions when users interact with components.</a:t>
            </a:r>
          </a:p>
          <a:p>
            <a:pPr algn="l">
              <a:buFont typeface="+mj-lt"/>
              <a:buAutoNum type="arabicPeriod"/>
            </a:pPr>
            <a:r>
              <a:rPr lang="en-US" altLang="ja-JP" sz="2000" b="1" dirty="0">
                <a:solidFill>
                  <a:schemeClr val="tx1"/>
                </a:solidFill>
                <a:latin typeface="Times New Roman" panose="02020603050405020304" pitchFamily="18" charset="0"/>
                <a:cs typeface="Times New Roman" panose="02020603050405020304" pitchFamily="18" charset="0"/>
              </a:rPr>
              <a:t>Requirements Validation</a:t>
            </a:r>
            <a:r>
              <a:rPr lang="en-US" altLang="ja-JP" sz="2000" dirty="0">
                <a:solidFill>
                  <a:schemeClr val="tx1"/>
                </a:solidFill>
                <a:latin typeface="Times New Roman" panose="02020603050405020304" pitchFamily="18" charset="0"/>
                <a:cs typeface="Times New Roman" panose="02020603050405020304" pitchFamily="18" charset="0"/>
              </a:rPr>
              <a:t> – clients can confirm if the design matches their needs.</a:t>
            </a:r>
          </a:p>
          <a:p>
            <a:pPr algn="l">
              <a:buFont typeface="+mj-lt"/>
              <a:buAutoNum type="arabicPeriod"/>
            </a:pPr>
            <a:r>
              <a:rPr lang="en-US" altLang="ja-JP" sz="2000" b="1" dirty="0">
                <a:solidFill>
                  <a:schemeClr val="tx1"/>
                </a:solidFill>
                <a:latin typeface="Times New Roman" panose="02020603050405020304" pitchFamily="18" charset="0"/>
                <a:cs typeface="Times New Roman" panose="02020603050405020304" pitchFamily="18" charset="0"/>
              </a:rPr>
              <a:t>Communication Tool</a:t>
            </a:r>
            <a:r>
              <a:rPr lang="en-US" altLang="ja-JP" sz="2000" dirty="0">
                <a:solidFill>
                  <a:schemeClr val="tx1"/>
                </a:solidFill>
                <a:latin typeface="Times New Roman" panose="02020603050405020304" pitchFamily="18" charset="0"/>
                <a:cs typeface="Times New Roman" panose="02020603050405020304" pitchFamily="18" charset="0"/>
              </a:rPr>
              <a:t> – bridges the gap between designers, developers, and stakeholders.</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For example, a</a:t>
            </a:r>
            <a:r>
              <a:rPr lang="en-US" altLang="ja-JP" sz="2000" dirty="0">
                <a:solidFill>
                  <a:schemeClr val="tx1"/>
                </a:solidFill>
                <a:latin typeface="Times New Roman" panose="02020603050405020304" pitchFamily="18" charset="0"/>
                <a:cs typeface="Times New Roman" panose="02020603050405020304" pitchFamily="18" charset="0"/>
              </a:rPr>
              <a:t> conceptual mock-up of a </a:t>
            </a:r>
            <a:r>
              <a:rPr lang="en-US" altLang="ja-JP" sz="2000" b="1" dirty="0">
                <a:solidFill>
                  <a:schemeClr val="tx1"/>
                </a:solidFill>
                <a:latin typeface="Times New Roman" panose="02020603050405020304" pitchFamily="18" charset="0"/>
                <a:cs typeface="Times New Roman" panose="02020603050405020304" pitchFamily="18" charset="0"/>
              </a:rPr>
              <a:t>banking app</a:t>
            </a:r>
            <a:r>
              <a:rPr lang="en-US" altLang="ja-JP" sz="2000" dirty="0">
                <a:solidFill>
                  <a:schemeClr val="tx1"/>
                </a:solidFill>
                <a:latin typeface="Times New Roman" panose="02020603050405020304" pitchFamily="18" charset="0"/>
                <a:cs typeface="Times New Roman" panose="02020603050405020304" pitchFamily="18" charset="0"/>
              </a:rPr>
              <a:t> may show:</a:t>
            </a:r>
          </a:p>
          <a:p>
            <a:pPr marL="800100" lvl="1" indent="-342900" algn="l">
              <a:buFont typeface="Wingdings" panose="05000000000000000000" pitchFamily="2" charset="2"/>
              <a:buChar char="Ø"/>
            </a:pPr>
            <a:r>
              <a:rPr lang="en-US" altLang="ja-JP" sz="1600" dirty="0">
                <a:solidFill>
                  <a:schemeClr val="tx1"/>
                </a:solidFill>
                <a:latin typeface="Times New Roman" panose="02020603050405020304" pitchFamily="18" charset="0"/>
                <a:cs typeface="Times New Roman" panose="02020603050405020304" pitchFamily="18" charset="0"/>
              </a:rPr>
              <a:t>Login screen → Dashboard → Transfer Money form → Confirmation screen.</a:t>
            </a:r>
          </a:p>
          <a:p>
            <a:pPr marL="800100" lvl="1" indent="-342900" algn="l">
              <a:buFont typeface="Wingdings" panose="05000000000000000000" pitchFamily="2" charset="2"/>
              <a:buChar char="Ø"/>
            </a:pPr>
            <a:r>
              <a:rPr lang="en-US" altLang="ja-JP" sz="1600" dirty="0">
                <a:solidFill>
                  <a:schemeClr val="tx1"/>
                </a:solidFill>
                <a:latin typeface="Times New Roman" panose="02020603050405020304" pitchFamily="18" charset="0"/>
                <a:cs typeface="Times New Roman" panose="02020603050405020304" pitchFamily="18" charset="0"/>
              </a:rPr>
              <a:t>This allows the client to approve the design before coding begins.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Conceptual mock-ups illustrate the </a:t>
            </a:r>
            <a:r>
              <a:rPr lang="en-US" altLang="ja-JP" sz="2000" b="1" dirty="0">
                <a:solidFill>
                  <a:schemeClr val="tx1"/>
                </a:solidFill>
                <a:latin typeface="Times New Roman" panose="02020603050405020304" pitchFamily="18" charset="0"/>
                <a:cs typeface="Times New Roman" panose="02020603050405020304" pitchFamily="18" charset="0"/>
              </a:rPr>
              <a:t>look-and-feel, functionality, and usability</a:t>
            </a:r>
            <a:r>
              <a:rPr lang="en-US" altLang="ja-JP" sz="2000" dirty="0">
                <a:solidFill>
                  <a:schemeClr val="tx1"/>
                </a:solidFill>
                <a:latin typeface="Times New Roman" panose="02020603050405020304" pitchFamily="18" charset="0"/>
                <a:cs typeface="Times New Roman" panose="02020603050405020304" pitchFamily="18" charset="0"/>
              </a:rPr>
              <a:t> of the software, reducing misunderstandings between clients and developers.</a:t>
            </a:r>
          </a:p>
          <a:p>
            <a:pPr marL="457200" indent="-457200" algn="l">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48</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734014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52398" y="1319702"/>
            <a:ext cx="8991601" cy="5309698"/>
          </a:xfrm>
        </p:spPr>
        <p:txBody>
          <a:bodyPr>
            <a:noAutofit/>
          </a:bodyPr>
          <a:lstStyle/>
          <a:p>
            <a:pPr algn="l"/>
            <a:r>
              <a:rPr lang="en-US" altLang="ja-JP" sz="2000" b="1" dirty="0">
                <a:solidFill>
                  <a:srgbClr val="FF0000"/>
                </a:solidFill>
                <a:latin typeface="Times New Roman" panose="02020603050405020304" pitchFamily="18" charset="0"/>
                <a:cs typeface="Times New Roman" panose="02020603050405020304" pitchFamily="18" charset="0"/>
              </a:rPr>
              <a:t>Key Concept: </a:t>
            </a:r>
            <a:r>
              <a:rPr lang="en-US" altLang="ja-JP" sz="2000" dirty="0">
                <a:solidFill>
                  <a:schemeClr val="tx1"/>
                </a:solidFill>
                <a:latin typeface="Times New Roman" panose="02020603050405020304" pitchFamily="18" charset="0"/>
                <a:cs typeface="Times New Roman" panose="02020603050405020304" pitchFamily="18" charset="0"/>
              </a:rPr>
              <a:t>Low-level implementation plans (algorithms, data structures).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Builds on conceptual design to define the technical details of the solution.</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Conceptual design = outlines major components, connections, and responsibilities.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Technical design = explains how responsibilities are implemented.</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Components are refined into smaller, detailed parts until each has clear technical specifications.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Technical diagrams are used to:</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Visualize structure and behavior of components.</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Capture details not shown in conceptual mock-ups.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Example:</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Kitchen = a component of a house.</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Technical design refines it further (e.g., flooring material must be easy to clean if cooking is frequent).</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49</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Title 1">
            <a:extLst>
              <a:ext uri="{FF2B5EF4-FFF2-40B4-BE49-F238E27FC236}">
                <a16:creationId xmlns:a16="http://schemas.microsoft.com/office/drawing/2014/main" id="{403BA081-D162-DE2E-A02C-542E64B9D1CF}"/>
              </a:ext>
            </a:extLst>
          </p:cNvPr>
          <p:cNvSpPr txBox="1">
            <a:spLocks/>
          </p:cNvSpPr>
          <p:nvPr/>
        </p:nvSpPr>
        <p:spPr>
          <a:xfrm>
            <a:off x="-693" y="228600"/>
            <a:ext cx="9145385" cy="99060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latin typeface="Times New Roman" pitchFamily="18" charset="0"/>
                <a:cs typeface="Times New Roman" pitchFamily="18" charset="0"/>
              </a:rPr>
              <a:t>OOAD </a:t>
            </a:r>
            <a:r>
              <a:rPr lang="en-US" altLang="ja-JP" sz="3600" b="1" dirty="0">
                <a:latin typeface="Times New Roman" pitchFamily="18" charset="0"/>
                <a:cs typeface="Times New Roman" pitchFamily="18" charset="0"/>
              </a:rPr>
              <a:t>Main Activities </a:t>
            </a:r>
            <a:r>
              <a:rPr lang="en-US" sz="3600" b="1" dirty="0">
                <a:latin typeface="Times New Roman" pitchFamily="18" charset="0"/>
                <a:cs typeface="Times New Roman" pitchFamily="18" charset="0"/>
              </a:rPr>
              <a:t>: </a:t>
            </a:r>
            <a:r>
              <a:rPr lang="en-US" altLang="ja-JP" sz="3600" b="1" dirty="0">
                <a:solidFill>
                  <a:srgbClr val="00B050"/>
                </a:solidFill>
                <a:latin typeface="Times New Roman" panose="02020603050405020304" pitchFamily="18" charset="0"/>
                <a:cs typeface="Times New Roman" panose="02020603050405020304" pitchFamily="18" charset="0"/>
              </a:rPr>
              <a:t>2.Technical Design</a:t>
            </a:r>
            <a:br>
              <a:rPr lang="en-US" altLang="ja-JP" sz="3600" b="1" dirty="0">
                <a:solidFill>
                  <a:srgbClr val="00B050"/>
                </a:solidFill>
                <a:latin typeface="Times New Roman" panose="02020603050405020304" pitchFamily="18" charset="0"/>
                <a:cs typeface="Times New Roman" panose="02020603050405020304" pitchFamily="18" charset="0"/>
              </a:rPr>
            </a:br>
            <a:endParaRPr lang="en-US" sz="3600" b="1" dirty="0">
              <a:latin typeface="Times New Roman" pitchFamily="18" charset="0"/>
              <a:cs typeface="Times New Roman" pitchFamily="18" charset="0"/>
            </a:endParaRPr>
          </a:p>
        </p:txBody>
      </p:sp>
    </p:spTree>
    <p:extLst>
      <p:ext uri="{BB962C8B-B14F-4D97-AF65-F5344CB8AC3E}">
        <p14:creationId xmlns:p14="http://schemas.microsoft.com/office/powerpoint/2010/main" val="14491024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52399" y="1319702"/>
            <a:ext cx="8839200" cy="3657600"/>
          </a:xfrm>
        </p:spPr>
        <p:txBody>
          <a:bodyPr>
            <a:noAutofit/>
          </a:bodyPr>
          <a:lstStyle/>
          <a:p>
            <a:pPr algn="l"/>
            <a:r>
              <a:rPr lang="en-US" altLang="ja-JP" sz="2400" b="1" dirty="0">
                <a:solidFill>
                  <a:srgbClr val="FF0000"/>
                </a:solidFill>
                <a:latin typeface="Times New Roman" panose="02020603050405020304" pitchFamily="18" charset="0"/>
                <a:cs typeface="Times New Roman" panose="02020603050405020304" pitchFamily="18" charset="0"/>
              </a:rPr>
              <a:t>Key Concept: </a:t>
            </a:r>
            <a:r>
              <a:rPr lang="en-US" altLang="ja-JP" sz="2400" dirty="0">
                <a:solidFill>
                  <a:schemeClr val="tx1"/>
                </a:solidFill>
                <a:latin typeface="Times New Roman" panose="02020603050405020304" pitchFamily="18" charset="0"/>
                <a:cs typeface="Times New Roman" panose="02020603050405020304" pitchFamily="18" charset="0"/>
              </a:rPr>
              <a:t>Low-level implementation plans (algorithms, data structures).</a:t>
            </a:r>
          </a:p>
          <a:p>
            <a:pPr algn="l"/>
            <a:r>
              <a:rPr lang="en-US" sz="2400" b="1" dirty="0">
                <a:solidFill>
                  <a:srgbClr val="FF0000"/>
                </a:solidFill>
                <a:latin typeface="Times New Roman" panose="02020603050405020304" pitchFamily="18" charset="0"/>
                <a:cs typeface="Times New Roman" panose="02020603050405020304" pitchFamily="18" charset="0"/>
              </a:rPr>
              <a:t>DUMS Example:</a:t>
            </a:r>
          </a:p>
          <a:p>
            <a:pPr marL="342900" indent="-34290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Algorithms:</a:t>
            </a:r>
          </a:p>
          <a:p>
            <a:pPr marL="628650" lvl="1" indent="-17145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Housing allocation uses a priority queue (income-based ranking).</a:t>
            </a:r>
          </a:p>
          <a:p>
            <a:pPr marL="628650" lvl="1" indent="-17145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Traffic control uses Dijkstra’s algorithm for emergency vehicle routing</a:t>
            </a:r>
            <a:r>
              <a:rPr lang="en-US" sz="1200" dirty="0">
                <a:solidFill>
                  <a:schemeClr val="tx1"/>
                </a:solidFill>
                <a:latin typeface="Times New Roman" panose="02020603050405020304" pitchFamily="18" charset="0"/>
                <a:cs typeface="Times New Roman" panose="02020603050405020304" pitchFamily="18" charset="0"/>
              </a:rPr>
              <a:t>.</a:t>
            </a:r>
          </a:p>
          <a:p>
            <a:pPr marL="285750" indent="-285750" algn="l">
              <a:buFont typeface="Wingdings" panose="05000000000000000000" pitchFamily="2" charset="2"/>
              <a:buChar char="ü"/>
            </a:pPr>
            <a:r>
              <a:rPr lang="en-US" sz="2400" b="1" dirty="0">
                <a:solidFill>
                  <a:srgbClr val="00B050"/>
                </a:solidFill>
                <a:latin typeface="Times New Roman" panose="02020603050405020304" pitchFamily="18" charset="0"/>
                <a:cs typeface="Times New Roman" panose="02020603050405020304" pitchFamily="18" charset="0"/>
              </a:rPr>
              <a:t>Database Schema:</a:t>
            </a:r>
          </a:p>
          <a:p>
            <a:pPr marL="628650" lvl="1" indent="-171450" algn="l">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Applicants table with fields: income, </a:t>
            </a:r>
            <a:r>
              <a:rPr lang="en-US" sz="2000" dirty="0" err="1">
                <a:solidFill>
                  <a:schemeClr val="tx1"/>
                </a:solidFill>
                <a:latin typeface="Times New Roman" panose="02020603050405020304" pitchFamily="18" charset="0"/>
                <a:cs typeface="Times New Roman" panose="02020603050405020304" pitchFamily="18" charset="0"/>
              </a:rPr>
              <a:t>family_size</a:t>
            </a:r>
            <a:r>
              <a:rPr lang="en-US" sz="2000" dirty="0">
                <a:solidFill>
                  <a:schemeClr val="tx1"/>
                </a:solidFill>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50</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Title 1">
            <a:extLst>
              <a:ext uri="{FF2B5EF4-FFF2-40B4-BE49-F238E27FC236}">
                <a16:creationId xmlns:a16="http://schemas.microsoft.com/office/drawing/2014/main" id="{403BA081-D162-DE2E-A02C-542E64B9D1CF}"/>
              </a:ext>
            </a:extLst>
          </p:cNvPr>
          <p:cNvSpPr txBox="1">
            <a:spLocks/>
          </p:cNvSpPr>
          <p:nvPr/>
        </p:nvSpPr>
        <p:spPr>
          <a:xfrm>
            <a:off x="-693" y="228600"/>
            <a:ext cx="9145385" cy="99060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latin typeface="Times New Roman" pitchFamily="18" charset="0"/>
                <a:cs typeface="Times New Roman" pitchFamily="18" charset="0"/>
              </a:rPr>
              <a:t>OOAD </a:t>
            </a:r>
            <a:r>
              <a:rPr lang="en-US" altLang="ja-JP" sz="3600" b="1" dirty="0">
                <a:latin typeface="Times New Roman" pitchFamily="18" charset="0"/>
                <a:cs typeface="Times New Roman" pitchFamily="18" charset="0"/>
              </a:rPr>
              <a:t>Main Activities </a:t>
            </a:r>
            <a:r>
              <a:rPr lang="en-US" sz="3600" b="1" dirty="0">
                <a:latin typeface="Times New Roman" pitchFamily="18" charset="0"/>
                <a:cs typeface="Times New Roman" pitchFamily="18" charset="0"/>
              </a:rPr>
              <a:t>: </a:t>
            </a:r>
            <a:r>
              <a:rPr lang="en-US" altLang="ja-JP" sz="3600" b="1" dirty="0">
                <a:solidFill>
                  <a:srgbClr val="00B050"/>
                </a:solidFill>
                <a:latin typeface="Times New Roman" panose="02020603050405020304" pitchFamily="18" charset="0"/>
                <a:cs typeface="Times New Roman" panose="02020603050405020304" pitchFamily="18" charset="0"/>
              </a:rPr>
              <a:t>2.Technical Design</a:t>
            </a:r>
            <a:br>
              <a:rPr lang="en-US" altLang="ja-JP" sz="3600" b="1" dirty="0">
                <a:solidFill>
                  <a:srgbClr val="00B050"/>
                </a:solidFill>
                <a:latin typeface="Times New Roman" panose="02020603050405020304" pitchFamily="18" charset="0"/>
                <a:cs typeface="Times New Roman" panose="02020603050405020304" pitchFamily="18" charset="0"/>
              </a:rPr>
            </a:br>
            <a:endParaRPr lang="en-US" sz="3600" b="1" dirty="0">
              <a:latin typeface="Times New Roman" pitchFamily="18" charset="0"/>
              <a:cs typeface="Times New Roman" pitchFamily="18" charset="0"/>
            </a:endParaRPr>
          </a:p>
        </p:txBody>
      </p:sp>
    </p:spTree>
    <p:extLst>
      <p:ext uri="{BB962C8B-B14F-4D97-AF65-F5344CB8AC3E}">
        <p14:creationId xmlns:p14="http://schemas.microsoft.com/office/powerpoint/2010/main" val="444219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51</a:t>
            </a:fld>
            <a:endParaRPr lang="en-US" dirty="0">
              <a:solidFill>
                <a:schemeClr val="tx1"/>
              </a:solidFill>
            </a:endParaRPr>
          </a:p>
        </p:txBody>
      </p:sp>
      <p:sp>
        <p:nvSpPr>
          <p:cNvPr id="5" name="Title 1">
            <a:extLst>
              <a:ext uri="{FF2B5EF4-FFF2-40B4-BE49-F238E27FC236}">
                <a16:creationId xmlns:a16="http://schemas.microsoft.com/office/drawing/2014/main" id="{403BA081-D162-DE2E-A02C-542E64B9D1CF}"/>
              </a:ext>
            </a:extLst>
          </p:cNvPr>
          <p:cNvSpPr txBox="1">
            <a:spLocks/>
          </p:cNvSpPr>
          <p:nvPr/>
        </p:nvSpPr>
        <p:spPr>
          <a:xfrm>
            <a:off x="0" y="0"/>
            <a:ext cx="9145385" cy="99060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latin typeface="Times New Roman" pitchFamily="18" charset="0"/>
                <a:cs typeface="Times New Roman" pitchFamily="18" charset="0"/>
              </a:rPr>
              <a:t>OOAD </a:t>
            </a:r>
            <a:r>
              <a:rPr lang="en-US" altLang="ja-JP" sz="3600" b="1" dirty="0">
                <a:latin typeface="Times New Roman" pitchFamily="18" charset="0"/>
                <a:cs typeface="Times New Roman" pitchFamily="18" charset="0"/>
              </a:rPr>
              <a:t>Main Activities </a:t>
            </a:r>
            <a:r>
              <a:rPr lang="en-US" sz="3600" b="1" dirty="0">
                <a:latin typeface="Times New Roman" pitchFamily="18" charset="0"/>
                <a:cs typeface="Times New Roman" pitchFamily="18" charset="0"/>
              </a:rPr>
              <a:t>: </a:t>
            </a:r>
            <a:r>
              <a:rPr lang="en-US" altLang="ja-JP" sz="3600" b="1" dirty="0">
                <a:solidFill>
                  <a:srgbClr val="00B050"/>
                </a:solidFill>
                <a:latin typeface="Times New Roman" panose="02020603050405020304" pitchFamily="18" charset="0"/>
                <a:cs typeface="Times New Roman" panose="02020603050405020304" pitchFamily="18" charset="0"/>
              </a:rPr>
              <a:t>2.Technical Design</a:t>
            </a:r>
            <a:endParaRPr lang="en-US" sz="3600" b="1" dirty="0">
              <a:latin typeface="Times New Roman" pitchFamily="18" charset="0"/>
              <a:cs typeface="Times New Roman" pitchFamily="18" charset="0"/>
            </a:endParaRPr>
          </a:p>
        </p:txBody>
      </p:sp>
      <p:graphicFrame>
        <p:nvGraphicFramePr>
          <p:cNvPr id="9" name="Table 8">
            <a:extLst>
              <a:ext uri="{FF2B5EF4-FFF2-40B4-BE49-F238E27FC236}">
                <a16:creationId xmlns:a16="http://schemas.microsoft.com/office/drawing/2014/main" id="{65B42452-66EC-BC2B-AD7E-767913B8798A}"/>
              </a:ext>
            </a:extLst>
          </p:cNvPr>
          <p:cNvGraphicFramePr>
            <a:graphicFrameLocks noGrp="1"/>
          </p:cNvGraphicFramePr>
          <p:nvPr>
            <p:extLst>
              <p:ext uri="{D42A27DB-BD31-4B8C-83A1-F6EECF244321}">
                <p14:modId xmlns:p14="http://schemas.microsoft.com/office/powerpoint/2010/main" val="907378211"/>
              </p:ext>
            </p:extLst>
          </p:nvPr>
        </p:nvGraphicFramePr>
        <p:xfrm>
          <a:off x="522855" y="937600"/>
          <a:ext cx="8598108" cy="5920400"/>
        </p:xfrm>
        <a:graphic>
          <a:graphicData uri="http://schemas.openxmlformats.org/drawingml/2006/table">
            <a:tbl>
              <a:tblPr/>
              <a:tblGrid>
                <a:gridCol w="1752600">
                  <a:extLst>
                    <a:ext uri="{9D8B030D-6E8A-4147-A177-3AD203B41FA5}">
                      <a16:colId xmlns:a16="http://schemas.microsoft.com/office/drawing/2014/main" val="2183496349"/>
                    </a:ext>
                  </a:extLst>
                </a:gridCol>
                <a:gridCol w="3505200">
                  <a:extLst>
                    <a:ext uri="{9D8B030D-6E8A-4147-A177-3AD203B41FA5}">
                      <a16:colId xmlns:a16="http://schemas.microsoft.com/office/drawing/2014/main" val="844512083"/>
                    </a:ext>
                  </a:extLst>
                </a:gridCol>
                <a:gridCol w="3340308">
                  <a:extLst>
                    <a:ext uri="{9D8B030D-6E8A-4147-A177-3AD203B41FA5}">
                      <a16:colId xmlns:a16="http://schemas.microsoft.com/office/drawing/2014/main" val="3586334393"/>
                    </a:ext>
                  </a:extLst>
                </a:gridCol>
              </a:tblGrid>
              <a:tr h="256349">
                <a:tc>
                  <a:txBody>
                    <a:bodyPr/>
                    <a:lstStyle/>
                    <a:p>
                      <a:r>
                        <a:rPr lang="en-US" sz="2000" b="1" dirty="0">
                          <a:latin typeface="Times New Roman" panose="02020603050405020304" pitchFamily="18" charset="0"/>
                          <a:cs typeface="Times New Roman" panose="02020603050405020304" pitchFamily="18" charset="0"/>
                        </a:rPr>
                        <a:t>Aspect</a:t>
                      </a:r>
                      <a:endParaRPr lang="en-US" sz="2000" dirty="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b="1" dirty="0">
                          <a:latin typeface="Times New Roman" panose="02020603050405020304" pitchFamily="18" charset="0"/>
                          <a:cs typeface="Times New Roman" panose="02020603050405020304" pitchFamily="18" charset="0"/>
                        </a:rPr>
                        <a:t>Conceptual Design</a:t>
                      </a:r>
                      <a:endParaRPr lang="en-US" sz="2000" dirty="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b="1" dirty="0">
                          <a:latin typeface="Times New Roman" panose="02020603050405020304" pitchFamily="18" charset="0"/>
                          <a:cs typeface="Times New Roman" panose="02020603050405020304" pitchFamily="18" charset="0"/>
                        </a:rPr>
                        <a:t>Technical Design</a:t>
                      </a:r>
                      <a:endParaRPr lang="en-US" sz="2000" dirty="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extLst>
                  <a:ext uri="{0D108BD9-81ED-4DB2-BD59-A6C34878D82A}">
                    <a16:rowId xmlns:a16="http://schemas.microsoft.com/office/drawing/2014/main" val="616189605"/>
                  </a:ext>
                </a:extLst>
              </a:tr>
              <a:tr h="833133">
                <a:tc>
                  <a:txBody>
                    <a:bodyPr/>
                    <a:lstStyle/>
                    <a:p>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Defines </a:t>
                      </a:r>
                      <a:r>
                        <a:rPr lang="en-US" sz="2000" i="1" dirty="0">
                          <a:latin typeface="Times New Roman" panose="02020603050405020304" pitchFamily="18" charset="0"/>
                          <a:cs typeface="Times New Roman" panose="02020603050405020304" pitchFamily="18" charset="0"/>
                        </a:rPr>
                        <a:t>what</a:t>
                      </a:r>
                      <a:r>
                        <a:rPr lang="en-US" sz="2000" dirty="0">
                          <a:latin typeface="Times New Roman" panose="02020603050405020304" pitchFamily="18" charset="0"/>
                          <a:cs typeface="Times New Roman" panose="02020603050405020304" pitchFamily="18" charset="0"/>
                        </a:rPr>
                        <a:t> the system should do (major components and their responsibilities).</a:t>
                      </a:r>
                    </a:p>
                  </a:txBody>
                  <a:tcPr marL="61999" marR="61999" marT="31000" marB="31000"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Defines </a:t>
                      </a:r>
                      <a:r>
                        <a:rPr lang="en-US" sz="2000" i="1">
                          <a:latin typeface="Times New Roman" panose="02020603050405020304" pitchFamily="18" charset="0"/>
                          <a:cs typeface="Times New Roman" panose="02020603050405020304" pitchFamily="18" charset="0"/>
                        </a:rPr>
                        <a:t>how</a:t>
                      </a:r>
                      <a:r>
                        <a:rPr lang="en-US" sz="2000">
                          <a:latin typeface="Times New Roman" panose="02020603050405020304" pitchFamily="18" charset="0"/>
                          <a:cs typeface="Times New Roman" panose="02020603050405020304" pitchFamily="18" charset="0"/>
                        </a:rPr>
                        <a:t> the system will work (detailed implementation of each component).</a:t>
                      </a:r>
                    </a:p>
                  </a:txBody>
                  <a:tcPr marL="61999" marR="61999" marT="31000" marB="31000" anchor="ctr">
                    <a:lnL>
                      <a:noFill/>
                    </a:lnL>
                    <a:lnR>
                      <a:noFill/>
                    </a:lnR>
                    <a:lnT>
                      <a:noFill/>
                    </a:lnT>
                    <a:lnB>
                      <a:noFill/>
                    </a:lnB>
                    <a:noFill/>
                  </a:tcPr>
                </a:tc>
                <a:extLst>
                  <a:ext uri="{0D108BD9-81ED-4DB2-BD59-A6C34878D82A}">
                    <a16:rowId xmlns:a16="http://schemas.microsoft.com/office/drawing/2014/main" val="4180123955"/>
                  </a:ext>
                </a:extLst>
              </a:tr>
              <a:tr h="640872">
                <a:tc>
                  <a:txBody>
                    <a:bodyPr/>
                    <a:lstStyle/>
                    <a:p>
                      <a:r>
                        <a:rPr lang="en-US" sz="2000" b="1" dirty="0">
                          <a:latin typeface="Times New Roman" panose="02020603050405020304" pitchFamily="18" charset="0"/>
                          <a:cs typeface="Times New Roman" panose="02020603050405020304" pitchFamily="18" charset="0"/>
                        </a:rPr>
                        <a:t>Detail Level</a:t>
                      </a:r>
                      <a:endParaRPr lang="en-US" sz="2000" dirty="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High-level overview, not very specific.</a:t>
                      </a: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Low-level detail, refined until every part is well-defined.</a:t>
                      </a:r>
                    </a:p>
                  </a:txBody>
                  <a:tcPr marL="61999" marR="61999" marT="31000" marB="31000" anchor="ctr">
                    <a:lnL>
                      <a:noFill/>
                    </a:lnL>
                    <a:lnR>
                      <a:noFill/>
                    </a:lnR>
                    <a:lnT>
                      <a:noFill/>
                    </a:lnT>
                    <a:lnB>
                      <a:noFill/>
                    </a:lnB>
                    <a:noFill/>
                  </a:tcPr>
                </a:tc>
                <a:extLst>
                  <a:ext uri="{0D108BD9-81ED-4DB2-BD59-A6C34878D82A}">
                    <a16:rowId xmlns:a16="http://schemas.microsoft.com/office/drawing/2014/main" val="1659542768"/>
                  </a:ext>
                </a:extLst>
              </a:tr>
              <a:tr h="640872">
                <a:tc>
                  <a:txBody>
                    <a:bodyPr/>
                    <a:lstStyle/>
                    <a:p>
                      <a:r>
                        <a:rPr lang="en-US" sz="2000" b="1" dirty="0">
                          <a:latin typeface="Times New Roman" panose="02020603050405020304" pitchFamily="18" charset="0"/>
                          <a:cs typeface="Times New Roman" panose="02020603050405020304" pitchFamily="18" charset="0"/>
                        </a:rPr>
                        <a:t>Focus</a:t>
                      </a:r>
                      <a:endParaRPr lang="en-US" sz="2000" dirty="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Identifies major components and their interactions.</a:t>
                      </a: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Specifies internal structure, materials, methods, and technical details.</a:t>
                      </a:r>
                    </a:p>
                  </a:txBody>
                  <a:tcPr marL="61999" marR="61999" marT="31000" marB="31000" anchor="ctr">
                    <a:lnL>
                      <a:noFill/>
                    </a:lnL>
                    <a:lnR>
                      <a:noFill/>
                    </a:lnR>
                    <a:lnT>
                      <a:noFill/>
                    </a:lnT>
                    <a:lnB>
                      <a:noFill/>
                    </a:lnB>
                    <a:noFill/>
                  </a:tcPr>
                </a:tc>
                <a:extLst>
                  <a:ext uri="{0D108BD9-81ED-4DB2-BD59-A6C34878D82A}">
                    <a16:rowId xmlns:a16="http://schemas.microsoft.com/office/drawing/2014/main" val="907294097"/>
                  </a:ext>
                </a:extLst>
              </a:tr>
              <a:tr h="640872">
                <a:tc>
                  <a:txBody>
                    <a:bodyPr/>
                    <a:lstStyle/>
                    <a:p>
                      <a:r>
                        <a:rPr lang="en-US" sz="2000" b="1">
                          <a:latin typeface="Times New Roman" panose="02020603050405020304" pitchFamily="18" charset="0"/>
                          <a:cs typeface="Times New Roman" panose="02020603050405020304" pitchFamily="18" charset="0"/>
                        </a:rPr>
                        <a:t>Tools</a:t>
                      </a:r>
                      <a:endParaRPr lang="en-US" sz="200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Mock-ups, conceptual diagrams.</a:t>
                      </a:r>
                    </a:p>
                  </a:txBody>
                  <a:tcPr marL="61999" marR="61999" marT="31000" marB="31000"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Technical diagrams (UML, architecture diagrams, flowcharts, etc.).</a:t>
                      </a:r>
                    </a:p>
                  </a:txBody>
                  <a:tcPr marL="61999" marR="61999" marT="31000" marB="31000" anchor="ctr">
                    <a:lnL>
                      <a:noFill/>
                    </a:lnL>
                    <a:lnR>
                      <a:noFill/>
                    </a:lnR>
                    <a:lnT>
                      <a:noFill/>
                    </a:lnT>
                    <a:lnB>
                      <a:noFill/>
                    </a:lnB>
                    <a:noFill/>
                  </a:tcPr>
                </a:tc>
                <a:extLst>
                  <a:ext uri="{0D108BD9-81ED-4DB2-BD59-A6C34878D82A}">
                    <a16:rowId xmlns:a16="http://schemas.microsoft.com/office/drawing/2014/main" val="3948887059"/>
                  </a:ext>
                </a:extLst>
              </a:tr>
              <a:tr h="833133">
                <a:tc>
                  <a:txBody>
                    <a:bodyPr/>
                    <a:lstStyle/>
                    <a:p>
                      <a:r>
                        <a:rPr lang="en-US" sz="2000" b="1">
                          <a:latin typeface="Times New Roman" panose="02020603050405020304" pitchFamily="18" charset="0"/>
                          <a:cs typeface="Times New Roman" panose="02020603050405020304" pitchFamily="18" charset="0"/>
                        </a:rPr>
                        <a:t>House Example</a:t>
                      </a:r>
                      <a:endParaRPr lang="en-US" sz="200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Kitchen is a component of the house.</a:t>
                      </a: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Kitchen requires flooring; flooring must be easy to clean for frequent cooking use.</a:t>
                      </a:r>
                    </a:p>
                  </a:txBody>
                  <a:tcPr marL="61999" marR="61999" marT="31000" marB="31000" anchor="ctr">
                    <a:lnL>
                      <a:noFill/>
                    </a:lnL>
                    <a:lnR>
                      <a:noFill/>
                    </a:lnR>
                    <a:lnT>
                      <a:noFill/>
                    </a:lnT>
                    <a:lnB>
                      <a:noFill/>
                    </a:lnB>
                    <a:noFill/>
                  </a:tcPr>
                </a:tc>
                <a:extLst>
                  <a:ext uri="{0D108BD9-81ED-4DB2-BD59-A6C34878D82A}">
                    <a16:rowId xmlns:a16="http://schemas.microsoft.com/office/drawing/2014/main" val="1985628551"/>
                  </a:ext>
                </a:extLst>
              </a:tr>
              <a:tr h="833133">
                <a:tc>
                  <a:txBody>
                    <a:bodyPr/>
                    <a:lstStyle/>
                    <a:p>
                      <a:r>
                        <a:rPr lang="en-US" sz="2000" b="1">
                          <a:latin typeface="Times New Roman" panose="02020603050405020304" pitchFamily="18" charset="0"/>
                          <a:cs typeface="Times New Roman" panose="02020603050405020304" pitchFamily="18" charset="0"/>
                        </a:rPr>
                        <a:t>Software Example</a:t>
                      </a:r>
                      <a:endParaRPr lang="en-US" sz="2000">
                        <a:latin typeface="Times New Roman" panose="02020603050405020304" pitchFamily="18" charset="0"/>
                        <a:cs typeface="Times New Roman" panose="02020603050405020304" pitchFamily="18" charset="0"/>
                      </a:endParaRPr>
                    </a:p>
                  </a:txBody>
                  <a:tcPr marL="61999" marR="61999" marT="31000" marB="31000"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User Management Module exists in the system.</a:t>
                      </a:r>
                    </a:p>
                  </a:txBody>
                  <a:tcPr marL="61999" marR="61999" marT="31000" marB="31000"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User Management Module requires login with encryption, password reset via email.</a:t>
                      </a:r>
                    </a:p>
                  </a:txBody>
                  <a:tcPr marL="61999" marR="61999" marT="31000" marB="31000" anchor="ctr">
                    <a:lnL>
                      <a:noFill/>
                    </a:lnL>
                    <a:lnR>
                      <a:noFill/>
                    </a:lnR>
                    <a:lnT>
                      <a:noFill/>
                    </a:lnT>
                    <a:lnB>
                      <a:noFill/>
                    </a:lnB>
                    <a:noFill/>
                  </a:tcPr>
                </a:tc>
                <a:extLst>
                  <a:ext uri="{0D108BD9-81ED-4DB2-BD59-A6C34878D82A}">
                    <a16:rowId xmlns:a16="http://schemas.microsoft.com/office/drawing/2014/main" val="2719648212"/>
                  </a:ext>
                </a:extLst>
              </a:tr>
            </a:tbl>
          </a:graphicData>
        </a:graphic>
      </p:graphicFrame>
    </p:spTree>
    <p:extLst>
      <p:ext uri="{BB962C8B-B14F-4D97-AF65-F5344CB8AC3E}">
        <p14:creationId xmlns:p14="http://schemas.microsoft.com/office/powerpoint/2010/main" val="29553617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Compromise in Requirements and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52</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Rectangle 2">
            <a:extLst>
              <a:ext uri="{FF2B5EF4-FFF2-40B4-BE49-F238E27FC236}">
                <a16:creationId xmlns:a16="http://schemas.microsoft.com/office/drawing/2014/main" id="{D6ACDD14-A66B-388F-76CF-D377FA450F97}"/>
              </a:ext>
            </a:extLst>
          </p:cNvPr>
          <p:cNvSpPr>
            <a:spLocks noGrp="1" noChangeArrowheads="1"/>
          </p:cNvSpPr>
          <p:nvPr>
            <p:ph type="subTitle" idx="1"/>
          </p:nvPr>
        </p:nvSpPr>
        <p:spPr bwMode="auto">
          <a:xfrm>
            <a:off x="69954" y="858243"/>
            <a:ext cx="8991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Compromises may be needed</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create an acceptable solution.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and feedback</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the client are essential.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Client wants an open kitchen, but structural support (post/beam) </a:t>
            </a:r>
            <a:endParaRPr kumimoji="0" lang="en-US"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may require adjustment → compromise needed.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Designs may need rework</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Conceptual design cannot be achieved in technical design.</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Requirements are not fully met.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validation is critical</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Easier to revise during planning than after coding starts.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systems</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more design time, more components, more refinements.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agreed design</a:t>
            </a:r>
            <a:r>
              <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technical diagrams form the blueprint for construction/implementation.</a:t>
            </a:r>
          </a:p>
        </p:txBody>
      </p:sp>
    </p:spTree>
    <p:extLst>
      <p:ext uri="{BB962C8B-B14F-4D97-AF65-F5344CB8AC3E}">
        <p14:creationId xmlns:p14="http://schemas.microsoft.com/office/powerpoint/2010/main" val="25134799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Design for Quality Attributes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53</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Rectangle 2">
            <a:extLst>
              <a:ext uri="{FF2B5EF4-FFF2-40B4-BE49-F238E27FC236}">
                <a16:creationId xmlns:a16="http://schemas.microsoft.com/office/drawing/2014/main" id="{F0FEF651-AE3F-2813-CCCD-1CB03D04926A}"/>
              </a:ext>
            </a:extLst>
          </p:cNvPr>
          <p:cNvSpPr>
            <a:spLocks noGrp="1" noChangeArrowheads="1"/>
          </p:cNvSpPr>
          <p:nvPr>
            <p:ph type="subTitle" idx="1"/>
          </p:nvPr>
        </p:nvSpPr>
        <p:spPr bwMode="auto">
          <a:xfrm>
            <a:off x="-13877" y="810539"/>
            <a:ext cx="9145385" cy="6093976"/>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285750" lvl="0" indent="-285750" algn="l" eaLnBrk="0" fontAlgn="base" hangingPunct="0">
              <a:spcBef>
                <a:spcPct val="0"/>
              </a:spcBef>
              <a:spcAft>
                <a:spcPts val="60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Broader view in design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r>
              <a:rPr lang="en-US" sz="2000" dirty="0">
                <a:solidFill>
                  <a:schemeClr val="tx1"/>
                </a:solidFill>
                <a:latin typeface="Times New Roman" panose="02020603050405020304" pitchFamily="18" charset="0"/>
                <a:cs typeface="Times New Roman" panose="02020603050405020304" pitchFamily="18" charset="0"/>
              </a:rPr>
              <a:t>esigning a software system so that it not only performs its required functions but also achieves important </a:t>
            </a:r>
            <a:r>
              <a:rPr lang="en-US" sz="2000" b="1" dirty="0">
                <a:solidFill>
                  <a:schemeClr val="tx1"/>
                </a:solidFill>
                <a:latin typeface="Times New Roman" panose="02020603050405020304" pitchFamily="18" charset="0"/>
                <a:cs typeface="Times New Roman" panose="02020603050405020304" pitchFamily="18" charset="0"/>
              </a:rPr>
              <a:t>non-functional requirements (quality attributes)</a:t>
            </a:r>
            <a:r>
              <a:rPr lang="en-US" sz="2000" dirty="0">
                <a:solidFill>
                  <a:schemeClr val="tx1"/>
                </a:solidFill>
                <a:latin typeface="Times New Roman" panose="02020603050405020304" pitchFamily="18" charset="0"/>
                <a:cs typeface="Times New Roman" panose="02020603050405020304" pitchFamily="18" charset="0"/>
              </a:rPr>
              <a:t> such as performance,</a:t>
            </a:r>
            <a:r>
              <a:rPr lang="ja-JP" altLang="ja-JP" sz="2000" dirty="0">
                <a:solidFill>
                  <a:schemeClr val="tx1"/>
                </a:solidFill>
                <a:latin typeface="Times New Roman" panose="02020603050405020304" pitchFamily="18" charset="0"/>
                <a:cs typeface="Times New Roman" panose="02020603050405020304" pitchFamily="18" charset="0"/>
              </a:rPr>
              <a:t> convenience</a:t>
            </a:r>
            <a:r>
              <a:rPr lang="en-US" sz="2000" dirty="0">
                <a:solidFill>
                  <a:schemeClr val="tx1"/>
                </a:solidFill>
                <a:latin typeface="Times New Roman" panose="02020603050405020304" pitchFamily="18" charset="0"/>
                <a:cs typeface="Times New Roman" panose="02020603050405020304" pitchFamily="18" charset="0"/>
              </a:rPr>
              <a:t>, security, reliability, usability, and </a:t>
            </a:r>
            <a:r>
              <a:rPr lang="en-US" sz="2000" dirty="0" err="1">
                <a:solidFill>
                  <a:schemeClr val="tx1"/>
                </a:solidFill>
                <a:latin typeface="Times New Roman" panose="02020603050405020304" pitchFamily="18" charset="0"/>
                <a:cs typeface="Times New Roman" panose="02020603050405020304" pitchFamily="18" charset="0"/>
              </a:rPr>
              <a:t>maintainabilit</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ü"/>
              <a:tabLst/>
            </a:pPr>
            <a:r>
              <a:rPr kumimoji="0" lang="ja-JP" altLang="ja-JP" sz="20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Trade-offs are common:</a:t>
            </a:r>
          </a:p>
          <a:p>
            <a:pPr marL="742950" lvl="1" indent="-285750" algn="l" eaLnBrk="0" fontAlgn="base" hangingPunct="0">
              <a:spcBef>
                <a:spcPct val="0"/>
              </a:spcBef>
              <a:spcAft>
                <a:spcPts val="600"/>
              </a:spcAft>
              <a:buFont typeface="Wingdings" panose="05000000000000000000" pitchFamily="2" charset="2"/>
              <a:buChar char="Ø"/>
            </a:pPr>
            <a:r>
              <a:rPr kumimoji="0" lang="en-US" altLang="ja-JP"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Functional </a:t>
            </a:r>
            <a:r>
              <a:rPr kumimoji="0" lang="ja-JP" altLang="ja-JP"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Requirements define </a:t>
            </a:r>
            <a:r>
              <a:rPr kumimoji="0" lang="ja-JP" altLang="ja-JP" sz="2000" b="1" i="1"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what</a:t>
            </a:r>
            <a:r>
              <a:rPr kumimoji="0" lang="ja-JP" altLang="ja-JP"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the system should do</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ts val="600"/>
              </a:spcAft>
              <a:buFont typeface="Wingdings" panose="05000000000000000000" pitchFamily="2" charset="2"/>
              <a:buChar char="Ø"/>
            </a:pPr>
            <a:r>
              <a:rPr kumimoji="0" lang="ja-JP" altLang="ja-JP"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Quality attributes</a:t>
            </a:r>
            <a:r>
              <a:rPr kumimoji="0" lang="ja-JP" altLang="ja-JP"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define </a:t>
            </a:r>
            <a:r>
              <a:rPr kumimoji="0" lang="ja-JP" altLang="ja-JP" sz="2000" b="0" i="1"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how well</a:t>
            </a:r>
            <a:r>
              <a:rPr kumimoji="0" lang="ja-JP" altLang="ja-JP"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it should work.</a:t>
            </a:r>
          </a:p>
          <a:p>
            <a:pPr marL="285750" lvl="0" indent="-285750" algn="l" eaLnBrk="0" fontAlgn="base" hangingPunct="0">
              <a:spcBef>
                <a:spcPct val="0"/>
              </a:spcBef>
              <a:spcAft>
                <a:spcPts val="60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quality attributes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r>
              <a:rPr lang="en-US" sz="2400" dirty="0">
                <a:solidFill>
                  <a:schemeClr val="tx1"/>
                </a:solidFill>
                <a:latin typeface="Times New Roman" panose="02020603050405020304" pitchFamily="18" charset="0"/>
                <a:cs typeface="Times New Roman" panose="02020603050405020304" pitchFamily="18" charset="0"/>
              </a:rPr>
              <a:t>aking architectural and design decisions that help the software achieve these desired qualities</a:t>
            </a:r>
            <a:endParaRPr kumimoji="0" lang="ja-JP" altLang="ja-JP"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Competing attributes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one may weaken another.</a:t>
            </a: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ü"/>
              <a:tabLst/>
            </a:pPr>
            <a:r>
              <a:rPr kumimoji="0" lang="ja-JP" altLang="ja-JP" sz="20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Software architects’ role</a:t>
            </a:r>
            <a:r>
              <a:rPr kumimoji="0" lang="ja-JP" altLang="ja-JP" sz="20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ts val="60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Continuously balance attributes.</a:t>
            </a:r>
          </a:p>
          <a:p>
            <a:pPr marL="742950" lvl="1" indent="-285750" algn="l" eaLnBrk="0" fontAlgn="base" hangingPunct="0">
              <a:spcBef>
                <a:spcPct val="0"/>
              </a:spcBef>
              <a:spcAft>
                <a:spcPts val="60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Decide which attribute is more critical in a given context.</a:t>
            </a: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Deadlines matter</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 constraints affect feasibility of quality improvements.</a:t>
            </a: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ü"/>
              <a:tabLst/>
            </a:pPr>
            <a:r>
              <a:rPr kumimoji="0" lang="ja-JP" altLang="ja-JP"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(House Door)</a:t>
            </a:r>
            <a:r>
              <a:rPr kumimoji="0" lang="ja-JP" altLang="ja-JP"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ts val="600"/>
              </a:spcAft>
              <a:buFont typeface="Wingdings" panose="05000000000000000000" pitchFamily="2" charset="2"/>
              <a:buChar char="Ø"/>
            </a:pPr>
            <a:r>
              <a:rPr kumimoji="0" lang="ja-JP" altLang="ja-JP"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 many locks = high security but low convenience.</a:t>
            </a:r>
          </a:p>
          <a:p>
            <a:pPr marL="742950" lvl="1" indent="-285750" algn="l" eaLnBrk="0" fontAlgn="base" hangingPunct="0">
              <a:spcBef>
                <a:spcPct val="0"/>
              </a:spcBef>
              <a:spcAft>
                <a:spcPts val="600"/>
              </a:spcAft>
              <a:buFont typeface="Wingdings" panose="05000000000000000000" pitchFamily="2" charset="2"/>
              <a:buChar char="Ø"/>
            </a:pPr>
            <a:r>
              <a:rPr kumimoji="0" lang="ja-JP" altLang="ja-JP"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Good design balances security, convenience, and performance.</a:t>
            </a: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5440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Example: Online Shopping </a:t>
            </a:r>
            <a:r>
              <a:rPr lang="en-US" sz="3600" b="1" dirty="0" err="1">
                <a:latin typeface="Times New Roman" pitchFamily="18" charset="0"/>
                <a:cs typeface="Times New Roman" pitchFamily="18" charset="0"/>
              </a:rPr>
              <a:t>syste</a:t>
            </a:r>
            <a:endParaRPr lang="en-US" sz="3600" b="1"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54</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TextBox 8">
            <a:extLst>
              <a:ext uri="{FF2B5EF4-FFF2-40B4-BE49-F238E27FC236}">
                <a16:creationId xmlns:a16="http://schemas.microsoft.com/office/drawing/2014/main" id="{A91DB8C5-DFD8-7EB5-7703-88C5BAD6364E}"/>
              </a:ext>
            </a:extLst>
          </p:cNvPr>
          <p:cNvSpPr txBox="1"/>
          <p:nvPr/>
        </p:nvSpPr>
        <p:spPr>
          <a:xfrm>
            <a:off x="79479" y="866251"/>
            <a:ext cx="4614862" cy="2308324"/>
          </a:xfrm>
          <a:prstGeom prst="rect">
            <a:avLst/>
          </a:prstGeom>
          <a:noFill/>
        </p:spPr>
        <p:txBody>
          <a:bodyPr wrap="square">
            <a:spAutoFit/>
          </a:bodyPr>
          <a:lstStyle/>
          <a:p>
            <a:pPr>
              <a:buNone/>
            </a:pPr>
            <a:r>
              <a:rPr lang="en-US" b="1" dirty="0"/>
              <a:t>Functional Requirements</a:t>
            </a:r>
          </a:p>
          <a:p>
            <a:pPr>
              <a:buNone/>
            </a:pPr>
            <a:r>
              <a:rPr lang="en-US" dirty="0">
                <a:latin typeface="Times New Roman" panose="02020603050405020304" pitchFamily="18" charset="0"/>
                <a:cs typeface="Times New Roman" panose="02020603050405020304" pitchFamily="18" charset="0"/>
              </a:rPr>
              <a:t>The system should allow users to:</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Register </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Log in </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Search products </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Add items to the cart </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Pay online </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These describe </a:t>
            </a:r>
            <a:r>
              <a:rPr lang="en-US" b="1" dirty="0">
                <a:latin typeface="Times New Roman" panose="02020603050405020304" pitchFamily="18" charset="0"/>
                <a:cs typeface="Times New Roman" panose="02020603050405020304" pitchFamily="18" charset="0"/>
              </a:rPr>
              <a:t>what</a:t>
            </a:r>
            <a:r>
              <a:rPr lang="en-US" dirty="0">
                <a:latin typeface="Times New Roman" panose="02020603050405020304" pitchFamily="18" charset="0"/>
                <a:cs typeface="Times New Roman" panose="02020603050405020304" pitchFamily="18" charset="0"/>
              </a:rPr>
              <a:t> the system does</a:t>
            </a:r>
            <a:r>
              <a:rPr lang="en-US" dirty="0"/>
              <a:t>.</a:t>
            </a:r>
          </a:p>
        </p:txBody>
      </p:sp>
      <p:graphicFrame>
        <p:nvGraphicFramePr>
          <p:cNvPr id="10" name="Table 9">
            <a:extLst>
              <a:ext uri="{FF2B5EF4-FFF2-40B4-BE49-F238E27FC236}">
                <a16:creationId xmlns:a16="http://schemas.microsoft.com/office/drawing/2014/main" id="{3980765D-DCDF-C61F-D50B-4B04D49E9383}"/>
              </a:ext>
            </a:extLst>
          </p:cNvPr>
          <p:cNvGraphicFramePr>
            <a:graphicFrameLocks noGrp="1"/>
          </p:cNvGraphicFramePr>
          <p:nvPr>
            <p:extLst>
              <p:ext uri="{D42A27DB-BD31-4B8C-83A1-F6EECF244321}">
                <p14:modId xmlns:p14="http://schemas.microsoft.com/office/powerpoint/2010/main" val="6899535"/>
              </p:ext>
            </p:extLst>
          </p:nvPr>
        </p:nvGraphicFramePr>
        <p:xfrm>
          <a:off x="399669" y="3382645"/>
          <a:ext cx="8229600" cy="3383280"/>
        </p:xfrm>
        <a:graphic>
          <a:graphicData uri="http://schemas.openxmlformats.org/drawingml/2006/table">
            <a:tbl>
              <a:tblPr>
                <a:tableStyleId>{616DA210-FB5B-4158-B5E0-FEB733F419BA}</a:tableStyleId>
              </a:tblPr>
              <a:tblGrid>
                <a:gridCol w="4114800">
                  <a:extLst>
                    <a:ext uri="{9D8B030D-6E8A-4147-A177-3AD203B41FA5}">
                      <a16:colId xmlns:a16="http://schemas.microsoft.com/office/drawing/2014/main" val="56888888"/>
                    </a:ext>
                  </a:extLst>
                </a:gridCol>
                <a:gridCol w="4114800">
                  <a:extLst>
                    <a:ext uri="{9D8B030D-6E8A-4147-A177-3AD203B41FA5}">
                      <a16:colId xmlns:a16="http://schemas.microsoft.com/office/drawing/2014/main" val="2046446250"/>
                    </a:ext>
                  </a:extLst>
                </a:gridCol>
              </a:tblGrid>
              <a:tr h="0">
                <a:tc>
                  <a:txBody>
                    <a:bodyPr/>
                    <a:lstStyle/>
                    <a:p>
                      <a:pPr>
                        <a:buNone/>
                      </a:pPr>
                      <a:r>
                        <a:rPr lang="en-US" b="1" dirty="0">
                          <a:latin typeface="Times New Roman" panose="02020603050405020304" pitchFamily="18" charset="0"/>
                          <a:cs typeface="Times New Roman" panose="02020603050405020304" pitchFamily="18" charset="0"/>
                        </a:rPr>
                        <a:t>Quality Attribute</a:t>
                      </a:r>
                    </a:p>
                  </a:txBody>
                  <a:tcPr anchor="ctr"/>
                </a:tc>
                <a:tc>
                  <a:txBody>
                    <a:bodyPr/>
                    <a:lstStyle/>
                    <a:p>
                      <a:pPr>
                        <a:buNone/>
                      </a:pPr>
                      <a:r>
                        <a:rPr lang="en-US" b="1" dirty="0">
                          <a:latin typeface="Times New Roman" panose="02020603050405020304" pitchFamily="18" charset="0"/>
                          <a:cs typeface="Times New Roman" panose="02020603050405020304" pitchFamily="18" charset="0"/>
                        </a:rPr>
                        <a:t>Design Decision</a:t>
                      </a:r>
                    </a:p>
                  </a:txBody>
                  <a:tcPr anchor="ctr"/>
                </a:tc>
                <a:extLst>
                  <a:ext uri="{0D108BD9-81ED-4DB2-BD59-A6C34878D82A}">
                    <a16:rowId xmlns:a16="http://schemas.microsoft.com/office/drawing/2014/main" val="3159408022"/>
                  </a:ext>
                </a:extLst>
              </a:tr>
              <a:tr h="0">
                <a:tc>
                  <a:txBody>
                    <a:bodyPr/>
                    <a:lstStyle/>
                    <a:p>
                      <a:pPr>
                        <a:buNone/>
                      </a:pPr>
                      <a:r>
                        <a:rPr lang="en-US">
                          <a:latin typeface="Times New Roman" panose="02020603050405020304" pitchFamily="18" charset="0"/>
                          <a:cs typeface="Times New Roman" panose="02020603050405020304" pitchFamily="18" charset="0"/>
                        </a:rPr>
                        <a:t>Performance</a:t>
                      </a:r>
                    </a:p>
                  </a:txBody>
                  <a:tcPr anchor="ctr"/>
                </a:tc>
                <a:tc>
                  <a:txBody>
                    <a:bodyPr/>
                    <a:lstStyle/>
                    <a:p>
                      <a:pPr>
                        <a:buNone/>
                      </a:pPr>
                      <a:r>
                        <a:rPr lang="en-US" dirty="0">
                          <a:latin typeface="Times New Roman" panose="02020603050405020304" pitchFamily="18" charset="0"/>
                          <a:cs typeface="Times New Roman" panose="02020603050405020304" pitchFamily="18" charset="0"/>
                        </a:rPr>
                        <a:t>Cache product pages to reduce load time</a:t>
                      </a:r>
                    </a:p>
                  </a:txBody>
                  <a:tcPr anchor="ctr"/>
                </a:tc>
                <a:extLst>
                  <a:ext uri="{0D108BD9-81ED-4DB2-BD59-A6C34878D82A}">
                    <a16:rowId xmlns:a16="http://schemas.microsoft.com/office/drawing/2014/main" val="2156703440"/>
                  </a:ext>
                </a:extLst>
              </a:tr>
              <a:tr h="0">
                <a:tc>
                  <a:txBody>
                    <a:bodyPr/>
                    <a:lstStyle/>
                    <a:p>
                      <a:pPr>
                        <a:buNone/>
                      </a:pPr>
                      <a:r>
                        <a:rPr lang="en-US">
                          <a:latin typeface="Times New Roman" panose="02020603050405020304" pitchFamily="18" charset="0"/>
                          <a:cs typeface="Times New Roman" panose="02020603050405020304" pitchFamily="18" charset="0"/>
                        </a:rPr>
                        <a:t>Security</a:t>
                      </a:r>
                    </a:p>
                  </a:txBody>
                  <a:tcPr anchor="ctr"/>
                </a:tc>
                <a:tc>
                  <a:txBody>
                    <a:bodyPr/>
                    <a:lstStyle/>
                    <a:p>
                      <a:pPr>
                        <a:buNone/>
                      </a:pPr>
                      <a:r>
                        <a:rPr lang="en-US" dirty="0">
                          <a:latin typeface="Times New Roman" panose="02020603050405020304" pitchFamily="18" charset="0"/>
                          <a:cs typeface="Times New Roman" panose="02020603050405020304" pitchFamily="18" charset="0"/>
                        </a:rPr>
                        <a:t>Encrypt passwords and use HTTPS</a:t>
                      </a:r>
                    </a:p>
                  </a:txBody>
                  <a:tcPr anchor="ctr"/>
                </a:tc>
                <a:extLst>
                  <a:ext uri="{0D108BD9-81ED-4DB2-BD59-A6C34878D82A}">
                    <a16:rowId xmlns:a16="http://schemas.microsoft.com/office/drawing/2014/main" val="3001446873"/>
                  </a:ext>
                </a:extLst>
              </a:tr>
              <a:tr h="0">
                <a:tc>
                  <a:txBody>
                    <a:bodyPr/>
                    <a:lstStyle/>
                    <a:p>
                      <a:pPr>
                        <a:buNone/>
                      </a:pPr>
                      <a:r>
                        <a:rPr lang="en-US">
                          <a:latin typeface="Times New Roman" panose="02020603050405020304" pitchFamily="18" charset="0"/>
                          <a:cs typeface="Times New Roman" panose="02020603050405020304" pitchFamily="18" charset="0"/>
                        </a:rPr>
                        <a:t>Reliability</a:t>
                      </a:r>
                    </a:p>
                  </a:txBody>
                  <a:tcPr anchor="ctr"/>
                </a:tc>
                <a:tc>
                  <a:txBody>
                    <a:bodyPr/>
                    <a:lstStyle/>
                    <a:p>
                      <a:pPr>
                        <a:buNone/>
                      </a:pPr>
                      <a:r>
                        <a:rPr lang="en-US" dirty="0">
                          <a:latin typeface="Times New Roman" panose="02020603050405020304" pitchFamily="18" charset="0"/>
                          <a:cs typeface="Times New Roman" panose="02020603050405020304" pitchFamily="18" charset="0"/>
                        </a:rPr>
                        <a:t>Maintain database backups and redundant servers</a:t>
                      </a:r>
                    </a:p>
                  </a:txBody>
                  <a:tcPr anchor="ctr"/>
                </a:tc>
                <a:extLst>
                  <a:ext uri="{0D108BD9-81ED-4DB2-BD59-A6C34878D82A}">
                    <a16:rowId xmlns:a16="http://schemas.microsoft.com/office/drawing/2014/main" val="160944176"/>
                  </a:ext>
                </a:extLst>
              </a:tr>
              <a:tr h="0">
                <a:tc>
                  <a:txBody>
                    <a:bodyPr/>
                    <a:lstStyle/>
                    <a:p>
                      <a:pPr>
                        <a:buNone/>
                      </a:pPr>
                      <a:r>
                        <a:rPr lang="en-US">
                          <a:latin typeface="Times New Roman" panose="02020603050405020304" pitchFamily="18" charset="0"/>
                          <a:cs typeface="Times New Roman" panose="02020603050405020304" pitchFamily="18" charset="0"/>
                        </a:rPr>
                        <a:t>Usability</a:t>
                      </a:r>
                    </a:p>
                  </a:txBody>
                  <a:tcPr anchor="ctr"/>
                </a:tc>
                <a:tc>
                  <a:txBody>
                    <a:bodyPr/>
                    <a:lstStyle/>
                    <a:p>
                      <a:pPr>
                        <a:buNone/>
                      </a:pPr>
                      <a:r>
                        <a:rPr lang="en-US">
                          <a:latin typeface="Times New Roman" panose="02020603050405020304" pitchFamily="18" charset="0"/>
                          <a:cs typeface="Times New Roman" panose="02020603050405020304" pitchFamily="18" charset="0"/>
                        </a:rPr>
                        <a:t>Provide a simple and intuitive interface</a:t>
                      </a:r>
                    </a:p>
                  </a:txBody>
                  <a:tcPr anchor="ctr"/>
                </a:tc>
                <a:extLst>
                  <a:ext uri="{0D108BD9-81ED-4DB2-BD59-A6C34878D82A}">
                    <a16:rowId xmlns:a16="http://schemas.microsoft.com/office/drawing/2014/main" val="3658457575"/>
                  </a:ext>
                </a:extLst>
              </a:tr>
              <a:tr h="0">
                <a:tc>
                  <a:txBody>
                    <a:bodyPr/>
                    <a:lstStyle/>
                    <a:p>
                      <a:pPr>
                        <a:buNone/>
                      </a:pPr>
                      <a:r>
                        <a:rPr lang="en-US">
                          <a:latin typeface="Times New Roman" panose="02020603050405020304" pitchFamily="18" charset="0"/>
                          <a:cs typeface="Times New Roman" panose="02020603050405020304" pitchFamily="18" charset="0"/>
                        </a:rPr>
                        <a:t>Maintainability</a:t>
                      </a:r>
                    </a:p>
                  </a:txBody>
                  <a:tcPr anchor="ctr"/>
                </a:tc>
                <a:tc>
                  <a:txBody>
                    <a:bodyPr/>
                    <a:lstStyle/>
                    <a:p>
                      <a:pPr>
                        <a:buNone/>
                      </a:pPr>
                      <a:r>
                        <a:rPr lang="en-US" dirty="0">
                          <a:latin typeface="Times New Roman" panose="02020603050405020304" pitchFamily="18" charset="0"/>
                          <a:cs typeface="Times New Roman" panose="02020603050405020304" pitchFamily="18" charset="0"/>
                        </a:rPr>
                        <a:t>Organize the application into separate modules</a:t>
                      </a:r>
                    </a:p>
                  </a:txBody>
                  <a:tcPr anchor="ctr"/>
                </a:tc>
                <a:extLst>
                  <a:ext uri="{0D108BD9-81ED-4DB2-BD59-A6C34878D82A}">
                    <a16:rowId xmlns:a16="http://schemas.microsoft.com/office/drawing/2014/main" val="372893961"/>
                  </a:ext>
                </a:extLst>
              </a:tr>
              <a:tr h="0">
                <a:tc>
                  <a:txBody>
                    <a:bodyPr/>
                    <a:lstStyle/>
                    <a:p>
                      <a:pPr>
                        <a:buNone/>
                      </a:pPr>
                      <a:r>
                        <a:rPr lang="en-US">
                          <a:latin typeface="Times New Roman" panose="02020603050405020304" pitchFamily="18" charset="0"/>
                          <a:cs typeface="Times New Roman" panose="02020603050405020304" pitchFamily="18" charset="0"/>
                        </a:rPr>
                        <a:t>Scalability</a:t>
                      </a:r>
                    </a:p>
                  </a:txBody>
                  <a:tcPr anchor="ctr"/>
                </a:tc>
                <a:tc>
                  <a:txBody>
                    <a:bodyPr/>
                    <a:lstStyle/>
                    <a:p>
                      <a:pPr>
                        <a:buNone/>
                      </a:pPr>
                      <a:r>
                        <a:rPr lang="en-US" dirty="0">
                          <a:latin typeface="Times New Roman" panose="02020603050405020304" pitchFamily="18" charset="0"/>
                          <a:cs typeface="Times New Roman" panose="02020603050405020304" pitchFamily="18" charset="0"/>
                        </a:rPr>
                        <a:t>Use cloud infrastructure to support more users</a:t>
                      </a:r>
                    </a:p>
                  </a:txBody>
                  <a:tcPr anchor="ctr"/>
                </a:tc>
                <a:extLst>
                  <a:ext uri="{0D108BD9-81ED-4DB2-BD59-A6C34878D82A}">
                    <a16:rowId xmlns:a16="http://schemas.microsoft.com/office/drawing/2014/main" val="3800980236"/>
                  </a:ext>
                </a:extLst>
              </a:tr>
            </a:tbl>
          </a:graphicData>
        </a:graphic>
      </p:graphicFrame>
    </p:spTree>
    <p:extLst>
      <p:ext uri="{BB962C8B-B14F-4D97-AF65-F5344CB8AC3E}">
        <p14:creationId xmlns:p14="http://schemas.microsoft.com/office/powerpoint/2010/main" val="850873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56B31-DE6C-6200-A763-E1942379C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D02BF-ACE0-E8D0-4E71-F21A54E8D572}"/>
              </a:ext>
            </a:extLst>
          </p:cNvPr>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dirty="0"/>
              <a:t>Example: ATM System</a:t>
            </a:r>
            <a:endParaRPr lang="en-US" sz="3600"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425773C1-ACCE-BD4F-4A83-B7E18371BFD1}"/>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55</a:t>
            </a:fld>
            <a:endParaRPr lang="en-US" dirty="0">
              <a:solidFill>
                <a:schemeClr val="tx1"/>
              </a:solidFill>
            </a:endParaRPr>
          </a:p>
        </p:txBody>
      </p:sp>
      <p:pic>
        <p:nvPicPr>
          <p:cNvPr id="6" name="Picture 5">
            <a:extLst>
              <a:ext uri="{FF2B5EF4-FFF2-40B4-BE49-F238E27FC236}">
                <a16:creationId xmlns:a16="http://schemas.microsoft.com/office/drawing/2014/main" id="{AA48808E-7E64-0561-70BF-765937070B61}"/>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92BBDCBE-BF79-4417-0D1F-E5FEF73E6845}"/>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TextBox 8">
            <a:extLst>
              <a:ext uri="{FF2B5EF4-FFF2-40B4-BE49-F238E27FC236}">
                <a16:creationId xmlns:a16="http://schemas.microsoft.com/office/drawing/2014/main" id="{53AE4EAC-431E-ADF9-EA3B-9F2D1540CCB3}"/>
              </a:ext>
            </a:extLst>
          </p:cNvPr>
          <p:cNvSpPr txBox="1"/>
          <p:nvPr/>
        </p:nvSpPr>
        <p:spPr>
          <a:xfrm>
            <a:off x="152400" y="914400"/>
            <a:ext cx="4614862" cy="1477328"/>
          </a:xfrm>
          <a:prstGeom prst="rect">
            <a:avLst/>
          </a:prstGeom>
          <a:noFill/>
        </p:spPr>
        <p:txBody>
          <a:bodyPr wrap="square">
            <a:spAutoFit/>
          </a:bodyPr>
          <a:lstStyle/>
          <a:p>
            <a:r>
              <a:rPr lang="en-US" b="1" dirty="0"/>
              <a:t>Functional Requirements</a:t>
            </a:r>
          </a:p>
          <a:p>
            <a:pPr marL="742950" lvl="1" indent="-285750">
              <a:buFont typeface="Wingdings" panose="05000000000000000000" pitchFamily="2" charset="2"/>
              <a:buChar char="v"/>
            </a:pPr>
            <a:r>
              <a:rPr lang="en-US" dirty="0"/>
              <a:t>Withdraw cash </a:t>
            </a:r>
          </a:p>
          <a:p>
            <a:pPr marL="742950" lvl="1" indent="-285750">
              <a:buFont typeface="Wingdings" panose="05000000000000000000" pitchFamily="2" charset="2"/>
              <a:buChar char="v"/>
            </a:pPr>
            <a:r>
              <a:rPr lang="en-US" dirty="0"/>
              <a:t>Deposit money </a:t>
            </a:r>
          </a:p>
          <a:p>
            <a:pPr marL="742950" lvl="1" indent="-285750">
              <a:buFont typeface="Wingdings" panose="05000000000000000000" pitchFamily="2" charset="2"/>
              <a:buChar char="v"/>
            </a:pPr>
            <a:r>
              <a:rPr lang="en-US" dirty="0"/>
              <a:t>Check balance</a:t>
            </a:r>
          </a:p>
          <a:p>
            <a:pPr lvl="1"/>
            <a:endParaRPr lang="en-US" dirty="0"/>
          </a:p>
        </p:txBody>
      </p:sp>
      <p:graphicFrame>
        <p:nvGraphicFramePr>
          <p:cNvPr id="4" name="Table 3">
            <a:extLst>
              <a:ext uri="{FF2B5EF4-FFF2-40B4-BE49-F238E27FC236}">
                <a16:creationId xmlns:a16="http://schemas.microsoft.com/office/drawing/2014/main" id="{6EBC1FC5-9464-51E1-AC10-9943CA67A7B7}"/>
              </a:ext>
            </a:extLst>
          </p:cNvPr>
          <p:cNvGraphicFramePr>
            <a:graphicFrameLocks noGrp="1"/>
          </p:cNvGraphicFramePr>
          <p:nvPr>
            <p:extLst>
              <p:ext uri="{D42A27DB-BD31-4B8C-83A1-F6EECF244321}">
                <p14:modId xmlns:p14="http://schemas.microsoft.com/office/powerpoint/2010/main" val="2072979996"/>
              </p:ext>
            </p:extLst>
          </p:nvPr>
        </p:nvGraphicFramePr>
        <p:xfrm>
          <a:off x="161925" y="2286000"/>
          <a:ext cx="8229600" cy="3291840"/>
        </p:xfrm>
        <a:graphic>
          <a:graphicData uri="http://schemas.openxmlformats.org/drawingml/2006/table">
            <a:tbl>
              <a:tblPr>
                <a:tableStyleId>{616DA210-FB5B-4158-B5E0-FEB733F419BA}</a:tableStyleId>
              </a:tblPr>
              <a:tblGrid>
                <a:gridCol w="4114800">
                  <a:extLst>
                    <a:ext uri="{9D8B030D-6E8A-4147-A177-3AD203B41FA5}">
                      <a16:colId xmlns:a16="http://schemas.microsoft.com/office/drawing/2014/main" val="2124307203"/>
                    </a:ext>
                  </a:extLst>
                </a:gridCol>
                <a:gridCol w="4114800">
                  <a:extLst>
                    <a:ext uri="{9D8B030D-6E8A-4147-A177-3AD203B41FA5}">
                      <a16:colId xmlns:a16="http://schemas.microsoft.com/office/drawing/2014/main" val="4024916761"/>
                    </a:ext>
                  </a:extLst>
                </a:gridCol>
              </a:tblGrid>
              <a:tr h="0">
                <a:tc>
                  <a:txBody>
                    <a:bodyPr/>
                    <a:lstStyle/>
                    <a:p>
                      <a:pPr>
                        <a:buNone/>
                      </a:pPr>
                      <a:r>
                        <a:rPr lang="en-US" b="1" dirty="0"/>
                        <a:t>Quality Attribute</a:t>
                      </a:r>
                      <a:endParaRPr lang="en-US"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b="1" dirty="0"/>
                        <a:t>Design Decision</a:t>
                      </a: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31760953"/>
                  </a:ext>
                </a:extLst>
              </a:tr>
              <a:tr h="0">
                <a:tc>
                  <a:txBody>
                    <a:bodyPr/>
                    <a:lstStyle/>
                    <a:p>
                      <a:pPr>
                        <a:buNone/>
                      </a:pPr>
                      <a:r>
                        <a:rPr lang="en-US" dirty="0"/>
                        <a:t>Security</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dirty="0"/>
                        <a:t>PIN verification and encrypted communication</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64679130"/>
                  </a:ext>
                </a:extLst>
              </a:tr>
              <a:tr h="0">
                <a:tc>
                  <a:txBody>
                    <a:bodyPr/>
                    <a:lstStyle/>
                    <a:p>
                      <a:pPr>
                        <a:buNone/>
                      </a:pPr>
                      <a:r>
                        <a:rPr lang="en-US" dirty="0"/>
                        <a:t>Performance</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a:t>Complete transactions within a few seconds</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93466759"/>
                  </a:ext>
                </a:extLst>
              </a:tr>
              <a:tr h="0">
                <a:tc>
                  <a:txBody>
                    <a:bodyPr/>
                    <a:lstStyle/>
                    <a:p>
                      <a:pPr>
                        <a:buNone/>
                      </a:pPr>
                      <a:r>
                        <a:rPr lang="en-US"/>
                        <a:t>Reliability</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t>Ensure operation even during network interruptions</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29054582"/>
                  </a:ext>
                </a:extLst>
              </a:tr>
              <a:tr h="0">
                <a:tc>
                  <a:txBody>
                    <a:bodyPr/>
                    <a:lstStyle/>
                    <a:p>
                      <a:pPr>
                        <a:buNone/>
                      </a:pPr>
                      <a:r>
                        <a:rPr lang="en-US"/>
                        <a:t>Availability</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t>Keep ATMs operational 24/7</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20654845"/>
                  </a:ext>
                </a:extLst>
              </a:tr>
              <a:tr h="0">
                <a:tc>
                  <a:txBody>
                    <a:bodyPr/>
                    <a:lstStyle/>
                    <a:p>
                      <a:pPr>
                        <a:buNone/>
                      </a:pPr>
                      <a:r>
                        <a:rPr lang="en-US"/>
                        <a:t>Maintainability</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dirty="0"/>
                        <a:t>Allow software updates without replacing the hardware</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88588798"/>
                  </a:ext>
                </a:extLst>
              </a:tr>
            </a:tbl>
          </a:graphicData>
        </a:graphic>
      </p:graphicFrame>
    </p:spTree>
    <p:extLst>
      <p:ext uri="{BB962C8B-B14F-4D97-AF65-F5344CB8AC3E}">
        <p14:creationId xmlns:p14="http://schemas.microsoft.com/office/powerpoint/2010/main" val="25539159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E21DB-585C-BC34-0D55-85F49FC6F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C31A3-5742-D277-E791-582D04CC9DC3}"/>
              </a:ext>
            </a:extLst>
          </p:cNvPr>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Context and Consequences in Design</a:t>
            </a:r>
          </a:p>
        </p:txBody>
      </p:sp>
      <p:sp>
        <p:nvSpPr>
          <p:cNvPr id="3" name="Slide Number Placeholder 2">
            <a:extLst>
              <a:ext uri="{FF2B5EF4-FFF2-40B4-BE49-F238E27FC236}">
                <a16:creationId xmlns:a16="http://schemas.microsoft.com/office/drawing/2014/main" id="{FC03F4A6-9EEF-7AFB-68E8-4A328AB79E58}"/>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56</a:t>
            </a:fld>
            <a:endParaRPr lang="en-US" dirty="0">
              <a:solidFill>
                <a:schemeClr val="tx1"/>
              </a:solidFill>
            </a:endParaRPr>
          </a:p>
        </p:txBody>
      </p:sp>
      <p:pic>
        <p:nvPicPr>
          <p:cNvPr id="6" name="Picture 5">
            <a:extLst>
              <a:ext uri="{FF2B5EF4-FFF2-40B4-BE49-F238E27FC236}">
                <a16:creationId xmlns:a16="http://schemas.microsoft.com/office/drawing/2014/main" id="{C3267AA3-A3AD-6097-DBDD-BB578575A5E5}"/>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35DEE2F1-C189-2F4A-6302-D43F7EBA113E}"/>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5" name="Rectangle 2">
            <a:extLst>
              <a:ext uri="{FF2B5EF4-FFF2-40B4-BE49-F238E27FC236}">
                <a16:creationId xmlns:a16="http://schemas.microsoft.com/office/drawing/2014/main" id="{A3C4ACCF-E7D1-A206-E9FE-945503AF9791}"/>
              </a:ext>
            </a:extLst>
          </p:cNvPr>
          <p:cNvSpPr>
            <a:spLocks noGrp="1" noChangeArrowheads="1"/>
          </p:cNvSpPr>
          <p:nvPr>
            <p:ph type="subTitle" idx="1"/>
          </p:nvPr>
        </p:nvSpPr>
        <p:spPr bwMode="auto">
          <a:xfrm>
            <a:off x="155857" y="919389"/>
            <a:ext cx="895970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Context matters</a:t>
            </a:r>
            <a:r>
              <a:rPr lang="en-US" altLang="ja-JP" sz="2000" dirty="0">
                <a:solidFill>
                  <a:schemeClr val="tx1"/>
                </a:solidFill>
                <a:latin typeface="Times New Roman" panose="02020603050405020304" pitchFamily="18" charset="0"/>
                <a:cs typeface="Times New Roman" panose="02020603050405020304" pitchFamily="18" charset="0"/>
              </a:rPr>
              <a:t>:</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Different environments = different requirements.</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Example: Public-facing system needs stronger security than internal corporate system.</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Consequences of design choices</a:t>
            </a:r>
            <a:r>
              <a:rPr lang="en-US" altLang="ja-JP" sz="2000" dirty="0">
                <a:solidFill>
                  <a:schemeClr val="tx1"/>
                </a:solidFill>
                <a:latin typeface="Times New Roman" panose="02020603050405020304" pitchFamily="18" charset="0"/>
                <a:cs typeface="Times New Roman" panose="02020603050405020304" pitchFamily="18" charset="0"/>
              </a:rPr>
              <a:t>:</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Some decisions may cause problems later.</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Example: Solution works for small data but fails with large data.</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Good practices</a:t>
            </a:r>
            <a:r>
              <a:rPr lang="en-US" altLang="ja-JP" sz="2000" dirty="0">
                <a:solidFill>
                  <a:schemeClr val="tx1"/>
                </a:solidFill>
                <a:latin typeface="Times New Roman" panose="02020603050405020304" pitchFamily="18" charset="0"/>
                <a:cs typeface="Times New Roman" panose="02020603050405020304" pitchFamily="18" charset="0"/>
              </a:rPr>
              <a:t>:</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Seek feedback from other developers/stakeholders (design reviews).</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Prototype alternative ideas to compare approaches.</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Test thoroughly before full implementation.</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Use tests with different scenarios (e.g., small vs large data) to find limitations.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7082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Satisfying Qualities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57</a:t>
            </a:fld>
            <a:endParaRPr lang="en-US" dirty="0">
              <a:solidFill>
                <a:schemeClr val="tx1"/>
              </a:solidFill>
            </a:endParaRPr>
          </a:p>
        </p:txBody>
      </p:sp>
      <p:sp>
        <p:nvSpPr>
          <p:cNvPr id="10" name="Rectangle 4">
            <a:extLst>
              <a:ext uri="{FF2B5EF4-FFF2-40B4-BE49-F238E27FC236}">
                <a16:creationId xmlns:a16="http://schemas.microsoft.com/office/drawing/2014/main" id="{CD3EA451-1B9F-360B-5DDA-A6ECD9E1BD07}"/>
              </a:ext>
            </a:extLst>
          </p:cNvPr>
          <p:cNvSpPr>
            <a:spLocks noGrp="1" noChangeArrowheads="1"/>
          </p:cNvSpPr>
          <p:nvPr>
            <p:ph type="subTitle" idx="1"/>
          </p:nvPr>
        </p:nvSpPr>
        <p:spPr bwMode="auto">
          <a:xfrm>
            <a:off x="255795" y="825837"/>
            <a:ext cx="8759825"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Qualities come from requirements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Functional requirements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what the system should do.</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Non-functional requirements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how well the system should do it.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Functional requirements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correctness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Music app must download and play songs.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Non-functional requirements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performance, efficiency, resource usage, maintainability, flexibility, reusability.</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Music app can only download songs within a memory limit.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Requirements are often incomplete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clarified through client/end-user interactions.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Trade-offs and compromises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may be needed due to constraints.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All cars provide transportation (functional), but differences in acceleration, fuel economy, and handling (non-functional) distinguish minivan vs. sports car.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Verification methods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Reviews and tests check if qualities are satisfied.</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End-user feedback validates real-world qualities.</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3379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Compromise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58</a:t>
            </a:fld>
            <a:endParaRPr lang="en-US" dirty="0">
              <a:solidFill>
                <a:schemeClr val="tx1"/>
              </a:solidFill>
            </a:endParaRPr>
          </a:p>
        </p:txBody>
      </p:sp>
      <p:sp>
        <p:nvSpPr>
          <p:cNvPr id="5" name="Rectangle 2">
            <a:extLst>
              <a:ext uri="{FF2B5EF4-FFF2-40B4-BE49-F238E27FC236}">
                <a16:creationId xmlns:a16="http://schemas.microsoft.com/office/drawing/2014/main" id="{5EC3A464-E561-6867-D0F5-41ADEE8C6303}"/>
              </a:ext>
            </a:extLst>
          </p:cNvPr>
          <p:cNvSpPr>
            <a:spLocks noGrp="1" noChangeArrowheads="1"/>
          </p:cNvSpPr>
          <p:nvPr>
            <p:ph type="subTitle" idx="1"/>
          </p:nvPr>
        </p:nvSpPr>
        <p:spPr bwMode="auto">
          <a:xfrm>
            <a:off x="165894" y="772439"/>
            <a:ext cx="881221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perspectives matter</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algn="l"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care about performance, usability.</a:t>
            </a:r>
          </a:p>
          <a:p>
            <a:pPr marL="800100" lvl="1" indent="-342900" algn="l"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Developers care about reusability, maintainability.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structure affects both sides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trade-offs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vs. Maintainability</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57300" lvl="2" indent="-342900" algn="l"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High-performance code may be harder to understand/maintain.</a:t>
            </a:r>
          </a:p>
          <a:p>
            <a:pPr marL="1257300" lvl="2" indent="-342900" algn="l"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Backward compatibility may reduce both performance and maintainability.</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vs. Security</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57300" lvl="2" indent="-342900" algn="l"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Stronger security adds overhead, lowering performance.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Balance qualities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algn="l"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Prioritize what is most important for the system.</a:t>
            </a:r>
          </a:p>
          <a:p>
            <a:pPr marL="800100" lvl="1" indent="-342900" algn="l"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Ask: </a:t>
            </a:r>
            <a:r>
              <a:rPr kumimoji="0" lang="ja-JP" altLang="ja-JP"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one quality be reduced slightly to improve another?</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86581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92075"/>
            <a:ext cx="9131508" cy="1127125"/>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Importance of Design and Object-Oriented Thinking</a:t>
            </a:r>
          </a:p>
        </p:txBody>
      </p:sp>
      <p:sp>
        <p:nvSpPr>
          <p:cNvPr id="4" name="Subtitle 3"/>
          <p:cNvSpPr>
            <a:spLocks noGrp="1"/>
          </p:cNvSpPr>
          <p:nvPr>
            <p:ph type="subTitle" idx="1"/>
          </p:nvPr>
        </p:nvSpPr>
        <p:spPr>
          <a:xfrm>
            <a:off x="152400" y="1319702"/>
            <a:ext cx="8839200" cy="3861898"/>
          </a:xfrm>
        </p:spPr>
        <p:txBody>
          <a:bodyPr>
            <a:noAutofit/>
          </a:bodyPr>
          <a:lstStyle/>
          <a:p>
            <a:pPr algn="l"/>
            <a:r>
              <a:rPr lang="en-US" altLang="ja-JP" sz="2400" b="1" dirty="0">
                <a:solidFill>
                  <a:srgbClr val="FF0000"/>
                </a:solidFill>
                <a:latin typeface="Times New Roman" panose="02020603050405020304" pitchFamily="18" charset="0"/>
                <a:cs typeface="Times New Roman" panose="02020603050405020304" pitchFamily="18" charset="0"/>
              </a:rPr>
              <a:t>Key Concept: </a:t>
            </a:r>
            <a:r>
              <a:rPr lang="en-US" altLang="ja-JP" sz="2400" dirty="0">
                <a:solidFill>
                  <a:schemeClr val="tx1"/>
                </a:solidFill>
                <a:latin typeface="Times New Roman" panose="02020603050405020304" pitchFamily="18" charset="0"/>
                <a:cs typeface="Times New Roman" panose="02020603050405020304" pitchFamily="18" charset="0"/>
              </a:rPr>
              <a:t>OOAD promotes modularity, reusability, and maintainability.</a:t>
            </a:r>
          </a:p>
          <a:p>
            <a:pPr marL="800100" lvl="1" indent="-342900" algn="l">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Encapsulation: </a:t>
            </a:r>
            <a:r>
              <a:rPr lang="en-US" altLang="ja-JP" sz="2000" b="1" dirty="0">
                <a:solidFill>
                  <a:schemeClr val="tx1"/>
                </a:solidFill>
                <a:latin typeface="Times New Roman" panose="02020603050405020304" pitchFamily="18" charset="0"/>
                <a:cs typeface="Times New Roman" panose="02020603050405020304" pitchFamily="18" charset="0"/>
              </a:rPr>
              <a:t>Group data and behavior into a single unit (class).</a:t>
            </a:r>
          </a:p>
          <a:p>
            <a:pPr marL="800100" lvl="1" indent="-342900" algn="l">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Abstraction:</a:t>
            </a:r>
            <a:r>
              <a:rPr lang="en-US" altLang="ja-JP" sz="2000" b="1" dirty="0">
                <a:solidFill>
                  <a:schemeClr val="tx1"/>
                </a:solidFill>
                <a:latin typeface="Times New Roman" panose="02020603050405020304" pitchFamily="18" charset="0"/>
                <a:cs typeface="Times New Roman" panose="02020603050405020304" pitchFamily="18" charset="0"/>
              </a:rPr>
              <a:t> Focus only on essential features, ignoring details.</a:t>
            </a:r>
          </a:p>
          <a:p>
            <a:pPr marL="800100" lvl="1" indent="-342900" algn="l">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Inheritance: </a:t>
            </a:r>
            <a:r>
              <a:rPr lang="en-US" altLang="ja-JP" sz="2000" b="1" dirty="0">
                <a:solidFill>
                  <a:schemeClr val="tx1"/>
                </a:solidFill>
                <a:latin typeface="Times New Roman" panose="02020603050405020304" pitchFamily="18" charset="0"/>
                <a:cs typeface="Times New Roman" panose="02020603050405020304" pitchFamily="18" charset="0"/>
              </a:rPr>
              <a:t>Reuse common features by extending classes.</a:t>
            </a:r>
          </a:p>
          <a:p>
            <a:pPr marL="800100" lvl="1" indent="-342900" algn="l">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Polymorphism: </a:t>
            </a:r>
            <a:r>
              <a:rPr lang="en-US" altLang="ja-JP" sz="2000" b="1" dirty="0">
                <a:solidFill>
                  <a:schemeClr val="tx1"/>
                </a:solidFill>
                <a:latin typeface="Times New Roman" panose="02020603050405020304" pitchFamily="18" charset="0"/>
                <a:cs typeface="Times New Roman" panose="02020603050405020304" pitchFamily="18" charset="0"/>
              </a:rPr>
              <a:t>Same action behaves differently depending on the object.</a:t>
            </a:r>
          </a:p>
          <a:p>
            <a:pPr algn="l"/>
            <a:r>
              <a:rPr lang="en-US" altLang="ja-JP" sz="2400" b="1" dirty="0">
                <a:solidFill>
                  <a:srgbClr val="00B050"/>
                </a:solidFill>
                <a:latin typeface="Times New Roman" panose="02020603050405020304" pitchFamily="18" charset="0"/>
                <a:cs typeface="Times New Roman" panose="02020603050405020304" pitchFamily="18" charset="0"/>
              </a:rPr>
              <a:t>These principles make the design more reusable, flexible, and easier to maintain.</a:t>
            </a: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59</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4544145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Importance of Design and Object-Oriented Thinking</a:t>
            </a:r>
          </a:p>
        </p:txBody>
      </p:sp>
      <p:sp>
        <p:nvSpPr>
          <p:cNvPr id="4" name="Subtitle 3"/>
          <p:cNvSpPr>
            <a:spLocks noGrp="1"/>
          </p:cNvSpPr>
          <p:nvPr>
            <p:ph type="subTitle" idx="1"/>
          </p:nvPr>
        </p:nvSpPr>
        <p:spPr>
          <a:xfrm>
            <a:off x="152400" y="1325563"/>
            <a:ext cx="9296400" cy="3657600"/>
          </a:xfrm>
        </p:spPr>
        <p:txBody>
          <a:bodyPr>
            <a:noAutofit/>
          </a:bodyPr>
          <a:lstStyle/>
          <a:p>
            <a:pPr marL="342900" indent="-3429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DUMS Example:</a:t>
            </a:r>
          </a:p>
          <a:p>
            <a:pPr marL="800100" lvl="1" indent="-342900" algn="l">
              <a:buFont typeface="Wingdings" panose="05000000000000000000" pitchFamily="2" charset="2"/>
              <a:buChar char="Ø"/>
            </a:pPr>
            <a:r>
              <a:rPr lang="en-US" sz="2000" b="1" dirty="0">
                <a:solidFill>
                  <a:srgbClr val="00B050"/>
                </a:solidFill>
                <a:latin typeface="Times New Roman" panose="02020603050405020304" pitchFamily="18" charset="0"/>
                <a:cs typeface="Times New Roman" panose="02020603050405020304" pitchFamily="18" charset="0"/>
              </a:rPr>
              <a:t>Modularity: </a:t>
            </a:r>
            <a:r>
              <a:rPr lang="en-US" sz="2000" dirty="0">
                <a:solidFill>
                  <a:schemeClr val="tx1"/>
                </a:solidFill>
                <a:latin typeface="Times New Roman" panose="02020603050405020304" pitchFamily="18" charset="0"/>
                <a:cs typeface="Times New Roman" panose="02020603050405020304" pitchFamily="18" charset="0"/>
              </a:rPr>
              <a:t>Each module (housing, garbage, traffic) is independent.</a:t>
            </a:r>
          </a:p>
          <a:p>
            <a:pPr marL="800100" lvl="1" indent="-342900" algn="l">
              <a:buFont typeface="Wingdings" panose="05000000000000000000" pitchFamily="2" charset="2"/>
              <a:buChar char="Ø"/>
            </a:pPr>
            <a:r>
              <a:rPr lang="en-US" sz="2000" b="1" dirty="0">
                <a:solidFill>
                  <a:srgbClr val="00B050"/>
                </a:solidFill>
                <a:latin typeface="Times New Roman" panose="02020603050405020304" pitchFamily="18" charset="0"/>
                <a:cs typeface="Times New Roman" panose="02020603050405020304" pitchFamily="18" charset="0"/>
              </a:rPr>
              <a:t>Reusability: </a:t>
            </a:r>
            <a:r>
              <a:rPr lang="en-US" sz="2000" dirty="0">
                <a:solidFill>
                  <a:schemeClr val="tx1"/>
                </a:solidFill>
                <a:latin typeface="Times New Roman" panose="02020603050405020304" pitchFamily="18" charset="0"/>
                <a:cs typeface="Times New Roman" panose="02020603050405020304" pitchFamily="18" charset="0"/>
              </a:rPr>
              <a:t>User class inherited by Citizen and Government Official.</a:t>
            </a:r>
          </a:p>
          <a:p>
            <a:pPr marL="800100" lvl="1" indent="-342900" algn="l">
              <a:buFont typeface="Wingdings" panose="05000000000000000000" pitchFamily="2" charset="2"/>
              <a:buChar char="Ø"/>
            </a:pPr>
            <a:r>
              <a:rPr lang="en-US" sz="2000" b="1" dirty="0">
                <a:solidFill>
                  <a:srgbClr val="00B050"/>
                </a:solidFill>
                <a:latin typeface="Times New Roman" panose="02020603050405020304" pitchFamily="18" charset="0"/>
                <a:cs typeface="Times New Roman" panose="02020603050405020304" pitchFamily="18" charset="0"/>
              </a:rPr>
              <a:t>Maintainability: </a:t>
            </a:r>
            <a:r>
              <a:rPr lang="en-US" sz="2000" dirty="0">
                <a:solidFill>
                  <a:schemeClr val="tx1"/>
                </a:solidFill>
                <a:latin typeface="Times New Roman" panose="02020603050405020304" pitchFamily="18" charset="0"/>
                <a:cs typeface="Times New Roman" panose="02020603050405020304" pitchFamily="18" charset="0"/>
              </a:rPr>
              <a:t>Changing garbage collection logic doesn’t break traffic module.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60</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29624154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Class Responsibility Collaborator (CRC) Cards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61</a:t>
            </a:fld>
            <a:endParaRPr lang="en-US" dirty="0">
              <a:solidFill>
                <a:schemeClr val="tx1"/>
              </a:solidFill>
            </a:endParaRPr>
          </a:p>
        </p:txBody>
      </p:sp>
      <p:sp>
        <p:nvSpPr>
          <p:cNvPr id="6" name="Rectangle 2">
            <a:extLst>
              <a:ext uri="{FF2B5EF4-FFF2-40B4-BE49-F238E27FC236}">
                <a16:creationId xmlns:a16="http://schemas.microsoft.com/office/drawing/2014/main" id="{88344AE1-ED4D-82AC-DFEE-BCABE5AF454C}"/>
              </a:ext>
            </a:extLst>
          </p:cNvPr>
          <p:cNvSpPr>
            <a:spLocks noGrp="1" noChangeArrowheads="1"/>
          </p:cNvSpPr>
          <p:nvPr>
            <p:ph type="subTitle" idx="1"/>
          </p:nvPr>
        </p:nvSpPr>
        <p:spPr bwMode="auto">
          <a:xfrm>
            <a:off x="224150" y="600186"/>
            <a:ext cx="8977312"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Represent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components, responsibilities, and connections </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 high level.</a:t>
            </a:r>
          </a:p>
          <a:p>
            <a:pPr marL="742950" lvl="1" indent="-285750" algn="l" eaLnBrk="0" fontAlgn="base" hangingPunct="0">
              <a:spcBef>
                <a:spcPct val="0"/>
              </a:spcBef>
              <a:spcAft>
                <a:spcPct val="0"/>
              </a:spcAft>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A brainstorming tool for object-oriented design, h</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elp refine conceptual design.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Organize system components into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responsibilities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each class.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how classes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collaborate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others.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visual tool to support brainstorming and design.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 of a CRC Card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Class name.</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Left side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Responsibilities (tasks of the class).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Right side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Collaborators (other classes it interacts with).</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Analogy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Like index cards used for organizing talking points.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card = one class in the system.</a:t>
            </a:r>
            <a:endParaRPr lang="en-US" altLang="ja-JP"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000" b="1" dirty="0">
                <a:solidFill>
                  <a:srgbClr val="00B050"/>
                </a:solidFill>
                <a:latin typeface="Times New Roman" panose="02020603050405020304" pitchFamily="18" charset="0"/>
                <a:cs typeface="Times New Roman" panose="02020603050405020304" pitchFamily="18" charset="0"/>
              </a:rPr>
              <a:t>Each card represents a class:</a:t>
            </a:r>
          </a:p>
          <a:p>
            <a:pPr marL="800100" lvl="1" indent="-342900" algn="l">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Class Name (e.g., Book)</a:t>
            </a:r>
          </a:p>
          <a:p>
            <a:pPr marL="800100" lvl="1" indent="-342900" algn="l">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Responsibilities (what it does, e.g., "Store title, author")</a:t>
            </a:r>
          </a:p>
          <a:p>
            <a:pPr marL="800100" lvl="1" indent="-342900" algn="l">
              <a:buFont typeface="Wingdings" panose="05000000000000000000" pitchFamily="2" charset="2"/>
              <a:buChar char="Ø"/>
            </a:pPr>
            <a:r>
              <a:rPr lang="en-US" altLang="ja-JP" sz="2000" dirty="0">
                <a:solidFill>
                  <a:srgbClr val="FF0000"/>
                </a:solidFill>
                <a:latin typeface="Times New Roman" panose="02020603050405020304" pitchFamily="18" charset="0"/>
                <a:cs typeface="Times New Roman" panose="02020603050405020304" pitchFamily="18" charset="0"/>
              </a:rPr>
              <a:t>Collaborators (other classes it interacts with, e.g., Member)</a:t>
            </a:r>
            <a:endParaRPr kumimoji="0" lang="ja-JP" altLang="ja-JP" sz="20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7953491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9C748-A941-22E4-1BDA-22D12A1AE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D6178-9955-17BA-2FE4-17565E3ACCB3}"/>
              </a:ext>
            </a:extLst>
          </p:cNvPr>
          <p:cNvSpPr>
            <a:spLocks noGrp="1"/>
          </p:cNvSpPr>
          <p:nvPr>
            <p:ph type="ctrTitle"/>
          </p:nvPr>
        </p:nvSpPr>
        <p:spPr>
          <a:xfrm>
            <a:off x="69954" y="0"/>
            <a:ext cx="9131508" cy="772439"/>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Class Responsibility Collaborator (CRC) Cards</a:t>
            </a:r>
          </a:p>
        </p:txBody>
      </p:sp>
      <p:sp>
        <p:nvSpPr>
          <p:cNvPr id="3" name="Slide Number Placeholder 2">
            <a:extLst>
              <a:ext uri="{FF2B5EF4-FFF2-40B4-BE49-F238E27FC236}">
                <a16:creationId xmlns:a16="http://schemas.microsoft.com/office/drawing/2014/main" id="{5DEE2F09-69AD-0011-C616-A135541680E3}"/>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62</a:t>
            </a:fld>
            <a:endParaRPr lang="en-US" dirty="0">
              <a:solidFill>
                <a:schemeClr val="tx1"/>
              </a:solidFill>
            </a:endParaRPr>
          </a:p>
        </p:txBody>
      </p:sp>
      <p:graphicFrame>
        <p:nvGraphicFramePr>
          <p:cNvPr id="5" name="Table 4">
            <a:extLst>
              <a:ext uri="{FF2B5EF4-FFF2-40B4-BE49-F238E27FC236}">
                <a16:creationId xmlns:a16="http://schemas.microsoft.com/office/drawing/2014/main" id="{52103846-5C15-B350-6C53-2A56037A1707}"/>
              </a:ext>
            </a:extLst>
          </p:cNvPr>
          <p:cNvGraphicFramePr>
            <a:graphicFrameLocks noGrp="1"/>
          </p:cNvGraphicFramePr>
          <p:nvPr>
            <p:extLst>
              <p:ext uri="{D42A27DB-BD31-4B8C-83A1-F6EECF244321}">
                <p14:modId xmlns:p14="http://schemas.microsoft.com/office/powerpoint/2010/main" val="2943216152"/>
              </p:ext>
            </p:extLst>
          </p:nvPr>
        </p:nvGraphicFramePr>
        <p:xfrm>
          <a:off x="152400" y="875927"/>
          <a:ext cx="6477000" cy="2560320"/>
        </p:xfrm>
        <a:graphic>
          <a:graphicData uri="http://schemas.openxmlformats.org/drawingml/2006/table">
            <a:tbl>
              <a:tblPr/>
              <a:tblGrid>
                <a:gridCol w="1371600">
                  <a:extLst>
                    <a:ext uri="{9D8B030D-6E8A-4147-A177-3AD203B41FA5}">
                      <a16:colId xmlns:a16="http://schemas.microsoft.com/office/drawing/2014/main" val="3196286425"/>
                    </a:ext>
                  </a:extLst>
                </a:gridCol>
                <a:gridCol w="3200400">
                  <a:extLst>
                    <a:ext uri="{9D8B030D-6E8A-4147-A177-3AD203B41FA5}">
                      <a16:colId xmlns:a16="http://schemas.microsoft.com/office/drawing/2014/main" val="3301966080"/>
                    </a:ext>
                  </a:extLst>
                </a:gridCol>
                <a:gridCol w="1905000">
                  <a:extLst>
                    <a:ext uri="{9D8B030D-6E8A-4147-A177-3AD203B41FA5}">
                      <a16:colId xmlns:a16="http://schemas.microsoft.com/office/drawing/2014/main" val="2707155200"/>
                    </a:ext>
                  </a:extLst>
                </a:gridCol>
              </a:tblGrid>
              <a:tr h="0">
                <a:tc>
                  <a:txBody>
                    <a:bodyPr/>
                    <a:lstStyle/>
                    <a:p>
                      <a:pPr>
                        <a:buNone/>
                      </a:pPr>
                      <a:r>
                        <a:rPr lang="en-US" dirty="0">
                          <a:latin typeface="Times New Roman" panose="02020603050405020304" pitchFamily="18" charset="0"/>
                          <a:cs typeface="Times New Roman" panose="02020603050405020304" pitchFamily="18" charset="0"/>
                        </a:rPr>
                        <a:t>Class</a:t>
                      </a:r>
                    </a:p>
                  </a:txBody>
                  <a:tcPr anchor="ctr">
                    <a:lnL>
                      <a:noFill/>
                    </a:lnL>
                    <a:lnR>
                      <a:noFill/>
                    </a:lnR>
                    <a:lnT>
                      <a:noFill/>
                    </a:lnT>
                    <a:lnB>
                      <a:noFill/>
                    </a:lnB>
                    <a:noFill/>
                  </a:tcPr>
                </a:tc>
                <a:tc>
                  <a:txBody>
                    <a:bodyPr/>
                    <a:lstStyle/>
                    <a:p>
                      <a:pPr>
                        <a:buNone/>
                      </a:pPr>
                      <a:r>
                        <a:rPr lang="en-US">
                          <a:latin typeface="Times New Roman" panose="02020603050405020304" pitchFamily="18" charset="0"/>
                          <a:cs typeface="Times New Roman" panose="02020603050405020304" pitchFamily="18" charset="0"/>
                        </a:rPr>
                        <a:t>Responsibilities</a:t>
                      </a:r>
                    </a:p>
                  </a:txBody>
                  <a:tcPr anchor="ctr">
                    <a:lnL>
                      <a:noFill/>
                    </a:lnL>
                    <a:lnR>
                      <a:noFill/>
                    </a:lnR>
                    <a:lnT>
                      <a:noFill/>
                    </a:lnT>
                    <a:lnB>
                      <a:noFill/>
                    </a:lnB>
                    <a:noFill/>
                  </a:tcPr>
                </a:tc>
                <a:tc>
                  <a:txBody>
                    <a:bodyPr/>
                    <a:lstStyle/>
                    <a:p>
                      <a:pPr>
                        <a:buNone/>
                      </a:pPr>
                      <a:r>
                        <a:rPr lang="en-US">
                          <a:latin typeface="Times New Roman" panose="02020603050405020304" pitchFamily="18" charset="0"/>
                          <a:cs typeface="Times New Roman" panose="02020603050405020304" pitchFamily="18" charset="0"/>
                        </a:rPr>
                        <a:t>Collaborators</a:t>
                      </a:r>
                    </a:p>
                  </a:txBody>
                  <a:tcPr anchor="ctr">
                    <a:lnL>
                      <a:noFill/>
                    </a:lnL>
                    <a:lnR>
                      <a:noFill/>
                    </a:lnR>
                    <a:lnT>
                      <a:noFill/>
                    </a:lnT>
                    <a:lnB>
                      <a:noFill/>
                    </a:lnB>
                    <a:noFill/>
                  </a:tcPr>
                </a:tc>
                <a:extLst>
                  <a:ext uri="{0D108BD9-81ED-4DB2-BD59-A6C34878D82A}">
                    <a16:rowId xmlns:a16="http://schemas.microsoft.com/office/drawing/2014/main" val="2812921058"/>
                  </a:ext>
                </a:extLst>
              </a:tr>
              <a:tr h="0">
                <a:tc>
                  <a:txBody>
                    <a:bodyPr/>
                    <a:lstStyle/>
                    <a:p>
                      <a:pPr>
                        <a:buNone/>
                      </a:pPr>
                      <a:r>
                        <a:rPr lang="en-US" b="1" dirty="0">
                          <a:latin typeface="Times New Roman" panose="02020603050405020304" pitchFamily="18" charset="0"/>
                          <a:cs typeface="Times New Roman" panose="02020603050405020304" pitchFamily="18" charset="0"/>
                        </a:rPr>
                        <a:t>Book</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dirty="0">
                          <a:latin typeface="Times New Roman" panose="02020603050405020304" pitchFamily="18" charset="0"/>
                          <a:cs typeface="Times New Roman" panose="02020603050405020304" pitchFamily="18" charset="0"/>
                        </a:rPr>
                        <a:t>- Store book information- Display book details- Check availability</a:t>
                      </a:r>
                    </a:p>
                  </a:txBody>
                  <a:tcPr anchor="ctr">
                    <a:lnL>
                      <a:noFill/>
                    </a:lnL>
                    <a:lnR>
                      <a:noFill/>
                    </a:lnR>
                    <a:lnT>
                      <a:noFill/>
                    </a:lnT>
                    <a:lnB>
                      <a:noFill/>
                    </a:lnB>
                    <a:noFill/>
                  </a:tcPr>
                </a:tc>
                <a:tc>
                  <a:txBody>
                    <a:bodyPr/>
                    <a:lstStyle/>
                    <a:p>
                      <a:pPr>
                        <a:buNone/>
                      </a:pPr>
                      <a:r>
                        <a:rPr lang="en-US" dirty="0">
                          <a:latin typeface="Times New Roman" panose="02020603050405020304" pitchFamily="18" charset="0"/>
                          <a:cs typeface="Times New Roman" panose="02020603050405020304" pitchFamily="18" charset="0"/>
                        </a:rPr>
                        <a:t>Member, Library</a:t>
                      </a:r>
                    </a:p>
                  </a:txBody>
                  <a:tcPr anchor="ctr">
                    <a:lnL>
                      <a:noFill/>
                    </a:lnL>
                    <a:lnR>
                      <a:noFill/>
                    </a:lnR>
                    <a:lnT>
                      <a:noFill/>
                    </a:lnT>
                    <a:lnB>
                      <a:noFill/>
                    </a:lnB>
                    <a:noFill/>
                  </a:tcPr>
                </a:tc>
                <a:extLst>
                  <a:ext uri="{0D108BD9-81ED-4DB2-BD59-A6C34878D82A}">
                    <a16:rowId xmlns:a16="http://schemas.microsoft.com/office/drawing/2014/main" val="3578034663"/>
                  </a:ext>
                </a:extLst>
              </a:tr>
              <a:tr h="0">
                <a:tc>
                  <a:txBody>
                    <a:bodyPr/>
                    <a:lstStyle/>
                    <a:p>
                      <a:pPr>
                        <a:buNone/>
                      </a:pPr>
                      <a:r>
                        <a:rPr lang="en-US" b="1">
                          <a:latin typeface="Times New Roman" panose="02020603050405020304" pitchFamily="18" charset="0"/>
                          <a:cs typeface="Times New Roman" panose="02020603050405020304" pitchFamily="18" charset="0"/>
                        </a:rPr>
                        <a:t>Member</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atin typeface="Times New Roman" panose="02020603050405020304" pitchFamily="18" charset="0"/>
                          <a:cs typeface="Times New Roman" panose="02020603050405020304" pitchFamily="18" charset="0"/>
                        </a:rPr>
                        <a:t>- Register member- Borrow book- Return book</a:t>
                      </a:r>
                    </a:p>
                  </a:txBody>
                  <a:tcPr anchor="ctr">
                    <a:lnL>
                      <a:noFill/>
                    </a:lnL>
                    <a:lnR>
                      <a:noFill/>
                    </a:lnR>
                    <a:lnT>
                      <a:noFill/>
                    </a:lnT>
                    <a:lnB>
                      <a:noFill/>
                    </a:lnB>
                    <a:noFill/>
                  </a:tcPr>
                </a:tc>
                <a:tc>
                  <a:txBody>
                    <a:bodyPr/>
                    <a:lstStyle/>
                    <a:p>
                      <a:pPr>
                        <a:buNone/>
                      </a:pPr>
                      <a:r>
                        <a:rPr lang="en-US" dirty="0">
                          <a:latin typeface="Times New Roman" panose="02020603050405020304" pitchFamily="18" charset="0"/>
                          <a:cs typeface="Times New Roman" panose="02020603050405020304" pitchFamily="18" charset="0"/>
                        </a:rPr>
                        <a:t>Book, Library</a:t>
                      </a:r>
                    </a:p>
                  </a:txBody>
                  <a:tcPr anchor="ctr">
                    <a:lnL>
                      <a:noFill/>
                    </a:lnL>
                    <a:lnR>
                      <a:noFill/>
                    </a:lnR>
                    <a:lnT>
                      <a:noFill/>
                    </a:lnT>
                    <a:lnB>
                      <a:noFill/>
                    </a:lnB>
                    <a:noFill/>
                  </a:tcPr>
                </a:tc>
                <a:extLst>
                  <a:ext uri="{0D108BD9-81ED-4DB2-BD59-A6C34878D82A}">
                    <a16:rowId xmlns:a16="http://schemas.microsoft.com/office/drawing/2014/main" val="2585877604"/>
                  </a:ext>
                </a:extLst>
              </a:tr>
              <a:tr h="0">
                <a:tc>
                  <a:txBody>
                    <a:bodyPr/>
                    <a:lstStyle/>
                    <a:p>
                      <a:pPr>
                        <a:buNone/>
                      </a:pPr>
                      <a:r>
                        <a:rPr lang="en-US" b="1">
                          <a:latin typeface="Times New Roman" panose="02020603050405020304" pitchFamily="18" charset="0"/>
                          <a:cs typeface="Times New Roman" panose="02020603050405020304" pitchFamily="18" charset="0"/>
                        </a:rPr>
                        <a:t>Library</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dirty="0">
                          <a:latin typeface="Times New Roman" panose="02020603050405020304" pitchFamily="18" charset="0"/>
                          <a:cs typeface="Times New Roman" panose="02020603050405020304" pitchFamily="18" charset="0"/>
                        </a:rPr>
                        <a:t>- Manage books- Manage members- Process borrowing</a:t>
                      </a:r>
                    </a:p>
                  </a:txBody>
                  <a:tcPr anchor="ctr">
                    <a:lnL>
                      <a:noFill/>
                    </a:lnL>
                    <a:lnR>
                      <a:noFill/>
                    </a:lnR>
                    <a:lnT>
                      <a:noFill/>
                    </a:lnT>
                    <a:lnB>
                      <a:noFill/>
                    </a:lnB>
                    <a:noFill/>
                  </a:tcPr>
                </a:tc>
                <a:tc>
                  <a:txBody>
                    <a:bodyPr/>
                    <a:lstStyle/>
                    <a:p>
                      <a:pPr>
                        <a:buNone/>
                      </a:pPr>
                      <a:r>
                        <a:rPr lang="en-US" dirty="0">
                          <a:latin typeface="Times New Roman" panose="02020603050405020304" pitchFamily="18" charset="0"/>
                          <a:cs typeface="Times New Roman" panose="02020603050405020304" pitchFamily="18" charset="0"/>
                        </a:rPr>
                        <a:t>Book, Member</a:t>
                      </a:r>
                    </a:p>
                  </a:txBody>
                  <a:tcPr anchor="ctr">
                    <a:lnL>
                      <a:noFill/>
                    </a:lnL>
                    <a:lnR>
                      <a:noFill/>
                    </a:lnR>
                    <a:lnT>
                      <a:noFill/>
                    </a:lnT>
                    <a:lnB>
                      <a:noFill/>
                    </a:lnB>
                    <a:noFill/>
                  </a:tcPr>
                </a:tc>
                <a:extLst>
                  <a:ext uri="{0D108BD9-81ED-4DB2-BD59-A6C34878D82A}">
                    <a16:rowId xmlns:a16="http://schemas.microsoft.com/office/drawing/2014/main" val="1338655263"/>
                  </a:ext>
                </a:extLst>
              </a:tr>
            </a:tbl>
          </a:graphicData>
        </a:graphic>
      </p:graphicFrame>
      <p:pic>
        <p:nvPicPr>
          <p:cNvPr id="8" name="Picture 7">
            <a:extLst>
              <a:ext uri="{FF2B5EF4-FFF2-40B4-BE49-F238E27FC236}">
                <a16:creationId xmlns:a16="http://schemas.microsoft.com/office/drawing/2014/main" id="{39452675-C225-FD8D-10D8-4729F35180AB}"/>
              </a:ext>
            </a:extLst>
          </p:cNvPr>
          <p:cNvPicPr>
            <a:picLocks noChangeAspect="1"/>
          </p:cNvPicPr>
          <p:nvPr/>
        </p:nvPicPr>
        <p:blipFill>
          <a:blip r:embed="rId3"/>
          <a:stretch>
            <a:fillRect/>
          </a:stretch>
        </p:blipFill>
        <p:spPr>
          <a:xfrm>
            <a:off x="6553200" y="990600"/>
            <a:ext cx="2514600" cy="4064209"/>
          </a:xfrm>
          <a:prstGeom prst="rect">
            <a:avLst/>
          </a:prstGeom>
        </p:spPr>
      </p:pic>
      <p:pic>
        <p:nvPicPr>
          <p:cNvPr id="10" name="Picture 9">
            <a:extLst>
              <a:ext uri="{FF2B5EF4-FFF2-40B4-BE49-F238E27FC236}">
                <a16:creationId xmlns:a16="http://schemas.microsoft.com/office/drawing/2014/main" id="{3685DC4C-EAE3-6ECF-0200-0D4BE83A5DC6}"/>
              </a:ext>
            </a:extLst>
          </p:cNvPr>
          <p:cNvPicPr>
            <a:picLocks noChangeAspect="1"/>
          </p:cNvPicPr>
          <p:nvPr/>
        </p:nvPicPr>
        <p:blipFill>
          <a:blip r:embed="rId4"/>
          <a:stretch>
            <a:fillRect/>
          </a:stretch>
        </p:blipFill>
        <p:spPr>
          <a:xfrm>
            <a:off x="304800" y="3539735"/>
            <a:ext cx="2438400" cy="3226190"/>
          </a:xfrm>
          <a:prstGeom prst="rect">
            <a:avLst/>
          </a:prstGeom>
        </p:spPr>
      </p:pic>
      <p:sp>
        <p:nvSpPr>
          <p:cNvPr id="12" name="Oval 11">
            <a:extLst>
              <a:ext uri="{FF2B5EF4-FFF2-40B4-BE49-F238E27FC236}">
                <a16:creationId xmlns:a16="http://schemas.microsoft.com/office/drawing/2014/main" id="{994C3869-E9D5-AC78-AAD2-5B5DFEAA086A}"/>
              </a:ext>
            </a:extLst>
          </p:cNvPr>
          <p:cNvSpPr/>
          <p:nvPr/>
        </p:nvSpPr>
        <p:spPr>
          <a:xfrm>
            <a:off x="0" y="3436247"/>
            <a:ext cx="1149246" cy="152400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3B12C26-5D08-DABD-F7BD-844BB051C9AF}"/>
              </a:ext>
            </a:extLst>
          </p:cNvPr>
          <p:cNvSpPr/>
          <p:nvPr/>
        </p:nvSpPr>
        <p:spPr>
          <a:xfrm>
            <a:off x="0" y="4996383"/>
            <a:ext cx="1600200" cy="947217"/>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0FC7B5C-4E5C-0B8C-6687-FA6DB12A199C}"/>
              </a:ext>
            </a:extLst>
          </p:cNvPr>
          <p:cNvSpPr/>
          <p:nvPr/>
        </p:nvSpPr>
        <p:spPr>
          <a:xfrm>
            <a:off x="69954" y="5943600"/>
            <a:ext cx="1600200" cy="947217"/>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59879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4C1F9-F05C-7F46-8846-DAD1ED6CA3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76687F4-5E02-24EF-8DB8-8765DE80F532}"/>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63</a:t>
            </a:fld>
            <a:endParaRPr lang="en-US" dirty="0">
              <a:solidFill>
                <a:schemeClr val="tx1"/>
              </a:solidFill>
            </a:endParaRPr>
          </a:p>
        </p:txBody>
      </p:sp>
      <p:pic>
        <p:nvPicPr>
          <p:cNvPr id="5" name="Picture 4">
            <a:extLst>
              <a:ext uri="{FF2B5EF4-FFF2-40B4-BE49-F238E27FC236}">
                <a16:creationId xmlns:a16="http://schemas.microsoft.com/office/drawing/2014/main" id="{2E4D1B9A-4C1C-2A1E-B018-3A5E2221893F}"/>
              </a:ext>
            </a:extLst>
          </p:cNvPr>
          <p:cNvPicPr>
            <a:picLocks noChangeAspect="1"/>
          </p:cNvPicPr>
          <p:nvPr/>
        </p:nvPicPr>
        <p:blipFill>
          <a:blip r:embed="rId3"/>
          <a:stretch>
            <a:fillRect/>
          </a:stretch>
        </p:blipFill>
        <p:spPr>
          <a:xfrm>
            <a:off x="242218" y="-42586"/>
            <a:ext cx="7315200" cy="6884089"/>
          </a:xfrm>
          <a:prstGeom prst="rect">
            <a:avLst/>
          </a:prstGeom>
        </p:spPr>
      </p:pic>
      <p:sp>
        <p:nvSpPr>
          <p:cNvPr id="8" name="Oval 7">
            <a:extLst>
              <a:ext uri="{FF2B5EF4-FFF2-40B4-BE49-F238E27FC236}">
                <a16:creationId xmlns:a16="http://schemas.microsoft.com/office/drawing/2014/main" id="{F9843CE0-DF7B-9C17-89D3-8F8D13B6D31B}"/>
              </a:ext>
            </a:extLst>
          </p:cNvPr>
          <p:cNvSpPr/>
          <p:nvPr/>
        </p:nvSpPr>
        <p:spPr>
          <a:xfrm>
            <a:off x="275996" y="3693340"/>
            <a:ext cx="3000603" cy="209786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8">
            <a:extLst>
              <a:ext uri="{FF2B5EF4-FFF2-40B4-BE49-F238E27FC236}">
                <a16:creationId xmlns:a16="http://schemas.microsoft.com/office/drawing/2014/main" id="{8C75E43A-25E7-BA0F-E52F-4BB7A55B1B0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600360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71B99-1B62-AD6E-2D4A-BCA40968C6C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49E9E-AF4E-2BC2-A8F2-233E3B52C9DC}"/>
              </a:ext>
            </a:extLst>
          </p:cNvPr>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64</a:t>
            </a:fld>
            <a:endParaRPr lang="en-US" dirty="0">
              <a:solidFill>
                <a:schemeClr val="tx1"/>
              </a:solidFill>
            </a:endParaRPr>
          </a:p>
        </p:txBody>
      </p:sp>
      <p:sp>
        <p:nvSpPr>
          <p:cNvPr id="6" name="Rectangle 2">
            <a:extLst>
              <a:ext uri="{FF2B5EF4-FFF2-40B4-BE49-F238E27FC236}">
                <a16:creationId xmlns:a16="http://schemas.microsoft.com/office/drawing/2014/main" id="{42C0D959-9BCD-D64F-501C-74BCD67C3B8D}"/>
              </a:ext>
            </a:extLst>
          </p:cNvPr>
          <p:cNvSpPr>
            <a:spLocks noGrp="1" noChangeArrowheads="1"/>
          </p:cNvSpPr>
          <p:nvPr>
            <p:ph type="subTitle" idx="1"/>
          </p:nvPr>
        </p:nvSpPr>
        <p:spPr bwMode="auto">
          <a:xfrm>
            <a:off x="224150" y="600186"/>
            <a:ext cx="8977312"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Represent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components, responsibilities, and connections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 high level.</a:t>
            </a:r>
          </a:p>
          <a:p>
            <a:pPr marL="742950" lvl="1" indent="-285750" algn="l" eaLnBrk="0" fontAlgn="base" hangingPunct="0">
              <a:spcBef>
                <a:spcPct val="0"/>
              </a:spcBef>
              <a:spcAft>
                <a:spcPct val="0"/>
              </a:spcAft>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A brainstorming tool for object-oriented design, h</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elp refine conceptual design.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Organize system components into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responsibilities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each class.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how classes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collaborate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others.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visual tool to support brainstorming and design.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 of a CRC Card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Class name.</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Left side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Responsibilities (tasks of the class).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Right side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Collaborators (other classes it interacts with).</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Analogy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Like index cards used for organizing talking points.</a:t>
            </a:r>
          </a:p>
          <a:p>
            <a:pPr marL="742950" lvl="1" indent="-28575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card = one class in the system.</a:t>
            </a:r>
            <a:endParaRPr lang="en-US" altLang="ja-JP"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000" b="1" dirty="0">
                <a:solidFill>
                  <a:srgbClr val="00B050"/>
                </a:solidFill>
                <a:latin typeface="Times New Roman" panose="02020603050405020304" pitchFamily="18" charset="0"/>
                <a:cs typeface="Times New Roman" panose="02020603050405020304" pitchFamily="18" charset="0"/>
              </a:rPr>
              <a:t>Each card represents a class:</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Class Name (e.g., Book)</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Responsibilities (what it does, e.g., "Store title, author")</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Collaborators (other classes it interacts with, e.g., Member)</a:t>
            </a: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6F86C59B-A5C4-7347-5E0D-E1A6FBB6E2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0"/>
            <a:ext cx="7516322" cy="6858000"/>
          </a:xfrm>
          <a:prstGeom prst="rect">
            <a:avLst/>
          </a:prstGeom>
        </p:spPr>
      </p:pic>
      <p:sp>
        <p:nvSpPr>
          <p:cNvPr id="10" name="Oval 9">
            <a:extLst>
              <a:ext uri="{FF2B5EF4-FFF2-40B4-BE49-F238E27FC236}">
                <a16:creationId xmlns:a16="http://schemas.microsoft.com/office/drawing/2014/main" id="{6A80E9EC-F9D2-964D-453C-56671849C739}"/>
              </a:ext>
            </a:extLst>
          </p:cNvPr>
          <p:cNvSpPr/>
          <p:nvPr/>
        </p:nvSpPr>
        <p:spPr>
          <a:xfrm>
            <a:off x="533400" y="2514600"/>
            <a:ext cx="2286000" cy="213360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75062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CRC Cards Technique</a:t>
            </a:r>
          </a:p>
        </p:txBody>
      </p:sp>
      <p:sp>
        <p:nvSpPr>
          <p:cNvPr id="4" name="Subtitle 3"/>
          <p:cNvSpPr>
            <a:spLocks noGrp="1"/>
          </p:cNvSpPr>
          <p:nvPr>
            <p:ph type="subTitle" idx="1"/>
          </p:nvPr>
        </p:nvSpPr>
        <p:spPr>
          <a:xfrm>
            <a:off x="152400" y="1524000"/>
            <a:ext cx="8839200" cy="4876800"/>
          </a:xfrm>
        </p:spPr>
        <p:txBody>
          <a:bodyPr>
            <a:noAutofit/>
          </a:bodyPr>
          <a:lstStyle/>
          <a:p>
            <a:pPr marL="342900" indent="-342900" algn="l">
              <a:buFont typeface="Wingdings" panose="05000000000000000000" pitchFamily="2" charset="2"/>
              <a:buChar char="ü"/>
            </a:pPr>
            <a:r>
              <a:rPr lang="en-US" altLang="ja-JP" sz="2400" b="1" dirty="0">
                <a:solidFill>
                  <a:srgbClr val="FF0000"/>
                </a:solidFill>
                <a:latin typeface="Times New Roman" panose="02020603050405020304" pitchFamily="18" charset="0"/>
                <a:cs typeface="Times New Roman" panose="02020603050405020304" pitchFamily="18" charset="0"/>
              </a:rPr>
              <a:t>Key Concept: </a:t>
            </a:r>
            <a:r>
              <a:rPr lang="en-US" altLang="ja-JP" sz="2400" dirty="0">
                <a:solidFill>
                  <a:schemeClr val="tx1"/>
                </a:solidFill>
                <a:latin typeface="Times New Roman" panose="02020603050405020304" pitchFamily="18" charset="0"/>
                <a:cs typeface="Times New Roman" panose="02020603050405020304" pitchFamily="18" charset="0"/>
              </a:rPr>
              <a:t>A brainstorming tool to design classes.</a:t>
            </a:r>
          </a:p>
          <a:p>
            <a:pPr marL="342900" indent="-342900" algn="l">
              <a:buFont typeface="Wingdings" panose="05000000000000000000" pitchFamily="2" charset="2"/>
              <a:buChar char="ü"/>
            </a:pPr>
            <a:r>
              <a:rPr lang="en-US" altLang="ja-JP" sz="2400" b="1" dirty="0">
                <a:solidFill>
                  <a:srgbClr val="00B050"/>
                </a:solidFill>
                <a:latin typeface="Times New Roman" panose="02020603050405020304" pitchFamily="18" charset="0"/>
                <a:cs typeface="Times New Roman" panose="02020603050405020304" pitchFamily="18" charset="0"/>
              </a:rPr>
              <a:t>DUMS Example for Housing </a:t>
            </a:r>
            <a:r>
              <a:rPr lang="en-US" altLang="ja-JP" sz="2400" b="1" dirty="0" err="1">
                <a:solidFill>
                  <a:srgbClr val="00B050"/>
                </a:solidFill>
                <a:latin typeface="Times New Roman" panose="02020603050405020304" pitchFamily="18" charset="0"/>
                <a:cs typeface="Times New Roman" panose="02020603050405020304" pitchFamily="18" charset="0"/>
              </a:rPr>
              <a:t>AllocationSystem</a:t>
            </a:r>
            <a:r>
              <a:rPr lang="en-US" altLang="ja-JP" sz="2400" b="1" dirty="0">
                <a:solidFill>
                  <a:srgbClr val="00B050"/>
                </a:solidFill>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ü"/>
            </a:pPr>
            <a:endParaRPr lang="en-US" altLang="ja-JP" sz="24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endParaRPr lang="en-US" altLang="ja-JP" sz="24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endParaRPr lang="en-US" altLang="ja-JP" sz="24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endParaRPr lang="en-US" altLang="ja-JP" sz="24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How It Helps:</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Clarifies that Housing Allocation System needs Applicant data to function.</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Exposes missing links (e.g., "Should Applicant interact with Garbage Zone? No!").</a:t>
            </a:r>
          </a:p>
          <a:p>
            <a:pPr marL="342900" indent="-342900" algn="l">
              <a:buFont typeface="Wingdings" panose="05000000000000000000" pitchFamily="2" charset="2"/>
              <a:buChar char="ü"/>
            </a:pPr>
            <a:endParaRPr lang="en-US" altLang="ja-JP" sz="2400" b="1" dirty="0">
              <a:solidFill>
                <a:srgbClr val="00B050"/>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65</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graphicFrame>
        <p:nvGraphicFramePr>
          <p:cNvPr id="10" name="Table 9">
            <a:extLst>
              <a:ext uri="{FF2B5EF4-FFF2-40B4-BE49-F238E27FC236}">
                <a16:creationId xmlns:a16="http://schemas.microsoft.com/office/drawing/2014/main" id="{7ADC418B-4C63-32B3-ADE0-0E545845BB32}"/>
              </a:ext>
            </a:extLst>
          </p:cNvPr>
          <p:cNvGraphicFramePr>
            <a:graphicFrameLocks noGrp="1"/>
          </p:cNvGraphicFramePr>
          <p:nvPr>
            <p:extLst>
              <p:ext uri="{D42A27DB-BD31-4B8C-83A1-F6EECF244321}">
                <p14:modId xmlns:p14="http://schemas.microsoft.com/office/powerpoint/2010/main" val="3239584704"/>
              </p:ext>
            </p:extLst>
          </p:nvPr>
        </p:nvGraphicFramePr>
        <p:xfrm>
          <a:off x="1047369" y="2438400"/>
          <a:ext cx="7620000" cy="1651000"/>
        </p:xfrm>
        <a:graphic>
          <a:graphicData uri="http://schemas.openxmlformats.org/drawingml/2006/table">
            <a:tbl>
              <a:tblPr firstRow="1" bandRow="1">
                <a:tableStyleId>{5C22544A-7EE6-4342-B048-85BDC9FD1C3A}</a:tableStyleId>
              </a:tblPr>
              <a:tblGrid>
                <a:gridCol w="2381631">
                  <a:extLst>
                    <a:ext uri="{9D8B030D-6E8A-4147-A177-3AD203B41FA5}">
                      <a16:colId xmlns:a16="http://schemas.microsoft.com/office/drawing/2014/main" val="418602080"/>
                    </a:ext>
                  </a:extLst>
                </a:gridCol>
                <a:gridCol w="2647569">
                  <a:extLst>
                    <a:ext uri="{9D8B030D-6E8A-4147-A177-3AD203B41FA5}">
                      <a16:colId xmlns:a16="http://schemas.microsoft.com/office/drawing/2014/main" val="2653414330"/>
                    </a:ext>
                  </a:extLst>
                </a:gridCol>
                <a:gridCol w="2590800">
                  <a:extLst>
                    <a:ext uri="{9D8B030D-6E8A-4147-A177-3AD203B41FA5}">
                      <a16:colId xmlns:a16="http://schemas.microsoft.com/office/drawing/2014/main" val="323417374"/>
                    </a:ext>
                  </a:extLst>
                </a:gridCol>
              </a:tblGrid>
              <a:tr h="370840">
                <a:tc>
                  <a:txBody>
                    <a:bodyPr/>
                    <a:lstStyle/>
                    <a:p>
                      <a:r>
                        <a:rPr kumimoji="1" lang="en-US" altLang="ja-JP" dirty="0"/>
                        <a:t>Class </a:t>
                      </a:r>
                      <a:endParaRPr kumimoji="1" lang="ja-JP" altLang="en-US" dirty="0"/>
                    </a:p>
                  </a:txBody>
                  <a:tcPr/>
                </a:tc>
                <a:tc>
                  <a:txBody>
                    <a:bodyPr/>
                    <a:lstStyle/>
                    <a:p>
                      <a:r>
                        <a:rPr kumimoji="1" lang="en-US" altLang="ja-JP" dirty="0"/>
                        <a:t>Responsibility</a:t>
                      </a:r>
                      <a:endParaRPr kumimoji="1" lang="ja-JP" altLang="en-US" dirty="0"/>
                    </a:p>
                  </a:txBody>
                  <a:tcPr/>
                </a:tc>
                <a:tc>
                  <a:txBody>
                    <a:bodyPr/>
                    <a:lstStyle/>
                    <a:p>
                      <a:r>
                        <a:rPr kumimoji="1" lang="en-US" altLang="ja-JP" dirty="0"/>
                        <a:t> Collaborator</a:t>
                      </a:r>
                      <a:endParaRPr kumimoji="1" lang="ja-JP" altLang="en-US" dirty="0"/>
                    </a:p>
                  </a:txBody>
                  <a:tcPr/>
                </a:tc>
                <a:extLst>
                  <a:ext uri="{0D108BD9-81ED-4DB2-BD59-A6C34878D82A}">
                    <a16:rowId xmlns:a16="http://schemas.microsoft.com/office/drawing/2014/main" val="1135972589"/>
                  </a:ext>
                </a:extLst>
              </a:tr>
              <a:tr h="370840">
                <a:tc>
                  <a:txBody>
                    <a:bodyPr/>
                    <a:lstStyle/>
                    <a:p>
                      <a:r>
                        <a:rPr lang="en-US" altLang="ja-JP" sz="1800" b="0" i="0" kern="1200" dirty="0" err="1">
                          <a:solidFill>
                            <a:schemeClr val="dk1"/>
                          </a:solidFill>
                          <a:effectLst/>
                          <a:latin typeface="+mn-lt"/>
                          <a:ea typeface="+mn-ea"/>
                          <a:cs typeface="+mn-cs"/>
                        </a:rPr>
                        <a:t>HousingAllocationSystem</a:t>
                      </a:r>
                      <a:endParaRPr kumimoji="1" lang="ja-JP" altLang="en-US" dirty="0"/>
                    </a:p>
                  </a:txBody>
                  <a:tcPr/>
                </a:tc>
                <a:tc>
                  <a:txBody>
                    <a:bodyPr/>
                    <a:lstStyle/>
                    <a:p>
                      <a:r>
                        <a:rPr lang="en-US" altLang="ja-JP" sz="1800" b="0" i="0" kern="1200" dirty="0">
                          <a:solidFill>
                            <a:schemeClr val="dk1"/>
                          </a:solidFill>
                          <a:effectLst/>
                          <a:latin typeface="+mn-lt"/>
                          <a:ea typeface="+mn-ea"/>
                          <a:cs typeface="+mn-cs"/>
                        </a:rPr>
                        <a:t>Match applicants to housing units</a:t>
                      </a:r>
                      <a:endParaRPr kumimoji="1" lang="ja-JP" altLang="en-US" dirty="0"/>
                    </a:p>
                  </a:txBody>
                  <a:tcPr/>
                </a:tc>
                <a:tc>
                  <a:txBody>
                    <a:bodyPr/>
                    <a:lstStyle/>
                    <a:p>
                      <a:r>
                        <a:rPr lang="en-US" altLang="ja-JP" dirty="0"/>
                        <a:t>Applicant</a:t>
                      </a:r>
                      <a:r>
                        <a:rPr lang="en-US" altLang="ja-JP" sz="1800" b="0" i="0" kern="1200" dirty="0">
                          <a:solidFill>
                            <a:schemeClr val="dk1"/>
                          </a:solidFill>
                          <a:effectLst/>
                          <a:latin typeface="+mn-lt"/>
                          <a:ea typeface="+mn-ea"/>
                          <a:cs typeface="+mn-cs"/>
                        </a:rPr>
                        <a:t>, </a:t>
                      </a:r>
                      <a:r>
                        <a:rPr lang="en-US" altLang="ja-JP" dirty="0" err="1"/>
                        <a:t>HousingUnit</a:t>
                      </a:r>
                      <a:endParaRPr kumimoji="1" lang="ja-JP" altLang="en-US" dirty="0"/>
                    </a:p>
                  </a:txBody>
                  <a:tcPr/>
                </a:tc>
                <a:extLst>
                  <a:ext uri="{0D108BD9-81ED-4DB2-BD59-A6C34878D82A}">
                    <a16:rowId xmlns:a16="http://schemas.microsoft.com/office/drawing/2014/main" val="1979084161"/>
                  </a:ext>
                </a:extLst>
              </a:tr>
              <a:tr h="370840">
                <a:tc>
                  <a:txBody>
                    <a:bodyPr/>
                    <a:lstStyle/>
                    <a:p>
                      <a:r>
                        <a:rPr lang="en-US" altLang="ja-JP" sz="1800" b="0" i="0" kern="1200" dirty="0">
                          <a:solidFill>
                            <a:schemeClr val="dk1"/>
                          </a:solidFill>
                          <a:effectLst/>
                          <a:latin typeface="+mn-lt"/>
                          <a:ea typeface="+mn-ea"/>
                          <a:cs typeface="+mn-cs"/>
                        </a:rPr>
                        <a:t>Applicant</a:t>
                      </a:r>
                      <a:endParaRPr kumimoji="1" lang="ja-JP" altLang="en-US" dirty="0"/>
                    </a:p>
                  </a:txBody>
                  <a:tcPr/>
                </a:tc>
                <a:tc>
                  <a:txBody>
                    <a:bodyPr/>
                    <a:lstStyle/>
                    <a:p>
                      <a:r>
                        <a:rPr lang="en-US" altLang="ja-JP" sz="1800" b="0" i="0" kern="1200" dirty="0">
                          <a:solidFill>
                            <a:schemeClr val="dk1"/>
                          </a:solidFill>
                          <a:effectLst/>
                          <a:latin typeface="+mn-lt"/>
                          <a:ea typeface="+mn-ea"/>
                          <a:cs typeface="+mn-cs"/>
                        </a:rPr>
                        <a:t>Provide personal/financial data</a:t>
                      </a:r>
                      <a:endParaRPr kumimoji="1" lang="ja-JP" altLang="en-US" dirty="0"/>
                    </a:p>
                  </a:txBody>
                  <a:tcPr/>
                </a:tc>
                <a:tc>
                  <a:txBody>
                    <a:bodyPr/>
                    <a:lstStyle/>
                    <a:p>
                      <a:r>
                        <a:rPr lang="en-US" altLang="ja-JP" sz="1800" b="0" i="0" kern="1200" dirty="0" err="1">
                          <a:solidFill>
                            <a:schemeClr val="dk1"/>
                          </a:solidFill>
                          <a:effectLst/>
                          <a:latin typeface="+mn-lt"/>
                          <a:ea typeface="+mn-ea"/>
                          <a:cs typeface="+mn-cs"/>
                        </a:rPr>
                        <a:t>HousingAllocationSystem</a:t>
                      </a:r>
                      <a:endParaRPr kumimoji="1" lang="ja-JP" altLang="en-US" dirty="0"/>
                    </a:p>
                  </a:txBody>
                  <a:tcPr/>
                </a:tc>
                <a:extLst>
                  <a:ext uri="{0D108BD9-81ED-4DB2-BD59-A6C34878D82A}">
                    <a16:rowId xmlns:a16="http://schemas.microsoft.com/office/drawing/2014/main" val="3809765359"/>
                  </a:ext>
                </a:extLst>
              </a:tr>
            </a:tbl>
          </a:graphicData>
        </a:graphic>
      </p:graphicFrame>
    </p:spTree>
    <p:extLst>
      <p:ext uri="{BB962C8B-B14F-4D97-AF65-F5344CB8AC3E}">
        <p14:creationId xmlns:p14="http://schemas.microsoft.com/office/powerpoint/2010/main" val="42431780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2800" b="1" dirty="0">
                <a:latin typeface="Times New Roman" pitchFamily="18" charset="0"/>
                <a:cs typeface="Times New Roman" pitchFamily="18" charset="0"/>
              </a:rPr>
              <a:t>Scenario: </a:t>
            </a:r>
            <a:r>
              <a:rPr lang="sv-SE" altLang="ja-JP" sz="2800" b="1" dirty="0">
                <a:latin typeface="Times New Roman" pitchFamily="18" charset="0"/>
                <a:cs typeface="Times New Roman" pitchFamily="18" charset="0"/>
              </a:rPr>
              <a:t>CRC Example</a:t>
            </a:r>
            <a:endParaRPr lang="en-US" sz="2800" b="1" dirty="0">
              <a:latin typeface="Times New Roman" pitchFamily="18" charset="0"/>
              <a:cs typeface="Times New Roman" pitchFamily="18" charset="0"/>
            </a:endParaRPr>
          </a:p>
        </p:txBody>
      </p:sp>
      <p:sp>
        <p:nvSpPr>
          <p:cNvPr id="4" name="Subtitle 3"/>
          <p:cNvSpPr>
            <a:spLocks noGrp="1"/>
          </p:cNvSpPr>
          <p:nvPr>
            <p:ph type="subTitle" idx="1"/>
          </p:nvPr>
        </p:nvSpPr>
        <p:spPr>
          <a:xfrm>
            <a:off x="0" y="1319702"/>
            <a:ext cx="9131508" cy="5309698"/>
          </a:xfrm>
        </p:spPr>
        <p:txBody>
          <a:bodyPr>
            <a:noAutofit/>
          </a:bodyPr>
          <a:lstStyle/>
          <a:p>
            <a:pPr marL="285750" lvl="0" indent="-285750" algn="just">
              <a:buFont typeface="Wingdings" panose="05000000000000000000" pitchFamily="2" charset="2"/>
              <a:buChar char="v"/>
            </a:pPr>
            <a:r>
              <a:rPr lang="en-US" sz="1600" b="1" dirty="0">
                <a:solidFill>
                  <a:srgbClr val="00B050"/>
                </a:solidFill>
                <a:latin typeface="Times New Roman" panose="02020603050405020304" pitchFamily="18" charset="0"/>
                <a:cs typeface="Times New Roman" panose="02020603050405020304" pitchFamily="18" charset="0"/>
              </a:rPr>
              <a:t>Problem: </a:t>
            </a:r>
            <a:r>
              <a:rPr lang="en-US" sz="1600" dirty="0">
                <a:solidFill>
                  <a:schemeClr val="tx1"/>
                </a:solidFill>
                <a:latin typeface="Times New Roman" panose="02020603050405020304" pitchFamily="18" charset="0"/>
                <a:cs typeface="Times New Roman" panose="02020603050405020304" pitchFamily="18" charset="0"/>
              </a:rPr>
              <a:t>Consider a </a:t>
            </a:r>
            <a:r>
              <a:rPr lang="en-US" sz="1600" b="1" dirty="0">
                <a:solidFill>
                  <a:schemeClr val="tx1"/>
                </a:solidFill>
                <a:latin typeface="Times New Roman" panose="02020603050405020304" pitchFamily="18" charset="0"/>
                <a:cs typeface="Times New Roman" panose="02020603050405020304" pitchFamily="18" charset="0"/>
              </a:rPr>
              <a:t>Dhaka Urban Management System</a:t>
            </a:r>
            <a:r>
              <a:rPr lang="en-US" sz="1600" dirty="0">
                <a:solidFill>
                  <a:schemeClr val="tx1"/>
                </a:solidFill>
                <a:latin typeface="Times New Roman" panose="02020603050405020304" pitchFamily="18" charset="0"/>
                <a:cs typeface="Times New Roman" panose="02020603050405020304" pitchFamily="18" charset="0"/>
              </a:rPr>
              <a:t> scenario: a city resident logs into the smart city portal using their ID and password to verify their identity with the municipal database. The user is then provided options to </a:t>
            </a:r>
            <a:r>
              <a:rPr lang="en-US" sz="1600" b="1" dirty="0">
                <a:solidFill>
                  <a:schemeClr val="tx1"/>
                </a:solidFill>
                <a:latin typeface="Times New Roman" panose="02020603050405020304" pitchFamily="18" charset="0"/>
                <a:cs typeface="Times New Roman" panose="02020603050405020304" pitchFamily="18" charset="0"/>
              </a:rPr>
              <a:t>report waste collection issues</a:t>
            </a: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pay utility bills</a:t>
            </a: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request road maintenance</a:t>
            </a:r>
            <a:r>
              <a:rPr lang="en-US" sz="1600" dirty="0">
                <a:solidFill>
                  <a:schemeClr val="tx1"/>
                </a:solidFill>
                <a:latin typeface="Times New Roman" panose="02020603050405020304" pitchFamily="18" charset="0"/>
                <a:cs typeface="Times New Roman" panose="02020603050405020304" pitchFamily="18" charset="0"/>
              </a:rPr>
              <a:t>, or </a:t>
            </a:r>
            <a:r>
              <a:rPr lang="en-US" sz="1600" b="1" dirty="0">
                <a:solidFill>
                  <a:schemeClr val="tx1"/>
                </a:solidFill>
                <a:latin typeface="Times New Roman" panose="02020603050405020304" pitchFamily="18" charset="0"/>
                <a:cs typeface="Times New Roman" panose="02020603050405020304" pitchFamily="18" charset="0"/>
              </a:rPr>
              <a:t>track service status</a:t>
            </a:r>
            <a:r>
              <a:rPr lang="en-US" sz="1600" dirty="0">
                <a:solidFill>
                  <a:schemeClr val="tx1"/>
                </a:solidFill>
                <a:latin typeface="Times New Roman" panose="02020603050405020304" pitchFamily="18" charset="0"/>
                <a:cs typeface="Times New Roman" panose="02020603050405020304" pitchFamily="18" charset="0"/>
              </a:rPr>
              <a:t>. Explain how </a:t>
            </a:r>
            <a:r>
              <a:rPr lang="en-US" sz="1600" b="1" dirty="0">
                <a:solidFill>
                  <a:schemeClr val="tx1"/>
                </a:solidFill>
                <a:latin typeface="Times New Roman" panose="02020603050405020304" pitchFamily="18" charset="0"/>
                <a:cs typeface="Times New Roman" panose="02020603050405020304" pitchFamily="18" charset="0"/>
              </a:rPr>
              <a:t>CRC (Class–Responsibility–Collaborator)</a:t>
            </a:r>
            <a:r>
              <a:rPr lang="en-US" sz="1600" dirty="0">
                <a:solidFill>
                  <a:schemeClr val="tx1"/>
                </a:solidFill>
                <a:latin typeface="Times New Roman" panose="02020603050405020304" pitchFamily="18" charset="0"/>
                <a:cs typeface="Times New Roman" panose="02020603050405020304" pitchFamily="18" charset="0"/>
              </a:rPr>
              <a:t> cards can be utilized to isolate and define the system components, including their attributes, functionalities, and interactions — for example, classes such as </a:t>
            </a:r>
            <a:r>
              <a:rPr lang="en-US" sz="1600" i="1" dirty="0">
                <a:solidFill>
                  <a:schemeClr val="tx1"/>
                </a:solidFill>
                <a:latin typeface="Times New Roman" panose="02020603050405020304" pitchFamily="18" charset="0"/>
                <a:cs typeface="Times New Roman" panose="02020603050405020304" pitchFamily="18" charset="0"/>
              </a:rPr>
              <a:t>Citizen</a:t>
            </a:r>
            <a:r>
              <a:rPr lang="en-US" sz="1600" dirty="0">
                <a:solidFill>
                  <a:schemeClr val="tx1"/>
                </a:solidFill>
                <a:latin typeface="Times New Roman" panose="02020603050405020304" pitchFamily="18" charset="0"/>
                <a:cs typeface="Times New Roman" panose="02020603050405020304" pitchFamily="18" charset="0"/>
              </a:rPr>
              <a:t>, </a:t>
            </a:r>
            <a:r>
              <a:rPr lang="en-US" sz="1600" i="1" dirty="0" err="1">
                <a:solidFill>
                  <a:schemeClr val="tx1"/>
                </a:solidFill>
                <a:latin typeface="Times New Roman" panose="02020603050405020304" pitchFamily="18" charset="0"/>
                <a:cs typeface="Times New Roman" panose="02020603050405020304" pitchFamily="18" charset="0"/>
              </a:rPr>
              <a:t>MunicipalService</a:t>
            </a:r>
            <a:r>
              <a:rPr lang="en-US" sz="1600" dirty="0">
                <a:solidFill>
                  <a:schemeClr val="tx1"/>
                </a:solidFill>
                <a:latin typeface="Times New Roman" panose="02020603050405020304" pitchFamily="18" charset="0"/>
                <a:cs typeface="Times New Roman" panose="02020603050405020304" pitchFamily="18" charset="0"/>
              </a:rPr>
              <a:t>, </a:t>
            </a:r>
            <a:r>
              <a:rPr lang="en-US" sz="1600" i="1" dirty="0">
                <a:solidFill>
                  <a:schemeClr val="tx1"/>
                </a:solidFill>
                <a:latin typeface="Times New Roman" panose="02020603050405020304" pitchFamily="18" charset="0"/>
                <a:cs typeface="Times New Roman" panose="02020603050405020304" pitchFamily="18" charset="0"/>
              </a:rPr>
              <a:t>Complaint</a:t>
            </a:r>
            <a:r>
              <a:rPr lang="en-US" sz="1600" dirty="0">
                <a:solidFill>
                  <a:schemeClr val="tx1"/>
                </a:solidFill>
                <a:latin typeface="Times New Roman" panose="02020603050405020304" pitchFamily="18" charset="0"/>
                <a:cs typeface="Times New Roman" panose="02020603050405020304" pitchFamily="18" charset="0"/>
              </a:rPr>
              <a:t>, and </a:t>
            </a:r>
            <a:r>
              <a:rPr lang="en-US" sz="1600" i="1" dirty="0">
                <a:solidFill>
                  <a:schemeClr val="tx1"/>
                </a:solidFill>
                <a:latin typeface="Times New Roman" panose="02020603050405020304" pitchFamily="18" charset="0"/>
                <a:cs typeface="Times New Roman" panose="02020603050405020304" pitchFamily="18" charset="0"/>
              </a:rPr>
              <a:t>Payment</a:t>
            </a:r>
            <a:r>
              <a:rPr lang="en-US" sz="1600" dirty="0">
                <a:solidFill>
                  <a:schemeClr val="tx1"/>
                </a:solidFill>
                <a:latin typeface="Times New Roman" panose="02020603050405020304" pitchFamily="18" charset="0"/>
                <a:cs typeface="Times New Roman" panose="02020603050405020304" pitchFamily="18" charset="0"/>
              </a:rPr>
              <a:t> can be defined along with their responsibilities and collaborating relationships. </a:t>
            </a:r>
          </a:p>
          <a:p>
            <a:pPr lvl="0" algn="just"/>
            <a:endParaRPr lang="en-US" sz="16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sz="1600" b="1" dirty="0">
                <a:solidFill>
                  <a:schemeClr val="tx1"/>
                </a:solidFill>
                <a:latin typeface="Times New Roman" panose="02020603050405020304" pitchFamily="18" charset="0"/>
                <a:cs typeface="Times New Roman" panose="02020603050405020304" pitchFamily="18" charset="0"/>
              </a:rPr>
              <a:t>Using CRC Cards in the Dhaka Urban Management System</a:t>
            </a:r>
          </a:p>
          <a:p>
            <a:pPr lvl="1" algn="just"/>
            <a:r>
              <a:rPr lang="en-US" sz="1600" dirty="0">
                <a:solidFill>
                  <a:schemeClr val="tx1"/>
                </a:solidFill>
                <a:latin typeface="Times New Roman" panose="02020603050405020304" pitchFamily="18" charset="0"/>
                <a:cs typeface="Times New Roman" panose="02020603050405020304" pitchFamily="18" charset="0"/>
              </a:rPr>
              <a:t>CRC (Class–Responsibility–Collaborator) cards help break down the Dhaka Urban Management System into manageable components by defining what each class represents, what it is responsible for, and which other classes it interacts with. This method helps designers isolate key system features and understand how objects collaborate to complete tasks such as logging in, submitting complaints, or paying bills.</a:t>
            </a:r>
          </a:p>
          <a:p>
            <a:pPr algn="just"/>
            <a:r>
              <a:rPr lang="en-US" sz="1600" b="1" dirty="0">
                <a:solidFill>
                  <a:srgbClr val="FF0000"/>
                </a:solidFill>
                <a:latin typeface="Times New Roman" panose="02020603050405020304" pitchFamily="18" charset="0"/>
                <a:cs typeface="Times New Roman" panose="02020603050405020304" pitchFamily="18" charset="0"/>
              </a:rPr>
              <a:t>For example:</a:t>
            </a:r>
          </a:p>
          <a:p>
            <a:pPr marL="285750" indent="-285750" algn="just">
              <a:buFont typeface="Wingdings" panose="05000000000000000000" pitchFamily="2" charset="2"/>
              <a:buChar char="v"/>
            </a:pPr>
            <a:r>
              <a:rPr lang="en-US" sz="1600" b="1" dirty="0">
                <a:solidFill>
                  <a:srgbClr val="FF0000"/>
                </a:solidFill>
                <a:latin typeface="Times New Roman" panose="02020603050405020304" pitchFamily="18" charset="0"/>
                <a:cs typeface="Times New Roman" panose="02020603050405020304" pitchFamily="18" charset="0"/>
              </a:rPr>
              <a:t>Citizen Class</a:t>
            </a:r>
            <a:endParaRPr lang="en-US" sz="1600" dirty="0">
              <a:solidFill>
                <a:srgbClr val="FF0000"/>
              </a:solidFill>
              <a:latin typeface="Times New Roman" panose="02020603050405020304" pitchFamily="18" charset="0"/>
              <a:cs typeface="Times New Roman" panose="02020603050405020304" pitchFamily="18" charset="0"/>
            </a:endParaRPr>
          </a:p>
          <a:p>
            <a:pPr lvl="1" algn="just"/>
            <a:r>
              <a:rPr lang="en-US" sz="1600" b="1" dirty="0">
                <a:solidFill>
                  <a:schemeClr val="tx1"/>
                </a:solidFill>
                <a:latin typeface="Times New Roman" panose="02020603050405020304" pitchFamily="18" charset="0"/>
                <a:cs typeface="Times New Roman" panose="02020603050405020304" pitchFamily="18" charset="0"/>
              </a:rPr>
              <a:t>Responsibilities:</a:t>
            </a:r>
            <a:r>
              <a:rPr lang="en-US" sz="1600" dirty="0">
                <a:solidFill>
                  <a:schemeClr val="tx1"/>
                </a:solidFill>
                <a:latin typeface="Times New Roman" panose="02020603050405020304" pitchFamily="18" charset="0"/>
                <a:cs typeface="Times New Roman" panose="02020603050405020304" pitchFamily="18" charset="0"/>
              </a:rPr>
              <a:t> Authenticate user credentials, manage user profile, initiate service requests.</a:t>
            </a:r>
          </a:p>
          <a:p>
            <a:pPr lvl="1" algn="just"/>
            <a:r>
              <a:rPr lang="en-US" sz="1600" b="1" dirty="0">
                <a:solidFill>
                  <a:schemeClr val="tx1"/>
                </a:solidFill>
                <a:latin typeface="Times New Roman" panose="02020603050405020304" pitchFamily="18" charset="0"/>
                <a:cs typeface="Times New Roman" panose="02020603050405020304" pitchFamily="18" charset="0"/>
              </a:rPr>
              <a:t>Collaborators:</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MunicipalService</a:t>
            </a:r>
            <a:r>
              <a:rPr lang="en-US" sz="1600" dirty="0">
                <a:solidFill>
                  <a:schemeClr val="tx1"/>
                </a:solidFill>
                <a:latin typeface="Times New Roman" panose="02020603050405020304" pitchFamily="18" charset="0"/>
                <a:cs typeface="Times New Roman" panose="02020603050405020304" pitchFamily="18" charset="0"/>
              </a:rPr>
              <a:t> (to request services), Complaint (to report issues), Payment (to pay bills).</a:t>
            </a:r>
          </a:p>
          <a:p>
            <a:pPr marL="285750" lvl="0" indent="-285750" algn="just">
              <a:buFont typeface="Wingdings" panose="05000000000000000000" pitchFamily="2" charset="2"/>
              <a:buChar char="v"/>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4133644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2800" b="1" dirty="0">
                <a:latin typeface="Times New Roman" pitchFamily="18" charset="0"/>
                <a:cs typeface="Times New Roman" pitchFamily="18" charset="0"/>
              </a:rPr>
              <a:t>Scenario: </a:t>
            </a:r>
            <a:r>
              <a:rPr lang="sv-SE" altLang="ja-JP" sz="2800" b="1" dirty="0">
                <a:latin typeface="Times New Roman" pitchFamily="18" charset="0"/>
                <a:cs typeface="Times New Roman" pitchFamily="18" charset="0"/>
              </a:rPr>
              <a:t>CRC Example</a:t>
            </a:r>
            <a:endParaRPr lang="en-US" sz="2800" b="1" dirty="0">
              <a:latin typeface="Times New Roman" pitchFamily="18" charset="0"/>
              <a:cs typeface="Times New Roman" pitchFamily="18" charset="0"/>
            </a:endParaRPr>
          </a:p>
        </p:txBody>
      </p:sp>
      <p:sp>
        <p:nvSpPr>
          <p:cNvPr id="4" name="Subtitle 3"/>
          <p:cNvSpPr>
            <a:spLocks noGrp="1"/>
          </p:cNvSpPr>
          <p:nvPr>
            <p:ph type="subTitle" idx="1"/>
          </p:nvPr>
        </p:nvSpPr>
        <p:spPr>
          <a:xfrm>
            <a:off x="6246" y="1274479"/>
            <a:ext cx="9131508" cy="5309698"/>
          </a:xfrm>
        </p:spPr>
        <p:txBody>
          <a:bodyPr>
            <a:noAutofit/>
          </a:bodyPr>
          <a:lstStyle/>
          <a:p>
            <a:pPr marL="285750" lvl="0" indent="-285750" algn="l" eaLnBrk="0" fontAlgn="base" hangingPunct="0">
              <a:spcBef>
                <a:spcPct val="0"/>
              </a:spcBef>
              <a:spcAft>
                <a:spcPct val="0"/>
              </a:spcAft>
              <a:buFont typeface="Wingdings" panose="05000000000000000000" pitchFamily="2" charset="2"/>
              <a:buChar char="v"/>
            </a:pPr>
            <a:r>
              <a:rPr lang="en-US" altLang="en-US" sz="2000" b="1" dirty="0" err="1">
                <a:solidFill>
                  <a:srgbClr val="FF0000"/>
                </a:solidFill>
                <a:latin typeface="Times New Roman" panose="02020603050405020304" pitchFamily="18" charset="0"/>
                <a:cs typeface="Times New Roman" panose="02020603050405020304" pitchFamily="18" charset="0"/>
              </a:rPr>
              <a:t>MunicipalService</a:t>
            </a:r>
            <a:r>
              <a:rPr lang="en-US" altLang="en-US" sz="2000" b="1" dirty="0">
                <a:solidFill>
                  <a:srgbClr val="FF0000"/>
                </a:solidFill>
                <a:latin typeface="Times New Roman" panose="02020603050405020304" pitchFamily="18" charset="0"/>
                <a:cs typeface="Times New Roman" panose="02020603050405020304" pitchFamily="18" charset="0"/>
              </a:rPr>
              <a:t> Class</a:t>
            </a:r>
            <a:endParaRPr lang="en-US" altLang="en-US" sz="2000" dirty="0">
              <a:solidFill>
                <a:srgbClr val="FF0000"/>
              </a:solidFill>
              <a:latin typeface="Times New Roman" panose="02020603050405020304" pitchFamily="18" charset="0"/>
              <a:cs typeface="Times New Roman" panose="02020603050405020304" pitchFamily="18" charset="0"/>
            </a:endParaRPr>
          </a:p>
          <a:p>
            <a:pPr lvl="1" algn="l"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Responsibilities:</a:t>
            </a:r>
            <a:r>
              <a:rPr lang="en-US" altLang="en-US" sz="1600" dirty="0">
                <a:solidFill>
                  <a:schemeClr val="tx1"/>
                </a:solidFill>
                <a:latin typeface="Times New Roman" panose="02020603050405020304" pitchFamily="18" charset="0"/>
                <a:cs typeface="Times New Roman" panose="02020603050405020304" pitchFamily="18" charset="0"/>
              </a:rPr>
              <a:t> Provide access to available city services such as waste management, road repair, or bill inquiries.</a:t>
            </a:r>
          </a:p>
          <a:p>
            <a:pPr lvl="1" algn="l"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Collaborators:</a:t>
            </a:r>
            <a:r>
              <a:rPr lang="en-US" altLang="en-US" sz="1600" dirty="0">
                <a:solidFill>
                  <a:schemeClr val="tx1"/>
                </a:solidFill>
                <a:latin typeface="Times New Roman" panose="02020603050405020304" pitchFamily="18" charset="0"/>
                <a:cs typeface="Times New Roman" panose="02020603050405020304" pitchFamily="18" charset="0"/>
              </a:rPr>
              <a:t> Citizen (service requester), Complaint (for issue reporting), Payment (for bill processing).</a:t>
            </a:r>
          </a:p>
          <a:p>
            <a:pPr marL="285750" lvl="0" indent="-285750" algn="l" eaLnBrk="0" fontAlgn="base" hangingPunct="0">
              <a:spcBef>
                <a:spcPct val="0"/>
              </a:spcBef>
              <a:spcAft>
                <a:spcPct val="0"/>
              </a:spcAft>
              <a:buFont typeface="Wingdings" panose="05000000000000000000" pitchFamily="2" charset="2"/>
              <a:buChar char="v"/>
            </a:pPr>
            <a:r>
              <a:rPr lang="en-US" altLang="en-US" sz="2000" b="1" dirty="0">
                <a:solidFill>
                  <a:srgbClr val="FF0000"/>
                </a:solidFill>
                <a:latin typeface="Times New Roman" panose="02020603050405020304" pitchFamily="18" charset="0"/>
                <a:cs typeface="Times New Roman" panose="02020603050405020304" pitchFamily="18" charset="0"/>
              </a:rPr>
              <a:t>Complaint Class</a:t>
            </a:r>
            <a:endParaRPr lang="en-US" altLang="en-US" sz="2000" dirty="0">
              <a:solidFill>
                <a:srgbClr val="FF0000"/>
              </a:solidFill>
              <a:latin typeface="Times New Roman" panose="02020603050405020304" pitchFamily="18" charset="0"/>
              <a:cs typeface="Times New Roman" panose="02020603050405020304" pitchFamily="18" charset="0"/>
            </a:endParaRPr>
          </a:p>
          <a:p>
            <a:pPr lvl="1" algn="l"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Responsibilities:</a:t>
            </a:r>
            <a:r>
              <a:rPr lang="en-US" altLang="en-US" sz="1600" dirty="0">
                <a:solidFill>
                  <a:schemeClr val="tx1"/>
                </a:solidFill>
                <a:latin typeface="Times New Roman" panose="02020603050405020304" pitchFamily="18" charset="0"/>
                <a:cs typeface="Times New Roman" panose="02020603050405020304" pitchFamily="18" charset="0"/>
              </a:rPr>
              <a:t> Record waste collection issues, road maintenance requests, and other public service complaints.</a:t>
            </a:r>
          </a:p>
          <a:p>
            <a:pPr lvl="1" algn="l"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Collaborators:</a:t>
            </a:r>
            <a:r>
              <a:rPr lang="en-US" altLang="en-US" sz="1600" dirty="0">
                <a:solidFill>
                  <a:schemeClr val="tx1"/>
                </a:solidFill>
                <a:latin typeface="Times New Roman" panose="02020603050405020304" pitchFamily="18" charset="0"/>
                <a:cs typeface="Times New Roman" panose="02020603050405020304" pitchFamily="18" charset="0"/>
              </a:rPr>
              <a:t> Citizen (complaint initiator), </a:t>
            </a:r>
            <a:r>
              <a:rPr lang="en-US" altLang="en-US" sz="1600" dirty="0" err="1">
                <a:solidFill>
                  <a:schemeClr val="tx1"/>
                </a:solidFill>
                <a:latin typeface="Times New Roman" panose="02020603050405020304" pitchFamily="18" charset="0"/>
                <a:cs typeface="Times New Roman" panose="02020603050405020304" pitchFamily="18" charset="0"/>
              </a:rPr>
              <a:t>MunicipalService</a:t>
            </a:r>
            <a:r>
              <a:rPr lang="en-US" altLang="en-US" sz="1600" dirty="0">
                <a:solidFill>
                  <a:schemeClr val="tx1"/>
                </a:solidFill>
                <a:latin typeface="Times New Roman" panose="02020603050405020304" pitchFamily="18" charset="0"/>
                <a:cs typeface="Times New Roman" panose="02020603050405020304" pitchFamily="18" charset="0"/>
              </a:rPr>
              <a:t> (service handling), </a:t>
            </a:r>
            <a:r>
              <a:rPr lang="en-US" altLang="en-US" sz="1600" dirty="0" err="1">
                <a:solidFill>
                  <a:schemeClr val="tx1"/>
                </a:solidFill>
                <a:latin typeface="Times New Roman" panose="02020603050405020304" pitchFamily="18" charset="0"/>
                <a:cs typeface="Times New Roman" panose="02020603050405020304" pitchFamily="18" charset="0"/>
              </a:rPr>
              <a:t>ServiceStatus</a:t>
            </a:r>
            <a:r>
              <a:rPr lang="en-US" altLang="en-US" sz="1600" dirty="0">
                <a:solidFill>
                  <a:schemeClr val="tx1"/>
                </a:solidFill>
                <a:latin typeface="Times New Roman" panose="02020603050405020304" pitchFamily="18" charset="0"/>
                <a:cs typeface="Times New Roman" panose="02020603050405020304" pitchFamily="18" charset="0"/>
              </a:rPr>
              <a:t> (to track progress).</a:t>
            </a:r>
          </a:p>
          <a:p>
            <a:pPr marL="285750" lvl="0" indent="-285750" algn="l" eaLnBrk="0" fontAlgn="base" hangingPunct="0">
              <a:spcBef>
                <a:spcPct val="0"/>
              </a:spcBef>
              <a:spcAft>
                <a:spcPct val="0"/>
              </a:spcAft>
              <a:buFont typeface="Wingdings" panose="05000000000000000000" pitchFamily="2" charset="2"/>
              <a:buChar char="v"/>
            </a:pPr>
            <a:r>
              <a:rPr lang="en-US" altLang="en-US" sz="2000" b="1" dirty="0">
                <a:solidFill>
                  <a:srgbClr val="FF0000"/>
                </a:solidFill>
                <a:latin typeface="Times New Roman" panose="02020603050405020304" pitchFamily="18" charset="0"/>
                <a:cs typeface="Times New Roman" panose="02020603050405020304" pitchFamily="18" charset="0"/>
              </a:rPr>
              <a:t>Payment Class</a:t>
            </a:r>
            <a:endParaRPr lang="en-US" altLang="en-US" sz="2000" dirty="0">
              <a:solidFill>
                <a:srgbClr val="FF0000"/>
              </a:solidFill>
              <a:latin typeface="Times New Roman" panose="02020603050405020304" pitchFamily="18" charset="0"/>
              <a:cs typeface="Times New Roman" panose="02020603050405020304" pitchFamily="18" charset="0"/>
            </a:endParaRPr>
          </a:p>
          <a:p>
            <a:pPr lvl="1" algn="l"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Responsibilities:</a:t>
            </a:r>
            <a:r>
              <a:rPr lang="en-US" altLang="en-US" sz="1600" dirty="0">
                <a:solidFill>
                  <a:schemeClr val="tx1"/>
                </a:solidFill>
                <a:latin typeface="Times New Roman" panose="02020603050405020304" pitchFamily="18" charset="0"/>
                <a:cs typeface="Times New Roman" panose="02020603050405020304" pitchFamily="18" charset="0"/>
              </a:rPr>
              <a:t> Process utility bill payments, verify transaction details, and update user records.</a:t>
            </a:r>
          </a:p>
          <a:p>
            <a:pPr lvl="1" algn="l"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Collaborators:</a:t>
            </a:r>
            <a:r>
              <a:rPr lang="en-US" altLang="en-US" sz="1600" dirty="0">
                <a:solidFill>
                  <a:schemeClr val="tx1"/>
                </a:solidFill>
                <a:latin typeface="Times New Roman" panose="02020603050405020304" pitchFamily="18" charset="0"/>
                <a:cs typeface="Times New Roman" panose="02020603050405020304" pitchFamily="18" charset="0"/>
              </a:rPr>
              <a:t> Citizen (payer), </a:t>
            </a:r>
            <a:r>
              <a:rPr lang="en-US" altLang="en-US" sz="1600" dirty="0" err="1">
                <a:solidFill>
                  <a:schemeClr val="tx1"/>
                </a:solidFill>
                <a:latin typeface="Times New Roman" panose="02020603050405020304" pitchFamily="18" charset="0"/>
                <a:cs typeface="Times New Roman" panose="02020603050405020304" pitchFamily="18" charset="0"/>
              </a:rPr>
              <a:t>MunicipalService</a:t>
            </a:r>
            <a:r>
              <a:rPr lang="en-US" altLang="en-US" sz="1600" dirty="0">
                <a:solidFill>
                  <a:schemeClr val="tx1"/>
                </a:solidFill>
                <a:latin typeface="Times New Roman" panose="02020603050405020304" pitchFamily="18" charset="0"/>
                <a:cs typeface="Times New Roman" panose="02020603050405020304" pitchFamily="18" charset="0"/>
              </a:rPr>
              <a:t> (billing information), </a:t>
            </a:r>
            <a:r>
              <a:rPr lang="en-US" altLang="en-US" sz="1600" dirty="0" err="1">
                <a:solidFill>
                  <a:schemeClr val="tx1"/>
                </a:solidFill>
                <a:latin typeface="Times New Roman" panose="02020603050405020304" pitchFamily="18" charset="0"/>
                <a:cs typeface="Times New Roman" panose="02020603050405020304" pitchFamily="18" charset="0"/>
              </a:rPr>
              <a:t>TransactionGateway</a:t>
            </a:r>
            <a:r>
              <a:rPr lang="en-US" altLang="en-US" sz="1600" dirty="0">
                <a:solidFill>
                  <a:schemeClr val="tx1"/>
                </a:solidFill>
                <a:latin typeface="Times New Roman" panose="02020603050405020304" pitchFamily="18" charset="0"/>
                <a:cs typeface="Times New Roman" panose="02020603050405020304" pitchFamily="18" charset="0"/>
              </a:rPr>
              <a:t> (processing).</a:t>
            </a:r>
          </a:p>
          <a:p>
            <a:pPr marL="742950" lvl="1" indent="-285750" algn="l" eaLnBrk="0" fontAlgn="base" hangingPunct="0">
              <a:spcBef>
                <a:spcPct val="0"/>
              </a:spcBef>
              <a:spcAft>
                <a:spcPct val="0"/>
              </a:spcAft>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Using CRC cards makes it easier to identify each class’s attributes (e.g., </a:t>
            </a:r>
            <a:r>
              <a:rPr lang="en-US" sz="1600" dirty="0" err="1">
                <a:solidFill>
                  <a:schemeClr val="tx1"/>
                </a:solidFill>
                <a:latin typeface="Times New Roman" panose="02020603050405020304" pitchFamily="18" charset="0"/>
                <a:cs typeface="Times New Roman" panose="02020603050405020304" pitchFamily="18" charset="0"/>
              </a:rPr>
              <a:t>CitizenID</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ServiceType</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ComplaintStatus</a:t>
            </a:r>
            <a:r>
              <a:rPr lang="en-US" sz="1600" dirty="0">
                <a:solidFill>
                  <a:schemeClr val="tx1"/>
                </a:solidFill>
                <a:latin typeface="Times New Roman" panose="02020603050405020304" pitchFamily="18" charset="0"/>
                <a:cs typeface="Times New Roman" panose="02020603050405020304" pitchFamily="18" charset="0"/>
              </a:rPr>
              <a:t>), define their behaviors (e.g., login(), </a:t>
            </a:r>
            <a:r>
              <a:rPr lang="en-US" sz="1600" dirty="0" err="1">
                <a:solidFill>
                  <a:schemeClr val="tx1"/>
                </a:solidFill>
                <a:latin typeface="Times New Roman" panose="02020603050405020304" pitchFamily="18" charset="0"/>
                <a:cs typeface="Times New Roman" panose="02020603050405020304" pitchFamily="18" charset="0"/>
              </a:rPr>
              <a:t>submitComplaint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processPayment</a:t>
            </a:r>
            <a:r>
              <a:rPr lang="en-US" sz="1600" dirty="0">
                <a:solidFill>
                  <a:schemeClr val="tx1"/>
                </a:solidFill>
                <a:latin typeface="Times New Roman" panose="02020603050405020304" pitchFamily="18" charset="0"/>
                <a:cs typeface="Times New Roman" panose="02020603050405020304" pitchFamily="18" charset="0"/>
              </a:rPr>
              <a:t>()), and outline how they interact within the system. This approach ensures better system design, promotes modularity, and simplifies implementation and future maintenance.</a:t>
            </a:r>
            <a:endParaRPr lang="en-US" altLang="en-US" sz="1600" dirty="0">
              <a:solidFill>
                <a:schemeClr val="tx1"/>
              </a:solidFill>
              <a:latin typeface="Times New Roman" panose="02020603050405020304" pitchFamily="18" charset="0"/>
              <a:cs typeface="Times New Roman" panose="02020603050405020304" pitchFamily="18" charset="0"/>
            </a:endParaRPr>
          </a:p>
          <a:p>
            <a:pPr lvl="0" algn="l" eaLnBrk="0" fontAlgn="base" hangingPunct="0">
              <a:spcBef>
                <a:spcPct val="0"/>
              </a:spcBef>
              <a:spcAft>
                <a:spcPct val="0"/>
              </a:spcAft>
            </a:pPr>
            <a:endParaRPr lang="en-US" altLang="en-US" sz="1600" dirty="0">
              <a:solidFill>
                <a:schemeClr val="tx1"/>
              </a:solidFill>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23239022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2800" b="1" dirty="0">
                <a:latin typeface="Times New Roman" pitchFamily="18" charset="0"/>
                <a:cs typeface="Times New Roman" pitchFamily="18" charset="0"/>
              </a:rPr>
              <a:t>Scenario: </a:t>
            </a:r>
            <a:r>
              <a:rPr lang="sv-SE" altLang="ja-JP" sz="2800" b="1" dirty="0">
                <a:latin typeface="Times New Roman" pitchFamily="18" charset="0"/>
                <a:cs typeface="Times New Roman" pitchFamily="18" charset="0"/>
              </a:rPr>
              <a:t>CRC Example</a:t>
            </a:r>
            <a:endParaRPr lang="en-US" sz="2800" b="1" dirty="0">
              <a:latin typeface="Times New Roman" pitchFamily="18" charset="0"/>
              <a:cs typeface="Times New Roman" pitchFamily="18" charset="0"/>
            </a:endParaRPr>
          </a:p>
        </p:txBody>
      </p:sp>
      <p:sp>
        <p:nvSpPr>
          <p:cNvPr id="4" name="Subtitle 3"/>
          <p:cNvSpPr>
            <a:spLocks noGrp="1"/>
          </p:cNvSpPr>
          <p:nvPr>
            <p:ph type="subTitle" idx="1"/>
          </p:nvPr>
        </p:nvSpPr>
        <p:spPr>
          <a:xfrm>
            <a:off x="360877" y="1298815"/>
            <a:ext cx="2743200" cy="5309698"/>
          </a:xfrm>
          <a:ln w="19050">
            <a:solidFill>
              <a:srgbClr val="00B0F0"/>
            </a:solidFill>
          </a:ln>
        </p:spPr>
        <p:txBody>
          <a:bodyPr>
            <a:noAutofit/>
          </a:bodyPr>
          <a:lstStyle/>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Citizen     |</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citizenID</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name         |</a:t>
            </a:r>
          </a:p>
          <a:p>
            <a:pPr lvl="0" algn="just"/>
            <a:r>
              <a:rPr lang="en-US" sz="1100" dirty="0">
                <a:solidFill>
                  <a:schemeClr val="tx1"/>
                </a:solidFill>
                <a:latin typeface="Times New Roman" panose="02020603050405020304" pitchFamily="18" charset="0"/>
                <a:cs typeface="Times New Roman" panose="02020603050405020304" pitchFamily="18" charset="0"/>
              </a:rPr>
              <a:t>                 | - password     |</a:t>
            </a:r>
          </a:p>
          <a:p>
            <a:pPr lvl="0" algn="just"/>
            <a:r>
              <a:rPr lang="en-US" sz="1100" dirty="0">
                <a:solidFill>
                  <a:schemeClr val="tx1"/>
                </a:solidFill>
                <a:latin typeface="Times New Roman" panose="02020603050405020304" pitchFamily="18" charset="0"/>
                <a:cs typeface="Times New Roman" panose="02020603050405020304" pitchFamily="18" charset="0"/>
              </a:rPr>
              <a:t>                 | - address      |</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login()      |</a:t>
            </a:r>
          </a:p>
          <a:p>
            <a:pPr lvl="0"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requestSvc</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payBill</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interacts with</a:t>
            </a:r>
          </a:p>
          <a:p>
            <a:pPr lvl="0" algn="just"/>
            <a:r>
              <a:rPr lang="en-US" sz="1100" dirty="0">
                <a:solidFill>
                  <a:schemeClr val="tx1"/>
                </a:solidFill>
                <a:latin typeface="Times New Roman" panose="02020603050405020304" pitchFamily="18" charset="0"/>
                <a:cs typeface="Times New Roman" panose="02020603050405020304" pitchFamily="18" charset="0"/>
              </a:rPr>
              <a:t>                          v</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a:t>
            </a:r>
            <a:r>
              <a:rPr lang="en-US" sz="1100" dirty="0" err="1">
                <a:solidFill>
                  <a:schemeClr val="tx1"/>
                </a:solidFill>
                <a:latin typeface="Times New Roman" panose="02020603050405020304" pitchFamily="18" charset="0"/>
                <a:cs typeface="Times New Roman" panose="02020603050405020304" pitchFamily="18" charset="0"/>
              </a:rPr>
              <a:t>MunicipalService</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serviceID</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serviceType</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description         |</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getServices</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assignService</a:t>
            </a:r>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a:t>
            </a:r>
          </a:p>
          <a:p>
            <a:pPr lvl="0" algn="just"/>
            <a:r>
              <a:rPr lang="en-US" sz="1100" dirty="0">
                <a:solidFill>
                  <a:schemeClr val="tx1"/>
                </a:solidFill>
                <a:latin typeface="Times New Roman" panose="02020603050405020304" pitchFamily="18" charset="0"/>
                <a:cs typeface="Times New Roman" panose="02020603050405020304" pitchFamily="18" charset="0"/>
              </a:rPr>
              <a:t>                           |</a:t>
            </a: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Subtitle 3">
            <a:extLst>
              <a:ext uri="{FF2B5EF4-FFF2-40B4-BE49-F238E27FC236}">
                <a16:creationId xmlns:a16="http://schemas.microsoft.com/office/drawing/2014/main" id="{0D2C73BF-9249-4E99-8B5F-DFA8D27D094F}"/>
              </a:ext>
            </a:extLst>
          </p:cNvPr>
          <p:cNvSpPr txBox="1">
            <a:spLocks/>
          </p:cNvSpPr>
          <p:nvPr/>
        </p:nvSpPr>
        <p:spPr>
          <a:xfrm>
            <a:off x="3296725" y="1298815"/>
            <a:ext cx="2743200" cy="5309698"/>
          </a:xfrm>
          <a:prstGeom prst="rect">
            <a:avLst/>
          </a:prstGeom>
          <a:ln w="19050">
            <a:solidFill>
              <a:srgbClr val="7030A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1100" dirty="0">
              <a:solidFill>
                <a:schemeClr val="tx1"/>
              </a:solidFill>
              <a:latin typeface="Times New Roman" panose="02020603050405020304" pitchFamily="18" charset="0"/>
              <a:cs typeface="Times New Roman" panose="02020603050405020304" pitchFamily="18" charset="0"/>
            </a:endParaRPr>
          </a:p>
          <a:p>
            <a:pPr algn="just"/>
            <a:r>
              <a:rPr lang="en-US" sz="1100" dirty="0">
                <a:solidFill>
                  <a:schemeClr val="tx1"/>
                </a:solidFill>
                <a:latin typeface="Times New Roman" panose="02020603050405020304" pitchFamily="18" charset="0"/>
                <a:cs typeface="Times New Roman" panose="02020603050405020304" pitchFamily="18" charset="0"/>
              </a:rPr>
              <a:t>                           +----------------------+</a:t>
            </a:r>
          </a:p>
          <a:p>
            <a:pPr algn="just"/>
            <a:r>
              <a:rPr lang="en-US" sz="1100" dirty="0">
                <a:solidFill>
                  <a:schemeClr val="tx1"/>
                </a:solidFill>
                <a:latin typeface="Times New Roman" panose="02020603050405020304" pitchFamily="18" charset="0"/>
                <a:cs typeface="Times New Roman" panose="02020603050405020304" pitchFamily="18" charset="0"/>
              </a:rPr>
              <a:t>                           | interacts with       |</a:t>
            </a:r>
          </a:p>
          <a:p>
            <a:pPr algn="just"/>
            <a:r>
              <a:rPr lang="en-US" sz="1100" dirty="0">
                <a:solidFill>
                  <a:schemeClr val="tx1"/>
                </a:solidFill>
                <a:latin typeface="Times New Roman" panose="02020603050405020304" pitchFamily="18" charset="0"/>
                <a:cs typeface="Times New Roman" panose="02020603050405020304" pitchFamily="18" charset="0"/>
              </a:rPr>
              <a:t>                           v                      </a:t>
            </a:r>
            <a:r>
              <a:rPr lang="en-US" sz="1100" dirty="0" err="1">
                <a:solidFill>
                  <a:schemeClr val="tx1"/>
                </a:solidFill>
                <a:latin typeface="Times New Roman" panose="02020603050405020304" pitchFamily="18" charset="0"/>
                <a:cs typeface="Times New Roman" panose="02020603050405020304" pitchFamily="18" charset="0"/>
              </a:rPr>
              <a:t>v</a:t>
            </a:r>
            <a:endParaRPr lang="en-US" sz="1100" dirty="0">
              <a:solidFill>
                <a:schemeClr val="tx1"/>
              </a:solidFill>
              <a:latin typeface="Times New Roman" panose="02020603050405020304" pitchFamily="18" charset="0"/>
              <a:cs typeface="Times New Roman" panose="02020603050405020304" pitchFamily="18" charset="0"/>
            </a:endParaRPr>
          </a:p>
          <a:p>
            <a:pPr algn="just"/>
            <a:r>
              <a:rPr lang="en-US" sz="1100" dirty="0">
                <a:solidFill>
                  <a:schemeClr val="tx1"/>
                </a:solidFill>
                <a:latin typeface="Times New Roman" panose="02020603050405020304" pitchFamily="18" charset="0"/>
                <a:cs typeface="Times New Roman" panose="02020603050405020304" pitchFamily="18" charset="0"/>
              </a:rPr>
              <a:t>                +------------------+    +--------------------+</a:t>
            </a:r>
          </a:p>
          <a:p>
            <a:pPr algn="just"/>
            <a:r>
              <a:rPr lang="en-US" sz="1100" dirty="0">
                <a:solidFill>
                  <a:schemeClr val="tx1"/>
                </a:solidFill>
                <a:latin typeface="Times New Roman" panose="02020603050405020304" pitchFamily="18" charset="0"/>
                <a:cs typeface="Times New Roman" panose="02020603050405020304" pitchFamily="18" charset="0"/>
              </a:rPr>
              <a:t>                |    Complaint     |    |      Payment       |</a:t>
            </a:r>
          </a:p>
          <a:p>
            <a:pPr algn="just"/>
            <a:r>
              <a:rPr lang="en-US" sz="1100" dirty="0">
                <a:solidFill>
                  <a:schemeClr val="tx1"/>
                </a:solidFill>
                <a:latin typeface="Times New Roman" panose="02020603050405020304" pitchFamily="18" charset="0"/>
                <a:cs typeface="Times New Roman" panose="02020603050405020304" pitchFamily="18" charset="0"/>
              </a:rPr>
              <a:t>                +------------------+    +--------------------+</a:t>
            </a:r>
          </a:p>
          <a:p>
            <a:pPr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complaintID</a:t>
            </a:r>
            <a:r>
              <a:rPr lang="en-US" sz="1100" dirty="0">
                <a:solidFill>
                  <a:schemeClr val="tx1"/>
                </a:solidFill>
                <a:latin typeface="Times New Roman" panose="02020603050405020304" pitchFamily="18" charset="0"/>
                <a:cs typeface="Times New Roman" panose="02020603050405020304" pitchFamily="18" charset="0"/>
              </a:rPr>
              <a:t>    |    | - </a:t>
            </a:r>
            <a:r>
              <a:rPr lang="en-US" sz="1100" dirty="0" err="1">
                <a:solidFill>
                  <a:schemeClr val="tx1"/>
                </a:solidFill>
                <a:latin typeface="Times New Roman" panose="02020603050405020304" pitchFamily="18" charset="0"/>
                <a:cs typeface="Times New Roman" panose="02020603050405020304" pitchFamily="18" charset="0"/>
              </a:rPr>
              <a:t>paymentID</a:t>
            </a:r>
            <a:r>
              <a:rPr lang="en-US" sz="1100" dirty="0">
                <a:solidFill>
                  <a:schemeClr val="tx1"/>
                </a:solidFill>
                <a:latin typeface="Times New Roman" panose="02020603050405020304" pitchFamily="18" charset="0"/>
                <a:cs typeface="Times New Roman" panose="02020603050405020304" pitchFamily="18" charset="0"/>
              </a:rPr>
              <a:t>        |</a:t>
            </a:r>
          </a:p>
          <a:p>
            <a:pPr algn="just"/>
            <a:r>
              <a:rPr lang="en-US" sz="1100" dirty="0">
                <a:solidFill>
                  <a:schemeClr val="tx1"/>
                </a:solidFill>
                <a:latin typeface="Times New Roman" panose="02020603050405020304" pitchFamily="18" charset="0"/>
                <a:cs typeface="Times New Roman" panose="02020603050405020304" pitchFamily="18" charset="0"/>
              </a:rPr>
              <a:t>                | - type           |    | - </a:t>
            </a:r>
            <a:r>
              <a:rPr lang="en-US" sz="1100" dirty="0" err="1">
                <a:solidFill>
                  <a:schemeClr val="tx1"/>
                </a:solidFill>
                <a:latin typeface="Times New Roman" panose="02020603050405020304" pitchFamily="18" charset="0"/>
                <a:cs typeface="Times New Roman" panose="02020603050405020304" pitchFamily="18" charset="0"/>
              </a:rPr>
              <a:t>billAmount</a:t>
            </a:r>
            <a:r>
              <a:rPr lang="en-US" sz="1100" dirty="0">
                <a:solidFill>
                  <a:schemeClr val="tx1"/>
                </a:solidFill>
                <a:latin typeface="Times New Roman" panose="02020603050405020304" pitchFamily="18" charset="0"/>
                <a:cs typeface="Times New Roman" panose="02020603050405020304" pitchFamily="18" charset="0"/>
              </a:rPr>
              <a:t>       |</a:t>
            </a:r>
          </a:p>
          <a:p>
            <a:pPr algn="just"/>
            <a:r>
              <a:rPr lang="en-US" sz="1100" dirty="0">
                <a:solidFill>
                  <a:schemeClr val="tx1"/>
                </a:solidFill>
                <a:latin typeface="Times New Roman" panose="02020603050405020304" pitchFamily="18" charset="0"/>
                <a:cs typeface="Times New Roman" panose="02020603050405020304" pitchFamily="18" charset="0"/>
              </a:rPr>
              <a:t>                | - status         |    | - </a:t>
            </a:r>
            <a:r>
              <a:rPr lang="en-US" sz="1100" dirty="0" err="1">
                <a:solidFill>
                  <a:schemeClr val="tx1"/>
                </a:solidFill>
                <a:latin typeface="Times New Roman" panose="02020603050405020304" pitchFamily="18" charset="0"/>
                <a:cs typeface="Times New Roman" panose="02020603050405020304" pitchFamily="18" charset="0"/>
              </a:rPr>
              <a:t>paymentStatus</a:t>
            </a:r>
            <a:r>
              <a:rPr lang="en-US" sz="1100" dirty="0">
                <a:solidFill>
                  <a:schemeClr val="tx1"/>
                </a:solidFill>
                <a:latin typeface="Times New Roman" panose="02020603050405020304" pitchFamily="18" charset="0"/>
                <a:cs typeface="Times New Roman" panose="02020603050405020304" pitchFamily="18" charset="0"/>
              </a:rPr>
              <a:t>    |</a:t>
            </a:r>
          </a:p>
          <a:p>
            <a:pPr algn="just"/>
            <a:r>
              <a:rPr lang="en-US" sz="1100" dirty="0">
                <a:solidFill>
                  <a:schemeClr val="tx1"/>
                </a:solidFill>
                <a:latin typeface="Times New Roman" panose="02020603050405020304" pitchFamily="18" charset="0"/>
                <a:cs typeface="Times New Roman" panose="02020603050405020304" pitchFamily="18" charset="0"/>
              </a:rPr>
              <a:t>                +------------------+    +--------------------+</a:t>
            </a:r>
          </a:p>
          <a:p>
            <a:pPr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fileComplaint</a:t>
            </a:r>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processPayment</a:t>
            </a:r>
            <a:r>
              <a:rPr lang="en-US" sz="1100" dirty="0">
                <a:solidFill>
                  <a:schemeClr val="tx1"/>
                </a:solidFill>
                <a:latin typeface="Times New Roman" panose="02020603050405020304" pitchFamily="18" charset="0"/>
                <a:cs typeface="Times New Roman" panose="02020603050405020304" pitchFamily="18" charset="0"/>
              </a:rPr>
              <a:t>() |</a:t>
            </a:r>
          </a:p>
          <a:p>
            <a:pPr algn="just"/>
            <a:r>
              <a:rPr lang="en-US" sz="1100" dirty="0">
                <a:solidFill>
                  <a:schemeClr val="tx1"/>
                </a:solidFill>
                <a:latin typeface="Times New Roman" panose="02020603050405020304" pitchFamily="18" charset="0"/>
                <a:cs typeface="Times New Roman" panose="02020603050405020304" pitchFamily="18" charset="0"/>
              </a:rPr>
              <a:t>                | + </a:t>
            </a:r>
            <a:r>
              <a:rPr lang="en-US" sz="1100" dirty="0" err="1">
                <a:solidFill>
                  <a:schemeClr val="tx1"/>
                </a:solidFill>
                <a:latin typeface="Times New Roman" panose="02020603050405020304" pitchFamily="18" charset="0"/>
                <a:cs typeface="Times New Roman" panose="02020603050405020304" pitchFamily="18" charset="0"/>
              </a:rPr>
              <a:t>trackStatus</a:t>
            </a:r>
            <a:r>
              <a:rPr lang="en-US" sz="1100" dirty="0">
                <a:solidFill>
                  <a:schemeClr val="tx1"/>
                </a:solidFill>
                <a:latin typeface="Times New Roman" panose="02020603050405020304" pitchFamily="18" charset="0"/>
                <a:cs typeface="Times New Roman" panose="02020603050405020304" pitchFamily="18" charset="0"/>
              </a:rPr>
              <a:t>()  |    | + </a:t>
            </a:r>
            <a:r>
              <a:rPr lang="en-US" sz="1100" dirty="0" err="1">
                <a:solidFill>
                  <a:schemeClr val="tx1"/>
                </a:solidFill>
                <a:latin typeface="Times New Roman" panose="02020603050405020304" pitchFamily="18" charset="0"/>
                <a:cs typeface="Times New Roman" panose="02020603050405020304" pitchFamily="18" charset="0"/>
              </a:rPr>
              <a:t>verifyDetails</a:t>
            </a:r>
            <a:r>
              <a:rPr lang="en-US" sz="1100" dirty="0">
                <a:solidFill>
                  <a:schemeClr val="tx1"/>
                </a:solidFill>
                <a:latin typeface="Times New Roman" panose="02020603050405020304" pitchFamily="18" charset="0"/>
                <a:cs typeface="Times New Roman" panose="02020603050405020304" pitchFamily="18" charset="0"/>
              </a:rPr>
              <a:t>()  |</a:t>
            </a:r>
          </a:p>
          <a:p>
            <a:pPr algn="just"/>
            <a:r>
              <a:rPr lang="en-US" sz="1100" dirty="0">
                <a:solidFill>
                  <a:schemeClr val="tx1"/>
                </a:solidFill>
                <a:latin typeface="Times New Roman" panose="02020603050405020304" pitchFamily="18" charset="0"/>
                <a:cs typeface="Times New Roman" panose="02020603050405020304" pitchFamily="18" charset="0"/>
              </a:rPr>
              <a:t>                +------------------+    +--------------------+</a:t>
            </a:r>
          </a:p>
          <a:p>
            <a:pPr algn="just"/>
            <a:r>
              <a:rPr lang="en-US" sz="1100" dirty="0">
                <a:solidFill>
                  <a:schemeClr val="tx1"/>
                </a:solidFill>
                <a:latin typeface="Times New Roman" panose="02020603050405020304" pitchFamily="18" charset="0"/>
                <a:cs typeface="Times New Roman" panose="02020603050405020304" pitchFamily="18" charset="0"/>
              </a:rPr>
              <a:t>                         ^                       ^</a:t>
            </a:r>
          </a:p>
          <a:p>
            <a:pPr algn="just"/>
            <a:r>
              <a:rPr lang="en-US" sz="1100" dirty="0">
                <a:solidFill>
                  <a:schemeClr val="tx1"/>
                </a:solidFill>
                <a:latin typeface="Times New Roman" panose="02020603050405020304" pitchFamily="18" charset="0"/>
                <a:cs typeface="Times New Roman" panose="02020603050405020304" pitchFamily="18" charset="0"/>
              </a:rPr>
              <a:t>                         | collaborates          | collaborates</a:t>
            </a:r>
          </a:p>
          <a:p>
            <a:pPr algn="just"/>
            <a:r>
              <a:rPr lang="en-US" sz="1100" dirty="0">
                <a:solidFill>
                  <a:schemeClr val="tx1"/>
                </a:solidFill>
                <a:latin typeface="Times New Roman" panose="02020603050405020304" pitchFamily="18" charset="0"/>
                <a:cs typeface="Times New Roman" panose="02020603050405020304" pitchFamily="18" charset="0"/>
              </a:rPr>
              <a:t>                         +-----------+-----------+</a:t>
            </a:r>
          </a:p>
          <a:p>
            <a:pPr algn="just"/>
            <a:r>
              <a:rPr lang="en-US" sz="1100" dirty="0">
                <a:solidFill>
                  <a:schemeClr val="tx1"/>
                </a:solidFill>
                <a:latin typeface="Times New Roman" panose="02020603050405020304" pitchFamily="18" charset="0"/>
                <a:cs typeface="Times New Roman" panose="02020603050405020304" pitchFamily="18" charset="0"/>
              </a:rPr>
              <a:t>                                     |</a:t>
            </a:r>
          </a:p>
        </p:txBody>
      </p:sp>
      <p:sp>
        <p:nvSpPr>
          <p:cNvPr id="5" name="Rectangle 4">
            <a:extLst>
              <a:ext uri="{FF2B5EF4-FFF2-40B4-BE49-F238E27FC236}">
                <a16:creationId xmlns:a16="http://schemas.microsoft.com/office/drawing/2014/main" id="{B0FECD62-320A-4CF7-B6BA-0D02B97EF8B1}"/>
              </a:ext>
            </a:extLst>
          </p:cNvPr>
          <p:cNvSpPr/>
          <p:nvPr/>
        </p:nvSpPr>
        <p:spPr>
          <a:xfrm>
            <a:off x="6004726" y="4237335"/>
            <a:ext cx="4572000" cy="2123658"/>
          </a:xfrm>
          <a:prstGeom prst="rect">
            <a:avLst/>
          </a:prstGeom>
        </p:spPr>
        <p:txBody>
          <a:bodyPr>
            <a:spAutoFit/>
          </a:bodyPr>
          <a:lstStyle/>
          <a:p>
            <a:pPr marL="171450" indent="-171450">
              <a:buFont typeface="Wingdings" panose="05000000000000000000" pitchFamily="2" charset="2"/>
              <a:buChar char="ü"/>
            </a:pPr>
            <a:r>
              <a:rPr lang="en-US" sz="1200" b="1" dirty="0">
                <a:latin typeface="Times New Roman" panose="02020603050405020304" pitchFamily="18" charset="0"/>
                <a:cs typeface="Times New Roman" panose="02020603050405020304" pitchFamily="18" charset="0"/>
              </a:rPr>
              <a:t>Diagram Shows</a:t>
            </a:r>
          </a:p>
          <a:p>
            <a:pPr marL="171450" indent="-171450">
              <a:buFont typeface="Wingdings" panose="05000000000000000000" pitchFamily="2" charset="2"/>
              <a:buChar char="ü"/>
            </a:pPr>
            <a:r>
              <a:rPr lang="en-US" sz="1200" b="1" dirty="0">
                <a:latin typeface="Times New Roman" panose="02020603050405020304" pitchFamily="18" charset="0"/>
                <a:cs typeface="Times New Roman" panose="02020603050405020304" pitchFamily="18" charset="0"/>
              </a:rPr>
              <a:t>Citizen</a:t>
            </a:r>
            <a:r>
              <a:rPr lang="en-US" sz="1200" dirty="0">
                <a:latin typeface="Times New Roman" panose="02020603050405020304" pitchFamily="18" charset="0"/>
                <a:cs typeface="Times New Roman" panose="02020603050405020304" pitchFamily="18" charset="0"/>
              </a:rPr>
              <a:t> interacts with:</a:t>
            </a:r>
          </a:p>
          <a:p>
            <a:pPr marL="742950" lvl="1" indent="-285750">
              <a:buFont typeface="Wingdings" panose="05000000000000000000" pitchFamily="2" charset="2"/>
              <a:buChar char="ü"/>
            </a:pPr>
            <a:r>
              <a:rPr lang="en-US" sz="1200" b="1" dirty="0" err="1">
                <a:latin typeface="Times New Roman" panose="02020603050405020304" pitchFamily="18" charset="0"/>
                <a:cs typeface="Times New Roman" panose="02020603050405020304" pitchFamily="18" charset="0"/>
              </a:rPr>
              <a:t>MunicipalService</a:t>
            </a:r>
            <a:r>
              <a:rPr lang="en-US" sz="1200" dirty="0">
                <a:latin typeface="Times New Roman" panose="02020603050405020304" pitchFamily="18" charset="0"/>
                <a:cs typeface="Times New Roman" panose="02020603050405020304" pitchFamily="18" charset="0"/>
              </a:rPr>
              <a:t> to request services</a:t>
            </a:r>
          </a:p>
          <a:p>
            <a:pPr marL="742950" lvl="1" indent="-285750">
              <a:buFont typeface="Wingdings" panose="05000000000000000000" pitchFamily="2" charset="2"/>
              <a:buChar char="ü"/>
            </a:pPr>
            <a:r>
              <a:rPr lang="en-US" sz="1200" b="1" dirty="0">
                <a:latin typeface="Times New Roman" panose="02020603050405020304" pitchFamily="18" charset="0"/>
                <a:cs typeface="Times New Roman" panose="02020603050405020304" pitchFamily="18" charset="0"/>
              </a:rPr>
              <a:t>Complaint</a:t>
            </a:r>
            <a:r>
              <a:rPr lang="en-US" sz="1200" dirty="0">
                <a:latin typeface="Times New Roman" panose="02020603050405020304" pitchFamily="18" charset="0"/>
                <a:cs typeface="Times New Roman" panose="02020603050405020304" pitchFamily="18" charset="0"/>
              </a:rPr>
              <a:t> to report issues</a:t>
            </a:r>
          </a:p>
          <a:p>
            <a:pPr marL="742950" lvl="1" indent="-285750">
              <a:buFont typeface="Wingdings" panose="05000000000000000000" pitchFamily="2" charset="2"/>
              <a:buChar char="ü"/>
            </a:pPr>
            <a:r>
              <a:rPr lang="en-US" sz="1200" b="1" dirty="0">
                <a:latin typeface="Times New Roman" panose="02020603050405020304" pitchFamily="18" charset="0"/>
                <a:cs typeface="Times New Roman" panose="02020603050405020304" pitchFamily="18" charset="0"/>
              </a:rPr>
              <a:t>Payment</a:t>
            </a:r>
            <a:r>
              <a:rPr lang="en-US" sz="1200" dirty="0">
                <a:latin typeface="Times New Roman" panose="02020603050405020304" pitchFamily="18" charset="0"/>
                <a:cs typeface="Times New Roman" panose="02020603050405020304" pitchFamily="18" charset="0"/>
              </a:rPr>
              <a:t> to pay bills</a:t>
            </a:r>
          </a:p>
          <a:p>
            <a:pPr marL="171450" indent="-171450">
              <a:buFont typeface="Wingdings" panose="05000000000000000000" pitchFamily="2" charset="2"/>
              <a:buChar char="ü"/>
            </a:pPr>
            <a:r>
              <a:rPr lang="en-US" sz="1200" b="1" dirty="0" err="1">
                <a:latin typeface="Times New Roman" panose="02020603050405020304" pitchFamily="18" charset="0"/>
                <a:cs typeface="Times New Roman" panose="02020603050405020304" pitchFamily="18" charset="0"/>
              </a:rPr>
              <a:t>MunicipalService</a:t>
            </a:r>
            <a:r>
              <a:rPr lang="en-US" sz="1200" dirty="0">
                <a:latin typeface="Times New Roman" panose="02020603050405020304" pitchFamily="18" charset="0"/>
                <a:cs typeface="Times New Roman" panose="02020603050405020304" pitchFamily="18" charset="0"/>
              </a:rPr>
              <a:t> collaborates with:</a:t>
            </a:r>
          </a:p>
          <a:p>
            <a:pPr marL="742950" lvl="1" indent="-285750">
              <a:buFont typeface="Wingdings" panose="05000000000000000000" pitchFamily="2" charset="2"/>
              <a:buChar char="ü"/>
            </a:pPr>
            <a:r>
              <a:rPr lang="en-US" sz="1200" b="1" dirty="0">
                <a:latin typeface="Times New Roman" panose="02020603050405020304" pitchFamily="18" charset="0"/>
                <a:cs typeface="Times New Roman" panose="02020603050405020304" pitchFamily="18" charset="0"/>
              </a:rPr>
              <a:t>Complaint</a:t>
            </a:r>
            <a:r>
              <a:rPr lang="en-US" sz="1200" dirty="0">
                <a:latin typeface="Times New Roman" panose="02020603050405020304" pitchFamily="18" charset="0"/>
                <a:cs typeface="Times New Roman" panose="02020603050405020304" pitchFamily="18" charset="0"/>
              </a:rPr>
              <a:t> for issue handling</a:t>
            </a:r>
          </a:p>
          <a:p>
            <a:pPr marL="742950" lvl="1" indent="-285750">
              <a:buFont typeface="Wingdings" panose="05000000000000000000" pitchFamily="2" charset="2"/>
              <a:buChar char="ü"/>
            </a:pPr>
            <a:r>
              <a:rPr lang="en-US" sz="1200" b="1" dirty="0">
                <a:latin typeface="Times New Roman" panose="02020603050405020304" pitchFamily="18" charset="0"/>
                <a:cs typeface="Times New Roman" panose="02020603050405020304" pitchFamily="18" charset="0"/>
              </a:rPr>
              <a:t>Payment</a:t>
            </a:r>
            <a:r>
              <a:rPr lang="en-US" sz="1200" dirty="0">
                <a:latin typeface="Times New Roman" panose="02020603050405020304" pitchFamily="18" charset="0"/>
                <a:cs typeface="Times New Roman" panose="02020603050405020304" pitchFamily="18" charset="0"/>
              </a:rPr>
              <a:t> for bill-related operations</a:t>
            </a:r>
          </a:p>
          <a:p>
            <a:pPr marL="742950" lvl="1" indent="-285750">
              <a:buFont typeface="Wingdings" panose="05000000000000000000" pitchFamily="2" charset="2"/>
              <a:buChar char="ü"/>
            </a:pPr>
            <a:r>
              <a:rPr lang="en-US" sz="1200" b="1" dirty="0" err="1">
                <a:latin typeface="Times New Roman" panose="02020603050405020304" pitchFamily="18" charset="0"/>
                <a:cs typeface="Times New Roman" panose="02020603050405020304" pitchFamily="18" charset="0"/>
              </a:rPr>
              <a:t>ServiceStatus</a:t>
            </a:r>
            <a:r>
              <a:rPr lang="en-US" sz="1200" dirty="0">
                <a:latin typeface="Times New Roman" panose="02020603050405020304" pitchFamily="18" charset="0"/>
                <a:cs typeface="Times New Roman" panose="02020603050405020304" pitchFamily="18" charset="0"/>
              </a:rPr>
              <a:t> to update and </a:t>
            </a:r>
            <a:r>
              <a:rPr lang="en-US" sz="1200" dirty="0" err="1">
                <a:latin typeface="Times New Roman" panose="02020603050405020304" pitchFamily="18" charset="0"/>
                <a:cs typeface="Times New Roman" panose="02020603050405020304" pitchFamily="18" charset="0"/>
              </a:rPr>
              <a:t>trackpro</a:t>
            </a:r>
            <a:endParaRPr 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ü"/>
            </a:pPr>
            <a:r>
              <a:rPr lang="en-US" sz="1200" b="1" dirty="0">
                <a:latin typeface="Times New Roman" panose="02020603050405020304" pitchFamily="18" charset="0"/>
                <a:cs typeface="Times New Roman" panose="02020603050405020304" pitchFamily="18" charset="0"/>
              </a:rPr>
              <a:t>Complaint</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Payment</a:t>
            </a:r>
            <a:r>
              <a:rPr lang="en-US" sz="1200" dirty="0">
                <a:latin typeface="Times New Roman" panose="02020603050405020304" pitchFamily="18" charset="0"/>
                <a:cs typeface="Times New Roman" panose="02020603050405020304" pitchFamily="18" charset="0"/>
              </a:rPr>
              <a:t> both interact with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ServiceStatus</a:t>
            </a:r>
            <a:r>
              <a:rPr lang="en-US" sz="1200" dirty="0">
                <a:latin typeface="Times New Roman" panose="02020603050405020304" pitchFamily="18" charset="0"/>
                <a:cs typeface="Times New Roman" panose="02020603050405020304" pitchFamily="18" charset="0"/>
              </a:rPr>
              <a:t> for tracking results or progress.</a:t>
            </a:r>
          </a:p>
        </p:txBody>
      </p:sp>
      <p:sp>
        <p:nvSpPr>
          <p:cNvPr id="9" name="Rectangle 8">
            <a:extLst>
              <a:ext uri="{FF2B5EF4-FFF2-40B4-BE49-F238E27FC236}">
                <a16:creationId xmlns:a16="http://schemas.microsoft.com/office/drawing/2014/main" id="{79296DF2-AEB8-430A-AB95-D2E4D32286AC}"/>
              </a:ext>
            </a:extLst>
          </p:cNvPr>
          <p:cNvSpPr/>
          <p:nvPr/>
        </p:nvSpPr>
        <p:spPr>
          <a:xfrm>
            <a:off x="6248400" y="1258233"/>
            <a:ext cx="2438400" cy="1785104"/>
          </a:xfrm>
          <a:prstGeom prst="rect">
            <a:avLst/>
          </a:prstGeom>
          <a:ln w="19050">
            <a:solidFill>
              <a:srgbClr val="00B0F0"/>
            </a:solidFill>
          </a:ln>
        </p:spPr>
        <p:txBody>
          <a:bodyPr wrap="square">
            <a:spAutoFit/>
          </a:bodyPr>
          <a:lstStyle/>
          <a:p>
            <a:pPr algn="ctr"/>
            <a:r>
              <a:rPr lang="en-US" sz="1100" dirty="0">
                <a:solidFill>
                  <a:srgbClr val="00B050"/>
                </a:solidFill>
                <a:latin typeface="Times New Roman" panose="02020603050405020304" pitchFamily="18" charset="0"/>
                <a:cs typeface="Times New Roman" panose="02020603050405020304" pitchFamily="18" charset="0"/>
              </a:rPr>
              <a:t> v</a:t>
            </a:r>
          </a:p>
          <a:p>
            <a:pPr algn="just"/>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   </a:t>
            </a:r>
            <a:r>
              <a:rPr lang="en-US" sz="1100" dirty="0" err="1">
                <a:solidFill>
                  <a:srgbClr val="00B050"/>
                </a:solidFill>
                <a:latin typeface="Times New Roman" panose="02020603050405020304" pitchFamily="18" charset="0"/>
                <a:cs typeface="Times New Roman" panose="02020603050405020304" pitchFamily="18" charset="0"/>
              </a:rPr>
              <a:t>ServiceStatus</a:t>
            </a:r>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 - </a:t>
            </a:r>
            <a:r>
              <a:rPr lang="en-US" sz="1100" dirty="0" err="1">
                <a:solidFill>
                  <a:srgbClr val="00B050"/>
                </a:solidFill>
                <a:latin typeface="Times New Roman" panose="02020603050405020304" pitchFamily="18" charset="0"/>
                <a:cs typeface="Times New Roman" panose="02020603050405020304" pitchFamily="18" charset="0"/>
              </a:rPr>
              <a:t>statusID</a:t>
            </a:r>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 - </a:t>
            </a:r>
            <a:r>
              <a:rPr lang="en-US" sz="1100" dirty="0" err="1">
                <a:solidFill>
                  <a:srgbClr val="00B050"/>
                </a:solidFill>
                <a:latin typeface="Times New Roman" panose="02020603050405020304" pitchFamily="18" charset="0"/>
                <a:cs typeface="Times New Roman" panose="02020603050405020304" pitchFamily="18" charset="0"/>
              </a:rPr>
              <a:t>statusDescription</a:t>
            </a:r>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 + </a:t>
            </a:r>
            <a:r>
              <a:rPr lang="en-US" sz="1100" dirty="0" err="1">
                <a:solidFill>
                  <a:srgbClr val="00B050"/>
                </a:solidFill>
                <a:latin typeface="Times New Roman" panose="02020603050405020304" pitchFamily="18" charset="0"/>
                <a:cs typeface="Times New Roman" panose="02020603050405020304" pitchFamily="18" charset="0"/>
              </a:rPr>
              <a:t>updateStatus</a:t>
            </a:r>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 + </a:t>
            </a:r>
            <a:r>
              <a:rPr lang="en-US" sz="1100" dirty="0" err="1">
                <a:solidFill>
                  <a:srgbClr val="00B050"/>
                </a:solidFill>
                <a:latin typeface="Times New Roman" panose="02020603050405020304" pitchFamily="18" charset="0"/>
                <a:cs typeface="Times New Roman" panose="02020603050405020304" pitchFamily="18" charset="0"/>
              </a:rPr>
              <a:t>getStatus</a:t>
            </a:r>
            <a:r>
              <a:rPr lang="en-US" sz="1100" dirty="0">
                <a:solidFill>
                  <a:srgbClr val="00B050"/>
                </a:solidFill>
                <a:latin typeface="Times New Roman" panose="02020603050405020304" pitchFamily="18" charset="0"/>
                <a:cs typeface="Times New Roman" panose="02020603050405020304" pitchFamily="18" charset="0"/>
              </a:rPr>
              <a:t>()        |</a:t>
            </a:r>
          </a:p>
          <a:p>
            <a:pPr algn="just"/>
            <a:r>
              <a:rPr lang="en-US" sz="1100" dirty="0">
                <a:solidFill>
                  <a:srgbClr val="00B050"/>
                </a:solidFill>
                <a:latin typeface="Times New Roman" panose="02020603050405020304" pitchFamily="18" charset="0"/>
                <a:cs typeface="Times New Roman" panose="02020603050405020304" pitchFamily="18" charset="0"/>
              </a:rPr>
              <a:t>                          +----------------------+</a:t>
            </a:r>
            <a:endParaRPr lang="en-US" sz="1100" dirty="0">
              <a:solidFill>
                <a:srgbClr val="00B050"/>
              </a:solidFill>
            </a:endParaRPr>
          </a:p>
        </p:txBody>
      </p:sp>
    </p:spTree>
    <p:extLst>
      <p:ext uri="{BB962C8B-B14F-4D97-AF65-F5344CB8AC3E}">
        <p14:creationId xmlns:p14="http://schemas.microsoft.com/office/powerpoint/2010/main" val="21898988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2800" b="1" dirty="0">
                <a:latin typeface="Times New Roman" pitchFamily="18" charset="0"/>
                <a:cs typeface="Times New Roman" pitchFamily="18" charset="0"/>
              </a:rPr>
              <a:t>Scenario: </a:t>
            </a:r>
            <a:r>
              <a:rPr lang="sv-SE" altLang="ja-JP" sz="2800" b="1" dirty="0">
                <a:latin typeface="Times New Roman" pitchFamily="18" charset="0"/>
                <a:cs typeface="Times New Roman" pitchFamily="18" charset="0"/>
              </a:rPr>
              <a:t>CRC Example </a:t>
            </a:r>
            <a:r>
              <a:rPr lang="sv-SE" altLang="ja-JP" sz="2000" b="1" dirty="0">
                <a:latin typeface="Times New Roman" pitchFamily="18" charset="0"/>
                <a:cs typeface="Times New Roman" pitchFamily="18" charset="0"/>
              </a:rPr>
              <a:t>(</a:t>
            </a:r>
            <a:r>
              <a:rPr lang="en-US" sz="2000" dirty="0">
                <a:solidFill>
                  <a:schemeClr val="tx1"/>
                </a:solidFill>
                <a:latin typeface="Times New Roman" panose="02020603050405020304" pitchFamily="18" charset="0"/>
                <a:cs typeface="Times New Roman" panose="02020603050405020304" pitchFamily="18" charset="0"/>
              </a:rPr>
              <a:t>Automated Agricultural System </a:t>
            </a:r>
            <a:r>
              <a:rPr lang="sv-SE" altLang="ja-JP" sz="2000" b="1" dirty="0">
                <a:latin typeface="Times New Roman" pitchFamily="18" charset="0"/>
                <a:cs typeface="Times New Roman" pitchFamily="18" charset="0"/>
              </a:rPr>
              <a:t>)</a:t>
            </a:r>
            <a:endParaRPr lang="en-US" sz="2800" b="1" dirty="0">
              <a:latin typeface="Times New Roman" pitchFamily="18" charset="0"/>
              <a:cs typeface="Times New Roman" pitchFamily="18" charset="0"/>
            </a:endParaRPr>
          </a:p>
        </p:txBody>
      </p:sp>
      <p:sp>
        <p:nvSpPr>
          <p:cNvPr id="4" name="Subtitle 3"/>
          <p:cNvSpPr>
            <a:spLocks noGrp="1"/>
          </p:cNvSpPr>
          <p:nvPr>
            <p:ph type="subTitle" idx="1"/>
          </p:nvPr>
        </p:nvSpPr>
        <p:spPr>
          <a:xfrm>
            <a:off x="0" y="1319702"/>
            <a:ext cx="9131508" cy="5309698"/>
          </a:xfrm>
        </p:spPr>
        <p:txBody>
          <a:bodyPr>
            <a:noAutofit/>
          </a:bodyPr>
          <a:lstStyle/>
          <a:p>
            <a:pPr marL="285750" lvl="0" indent="-285750" algn="just">
              <a:buFont typeface="Wingdings" panose="05000000000000000000" pitchFamily="2" charset="2"/>
              <a:buChar char="v"/>
            </a:pPr>
            <a:r>
              <a:rPr lang="en-US" sz="1600" b="1" dirty="0">
                <a:solidFill>
                  <a:srgbClr val="00B050"/>
                </a:solidFill>
                <a:latin typeface="Times New Roman" panose="02020603050405020304" pitchFamily="18" charset="0"/>
                <a:cs typeface="Times New Roman" panose="02020603050405020304" pitchFamily="18" charset="0"/>
              </a:rPr>
              <a:t>Problem: </a:t>
            </a:r>
            <a:r>
              <a:rPr lang="en-US" sz="1600" dirty="0">
                <a:solidFill>
                  <a:schemeClr val="tx1"/>
                </a:solidFill>
                <a:latin typeface="Times New Roman" panose="02020603050405020304" pitchFamily="18" charset="0"/>
                <a:cs typeface="Times New Roman" panose="02020603050405020304" pitchFamily="18" charset="0"/>
              </a:rPr>
              <a:t>Consider an Automated Agricultural System scenario: a farmer accesses the automated control system through a mobile app, verifies their identity using a registered farm ID, and is then given options to monitor soil moisture, control irrigation pumps, check crop growth data, or analyze weather forecasts. Explain how CRC (Class–Responsibility–Collaborator) cards can be used to isolate and define the system components, including their attributes, functionalities, and interactions — for instance, classes like Farmer, </a:t>
            </a:r>
            <a:r>
              <a:rPr lang="en-US" sz="1600" dirty="0" err="1">
                <a:solidFill>
                  <a:schemeClr val="tx1"/>
                </a:solidFill>
                <a:latin typeface="Times New Roman" panose="02020603050405020304" pitchFamily="18" charset="0"/>
                <a:cs typeface="Times New Roman" panose="02020603050405020304" pitchFamily="18" charset="0"/>
              </a:rPr>
              <a:t>SensorModule</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IrrigationController</a:t>
            </a:r>
            <a:r>
              <a:rPr lang="en-US" sz="1600" dirty="0">
                <a:solidFill>
                  <a:schemeClr val="tx1"/>
                </a:solidFill>
                <a:latin typeface="Times New Roman" panose="02020603050405020304" pitchFamily="18" charset="0"/>
                <a:cs typeface="Times New Roman" panose="02020603050405020304" pitchFamily="18" charset="0"/>
              </a:rPr>
              <a:t>, and </a:t>
            </a:r>
            <a:r>
              <a:rPr lang="en-US" sz="1600" dirty="0" err="1">
                <a:solidFill>
                  <a:schemeClr val="tx1"/>
                </a:solidFill>
                <a:latin typeface="Times New Roman" panose="02020603050405020304" pitchFamily="18" charset="0"/>
                <a:cs typeface="Times New Roman" panose="02020603050405020304" pitchFamily="18" charset="0"/>
              </a:rPr>
              <a:t>WeatherService</a:t>
            </a:r>
            <a:r>
              <a:rPr lang="en-US" sz="1600" dirty="0">
                <a:solidFill>
                  <a:schemeClr val="tx1"/>
                </a:solidFill>
                <a:latin typeface="Times New Roman" panose="02020603050405020304" pitchFamily="18" charset="0"/>
                <a:cs typeface="Times New Roman" panose="02020603050405020304" pitchFamily="18" charset="0"/>
              </a:rPr>
              <a:t> can be defined to represent various responsibilities and their collaborations in the automated process.</a:t>
            </a:r>
          </a:p>
          <a:p>
            <a:pPr lvl="0" algn="just"/>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2735210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0633-297A-77B0-CEA0-CBAB822C9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B76B4-0683-15DC-4B43-D3B3BFA9E999}"/>
              </a:ext>
            </a:extLst>
          </p:cNvPr>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2800" b="1" dirty="0">
                <a:latin typeface="Times New Roman" pitchFamily="18" charset="0"/>
                <a:cs typeface="Times New Roman" pitchFamily="18" charset="0"/>
              </a:rPr>
              <a:t>Scenario: </a:t>
            </a:r>
            <a:r>
              <a:rPr lang="sv-SE" altLang="ja-JP" sz="2800" b="1" dirty="0">
                <a:latin typeface="Times New Roman" pitchFamily="18" charset="0"/>
                <a:cs typeface="Times New Roman" pitchFamily="18" charset="0"/>
              </a:rPr>
              <a:t>CRC Example</a:t>
            </a:r>
            <a:endParaRPr lang="en-US" sz="2800" b="1"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7263533F-239D-C41C-B12A-AD741202FC4A}"/>
              </a:ext>
            </a:extLst>
          </p:cNvPr>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02C446A7-25FD-0DA2-904D-B40376968091}"/>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E89F77EF-5C41-5439-FF1E-6E4AB6E898D3}"/>
              </a:ext>
            </a:extLst>
          </p:cNvPr>
          <p:cNvPicPr>
            <a:picLocks noChangeAspect="1"/>
          </p:cNvPicPr>
          <p:nvPr/>
        </p:nvPicPr>
        <p:blipFill>
          <a:blip r:embed="rId4"/>
          <a:stretch>
            <a:fillRect/>
          </a:stretch>
        </p:blipFill>
        <p:spPr>
          <a:xfrm flipV="1">
            <a:off x="8203231" y="6300298"/>
            <a:ext cx="928277" cy="557702"/>
          </a:xfrm>
          <a:prstGeom prst="rect">
            <a:avLst/>
          </a:prstGeom>
        </p:spPr>
      </p:pic>
      <p:pic>
        <p:nvPicPr>
          <p:cNvPr id="10" name="Picture 9">
            <a:extLst>
              <a:ext uri="{FF2B5EF4-FFF2-40B4-BE49-F238E27FC236}">
                <a16:creationId xmlns:a16="http://schemas.microsoft.com/office/drawing/2014/main" id="{EF767E85-3B39-9704-2FDE-9BCB44E360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236" y="0"/>
            <a:ext cx="8759163" cy="7925441"/>
          </a:xfrm>
          <a:prstGeom prst="rect">
            <a:avLst/>
          </a:prstGeom>
        </p:spPr>
      </p:pic>
      <p:sp>
        <p:nvSpPr>
          <p:cNvPr id="12" name="Oval 11">
            <a:extLst>
              <a:ext uri="{FF2B5EF4-FFF2-40B4-BE49-F238E27FC236}">
                <a16:creationId xmlns:a16="http://schemas.microsoft.com/office/drawing/2014/main" id="{8805707F-9025-6841-4FCC-7451560E9E2C}"/>
              </a:ext>
            </a:extLst>
          </p:cNvPr>
          <p:cNvSpPr/>
          <p:nvPr/>
        </p:nvSpPr>
        <p:spPr>
          <a:xfrm>
            <a:off x="-59874" y="1265548"/>
            <a:ext cx="2422073" cy="213360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4832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200" dirty="0">
                <a:effectLst/>
                <a:latin typeface="Times New Roman" panose="02020603050405020304" pitchFamily="18" charset="0"/>
                <a:cs typeface="Times New Roman" panose="02020603050405020304" pitchFamily="18" charset="0"/>
              </a:rPr>
              <a:t>Is IT possible to fail project work?</a:t>
            </a:r>
            <a:endParaRPr lang="en-US" sz="3200" b="1" dirty="0">
              <a:latin typeface="Times New Roman" panose="02020603050405020304" pitchFamily="18" charset="0"/>
              <a:cs typeface="Times New Roman" pitchFamily="18" charset="0"/>
            </a:endParaRPr>
          </a:p>
        </p:txBody>
      </p:sp>
      <p:sp>
        <p:nvSpPr>
          <p:cNvPr id="4" name="Subtitle 3"/>
          <p:cNvSpPr>
            <a:spLocks noGrp="1"/>
          </p:cNvSpPr>
          <p:nvPr>
            <p:ph type="subTitle" idx="1"/>
          </p:nvPr>
        </p:nvSpPr>
        <p:spPr>
          <a:xfrm>
            <a:off x="0" y="1319701"/>
            <a:ext cx="9131508" cy="5446223"/>
          </a:xfrm>
        </p:spPr>
        <p:txBody>
          <a:bodyPr>
            <a:noAutofit/>
          </a:bodyPr>
          <a:lstStyle/>
          <a:p>
            <a:pPr marL="457200" indent="-457200" algn="l">
              <a:buFont typeface="Wingdings" panose="05000000000000000000" pitchFamily="2" charset="2"/>
              <a:buChar char="ü"/>
            </a:pPr>
            <a:r>
              <a:rPr lang="en-US" sz="2400" b="1" dirty="0">
                <a:solidFill>
                  <a:srgbClr val="FF0000"/>
                </a:solidFill>
                <a:latin typeface="Times New Roman" panose="02020603050405020304" pitchFamily="18" charset="0"/>
                <a:cs typeface="Times New Roman" panose="02020603050405020304" pitchFamily="18" charset="0"/>
              </a:rPr>
              <a:t>Poor Requirements Analysis</a:t>
            </a:r>
          </a:p>
          <a:p>
            <a:pPr marL="914400" lvl="1" indent="-457200" algn="l">
              <a:buFont typeface="Wingdings" panose="05000000000000000000" pitchFamily="2" charset="2"/>
              <a:buChar char="Ø"/>
            </a:pPr>
            <a:r>
              <a:rPr lang="en-US" altLang="ja-JP" sz="1800" dirty="0">
                <a:solidFill>
                  <a:schemeClr val="tx1"/>
                </a:solidFill>
                <a:latin typeface="Times New Roman" panose="02020603050405020304" pitchFamily="18" charset="0"/>
                <a:cs typeface="Times New Roman" panose="02020603050405020304" pitchFamily="18" charset="0"/>
              </a:rPr>
              <a:t>If requirements are not captured correctly in the object model (use cases, class diagrams), the system may not meet the client’s expectations.</a:t>
            </a:r>
            <a:br>
              <a:rPr lang="en-US" altLang="ja-JP" sz="1800" dirty="0">
                <a:solidFill>
                  <a:schemeClr val="tx1"/>
                </a:solidFill>
                <a:latin typeface="Times New Roman" panose="02020603050405020304" pitchFamily="18" charset="0"/>
                <a:cs typeface="Times New Roman" panose="02020603050405020304" pitchFamily="18" charset="0"/>
              </a:rPr>
            </a:br>
            <a:r>
              <a:rPr lang="en-US" altLang="ja-JP" sz="1800" i="1" dirty="0">
                <a:solidFill>
                  <a:schemeClr val="tx1"/>
                </a:solidFill>
                <a:latin typeface="Times New Roman" panose="02020603050405020304" pitchFamily="18" charset="0"/>
                <a:cs typeface="Times New Roman" panose="02020603050405020304" pitchFamily="18" charset="0"/>
              </a:rPr>
              <a:t>Example:</a:t>
            </a:r>
            <a:r>
              <a:rPr lang="en-US" altLang="ja-JP" sz="1800" dirty="0">
                <a:solidFill>
                  <a:schemeClr val="tx1"/>
                </a:solidFill>
                <a:latin typeface="Times New Roman" panose="02020603050405020304" pitchFamily="18" charset="0"/>
                <a:cs typeface="Times New Roman" panose="02020603050405020304" pitchFamily="18" charset="0"/>
              </a:rPr>
              <a:t> Missing a key user role in a DUMS leads to incomplete functionality.</a:t>
            </a:r>
          </a:p>
          <a:p>
            <a:pPr marL="914400" lvl="1" indent="-457200" algn="l">
              <a:buFont typeface="Wingdings" panose="05000000000000000000" pitchFamily="2" charset="2"/>
              <a:buChar char="Ø"/>
            </a:pPr>
            <a:r>
              <a:rPr lang="en-US" altLang="ja-JP" sz="1800" b="0" i="0" dirty="0">
                <a:solidFill>
                  <a:srgbClr val="404040"/>
                </a:solidFill>
                <a:effectLst/>
                <a:latin typeface="Times New Roman" panose="02020603050405020304" pitchFamily="18" charset="0"/>
                <a:cs typeface="Times New Roman" panose="02020603050405020304" pitchFamily="18" charset="0"/>
              </a:rPr>
              <a:t>Building an e-commerce system without understanding payment gateway integration needs.</a:t>
            </a:r>
            <a:endParaRPr lang="en-US" altLang="ja-JP" sz="18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r>
              <a:rPr lang="en-US" sz="1800" b="1" dirty="0">
                <a:solidFill>
                  <a:srgbClr val="FF0000"/>
                </a:solidFill>
                <a:latin typeface="Times New Roman" panose="02020603050405020304" pitchFamily="18" charset="0"/>
                <a:cs typeface="Times New Roman" panose="02020603050405020304" pitchFamily="18" charset="0"/>
              </a:rPr>
              <a:t>Incorrect Abstraction and Encapsulations</a:t>
            </a:r>
          </a:p>
          <a:p>
            <a:pPr marL="914400" lvl="1" indent="-457200" algn="l">
              <a:buFont typeface="Wingdings" panose="05000000000000000000" pitchFamily="2" charset="2"/>
              <a:buChar char="Ø"/>
            </a:pPr>
            <a:r>
              <a:rPr lang="en-US" altLang="ja-JP" sz="1800" dirty="0">
                <a:solidFill>
                  <a:schemeClr val="tx1"/>
                </a:solidFill>
                <a:latin typeface="Times New Roman" panose="02020603050405020304" pitchFamily="18" charset="0"/>
                <a:cs typeface="Times New Roman" panose="02020603050405020304" pitchFamily="18" charset="0"/>
              </a:rPr>
              <a:t>Using too many low-level details in classes makes the design rigid and hard to extend.</a:t>
            </a:r>
            <a:br>
              <a:rPr lang="en-US" altLang="ja-JP" sz="1800" dirty="0">
                <a:solidFill>
                  <a:schemeClr val="tx1"/>
                </a:solidFill>
                <a:latin typeface="Times New Roman" panose="02020603050405020304" pitchFamily="18" charset="0"/>
                <a:cs typeface="Times New Roman" panose="02020603050405020304" pitchFamily="18" charset="0"/>
              </a:rPr>
            </a:br>
            <a:r>
              <a:rPr lang="en-US" altLang="ja-JP" sz="1800" i="1" dirty="0">
                <a:solidFill>
                  <a:schemeClr val="tx1"/>
                </a:solidFill>
                <a:latin typeface="Times New Roman" panose="02020603050405020304" pitchFamily="18" charset="0"/>
                <a:cs typeface="Times New Roman" panose="02020603050405020304" pitchFamily="18" charset="0"/>
              </a:rPr>
              <a:t>Example:</a:t>
            </a:r>
            <a:r>
              <a:rPr lang="en-US" altLang="ja-JP" sz="1800" dirty="0">
                <a:solidFill>
                  <a:schemeClr val="tx1"/>
                </a:solidFill>
                <a:latin typeface="Times New Roman" panose="02020603050405020304" pitchFamily="18" charset="0"/>
                <a:cs typeface="Times New Roman" panose="02020603050405020304" pitchFamily="18" charset="0"/>
              </a:rPr>
              <a:t> Putting database logic inside UI classes instead of separating layers. Or Creating a monolithic User class instead of separate Customer, Admin, and Vendor subclasses.</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Weak Encapsulations: </a:t>
            </a:r>
            <a:r>
              <a:rPr lang="en-US" altLang="ja-JP" sz="2000" b="0" i="0" dirty="0">
                <a:solidFill>
                  <a:srgbClr val="404040"/>
                </a:solidFill>
                <a:effectLst/>
                <a:latin typeface="Times New Roman" panose="02020603050405020304" pitchFamily="18" charset="0"/>
                <a:cs typeface="Times New Roman" panose="02020603050405020304" pitchFamily="18" charset="0"/>
              </a:rPr>
              <a:t>Exposing database connection details in a public class, leading to security risks.</a:t>
            </a:r>
            <a:endParaRPr lang="en-US" altLang="ja-JP" sz="20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r>
              <a:rPr lang="en-US" altLang="ja-JP" sz="2400" b="1" dirty="0">
                <a:solidFill>
                  <a:srgbClr val="FF0000"/>
                </a:solidFill>
                <a:latin typeface="Times New Roman" panose="02020603050405020304" pitchFamily="18" charset="0"/>
                <a:cs typeface="Times New Roman" panose="02020603050405020304" pitchFamily="18" charset="0"/>
              </a:rPr>
              <a:t>Overuse of Inheritance</a:t>
            </a:r>
          </a:p>
          <a:p>
            <a:pPr marL="914400" lvl="1" indent="-4572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Deep inheritance hierarchies make systems complex and fragile.</a:t>
            </a:r>
            <a:br>
              <a:rPr lang="en-US" altLang="ja-JP" sz="2000" dirty="0">
                <a:solidFill>
                  <a:schemeClr val="tx1"/>
                </a:solidFill>
                <a:latin typeface="Times New Roman" panose="02020603050405020304" pitchFamily="18" charset="0"/>
                <a:cs typeface="Times New Roman" panose="02020603050405020304" pitchFamily="18" charset="0"/>
              </a:rPr>
            </a:br>
            <a:r>
              <a:rPr lang="en-US" altLang="ja-JP" sz="2000" i="1" dirty="0">
                <a:solidFill>
                  <a:schemeClr val="tx1"/>
                </a:solidFill>
                <a:latin typeface="Times New Roman" panose="02020603050405020304" pitchFamily="18" charset="0"/>
                <a:cs typeface="Times New Roman" panose="02020603050405020304" pitchFamily="18" charset="0"/>
              </a:rPr>
              <a:t>Example:</a:t>
            </a:r>
            <a:r>
              <a:rPr lang="en-US" altLang="ja-JP" sz="2000" dirty="0">
                <a:solidFill>
                  <a:schemeClr val="tx1"/>
                </a:solidFill>
                <a:latin typeface="Times New Roman" panose="02020603050405020304" pitchFamily="18" charset="0"/>
                <a:cs typeface="Times New Roman" panose="02020603050405020304" pitchFamily="18" charset="0"/>
              </a:rPr>
              <a:t> A vehicle class hierarchy with too many subclasses becomes unmanageable.</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3"/>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1645035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200" dirty="0">
                <a:effectLst/>
                <a:latin typeface="Times New Roman" panose="02020603050405020304" pitchFamily="18" charset="0"/>
                <a:cs typeface="Times New Roman" panose="02020603050405020304" pitchFamily="18" charset="0"/>
              </a:rPr>
              <a:t>Is IT possible to fail project work?</a:t>
            </a:r>
            <a:endParaRPr lang="en-US" sz="3200" b="1" dirty="0">
              <a:latin typeface="Times New Roman" panose="02020603050405020304" pitchFamily="18" charset="0"/>
              <a:cs typeface="Times New Roman" pitchFamily="18" charset="0"/>
            </a:endParaRPr>
          </a:p>
        </p:txBody>
      </p:sp>
      <p:sp>
        <p:nvSpPr>
          <p:cNvPr id="4" name="Subtitle 3"/>
          <p:cNvSpPr>
            <a:spLocks noGrp="1"/>
          </p:cNvSpPr>
          <p:nvPr>
            <p:ph type="subTitle" idx="1"/>
          </p:nvPr>
        </p:nvSpPr>
        <p:spPr>
          <a:xfrm>
            <a:off x="0" y="1319701"/>
            <a:ext cx="9131508" cy="5446223"/>
          </a:xfrm>
        </p:spPr>
        <p:txBody>
          <a:bodyPr>
            <a:noAutofit/>
          </a:bodyPr>
          <a:lstStyle/>
          <a:p>
            <a:pPr marL="457200" indent="-457200" algn="l">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Over-Engineering</a:t>
            </a:r>
          </a:p>
          <a:p>
            <a:pPr marL="914400" lvl="1" indent="-457200" algn="l">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Example: Implementing a complex design pattern (e.g., Observer) for a simple notification system.</a:t>
            </a:r>
          </a:p>
          <a:p>
            <a:pPr marL="342900" indent="-3429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Poor Reusability and Maintainability</a:t>
            </a:r>
          </a:p>
          <a:p>
            <a:pPr marL="342900" indent="-3429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Mismatch Between Design and Implementation</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3"/>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6201036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200" dirty="0">
                <a:effectLst/>
                <a:latin typeface="Times New Roman" panose="02020603050405020304" pitchFamily="18" charset="0"/>
                <a:cs typeface="Times New Roman" panose="02020603050405020304" pitchFamily="18" charset="0"/>
              </a:rPr>
              <a:t>Trade-offs between the client’s need and developer’s scope</a:t>
            </a:r>
            <a:endParaRPr lang="en-US" sz="3200" b="1" dirty="0">
              <a:latin typeface="Times New Roman" panose="02020603050405020304" pitchFamily="18" charset="0"/>
              <a:cs typeface="Times New Roman" pitchFamily="18" charset="0"/>
            </a:endParaRPr>
          </a:p>
        </p:txBody>
      </p:sp>
      <p:sp>
        <p:nvSpPr>
          <p:cNvPr id="4" name="Subtitle 3"/>
          <p:cNvSpPr>
            <a:spLocks noGrp="1"/>
          </p:cNvSpPr>
          <p:nvPr>
            <p:ph type="subTitle" idx="1"/>
          </p:nvPr>
        </p:nvSpPr>
        <p:spPr>
          <a:xfrm>
            <a:off x="0" y="1319701"/>
            <a:ext cx="9131508" cy="5446223"/>
          </a:xfrm>
        </p:spPr>
        <p:txBody>
          <a:bodyPr>
            <a:noAutofit/>
          </a:bodyPr>
          <a:lstStyle/>
          <a:p>
            <a:pPr marL="457200" indent="-4572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In software design, </a:t>
            </a:r>
            <a:r>
              <a:rPr lang="en-US" altLang="ja-JP" sz="2400" b="1" dirty="0">
                <a:solidFill>
                  <a:srgbClr val="FF0000"/>
                </a:solidFill>
                <a:latin typeface="Times New Roman" panose="02020603050405020304" pitchFamily="18" charset="0"/>
                <a:cs typeface="Times New Roman" panose="02020603050405020304" pitchFamily="18" charset="0"/>
              </a:rPr>
              <a:t>trade-offs</a:t>
            </a:r>
            <a:r>
              <a:rPr lang="en-US" altLang="ja-JP" sz="2400" dirty="0">
                <a:solidFill>
                  <a:schemeClr val="tx1"/>
                </a:solidFill>
                <a:latin typeface="Times New Roman" panose="02020603050405020304" pitchFamily="18" charset="0"/>
                <a:cs typeface="Times New Roman" panose="02020603050405020304" pitchFamily="18" charset="0"/>
              </a:rPr>
              <a:t> occur because clients usually want maximum functionality, low cost, and quick delivery, while developers must work within technical feasibility, resources, and time constraints. </a:t>
            </a:r>
            <a:r>
              <a:rPr lang="en-US" altLang="ja-JP" sz="2400" dirty="0">
                <a:solidFill>
                  <a:srgbClr val="00B050"/>
                </a:solidFill>
                <a:latin typeface="Times New Roman" panose="02020603050405020304" pitchFamily="18" charset="0"/>
                <a:cs typeface="Times New Roman" panose="02020603050405020304" pitchFamily="18" charset="0"/>
              </a:rPr>
              <a:t>Key Trade-offs:</a:t>
            </a:r>
          </a:p>
          <a:p>
            <a:pPr marL="342900" indent="-342900" algn="l">
              <a:buFont typeface="Wingdings" panose="05000000000000000000" pitchFamily="2" charset="2"/>
              <a:buChar char="ü"/>
            </a:pPr>
            <a:r>
              <a:rPr lang="en-US" altLang="ja-JP" sz="2000" b="1" dirty="0">
                <a:solidFill>
                  <a:srgbClr val="FF0000"/>
                </a:solidFill>
              </a:rPr>
              <a:t>Functionality vs. Cost/Time</a:t>
            </a:r>
            <a:endParaRPr lang="en-US" altLang="ja-JP" sz="2000" dirty="0">
              <a:solidFill>
                <a:srgbClr val="FF0000"/>
              </a:solidFill>
            </a:endParaRPr>
          </a:p>
          <a:p>
            <a:pPr marL="800100" lvl="1" indent="-342900" algn="l">
              <a:buFont typeface="Wingdings" panose="05000000000000000000" pitchFamily="2" charset="2"/>
              <a:buChar char="ü"/>
            </a:pPr>
            <a:r>
              <a:rPr lang="en-US" altLang="ja-JP" sz="2000" dirty="0">
                <a:solidFill>
                  <a:srgbClr val="00B0F0"/>
                </a:solidFill>
              </a:rPr>
              <a:t>Clients may demand advanced features, but developers must balance feasibility with budget and deadlines.</a:t>
            </a:r>
          </a:p>
          <a:p>
            <a:pPr marL="342900" indent="-342900" algn="l">
              <a:buFont typeface="Wingdings" panose="05000000000000000000" pitchFamily="2" charset="2"/>
              <a:buChar char="ü"/>
            </a:pPr>
            <a:r>
              <a:rPr lang="en-US" altLang="ja-JP" sz="2000" b="1" dirty="0">
                <a:solidFill>
                  <a:srgbClr val="FF0000"/>
                </a:solidFill>
              </a:rPr>
              <a:t>Performance vs. Flexibility</a:t>
            </a:r>
            <a:endParaRPr lang="en-US" altLang="ja-JP" sz="2000" dirty="0">
              <a:solidFill>
                <a:srgbClr val="FF0000"/>
              </a:solidFill>
            </a:endParaRPr>
          </a:p>
          <a:p>
            <a:pPr marL="800100" lvl="1" indent="-342900" algn="l">
              <a:buFont typeface="Wingdings" panose="05000000000000000000" pitchFamily="2" charset="2"/>
              <a:buChar char="ü"/>
            </a:pPr>
            <a:r>
              <a:rPr lang="en-US" altLang="ja-JP" sz="2000" dirty="0">
                <a:solidFill>
                  <a:schemeClr val="tx1"/>
                </a:solidFill>
              </a:rPr>
              <a:t>Clients may want very high performance, while developers may prefer flexible, maintainable code.</a:t>
            </a:r>
          </a:p>
          <a:p>
            <a:pPr marL="342900" indent="-342900" algn="l">
              <a:buFont typeface="Wingdings" panose="05000000000000000000" pitchFamily="2" charset="2"/>
              <a:buChar char="ü"/>
            </a:pPr>
            <a:r>
              <a:rPr lang="en-US" altLang="ja-JP" sz="2000" b="1" dirty="0">
                <a:solidFill>
                  <a:srgbClr val="FF0000"/>
                </a:solidFill>
              </a:rPr>
              <a:t>Customization vs. Standardization</a:t>
            </a:r>
            <a:endParaRPr lang="en-US" altLang="ja-JP" sz="2000" dirty="0">
              <a:solidFill>
                <a:srgbClr val="FF0000"/>
              </a:solidFill>
            </a:endParaRPr>
          </a:p>
          <a:p>
            <a:pPr marL="800100" lvl="1" indent="-342900" algn="l">
              <a:buFont typeface="Wingdings" panose="05000000000000000000" pitchFamily="2" charset="2"/>
              <a:buChar char="ü"/>
            </a:pPr>
            <a:r>
              <a:rPr lang="en-US" altLang="ja-JP" sz="2000" dirty="0">
                <a:solidFill>
                  <a:schemeClr val="tx1"/>
                </a:solidFill>
              </a:rPr>
              <a:t>Clients may request customized features, but developers may use standardized frameworks to reduce complexity.</a:t>
            </a:r>
          </a:p>
          <a:p>
            <a:pPr marL="457200" indent="-457200" algn="l">
              <a:buFont typeface="Wingdings" panose="05000000000000000000" pitchFamily="2" charset="2"/>
              <a:buChar char="ü"/>
            </a:pPr>
            <a:endParaRPr lang="en-US" altLang="ja-JP" sz="20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3"/>
          <a:stretch>
            <a:fillRect/>
          </a:stretch>
        </p:blipFill>
        <p:spPr>
          <a:xfrm flipV="1">
            <a:off x="8203231" y="6300298"/>
            <a:ext cx="928277" cy="557702"/>
          </a:xfrm>
          <a:prstGeom prst="rect">
            <a:avLst/>
          </a:prstGeom>
        </p:spPr>
      </p:pic>
    </p:spTree>
    <p:extLst>
      <p:ext uri="{BB962C8B-B14F-4D97-AF65-F5344CB8AC3E}">
        <p14:creationId xmlns:p14="http://schemas.microsoft.com/office/powerpoint/2010/main" val="31196733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200" dirty="0">
                <a:effectLst/>
                <a:latin typeface="Times New Roman" panose="02020603050405020304" pitchFamily="18" charset="0"/>
                <a:cs typeface="Times New Roman" panose="02020603050405020304" pitchFamily="18" charset="0"/>
              </a:rPr>
              <a:t>Trade-offs between the client’s need and developer’s scope</a:t>
            </a:r>
            <a:endParaRPr lang="en-US" sz="3200" b="1" dirty="0">
              <a:latin typeface="Times New Roman" panose="02020603050405020304" pitchFamily="18" charset="0"/>
              <a:cs typeface="Times New Roman" pitchFamily="18" charset="0"/>
            </a:endParaRPr>
          </a:p>
        </p:txBody>
      </p:sp>
      <p:sp>
        <p:nvSpPr>
          <p:cNvPr id="4" name="Subtitle 3"/>
          <p:cNvSpPr>
            <a:spLocks noGrp="1"/>
          </p:cNvSpPr>
          <p:nvPr>
            <p:ph type="subTitle" idx="1"/>
          </p:nvPr>
        </p:nvSpPr>
        <p:spPr>
          <a:xfrm>
            <a:off x="0" y="1319701"/>
            <a:ext cx="9131508" cy="5446223"/>
          </a:xfrm>
        </p:spPr>
        <p:txBody>
          <a:bodyPr>
            <a:noAutofit/>
          </a:bodyPr>
          <a:lstStyle/>
          <a:p>
            <a:pPr marL="342900" indent="-3429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In developing an </a:t>
            </a:r>
            <a:r>
              <a:rPr lang="en-US" altLang="ja-JP" sz="2400" b="1" dirty="0">
                <a:solidFill>
                  <a:schemeClr val="tx1"/>
                </a:solidFill>
                <a:latin typeface="Times New Roman" panose="02020603050405020304" pitchFamily="18" charset="0"/>
                <a:cs typeface="Times New Roman" panose="02020603050405020304" pitchFamily="18" charset="0"/>
              </a:rPr>
              <a:t>E-commerce system</a:t>
            </a:r>
            <a:r>
              <a:rPr lang="en-US" altLang="ja-JP" sz="2400" dirty="0">
                <a:solidFill>
                  <a:schemeClr val="tx1"/>
                </a:solidFill>
                <a:latin typeface="Times New Roman" panose="02020603050405020304" pitchFamily="18" charset="0"/>
                <a:cs typeface="Times New Roman" panose="02020603050405020304" pitchFamily="18" charset="0"/>
              </a:rPr>
              <a:t>,</a:t>
            </a:r>
          </a:p>
          <a:p>
            <a:pPr marL="800100" lvl="1" indent="-342900" algn="l">
              <a:buFont typeface="Wingdings" panose="05000000000000000000" pitchFamily="2" charset="2"/>
              <a:buChar char="Ø"/>
            </a:pPr>
            <a:r>
              <a:rPr lang="en-US" altLang="ja-JP" sz="2000" dirty="0">
                <a:solidFill>
                  <a:srgbClr val="FF0000"/>
                </a:solidFill>
                <a:latin typeface="Times New Roman" panose="02020603050405020304" pitchFamily="18" charset="0"/>
                <a:cs typeface="Times New Roman" panose="02020603050405020304" pitchFamily="18" charset="0"/>
              </a:rPr>
              <a:t>The </a:t>
            </a:r>
            <a:r>
              <a:rPr lang="en-US" altLang="ja-JP" sz="2000" b="1" dirty="0">
                <a:solidFill>
                  <a:srgbClr val="FF0000"/>
                </a:solidFill>
                <a:latin typeface="Times New Roman" panose="02020603050405020304" pitchFamily="18" charset="0"/>
                <a:cs typeface="Times New Roman" panose="02020603050405020304" pitchFamily="18" charset="0"/>
              </a:rPr>
              <a:t>client</a:t>
            </a:r>
            <a:r>
              <a:rPr lang="en-US" altLang="ja-JP" sz="2000" dirty="0">
                <a:solidFill>
                  <a:srgbClr val="FF0000"/>
                </a:solidFill>
                <a:latin typeface="Times New Roman" panose="02020603050405020304" pitchFamily="18" charset="0"/>
                <a:cs typeface="Times New Roman" panose="02020603050405020304" pitchFamily="18" charset="0"/>
              </a:rPr>
              <a:t> wants one-click checkout, real-time delivery tracking, and AI-based recommendations.</a:t>
            </a:r>
          </a:p>
          <a:p>
            <a:pPr marL="800100" lvl="1" indent="-342900" algn="l">
              <a:buFont typeface="Wingdings" panose="05000000000000000000" pitchFamily="2" charset="2"/>
              <a:buChar char="Ø"/>
            </a:pPr>
            <a:r>
              <a:rPr lang="en-US" altLang="ja-JP" sz="2000" dirty="0">
                <a:solidFill>
                  <a:srgbClr val="00B050"/>
                </a:solidFill>
                <a:latin typeface="Times New Roman" panose="02020603050405020304" pitchFamily="18" charset="0"/>
                <a:cs typeface="Times New Roman" panose="02020603050405020304" pitchFamily="18" charset="0"/>
              </a:rPr>
              <a:t>The </a:t>
            </a:r>
            <a:r>
              <a:rPr lang="en-US" altLang="ja-JP" sz="2000" b="1" dirty="0">
                <a:solidFill>
                  <a:srgbClr val="00B050"/>
                </a:solidFill>
                <a:latin typeface="Times New Roman" panose="02020603050405020304" pitchFamily="18" charset="0"/>
                <a:cs typeface="Times New Roman" panose="02020603050405020304" pitchFamily="18" charset="0"/>
              </a:rPr>
              <a:t>developer</a:t>
            </a:r>
            <a:r>
              <a:rPr lang="en-US" altLang="ja-JP" sz="2000" dirty="0">
                <a:solidFill>
                  <a:srgbClr val="00B050"/>
                </a:solidFill>
                <a:latin typeface="Times New Roman" panose="02020603050405020304" pitchFamily="18" charset="0"/>
                <a:cs typeface="Times New Roman" panose="02020603050405020304" pitchFamily="18" charset="0"/>
              </a:rPr>
              <a:t> explains that implementing all at once would increase cost and delay delivery.</a:t>
            </a:r>
          </a:p>
          <a:p>
            <a:pPr marL="800100" lvl="1" indent="-342900" algn="l">
              <a:buFont typeface="Wingdings" panose="05000000000000000000" pitchFamily="2" charset="2"/>
              <a:buChar char="Ø"/>
            </a:pPr>
            <a:r>
              <a:rPr lang="en-US" altLang="ja-JP" sz="2000" b="1" dirty="0">
                <a:solidFill>
                  <a:srgbClr val="7030A0"/>
                </a:solidFill>
                <a:latin typeface="Times New Roman" panose="02020603050405020304" pitchFamily="18" charset="0"/>
                <a:cs typeface="Times New Roman" panose="02020603050405020304" pitchFamily="18" charset="0"/>
              </a:rPr>
              <a:t>Trade-off:</a:t>
            </a:r>
            <a:r>
              <a:rPr lang="en-US" altLang="ja-JP" sz="2000" dirty="0">
                <a:solidFill>
                  <a:srgbClr val="7030A0"/>
                </a:solidFill>
                <a:latin typeface="Times New Roman" panose="02020603050405020304" pitchFamily="18" charset="0"/>
                <a:cs typeface="Times New Roman" panose="02020603050405020304" pitchFamily="18" charset="0"/>
              </a:rPr>
              <a:t> The system is delivered with checkout and tracking first; AI recommendations are planned for a later release.</a:t>
            </a:r>
          </a:p>
          <a:p>
            <a:pPr marL="342900" indent="-342900" algn="l">
              <a:buFont typeface="Wingdings" panose="05000000000000000000"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Trade-offs ensure the project is practical and deliverable while still meeting the essential client requirements</a:t>
            </a:r>
            <a:r>
              <a:rPr lang="en-US" altLang="ja-JP" sz="1400" dirty="0"/>
              <a:t>.</a:t>
            </a:r>
          </a:p>
        </p:txBody>
      </p:sp>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5" name="Table 4">
            <a:extLst>
              <a:ext uri="{FF2B5EF4-FFF2-40B4-BE49-F238E27FC236}">
                <a16:creationId xmlns:a16="http://schemas.microsoft.com/office/drawing/2014/main" id="{64F4C038-4C0F-2A5C-0438-3F235C7CC211}"/>
              </a:ext>
            </a:extLst>
          </p:cNvPr>
          <p:cNvGraphicFramePr>
            <a:graphicFrameLocks noGrp="1"/>
          </p:cNvGraphicFramePr>
          <p:nvPr>
            <p:extLst>
              <p:ext uri="{D42A27DB-BD31-4B8C-83A1-F6EECF244321}">
                <p14:modId xmlns:p14="http://schemas.microsoft.com/office/powerpoint/2010/main" val="1745043157"/>
              </p:ext>
            </p:extLst>
          </p:nvPr>
        </p:nvGraphicFramePr>
        <p:xfrm>
          <a:off x="318977" y="4662805"/>
          <a:ext cx="8229600" cy="2103120"/>
        </p:xfrm>
        <a:graphic>
          <a:graphicData uri="http://schemas.openxmlformats.org/drawingml/2006/table">
            <a:tbl>
              <a:tblPr>
                <a:tableStyleId>{BC89EF96-8CEA-46FF-86C4-4CE0E7609802}</a:tableStyleId>
              </a:tblPr>
              <a:tblGrid>
                <a:gridCol w="2895600">
                  <a:extLst>
                    <a:ext uri="{9D8B030D-6E8A-4147-A177-3AD203B41FA5}">
                      <a16:colId xmlns:a16="http://schemas.microsoft.com/office/drawing/2014/main" val="3745101271"/>
                    </a:ext>
                  </a:extLst>
                </a:gridCol>
                <a:gridCol w="2667000">
                  <a:extLst>
                    <a:ext uri="{9D8B030D-6E8A-4147-A177-3AD203B41FA5}">
                      <a16:colId xmlns:a16="http://schemas.microsoft.com/office/drawing/2014/main" val="3789877871"/>
                    </a:ext>
                  </a:extLst>
                </a:gridCol>
                <a:gridCol w="2667000">
                  <a:extLst>
                    <a:ext uri="{9D8B030D-6E8A-4147-A177-3AD203B41FA5}">
                      <a16:colId xmlns:a16="http://schemas.microsoft.com/office/drawing/2014/main" val="2558276849"/>
                    </a:ext>
                  </a:extLst>
                </a:gridCol>
              </a:tblGrid>
              <a:tr h="0">
                <a:tc>
                  <a:txBody>
                    <a:bodyPr/>
                    <a:lstStyle/>
                    <a:p>
                      <a:pPr algn="l"/>
                      <a:r>
                        <a:rPr lang="en-US" b="1" dirty="0">
                          <a:solidFill>
                            <a:srgbClr val="FF0000"/>
                          </a:solidFill>
                          <a:effectLst/>
                        </a:rPr>
                        <a:t>Client Needs</a:t>
                      </a:r>
                      <a:endParaRPr lang="en-US" b="1" dirty="0">
                        <a:solidFill>
                          <a:srgbClr val="FF0000"/>
                        </a:solidFill>
                        <a:effectLst/>
                        <a:latin typeface="Times New Roman" panose="02020603050405020304" pitchFamily="18" charset="0"/>
                        <a:cs typeface="Times New Roman" panose="02020603050405020304" pitchFamily="18" charset="0"/>
                      </a:endParaRPr>
                    </a:p>
                  </a:txBody>
                  <a:tcPr marR="76200" marT="76200" marB="76200" anchor="ctr"/>
                </a:tc>
                <a:tc>
                  <a:txBody>
                    <a:bodyPr/>
                    <a:lstStyle/>
                    <a:p>
                      <a:pPr algn="l"/>
                      <a:r>
                        <a:rPr lang="en-US" b="1" dirty="0">
                          <a:solidFill>
                            <a:srgbClr val="FF0000"/>
                          </a:solidFill>
                          <a:effectLst/>
                        </a:rPr>
                        <a:t>Developer Constraints</a:t>
                      </a:r>
                      <a:endParaRPr lang="en-US" b="1" dirty="0">
                        <a:solidFill>
                          <a:srgbClr val="FF0000"/>
                        </a:solidFill>
                        <a:effectLst/>
                        <a:latin typeface="Times New Roman" panose="02020603050405020304" pitchFamily="18" charset="0"/>
                        <a:cs typeface="Times New Roman" panose="02020603050405020304" pitchFamily="18" charset="0"/>
                      </a:endParaRPr>
                    </a:p>
                  </a:txBody>
                  <a:tcPr marL="76200" marR="76200" marT="76200" marB="76200" anchor="ctr"/>
                </a:tc>
                <a:tc>
                  <a:txBody>
                    <a:bodyPr/>
                    <a:lstStyle/>
                    <a:p>
                      <a:pPr algn="l"/>
                      <a:r>
                        <a:rPr lang="en-US" b="1" dirty="0">
                          <a:solidFill>
                            <a:srgbClr val="FF0000"/>
                          </a:solidFill>
                          <a:effectLst/>
                        </a:rPr>
                        <a:t>Compromise</a:t>
                      </a:r>
                      <a:endParaRPr lang="en-US" b="1" dirty="0">
                        <a:solidFill>
                          <a:srgbClr val="FF0000"/>
                        </a:solidFill>
                        <a:effectLst/>
                        <a:latin typeface="Times New Roman" panose="02020603050405020304" pitchFamily="18"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478533977"/>
                  </a:ext>
                </a:extLst>
              </a:tr>
              <a:tr h="0">
                <a:tc>
                  <a:txBody>
                    <a:bodyPr/>
                    <a:lstStyle/>
                    <a:p>
                      <a:r>
                        <a:rPr lang="en-US" dirty="0">
                          <a:effectLst/>
                        </a:rPr>
                        <a:t>"I want all features in 2 months"</a:t>
                      </a:r>
                      <a:endParaRPr lang="en-US" dirty="0">
                        <a:effectLst/>
                        <a:latin typeface="Times New Roman" panose="02020603050405020304" pitchFamily="18" charset="0"/>
                        <a:cs typeface="Times New Roman" panose="02020603050405020304" pitchFamily="18" charset="0"/>
                      </a:endParaRPr>
                    </a:p>
                  </a:txBody>
                  <a:tcPr marR="76200" marT="76200" marB="76200" anchor="ctr"/>
                </a:tc>
                <a:tc>
                  <a:txBody>
                    <a:bodyPr/>
                    <a:lstStyle/>
                    <a:p>
                      <a:r>
                        <a:rPr lang="en-US" dirty="0">
                          <a:effectLst/>
                        </a:rPr>
                        <a:t>Realistic timeline is 6 months</a:t>
                      </a:r>
                      <a:endParaRPr lang="en-US" dirty="0">
                        <a:effectLst/>
                        <a:latin typeface="Times New Roman" panose="02020603050405020304" pitchFamily="18" charset="0"/>
                        <a:cs typeface="Times New Roman" panose="02020603050405020304" pitchFamily="18" charset="0"/>
                      </a:endParaRPr>
                    </a:p>
                  </a:txBody>
                  <a:tcPr marL="76200" marR="76200" marT="76200" marB="76200" anchor="ctr"/>
                </a:tc>
                <a:tc>
                  <a:txBody>
                    <a:bodyPr/>
                    <a:lstStyle/>
                    <a:p>
                      <a:r>
                        <a:rPr lang="en-US" b="1" dirty="0">
                          <a:effectLst/>
                        </a:rPr>
                        <a:t>Prioritize MVP</a:t>
                      </a:r>
                      <a:r>
                        <a:rPr lang="en-US" dirty="0">
                          <a:effectLst/>
                        </a:rPr>
                        <a:t> (Minimum Viable Product)</a:t>
                      </a:r>
                      <a:endParaRPr lang="en-US" dirty="0">
                        <a:effectLst/>
                        <a:latin typeface="Times New Roman" panose="02020603050405020304" pitchFamily="18"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595061538"/>
                  </a:ext>
                </a:extLst>
              </a:tr>
              <a:tr h="0">
                <a:tc>
                  <a:txBody>
                    <a:bodyPr/>
                    <a:lstStyle/>
                    <a:p>
                      <a:r>
                        <a:rPr lang="en-US">
                          <a:effectLst/>
                        </a:rPr>
                        <a:t>"The app must work on all devices"</a:t>
                      </a:r>
                      <a:endParaRPr lang="en-US">
                        <a:effectLst/>
                        <a:latin typeface="Times New Roman" panose="02020603050405020304" pitchFamily="18" charset="0"/>
                        <a:cs typeface="Times New Roman" panose="02020603050405020304" pitchFamily="18" charset="0"/>
                      </a:endParaRPr>
                    </a:p>
                  </a:txBody>
                  <a:tcPr marR="76200" marT="76200" marB="76200" anchor="ctr"/>
                </a:tc>
                <a:tc>
                  <a:txBody>
                    <a:bodyPr/>
                    <a:lstStyle/>
                    <a:p>
                      <a:r>
                        <a:rPr lang="en-US">
                          <a:effectLst/>
                        </a:rPr>
                        <a:t>High testing overhead</a:t>
                      </a:r>
                      <a:endParaRPr lang="en-US">
                        <a:effectLst/>
                        <a:latin typeface="Times New Roman" panose="02020603050405020304" pitchFamily="18" charset="0"/>
                        <a:cs typeface="Times New Roman" panose="02020603050405020304" pitchFamily="18" charset="0"/>
                      </a:endParaRPr>
                    </a:p>
                  </a:txBody>
                  <a:tcPr marL="76200" marR="76200" marT="76200" marB="76200" anchor="ctr"/>
                </a:tc>
                <a:tc>
                  <a:txBody>
                    <a:bodyPr/>
                    <a:lstStyle/>
                    <a:p>
                      <a:r>
                        <a:rPr lang="en-US" b="1" dirty="0">
                          <a:effectLst/>
                        </a:rPr>
                        <a:t>Phase-wise rollout</a:t>
                      </a:r>
                      <a:r>
                        <a:rPr lang="en-US" dirty="0">
                          <a:effectLst/>
                        </a:rPr>
                        <a:t> (Mobile-first, then desktop)</a:t>
                      </a:r>
                      <a:endParaRPr lang="en-US" dirty="0">
                        <a:effectLst/>
                        <a:latin typeface="Times New Roman" panose="02020603050405020304" pitchFamily="18"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167352637"/>
                  </a:ext>
                </a:extLst>
              </a:tr>
            </a:tbl>
          </a:graphicData>
        </a:graphic>
      </p:graphicFrame>
    </p:spTree>
    <p:extLst>
      <p:ext uri="{BB962C8B-B14F-4D97-AF65-F5344CB8AC3E}">
        <p14:creationId xmlns:p14="http://schemas.microsoft.com/office/powerpoint/2010/main" val="41549250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Title 6">
            <a:extLst>
              <a:ext uri="{FF2B5EF4-FFF2-40B4-BE49-F238E27FC236}">
                <a16:creationId xmlns:a16="http://schemas.microsoft.com/office/drawing/2014/main" id="{7D67DCE4-E2BD-86F2-6AAC-031C5C56B109}"/>
              </a:ext>
            </a:extLst>
          </p:cNvPr>
          <p:cNvSpPr>
            <a:spLocks noGrp="1"/>
          </p:cNvSpPr>
          <p:nvPr>
            <p:ph type="ctrTitle"/>
          </p:nvPr>
        </p:nvSpPr>
        <p:spPr/>
        <p:txBody>
          <a:bodyPr/>
          <a:lstStyle/>
          <a:p>
            <a:r>
              <a:rPr lang="en-US" altLang="ja-JP" dirty="0"/>
              <a:t>Thank You (Q/A)</a:t>
            </a:r>
            <a:endParaRPr lang="ja-JP" altLang="en-US" dirty="0"/>
          </a:p>
        </p:txBody>
      </p:sp>
    </p:spTree>
    <p:extLst>
      <p:ext uri="{BB962C8B-B14F-4D97-AF65-F5344CB8AC3E}">
        <p14:creationId xmlns:p14="http://schemas.microsoft.com/office/powerpoint/2010/main" val="818018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15037</TotalTime>
  <Words>12823</Words>
  <Application>Microsoft Office PowerPoint</Application>
  <PresentationFormat>On-screen Show (4:3)</PresentationFormat>
  <Paragraphs>1129</Paragraphs>
  <Slides>75</Slides>
  <Notes>74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ＭＳ Ｐゴシック</vt:lpstr>
      <vt:lpstr>quote-cjk-patch</vt:lpstr>
      <vt:lpstr>Arial</vt:lpstr>
      <vt:lpstr>Calibri</vt:lpstr>
      <vt:lpstr>Cambria Math</vt:lpstr>
      <vt:lpstr>Courier New</vt:lpstr>
      <vt:lpstr>Times New Roman</vt:lpstr>
      <vt:lpstr>Wingdings</vt:lpstr>
      <vt:lpstr>Office Theme</vt:lpstr>
      <vt:lpstr>Part A: Object-Oriented Design  </vt:lpstr>
      <vt:lpstr>Presentation Outline</vt:lpstr>
      <vt:lpstr>Object-Oriented Analysis and Design (OOAD)</vt:lpstr>
      <vt:lpstr>Why?</vt:lpstr>
      <vt:lpstr>Why People First Used Object-Oriented Programming</vt:lpstr>
      <vt:lpstr>OOP solved these problems</vt:lpstr>
      <vt:lpstr>Who Invented OOP? (History)</vt:lpstr>
      <vt:lpstr>System Scenario-1: "Dhaka Urban Management System (DUMS)”</vt:lpstr>
      <vt:lpstr>System Overview</vt:lpstr>
      <vt:lpstr>System Scenario-1: "Dhaka Urban Management System (DUMS)”</vt:lpstr>
      <vt:lpstr>Main Actors</vt:lpstr>
      <vt:lpstr>Use Case 1: Housing Allocation</vt:lpstr>
      <vt:lpstr>Main Scenario</vt:lpstr>
      <vt:lpstr>Use Case 2: Garbage Management</vt:lpstr>
      <vt:lpstr>Use Case 3: Traffic Control</vt:lpstr>
      <vt:lpstr>Integrated System Scenario</vt:lpstr>
      <vt:lpstr>Summary of Use Cases</vt:lpstr>
      <vt:lpstr>UML Diagram</vt:lpstr>
      <vt:lpstr>UML Diagram</vt:lpstr>
      <vt:lpstr>Sequential Model (Example for Housing Allocation)</vt:lpstr>
      <vt:lpstr>Java Code Skeleton (Basic OOP Implementation) </vt:lpstr>
      <vt:lpstr>Java Code Skeleton (Basic OOP Implementation) </vt:lpstr>
      <vt:lpstr>Others Module</vt:lpstr>
      <vt:lpstr>System Scenario-2: "Agricultural Automation System (AAS)”</vt:lpstr>
      <vt:lpstr>System Goal</vt:lpstr>
      <vt:lpstr>AAS Main Modules</vt:lpstr>
      <vt:lpstr>AAS Main Modules</vt:lpstr>
      <vt:lpstr>AAS Main Modules</vt:lpstr>
      <vt:lpstr>AAS Main Modules</vt:lpstr>
      <vt:lpstr>AAS Main Modules</vt:lpstr>
      <vt:lpstr>AAS Main Modules</vt:lpstr>
      <vt:lpstr>Use Case 1: Smart Irrigation Control</vt:lpstr>
      <vt:lpstr>Use Case 2 Pest Detection and Control</vt:lpstr>
      <vt:lpstr>Use Case 3 Harvest Prediction and Scheduling</vt:lpstr>
      <vt:lpstr>Integrated Scenario: A Day in Smart Farming Managed by AAS</vt:lpstr>
      <vt:lpstr>OOAD – Main Classes (Domain Model)</vt:lpstr>
      <vt:lpstr>OOAD – Main Classes (Domain Model)</vt:lpstr>
      <vt:lpstr>Suitable Design Patterns for AAS</vt:lpstr>
      <vt:lpstr>Example UML Sequence Diagram (Irrigation)</vt:lpstr>
      <vt:lpstr>Simple Python Demonstration (Observer Pattern)</vt:lpstr>
      <vt:lpstr>Real world object and Benifit</vt:lpstr>
      <vt:lpstr>Why "Good software design begins before coding"?</vt:lpstr>
      <vt:lpstr>Establishing Initial Software Requirements</vt:lpstr>
      <vt:lpstr>OOAD Main Activities : 1. Conceptual Design</vt:lpstr>
      <vt:lpstr>OOAD Main Activities : 1. Conceptual Design </vt:lpstr>
      <vt:lpstr>OOAD Main Activities : 1. Conceptual Design </vt:lpstr>
      <vt:lpstr>OOAD Main Activities : 1. Conceptual Design </vt:lpstr>
      <vt:lpstr>Conceptual Mock-ups illustrate in the Software Design process</vt:lpstr>
      <vt:lpstr>PowerPoint Presentation</vt:lpstr>
      <vt:lpstr>PowerPoint Presentation</vt:lpstr>
      <vt:lpstr>PowerPoint Presentation</vt:lpstr>
      <vt:lpstr>Compromise in Requirements and Design</vt:lpstr>
      <vt:lpstr>Design for Quality Attributes</vt:lpstr>
      <vt:lpstr>Example: Online Shopping syste</vt:lpstr>
      <vt:lpstr>Example: ATM System</vt:lpstr>
      <vt:lpstr>Context and Consequences in Design</vt:lpstr>
      <vt:lpstr>Satisfying Qualities in Software Design</vt:lpstr>
      <vt:lpstr>Compromise in Software Design</vt:lpstr>
      <vt:lpstr>Importance of Design and Object-Oriented Thinking</vt:lpstr>
      <vt:lpstr>Importance of Design and Object-Oriented Thinking</vt:lpstr>
      <vt:lpstr>Class Responsibility Collaborator (CRC) Cards</vt:lpstr>
      <vt:lpstr>Class Responsibility Collaborator (CRC) Cards</vt:lpstr>
      <vt:lpstr>PowerPoint Presentation</vt:lpstr>
      <vt:lpstr>PowerPoint Presentation</vt:lpstr>
      <vt:lpstr>CRC Cards Technique</vt:lpstr>
      <vt:lpstr>Scenario: CRC Example</vt:lpstr>
      <vt:lpstr>Scenario: CRC Example</vt:lpstr>
      <vt:lpstr>Scenario: CRC Example</vt:lpstr>
      <vt:lpstr>Scenario: CRC Example (Automated Agricultural System )</vt:lpstr>
      <vt:lpstr>Scenario: CRC Example</vt:lpstr>
      <vt:lpstr>Is IT possible to fail project work?</vt:lpstr>
      <vt:lpstr>Is IT possible to fail project work?</vt:lpstr>
      <vt:lpstr>Trade-offs between the client’s need and developer’s scope</vt:lpstr>
      <vt:lpstr>Trade-offs between the client’s need and developer’s scope</vt:lpstr>
      <vt:lpstr>Thank You (Q/A)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Motor Imagery Classification Using TSM Dimensionality Reduction with Graph Fourier Transform(GFT)</dc:title>
  <dc:creator>Abid</dc:creator>
  <cp:lastModifiedBy>abu saleh musa miah</cp:lastModifiedBy>
  <cp:revision>554</cp:revision>
  <dcterms:created xsi:type="dcterms:W3CDTF">2006-08-16T00:00:00Z</dcterms:created>
  <dcterms:modified xsi:type="dcterms:W3CDTF">2026-07-22T04:13:49Z</dcterms:modified>
</cp:coreProperties>
</file>