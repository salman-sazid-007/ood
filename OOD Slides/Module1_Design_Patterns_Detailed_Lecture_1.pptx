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7" r:id="rId3"/>
    <p:sldId id="257" r:id="rId4"/>
    <p:sldId id="258" r:id="rId5"/>
    <p:sldId id="259" r:id="rId6"/>
    <p:sldId id="260" r:id="rId7"/>
    <p:sldId id="280" r:id="rId8"/>
    <p:sldId id="261" r:id="rId9"/>
    <p:sldId id="262" r:id="rId10"/>
    <p:sldId id="263" r:id="rId11"/>
    <p:sldId id="264" r:id="rId12"/>
    <p:sldId id="265" r:id="rId13"/>
    <p:sldId id="281" r:id="rId14"/>
    <p:sldId id="286" r:id="rId15"/>
    <p:sldId id="283" r:id="rId16"/>
    <p:sldId id="284" r:id="rId17"/>
    <p:sldId id="266" r:id="rId18"/>
    <p:sldId id="267" r:id="rId19"/>
    <p:sldId id="268" r:id="rId20"/>
    <p:sldId id="269" r:id="rId21"/>
    <p:sldId id="270" r:id="rId22"/>
    <p:sldId id="271" r:id="rId23"/>
    <p:sldId id="282" r:id="rId24"/>
    <p:sldId id="285" r:id="rId25"/>
    <p:sldId id="272" r:id="rId26"/>
    <p:sldId id="273" r:id="rId27"/>
    <p:sldId id="274" r:id="rId28"/>
    <p:sldId id="275" r:id="rId29"/>
    <p:sldId id="276" r:id="rId30"/>
    <p:sldId id="279" r:id="rId3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0210800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ja-JP" sz="13800" b="1" dirty="0">
                <a:solidFill>
                  <a:srgbClr val="FF0000"/>
                </a:solidFill>
                <a:latin typeface="Times New Roman"/>
              </a:rPr>
              <a:t>Design Patterns</a:t>
            </a:r>
            <a:endParaRPr sz="13800" dirty="0">
              <a:solidFill>
                <a:srgbClr val="FF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dirty="0">
                <a:solidFill>
                  <a:srgbClr val="00B050"/>
                </a:solidFill>
                <a:latin typeface="Times New Roman"/>
              </a:rPr>
              <a:t>Introduction to Design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0210800" cy="4525963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sz="2600" b="1" dirty="0">
                <a:solidFill>
                  <a:srgbClr val="FF0000"/>
                </a:solidFill>
                <a:latin typeface="Times New Roman"/>
              </a:rPr>
              <a:t>Practical proven solutions for recurring software design problems.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sz="2600" b="1" dirty="0">
                <a:solidFill>
                  <a:srgbClr val="00B0F0"/>
                </a:solidFill>
                <a:latin typeface="Times New Roman"/>
              </a:rPr>
              <a:t>Guide software structure and improve flexibility, reusability, and maintainability.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sz="2600" b="1" dirty="0">
                <a:solidFill>
                  <a:srgbClr val="00B0F0"/>
                </a:solidFill>
                <a:latin typeface="Times New Roman"/>
              </a:rPr>
              <a:t>Not a code library; </a:t>
            </a:r>
            <a:r>
              <a:rPr sz="2600" dirty="0">
                <a:latin typeface="Times New Roman"/>
              </a:rPr>
              <a:t>a conceptual design solution applied by developers.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sz="2600" dirty="0">
                <a:latin typeface="Times New Roman"/>
              </a:rPr>
              <a:t>Similar to tested recipes for solving common design challenges.</a:t>
            </a:r>
          </a:p>
        </p:txBody>
      </p:sp>
    </p:spTree>
    <p:extLst>
      <p:ext uri="{BB962C8B-B14F-4D97-AF65-F5344CB8AC3E}">
        <p14:creationId xmlns:p14="http://schemas.microsoft.com/office/powerpoint/2010/main" val="645443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dirty="0">
                <a:solidFill>
                  <a:srgbClr val="00B050"/>
                </a:solidFill>
                <a:latin typeface="Times New Roman"/>
              </a:rPr>
              <a:t>Importance and Applications of Design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0987548" cy="4525963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sz="2600" b="1" dirty="0">
                <a:solidFill>
                  <a:srgbClr val="FF0000"/>
                </a:solidFill>
                <a:latin typeface="Times New Roman"/>
              </a:rPr>
              <a:t>Reduce repeated design effort and improve software quality.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sz="2600" dirty="0">
                <a:solidFill>
                  <a:srgbClr val="00B0F0"/>
                </a:solidFill>
                <a:latin typeface="Times New Roman"/>
              </a:rPr>
              <a:t>Create reusable and maintainable object-oriented </a:t>
            </a:r>
            <a:r>
              <a:rPr sz="2600" dirty="0">
                <a:latin typeface="Times New Roman"/>
              </a:rPr>
              <a:t>systems.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sz="2600" b="1" dirty="0">
                <a:solidFill>
                  <a:srgbClr val="7030A0"/>
                </a:solidFill>
                <a:latin typeface="Times New Roman"/>
              </a:rPr>
              <a:t>Provide common communication language </a:t>
            </a:r>
            <a:r>
              <a:rPr sz="2600" dirty="0">
                <a:latin typeface="Times New Roman"/>
              </a:rPr>
              <a:t>among developers.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sz="2600" dirty="0">
                <a:latin typeface="Times New Roman"/>
              </a:rPr>
              <a:t>Applications: enterprise systems, web applications, frameworks, large software projects.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74638"/>
            <a:ext cx="9552039" cy="1143000"/>
          </a:xfrm>
        </p:spPr>
        <p:txBody>
          <a:bodyPr>
            <a:normAutofit/>
          </a:bodyPr>
          <a:lstStyle/>
          <a:p>
            <a:r>
              <a:rPr sz="3600" b="1" dirty="0">
                <a:solidFill>
                  <a:srgbClr val="00B050"/>
                </a:solidFill>
                <a:latin typeface="Times New Roman"/>
              </a:rPr>
              <a:t>Gang of Four (</a:t>
            </a:r>
            <a:r>
              <a:rPr sz="3600" b="1" dirty="0" err="1">
                <a:solidFill>
                  <a:srgbClr val="00B050"/>
                </a:solidFill>
                <a:latin typeface="Times New Roman"/>
              </a:rPr>
              <a:t>GoF</a:t>
            </a:r>
            <a:r>
              <a:rPr sz="3600" b="1" dirty="0">
                <a:solidFill>
                  <a:srgbClr val="00B050"/>
                </a:solidFill>
                <a:latin typeface="Times New Roman"/>
              </a:rPr>
              <a:t>) Pattern Catalogue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361174" cy="4525963"/>
          </a:xfrm>
        </p:spPr>
        <p:txBody>
          <a:bodyPr/>
          <a:lstStyle/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sz="2600" dirty="0">
                <a:latin typeface="Times New Roman"/>
              </a:rPr>
              <a:t>Introduced by Erich Gamma, Richard Helm, Ralph Johnson, and John </a:t>
            </a:r>
            <a:r>
              <a:rPr sz="2600" dirty="0" err="1">
                <a:latin typeface="Times New Roman"/>
              </a:rPr>
              <a:t>Vlissides</a:t>
            </a:r>
            <a:r>
              <a:rPr sz="2600" dirty="0">
                <a:latin typeface="Times New Roman"/>
              </a:rPr>
              <a:t>.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sz="2600" b="1" dirty="0">
                <a:solidFill>
                  <a:srgbClr val="FF0000"/>
                </a:solidFill>
                <a:latin typeface="Times New Roman"/>
              </a:rPr>
              <a:t>Contains 23 classic object-oriented design patterns.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sz="2600" b="1" dirty="0">
                <a:solidFill>
                  <a:srgbClr val="00B0F0"/>
                </a:solidFill>
                <a:latin typeface="Times New Roman"/>
              </a:rPr>
              <a:t>Patterns are grouped based on purpose</a:t>
            </a:r>
            <a:r>
              <a:rPr sz="2600" dirty="0">
                <a:latin typeface="Times New Roman"/>
              </a:rPr>
              <a:t>: </a:t>
            </a:r>
            <a:r>
              <a:rPr sz="2600" b="1" dirty="0">
                <a:solidFill>
                  <a:srgbClr val="FF0000"/>
                </a:solidFill>
                <a:latin typeface="Times New Roman"/>
              </a:rPr>
              <a:t>Creational, Structural, </a:t>
            </a:r>
            <a:r>
              <a:rPr sz="2600" b="1" dirty="0" err="1">
                <a:solidFill>
                  <a:srgbClr val="FF0000"/>
                </a:solidFill>
                <a:latin typeface="Times New Roman"/>
              </a:rPr>
              <a:t>Behavioural</a:t>
            </a:r>
            <a:r>
              <a:rPr sz="2600" dirty="0">
                <a:latin typeface="Times New Roman"/>
              </a:rPr>
              <a:t>.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sz="2600" dirty="0">
                <a:latin typeface="Times New Roman"/>
              </a:rPr>
              <a:t>Provides a common reference for solving software design problems.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>
                <a:solidFill>
                  <a:srgbClr val="00B050"/>
                </a:solidFill>
                <a:latin typeface="Times New Roman"/>
              </a:rPr>
              <a:t>Pattern Languages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11223523" cy="4525963"/>
          </a:xfrm>
        </p:spPr>
        <p:txBody>
          <a:bodyPr/>
          <a:lstStyle/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sz="2600" dirty="0">
                <a:solidFill>
                  <a:srgbClr val="00B0F0"/>
                </a:solidFill>
                <a:latin typeface="Times New Roman"/>
              </a:rPr>
              <a:t>A collection of related patterns for a specific problem domain.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sz="2600" dirty="0">
                <a:latin typeface="Times New Roman"/>
              </a:rPr>
              <a:t>Pattern selection </a:t>
            </a:r>
            <a:r>
              <a:rPr sz="2600" b="1" dirty="0">
                <a:solidFill>
                  <a:srgbClr val="00B0F0"/>
                </a:solidFill>
                <a:latin typeface="Times New Roman"/>
              </a:rPr>
              <a:t>depends on system context </a:t>
            </a:r>
            <a:r>
              <a:rPr sz="2600" dirty="0">
                <a:latin typeface="Times New Roman"/>
              </a:rPr>
              <a:t>and design goals.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sz="2600" dirty="0">
                <a:latin typeface="Times New Roman"/>
              </a:rPr>
              <a:t>Different </a:t>
            </a:r>
            <a:r>
              <a:rPr sz="2600" b="1" dirty="0">
                <a:solidFill>
                  <a:srgbClr val="00B0F0"/>
                </a:solidFill>
                <a:latin typeface="Times New Roman"/>
              </a:rPr>
              <a:t>domains require different combinations </a:t>
            </a:r>
            <a:r>
              <a:rPr sz="2600" dirty="0">
                <a:latin typeface="Times New Roman"/>
              </a:rPr>
              <a:t>of patterns.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0830232" cy="1143000"/>
          </a:xfrm>
        </p:spPr>
        <p:txBody>
          <a:bodyPr>
            <a:normAutofit/>
          </a:bodyPr>
          <a:lstStyle/>
          <a:p>
            <a:r>
              <a:rPr sz="4000" b="1" dirty="0">
                <a:solidFill>
                  <a:srgbClr val="00B050"/>
                </a:solidFill>
                <a:latin typeface="Times New Roman"/>
              </a:rPr>
              <a:t>Categories of Design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342" y="1600200"/>
            <a:ext cx="10987548" cy="4525963"/>
          </a:xfrm>
        </p:spPr>
        <p:txBody>
          <a:bodyPr/>
          <a:lstStyle/>
          <a:p>
            <a:pPr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sz="2600" dirty="0">
                <a:solidFill>
                  <a:srgbClr val="00B0F0"/>
                </a:solidFill>
                <a:latin typeface="Times New Roman"/>
              </a:rPr>
              <a:t>Creational Patterns: </a:t>
            </a:r>
            <a:r>
              <a:rPr sz="2600" dirty="0">
                <a:latin typeface="Times New Roman"/>
              </a:rPr>
              <a:t>object creation and initialization.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sz="2600" dirty="0">
                <a:solidFill>
                  <a:srgbClr val="00B0F0"/>
                </a:solidFill>
                <a:latin typeface="Times New Roman"/>
              </a:rPr>
              <a:t>Structural Patterns: </a:t>
            </a:r>
            <a:r>
              <a:rPr sz="2600" dirty="0">
                <a:latin typeface="Times New Roman"/>
              </a:rPr>
              <a:t>organization and relationships among objects.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sz="2600" dirty="0" err="1">
                <a:solidFill>
                  <a:srgbClr val="00B0F0"/>
                </a:solidFill>
                <a:latin typeface="Times New Roman"/>
              </a:rPr>
              <a:t>Behavioural</a:t>
            </a:r>
            <a:r>
              <a:rPr sz="2600" dirty="0">
                <a:solidFill>
                  <a:srgbClr val="00B0F0"/>
                </a:solidFill>
                <a:latin typeface="Times New Roman"/>
              </a:rPr>
              <a:t> Patterns: </a:t>
            </a:r>
            <a:r>
              <a:rPr sz="2600" dirty="0">
                <a:latin typeface="Times New Roman"/>
              </a:rPr>
              <a:t>communication and responsibility distribution.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74638"/>
            <a:ext cx="9552039" cy="1143000"/>
          </a:xfrm>
        </p:spPr>
        <p:txBody>
          <a:bodyPr>
            <a:normAutofit/>
          </a:bodyPr>
          <a:lstStyle/>
          <a:p>
            <a:r>
              <a:rPr sz="3600" b="1" dirty="0">
                <a:solidFill>
                  <a:srgbClr val="00B050"/>
                </a:solidFill>
                <a:latin typeface="Times New Roman"/>
              </a:rPr>
              <a:t>Gang of Four (</a:t>
            </a:r>
            <a:r>
              <a:rPr sz="3600" b="1" dirty="0" err="1">
                <a:solidFill>
                  <a:srgbClr val="00B050"/>
                </a:solidFill>
                <a:latin typeface="Times New Roman"/>
              </a:rPr>
              <a:t>GoF</a:t>
            </a:r>
            <a:r>
              <a:rPr sz="3600" b="1" dirty="0">
                <a:solidFill>
                  <a:srgbClr val="00B050"/>
                </a:solidFill>
                <a:latin typeface="Times New Roman"/>
              </a:rPr>
              <a:t>) Pattern Catalogue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C74329-F660-DE5A-7995-C87EC77CF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310" y="-83331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17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>
                <a:solidFill>
                  <a:srgbClr val="FF0000"/>
                </a:solidFill>
                <a:latin typeface="Times New Roman"/>
              </a:rPr>
              <a:t>Creational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sz="2600" dirty="0">
                <a:latin typeface="Times New Roman"/>
              </a:rPr>
              <a:t>Focus on flexible object creation mechanisms.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sz="2600" dirty="0">
                <a:latin typeface="Times New Roman"/>
              </a:rPr>
              <a:t>Reduce dependency on concrete object classes.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sz="2600" b="1" dirty="0">
                <a:solidFill>
                  <a:srgbClr val="00B0F0"/>
                </a:solidFill>
                <a:latin typeface="Times New Roman"/>
              </a:rPr>
              <a:t>Examples: </a:t>
            </a:r>
            <a:r>
              <a:rPr sz="2600" dirty="0">
                <a:latin typeface="Times New Roman"/>
              </a:rPr>
              <a:t>Singleton Pattern, Factory Method Pattern.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800" b="1" dirty="0">
                <a:solidFill>
                  <a:srgbClr val="00B050"/>
                </a:solidFill>
                <a:latin typeface="Times New Roman"/>
              </a:rPr>
              <a:t>Singleton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0958052" cy="4525963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sz="2600" dirty="0">
                <a:latin typeface="Times New Roman"/>
              </a:rPr>
              <a:t>Creates only one instance of a class.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600" dirty="0">
                <a:latin typeface="Times New Roman"/>
              </a:rPr>
              <a:t>Useful when a single shared object is required.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600" b="1" dirty="0">
                <a:solidFill>
                  <a:srgbClr val="00B0F0"/>
                </a:solidFill>
                <a:latin typeface="Times New Roman"/>
              </a:rPr>
              <a:t>Implementation: </a:t>
            </a:r>
            <a:r>
              <a:rPr sz="2600" dirty="0">
                <a:latin typeface="Times New Roman"/>
              </a:rPr>
              <a:t>private constructor, unique instance variable, </a:t>
            </a:r>
            <a:r>
              <a:rPr sz="2600" dirty="0" err="1">
                <a:latin typeface="Times New Roman"/>
              </a:rPr>
              <a:t>getInstance</a:t>
            </a:r>
            <a:r>
              <a:rPr sz="2600" dirty="0">
                <a:latin typeface="Times New Roman"/>
              </a:rPr>
              <a:t>() method.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600" b="1" dirty="0">
                <a:solidFill>
                  <a:srgbClr val="00B0F0"/>
                </a:solidFill>
                <a:latin typeface="Times New Roman"/>
              </a:rPr>
              <a:t> Examples: </a:t>
            </a:r>
            <a:r>
              <a:rPr sz="2600" dirty="0">
                <a:latin typeface="Times New Roman"/>
              </a:rPr>
              <a:t>database connection, printer queue, configuration manager.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800" b="1" dirty="0">
                <a:solidFill>
                  <a:srgbClr val="00B050"/>
                </a:solidFill>
                <a:latin typeface="Times New Roman"/>
              </a:rPr>
              <a:t>Singleton Pattern</a:t>
            </a:r>
            <a:endParaRPr sz="2600" b="1" dirty="0">
              <a:solidFill>
                <a:srgbClr val="FF0000"/>
              </a:solidFill>
              <a:latin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0132142" cy="4525963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sz="2800" dirty="0">
                <a:latin typeface="Times New Roman"/>
              </a:rPr>
              <a:t>1. Create private static instance variable.</a:t>
            </a:r>
            <a:endParaRPr lang="en-US" sz="2800" dirty="0">
              <a:latin typeface="Times New Roman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sz="2800" dirty="0">
                <a:latin typeface="Times New Roman"/>
              </a:rPr>
              <a:t>2. Hide constructor using private access modifier.</a:t>
            </a:r>
          </a:p>
          <a:p>
            <a:pPr marL="0" indent="0">
              <a:spcAft>
                <a:spcPts val="600"/>
              </a:spcAft>
              <a:buNone/>
            </a:pPr>
            <a:r>
              <a:rPr sz="2800" dirty="0">
                <a:latin typeface="Times New Roman"/>
              </a:rPr>
              <a:t>3. Create public method to provide instance access.</a:t>
            </a:r>
          </a:p>
          <a:p>
            <a:pPr marL="0" indent="0">
              <a:spcAft>
                <a:spcPts val="600"/>
              </a:spcAft>
              <a:buNone/>
            </a:pPr>
            <a:r>
              <a:rPr sz="2800" dirty="0">
                <a:latin typeface="Times New Roman"/>
              </a:rPr>
              <a:t>4. Return existing instance if already created.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>
                <a:solidFill>
                  <a:srgbClr val="00B050"/>
                </a:solidFill>
                <a:latin typeface="Times New Roman"/>
              </a:rPr>
              <a:t>Factory Method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11731625" cy="4525963"/>
          </a:xfrm>
        </p:spPr>
        <p:txBody>
          <a:bodyPr/>
          <a:lstStyle/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sz="2600" dirty="0">
                <a:latin typeface="Times New Roman"/>
              </a:rPr>
              <a:t>Separates object creation from object usage.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sz="2600" dirty="0">
                <a:latin typeface="Times New Roman"/>
              </a:rPr>
              <a:t>Client depends on general interfaces instead of concrete classes.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sz="2600" dirty="0">
                <a:latin typeface="Times New Roman"/>
              </a:rPr>
              <a:t>Allows new object types without modifying client code.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b="1" dirty="0">
                <a:solidFill>
                  <a:srgbClr val="00B050"/>
                </a:solidFill>
                <a:latin typeface="Times New Roman"/>
              </a:rPr>
              <a:t>Factory Method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600"/>
              </a:spcAft>
              <a:buNone/>
            </a:pPr>
            <a:r>
              <a:rPr lang="en-US" altLang="ja-JP" sz="2600" dirty="0">
                <a:latin typeface="Times New Roman"/>
              </a:rPr>
              <a:t>1</a:t>
            </a:r>
            <a:r>
              <a:rPr sz="2600" dirty="0">
                <a:latin typeface="Times New Roman"/>
              </a:rPr>
              <a:t>. Create Product interface or abstract class.</a:t>
            </a:r>
          </a:p>
          <a:p>
            <a:pPr marL="0" indent="0">
              <a:spcAft>
                <a:spcPts val="600"/>
              </a:spcAft>
              <a:buNone/>
            </a:pPr>
            <a:r>
              <a:rPr sz="2600" dirty="0">
                <a:latin typeface="Times New Roman"/>
              </a:rPr>
              <a:t>2. Create concrete product classes.</a:t>
            </a:r>
          </a:p>
          <a:p>
            <a:pPr marL="0" indent="0">
              <a:spcAft>
                <a:spcPts val="600"/>
              </a:spcAft>
              <a:buNone/>
            </a:pPr>
            <a:r>
              <a:rPr sz="2600" dirty="0">
                <a:latin typeface="Times New Roman"/>
              </a:rPr>
              <a:t>3. Define factory method in creator class.</a:t>
            </a:r>
          </a:p>
          <a:p>
            <a:pPr marL="0" indent="0">
              <a:spcAft>
                <a:spcPts val="600"/>
              </a:spcAft>
              <a:buNone/>
            </a:pPr>
            <a:r>
              <a:rPr sz="2600" dirty="0">
                <a:latin typeface="Times New Roman"/>
              </a:rPr>
              <a:t>4. Subclasses decide which object to create.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b="1" dirty="0">
                <a:solidFill>
                  <a:srgbClr val="00B050"/>
                </a:solidFill>
                <a:latin typeface="Times New Roman"/>
              </a:rPr>
              <a:t>Factory Method Steps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1208771-7B4E-60A2-9D7C-599E5501D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406" y="87086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4059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b="1" dirty="0">
                <a:solidFill>
                  <a:srgbClr val="00B050"/>
                </a:solidFill>
                <a:latin typeface="Times New Roman"/>
              </a:rPr>
              <a:t>Factory Method Steps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116568-765D-596A-E6D4-FA8B627687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482" y="0"/>
            <a:ext cx="85694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2010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b="1" dirty="0">
                <a:solidFill>
                  <a:srgbClr val="00B050"/>
                </a:solidFill>
                <a:latin typeface="Times New Roman"/>
              </a:rPr>
              <a:t>Factory Method Steps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637231-4550-D98E-2F01-B12086313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4166" y="0"/>
            <a:ext cx="77290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2584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b="1" dirty="0">
                <a:solidFill>
                  <a:srgbClr val="00B050"/>
                </a:solidFill>
                <a:latin typeface="Times New Roman"/>
              </a:rPr>
              <a:t>Factory Method Steps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C80640-566C-DC13-92A9-35BA2B21D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778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8270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5400" b="1" dirty="0">
                <a:solidFill>
                  <a:srgbClr val="FF0000"/>
                </a:solidFill>
                <a:latin typeface="Times New Roman"/>
              </a:rPr>
              <a:t>Structural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11616813" cy="4525963"/>
          </a:xfrm>
        </p:spPr>
        <p:txBody>
          <a:bodyPr/>
          <a:lstStyle/>
          <a:p>
            <a:pPr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sz="2600" dirty="0">
                <a:latin typeface="Times New Roman"/>
              </a:rPr>
              <a:t>Describe how objects and classes are organized and connected.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sz="2600" dirty="0">
                <a:latin typeface="Times New Roman"/>
              </a:rPr>
              <a:t>Support decomposition and flexible relationships.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sz="2600" dirty="0">
                <a:latin typeface="Times New Roman"/>
              </a:rPr>
              <a:t>Examples: Facade, Adapter, Composite, Proxy, Decorator.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>
                <a:solidFill>
                  <a:srgbClr val="FF0000"/>
                </a:solidFill>
                <a:latin typeface="Times New Roman"/>
              </a:rPr>
              <a:t>Facade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sz="2600" dirty="0">
                <a:latin typeface="Times New Roman"/>
              </a:rPr>
              <a:t>Provides a simple interface to a complex subsystem.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sz="2600" dirty="0">
                <a:latin typeface="Times New Roman"/>
              </a:rPr>
              <a:t>Hides internal subsystem details from clients.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sz="2600" dirty="0">
                <a:latin typeface="Times New Roman"/>
              </a:rPr>
              <a:t>Reduces coupling and simplifies interaction.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>
                <a:solidFill>
                  <a:srgbClr val="FF0000"/>
                </a:solidFill>
                <a:latin typeface="Times New Roman"/>
              </a:rPr>
              <a:t>Facade Pattern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2570542" cy="4525963"/>
          </a:xfrm>
        </p:spPr>
        <p:txBody>
          <a:bodyPr/>
          <a:lstStyle/>
          <a:p>
            <a:pPr marL="0" indent="0">
              <a:spcAft>
                <a:spcPts val="600"/>
              </a:spcAft>
              <a:buNone/>
            </a:pPr>
            <a:r>
              <a:rPr sz="2600" dirty="0">
                <a:latin typeface="Times New Roman"/>
              </a:rPr>
              <a:t> 1. Design subsystem interfaces.</a:t>
            </a:r>
          </a:p>
          <a:p>
            <a:pPr marL="0" indent="0">
              <a:spcAft>
                <a:spcPts val="600"/>
              </a:spcAft>
              <a:buNone/>
            </a:pPr>
            <a:r>
              <a:rPr sz="2600" dirty="0">
                <a:latin typeface="Times New Roman"/>
              </a:rPr>
              <a:t> 2. Implement subsystem classes.</a:t>
            </a:r>
          </a:p>
          <a:p>
            <a:pPr marL="0" indent="0">
              <a:spcAft>
                <a:spcPts val="600"/>
              </a:spcAft>
              <a:buNone/>
            </a:pPr>
            <a:r>
              <a:rPr sz="2600" dirty="0">
                <a:latin typeface="Times New Roman"/>
              </a:rPr>
              <a:t> 3. Create facade wrapper class.</a:t>
            </a:r>
          </a:p>
          <a:p>
            <a:pPr marL="0" indent="0">
              <a:spcAft>
                <a:spcPts val="600"/>
              </a:spcAft>
              <a:buNone/>
            </a:pPr>
            <a:r>
              <a:rPr sz="2600" dirty="0">
                <a:latin typeface="Times New Roman"/>
              </a:rPr>
              <a:t> 4. Client uses facade instead of multiple subsystem classes.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>
                <a:solidFill>
                  <a:srgbClr val="FF0000"/>
                </a:solidFill>
                <a:latin typeface="Times New Roman"/>
              </a:rPr>
              <a:t>Adapter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sz="2600" dirty="0">
                <a:latin typeface="Times New Roman"/>
              </a:rPr>
              <a:t> Allows incompatible interfaces to communicate.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sz="2600" dirty="0">
                <a:latin typeface="Times New Roman"/>
              </a:rPr>
              <a:t>Works as a bridge between client and existing system.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sz="2600" dirty="0">
                <a:latin typeface="Times New Roman"/>
              </a:rPr>
              <a:t>Components: Client, Target Interface, Adapter, </a:t>
            </a:r>
            <a:r>
              <a:rPr sz="2600" dirty="0" err="1">
                <a:latin typeface="Times New Roman"/>
              </a:rPr>
              <a:t>Adaptee</a:t>
            </a:r>
            <a:r>
              <a:rPr sz="2600" dirty="0">
                <a:latin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>
                <a:solidFill>
                  <a:srgbClr val="FF0000"/>
                </a:solidFill>
                <a:latin typeface="Times New Roman"/>
              </a:rPr>
              <a:t>Adapter Pattern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600"/>
              </a:spcAft>
              <a:buNone/>
            </a:pPr>
            <a:r>
              <a:rPr sz="2600" dirty="0">
                <a:latin typeface="Times New Roman"/>
              </a:rPr>
              <a:t>1. Design target interface.</a:t>
            </a:r>
          </a:p>
          <a:p>
            <a:pPr marL="0" indent="0">
              <a:spcAft>
                <a:spcPts val="600"/>
              </a:spcAft>
              <a:buNone/>
            </a:pPr>
            <a:r>
              <a:rPr sz="2600" dirty="0">
                <a:latin typeface="Times New Roman"/>
              </a:rPr>
              <a:t>2. Implement adapter using target interface.</a:t>
            </a:r>
            <a:endParaRPr lang="en-US" sz="2600" dirty="0">
              <a:latin typeface="Times New Roman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sz="2600" dirty="0">
                <a:latin typeface="Times New Roman"/>
              </a:rPr>
              <a:t> 3. Convert client requests into </a:t>
            </a:r>
            <a:r>
              <a:rPr sz="2600" dirty="0" err="1">
                <a:latin typeface="Times New Roman"/>
              </a:rPr>
              <a:t>adaptee</a:t>
            </a:r>
            <a:r>
              <a:rPr sz="2600" dirty="0">
                <a:latin typeface="Times New Roman"/>
              </a:rPr>
              <a:t> format.</a:t>
            </a:r>
          </a:p>
          <a:p>
            <a:pPr marL="0" indent="0">
              <a:spcAft>
                <a:spcPts val="600"/>
              </a:spcAft>
              <a:buNone/>
            </a:pPr>
            <a:r>
              <a:rPr sz="2600" dirty="0">
                <a:latin typeface="Times New Roman"/>
              </a:rPr>
              <a:t>4. Client communicates through adapter.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>
                <a:latin typeface="Times New Roman"/>
              </a:rPr>
              <a:t>Composite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sz="2600" dirty="0">
                <a:latin typeface="Times New Roman"/>
              </a:rPr>
              <a:t>Creates tree-like object structures.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600" dirty="0">
                <a:latin typeface="Times New Roman"/>
              </a:rPr>
              <a:t>Allows individual objects and groups to be treated uniformly.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600" dirty="0">
                <a:latin typeface="Times New Roman"/>
              </a:rPr>
              <a:t> Examples: file systems, organization structures.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>
                <a:latin typeface="Times New Roman"/>
              </a:rPr>
              <a:t>Composite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sz="2600" dirty="0">
                <a:latin typeface="Times New Roman"/>
              </a:rPr>
              <a:t>Creates tree-like object structures.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600" dirty="0">
                <a:latin typeface="Times New Roman"/>
              </a:rPr>
              <a:t>Allows individual objects and groups to be treated uniformly.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600" dirty="0">
                <a:latin typeface="Times New Roman"/>
              </a:rPr>
              <a:t> Examples: file systems, organization structures.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D9E466-5DD9-46AA-8B51-AB69A83728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629" y="91441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5094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3684" y="0"/>
            <a:ext cx="706513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8DB7870-6939-97A9-ACBF-6000D4F53C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681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2883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solidFill>
                  <a:srgbClr val="FF0000"/>
                </a:solidFill>
                <a:latin typeface="Times New Roman"/>
              </a:rPr>
              <a:t>Proxy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351342" cy="4525963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sz="2600" dirty="0">
                <a:latin typeface="Times New Roman"/>
              </a:rPr>
              <a:t>Provides a substitute object controlling access to another object.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sz="2600" dirty="0">
                <a:latin typeface="Times New Roman"/>
              </a:rPr>
              <a:t>Used for security, performance optimization, and resource management.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>
                <a:solidFill>
                  <a:srgbClr val="FF0000"/>
                </a:solidFill>
                <a:latin typeface="Times New Roman"/>
              </a:rPr>
              <a:t>Decorator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sz="2600" dirty="0">
                <a:latin typeface="Times New Roman"/>
              </a:rPr>
              <a:t>Dynamically adds responsibilities to objects at runtime.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sz="2600" dirty="0">
                <a:latin typeface="Times New Roman"/>
              </a:rPr>
              <a:t>Uses aggregation instead of creating many subclasses.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sz="2600" dirty="0">
                <a:latin typeface="Times New Roman"/>
              </a:rPr>
              <a:t> Allows flexible combinations of </a:t>
            </a:r>
            <a:r>
              <a:rPr sz="2600" dirty="0" err="1">
                <a:latin typeface="Times New Roman"/>
              </a:rPr>
              <a:t>behaviours</a:t>
            </a:r>
            <a:r>
              <a:rPr sz="2600" dirty="0">
                <a:latin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>
                <a:solidFill>
                  <a:srgbClr val="FF0000"/>
                </a:solidFill>
                <a:latin typeface="Times New Roman"/>
              </a:rPr>
              <a:t>Decorator Pattern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600" dirty="0">
                <a:latin typeface="Times New Roman"/>
              </a:rPr>
              <a:t> 1. Design component interface.</a:t>
            </a:r>
          </a:p>
          <a:p>
            <a:pPr marL="0" indent="0">
              <a:buNone/>
            </a:pPr>
            <a:r>
              <a:rPr sz="2600" dirty="0">
                <a:latin typeface="Times New Roman"/>
              </a:rPr>
              <a:t>2. Implement concrete component.</a:t>
            </a:r>
          </a:p>
          <a:p>
            <a:pPr marL="0" indent="0">
              <a:buNone/>
            </a:pPr>
            <a:r>
              <a:rPr sz="2600" dirty="0">
                <a:latin typeface="Times New Roman"/>
              </a:rPr>
              <a:t>3. Implement abstract decorator.</a:t>
            </a:r>
          </a:p>
          <a:p>
            <a:pPr marL="0" indent="0">
              <a:buNone/>
            </a:pPr>
            <a:r>
              <a:rPr sz="2600" dirty="0">
                <a:latin typeface="Times New Roman"/>
              </a:rPr>
              <a:t>4. Create concrete decorators adding </a:t>
            </a:r>
            <a:r>
              <a:rPr sz="2600" dirty="0" err="1">
                <a:latin typeface="Times New Roman"/>
              </a:rPr>
              <a:t>behaviours</a:t>
            </a:r>
            <a:r>
              <a:rPr sz="2600" dirty="0">
                <a:latin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b="1" dirty="0">
                <a:latin typeface="Times New Roman"/>
              </a:rPr>
              <a:t>Module 1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sz="2600" dirty="0">
                <a:latin typeface="Times New Roman"/>
              </a:rPr>
              <a:t>Design patterns provide reusable solutions for common design problems.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600" dirty="0">
                <a:latin typeface="Times New Roman"/>
              </a:rPr>
              <a:t>Creational patterns manage object creation.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600" dirty="0">
                <a:latin typeface="Times New Roman"/>
              </a:rPr>
              <a:t> Structural patterns organize object relationships.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600" dirty="0">
                <a:latin typeface="Times New Roman"/>
              </a:rPr>
              <a:t> Good pattern selection improves maintainability and flexibility.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/>
              </a:rPr>
              <a:t>Sample Question</a:t>
            </a:r>
            <a:endParaRPr sz="3200" b="1" dirty="0">
              <a:latin typeface="Times New Roman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E0ACDD4-DB8E-B197-E2EA-24BF44C5F7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9994983"/>
              </p:ext>
            </p:extLst>
          </p:nvPr>
        </p:nvGraphicFramePr>
        <p:xfrm>
          <a:off x="235925" y="1704762"/>
          <a:ext cx="3358757" cy="4671299"/>
        </p:xfrm>
        <a:graphic>
          <a:graphicData uri="http://schemas.openxmlformats.org/drawingml/2006/table">
            <a:tbl>
              <a:tblPr/>
              <a:tblGrid>
                <a:gridCol w="720420">
                  <a:extLst>
                    <a:ext uri="{9D8B030D-6E8A-4147-A177-3AD203B41FA5}">
                      <a16:colId xmlns:a16="http://schemas.microsoft.com/office/drawing/2014/main" val="459052722"/>
                    </a:ext>
                  </a:extLst>
                </a:gridCol>
                <a:gridCol w="2638337">
                  <a:extLst>
                    <a:ext uri="{9D8B030D-6E8A-4147-A177-3AD203B41FA5}">
                      <a16:colId xmlns:a16="http://schemas.microsoft.com/office/drawing/2014/main" val="2897973674"/>
                    </a:ext>
                  </a:extLst>
                </a:gridCol>
              </a:tblGrid>
              <a:tr h="179246">
                <a:tc>
                  <a:txBody>
                    <a:bodyPr/>
                    <a:lstStyle/>
                    <a:p>
                      <a:r>
                        <a:rPr lang="en-US" sz="900" dirty="0"/>
                        <a:t>Bloom's Level</a:t>
                      </a:r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Question</a:t>
                      </a:r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4825638"/>
                  </a:ext>
                </a:extLst>
              </a:tr>
              <a:tr h="448115">
                <a:tc>
                  <a:txBody>
                    <a:bodyPr/>
                    <a:lstStyle/>
                    <a:p>
                      <a:r>
                        <a:rPr lang="en-US" sz="900" b="1" dirty="0"/>
                        <a:t>Remember</a:t>
                      </a:r>
                      <a:endParaRPr lang="en-US" sz="900" dirty="0"/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1. What is a design pattern? Name the three major categories of GoF design patterns.</a:t>
                      </a:r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3508193"/>
                  </a:ext>
                </a:extLst>
              </a:tr>
              <a:tr h="313681">
                <a:tc>
                  <a:txBody>
                    <a:bodyPr/>
                    <a:lstStyle/>
                    <a:p>
                      <a:r>
                        <a:rPr lang="en-US" sz="900" b="1"/>
                        <a:t>Understand</a:t>
                      </a:r>
                      <a:endParaRPr lang="en-US" sz="900"/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2. Explain the purpose of the Gang of Four (</a:t>
                      </a:r>
                      <a:r>
                        <a:rPr lang="en-US" sz="900" dirty="0" err="1"/>
                        <a:t>GoF</a:t>
                      </a:r>
                      <a:r>
                        <a:rPr lang="en-US" sz="900" dirty="0"/>
                        <a:t>) design pattern catalog.</a:t>
                      </a:r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811130"/>
                  </a:ext>
                </a:extLst>
              </a:tr>
              <a:tr h="448115">
                <a:tc>
                  <a:txBody>
                    <a:bodyPr/>
                    <a:lstStyle/>
                    <a:p>
                      <a:r>
                        <a:rPr lang="en-US" sz="900" b="1"/>
                        <a:t>Understand</a:t>
                      </a:r>
                      <a:endParaRPr lang="en-US" sz="900"/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3. Explain the difference between creational and structural design patterns with suitable examples.</a:t>
                      </a:r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5856419"/>
                  </a:ext>
                </a:extLst>
              </a:tr>
              <a:tr h="716984">
                <a:tc>
                  <a:txBody>
                    <a:bodyPr/>
                    <a:lstStyle/>
                    <a:p>
                      <a:r>
                        <a:rPr lang="en-US" sz="900" b="1"/>
                        <a:t>Apply</a:t>
                      </a:r>
                      <a:endParaRPr lang="en-US" sz="900"/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4. Suppose an application requires exactly one shared configuration object throughout the system. Which design pattern would you use? Explain how you would apply it.</a:t>
                      </a:r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9679243"/>
                  </a:ext>
                </a:extLst>
              </a:tr>
              <a:tr h="985853">
                <a:tc>
                  <a:txBody>
                    <a:bodyPr/>
                    <a:lstStyle/>
                    <a:p>
                      <a:r>
                        <a:rPr lang="en-US" sz="900" b="1"/>
                        <a:t>Analyze</a:t>
                      </a:r>
                      <a:endParaRPr lang="en-US" sz="900"/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5. Analyze the following situation: a program directly creates many different concrete objects using new statements throughout the client code. Identify the design problem and determine whether the Factory Method Pattern could improve the design.</a:t>
                      </a:r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0714788"/>
                  </a:ext>
                </a:extLst>
              </a:tr>
              <a:tr h="716984">
                <a:tc>
                  <a:txBody>
                    <a:bodyPr/>
                    <a:lstStyle/>
                    <a:p>
                      <a:r>
                        <a:rPr lang="en-US" sz="900" b="1"/>
                        <a:t>Evaluate</a:t>
                      </a:r>
                      <a:endParaRPr lang="en-US" sz="900"/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6. A developer uses the Singleton Pattern for every shared object in an application. Evaluate this design decision and discuss its advantages and possible disadvantages.</a:t>
                      </a:r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4885055"/>
                  </a:ext>
                </a:extLst>
              </a:tr>
              <a:tr h="716984">
                <a:tc>
                  <a:txBody>
                    <a:bodyPr/>
                    <a:lstStyle/>
                    <a:p>
                      <a:r>
                        <a:rPr lang="en-US" sz="900" b="1"/>
                        <a:t>Create</a:t>
                      </a:r>
                      <a:endParaRPr lang="en-US" sz="900"/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7. Design a simple Factory Method-based system for creating different types of university courses such as </a:t>
                      </a:r>
                      <a:r>
                        <a:rPr lang="en-US" sz="900" dirty="0" err="1"/>
                        <a:t>TheoryCourse</a:t>
                      </a:r>
                      <a:r>
                        <a:rPr lang="en-US" sz="900" dirty="0"/>
                        <a:t>, </a:t>
                      </a:r>
                      <a:r>
                        <a:rPr lang="en-US" sz="900" dirty="0" err="1"/>
                        <a:t>LabCourse</a:t>
                      </a:r>
                      <a:r>
                        <a:rPr lang="en-US" sz="900" dirty="0"/>
                        <a:t>, and </a:t>
                      </a:r>
                      <a:r>
                        <a:rPr lang="en-US" sz="900" dirty="0" err="1"/>
                        <a:t>ProjectCourse</a:t>
                      </a:r>
                      <a:r>
                        <a:rPr lang="en-US" sz="900" dirty="0"/>
                        <a:t>. Describe the classes and their relationships.</a:t>
                      </a:r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842591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E6B18A6-5301-33B9-8359-17FC7EA40A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6458767"/>
              </p:ext>
            </p:extLst>
          </p:nvPr>
        </p:nvGraphicFramePr>
        <p:xfrm>
          <a:off x="7524926" y="0"/>
          <a:ext cx="4663900" cy="1493520"/>
        </p:xfrm>
        <a:graphic>
          <a:graphicData uri="http://schemas.openxmlformats.org/drawingml/2006/table">
            <a:tbl>
              <a:tblPr/>
              <a:tblGrid>
                <a:gridCol w="934287">
                  <a:extLst>
                    <a:ext uri="{9D8B030D-6E8A-4147-A177-3AD203B41FA5}">
                      <a16:colId xmlns:a16="http://schemas.microsoft.com/office/drawing/2014/main" val="2376800092"/>
                    </a:ext>
                  </a:extLst>
                </a:gridCol>
                <a:gridCol w="1611770">
                  <a:extLst>
                    <a:ext uri="{9D8B030D-6E8A-4147-A177-3AD203B41FA5}">
                      <a16:colId xmlns:a16="http://schemas.microsoft.com/office/drawing/2014/main" val="4194542359"/>
                    </a:ext>
                  </a:extLst>
                </a:gridCol>
                <a:gridCol w="2117843">
                  <a:extLst>
                    <a:ext uri="{9D8B030D-6E8A-4147-A177-3AD203B41FA5}">
                      <a16:colId xmlns:a16="http://schemas.microsoft.com/office/drawing/2014/main" val="34063153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Bloom's Level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Typical Question Verbs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71566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Remember</a:t>
                      </a:r>
                      <a:endParaRPr lang="en-US" sz="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 facts/concepts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Define, List, Name, Identify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16993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</a:t>
                      </a:r>
                      <a:endParaRPr lang="en-US" sz="7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Explain concepts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Explain, Describe, Summarize, Discuss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31098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Apply</a:t>
                      </a:r>
                      <a:endParaRPr lang="en-US" sz="7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knowledge in a situation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Apply, Demonstrate, Implement, 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6123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Analyze</a:t>
                      </a:r>
                      <a:endParaRPr lang="en-US" sz="7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Break down and find relationships/problems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Analyze, Compare, Differentiate, Examine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293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Evaluate</a:t>
                      </a:r>
                      <a:endParaRPr lang="en-US" sz="7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Make a justified judgment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Evaluate, Critique, Justify, Assess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25076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</a:t>
                      </a:r>
                      <a:endParaRPr lang="en-US" sz="7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Produce a new design/solution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Design, Develop, Create, Propose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597853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60481BD-5C54-DE92-BEEC-90D83EEC32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4615594"/>
              </p:ext>
            </p:extLst>
          </p:nvPr>
        </p:nvGraphicFramePr>
        <p:xfrm>
          <a:off x="3594682" y="1493520"/>
          <a:ext cx="3422708" cy="4525963"/>
        </p:xfrm>
        <a:graphic>
          <a:graphicData uri="http://schemas.openxmlformats.org/drawingml/2006/table">
            <a:tbl>
              <a:tblPr/>
              <a:tblGrid>
                <a:gridCol w="826315">
                  <a:extLst>
                    <a:ext uri="{9D8B030D-6E8A-4147-A177-3AD203B41FA5}">
                      <a16:colId xmlns:a16="http://schemas.microsoft.com/office/drawing/2014/main" val="473331930"/>
                    </a:ext>
                  </a:extLst>
                </a:gridCol>
                <a:gridCol w="2596393">
                  <a:extLst>
                    <a:ext uri="{9D8B030D-6E8A-4147-A177-3AD203B41FA5}">
                      <a16:colId xmlns:a16="http://schemas.microsoft.com/office/drawing/2014/main" val="2536613699"/>
                    </a:ext>
                  </a:extLst>
                </a:gridCol>
              </a:tblGrid>
              <a:tr h="210510">
                <a:tc>
                  <a:txBody>
                    <a:bodyPr/>
                    <a:lstStyle/>
                    <a:p>
                      <a:r>
                        <a:rPr lang="en-US" sz="1000"/>
                        <a:t>Bloom's Level</a:t>
                      </a: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Question</a:t>
                      </a: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2768805"/>
                  </a:ext>
                </a:extLst>
              </a:tr>
              <a:tr h="368392">
                <a:tc>
                  <a:txBody>
                    <a:bodyPr/>
                    <a:lstStyle/>
                    <a:p>
                      <a:r>
                        <a:rPr lang="en-US" sz="1000" b="1"/>
                        <a:t>Remember</a:t>
                      </a:r>
                      <a:endParaRPr lang="en-US" sz="1000"/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1. List the seven structural/creational patterns covered in Module 1.</a:t>
                      </a: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305742"/>
                  </a:ext>
                </a:extLst>
              </a:tr>
              <a:tr h="368392">
                <a:tc>
                  <a:txBody>
                    <a:bodyPr/>
                    <a:lstStyle/>
                    <a:p>
                      <a:r>
                        <a:rPr lang="en-US" sz="1000" b="1"/>
                        <a:t>Understand</a:t>
                      </a:r>
                      <a:endParaRPr lang="en-US" sz="1000"/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2. Explain the main purpose of the Facade Pattern and give one practical example.</a:t>
                      </a: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1636195"/>
                  </a:ext>
                </a:extLst>
              </a:tr>
              <a:tr h="526275">
                <a:tc>
                  <a:txBody>
                    <a:bodyPr/>
                    <a:lstStyle/>
                    <a:p>
                      <a:r>
                        <a:rPr lang="en-US" sz="1000" b="1" dirty="0"/>
                        <a:t>Understand</a:t>
                      </a:r>
                      <a:endParaRPr lang="en-US" sz="1000" dirty="0"/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3. Explain how the Adapter Pattern allows two incompatible interfaces to work together.</a:t>
                      </a: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7780414"/>
                  </a:ext>
                </a:extLst>
              </a:tr>
              <a:tr h="842040">
                <a:tc>
                  <a:txBody>
                    <a:bodyPr/>
                    <a:lstStyle/>
                    <a:p>
                      <a:r>
                        <a:rPr lang="en-US" sz="1000" b="1"/>
                        <a:t>Apply</a:t>
                      </a:r>
                      <a:endParaRPr lang="en-US" sz="1000"/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4. A legacy payment system provides </a:t>
                      </a:r>
                      <a:r>
                        <a:rPr lang="en-US" sz="1000" dirty="0" err="1"/>
                        <a:t>makePayment</a:t>
                      </a:r>
                      <a:r>
                        <a:rPr lang="en-US" sz="1000" dirty="0"/>
                        <a:t>(), while a new application expects pay(). Which pattern would you apply and how would it solve the problem?</a:t>
                      </a: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5348046"/>
                  </a:ext>
                </a:extLst>
              </a:tr>
              <a:tr h="684157">
                <a:tc>
                  <a:txBody>
                    <a:bodyPr/>
                    <a:lstStyle/>
                    <a:p>
                      <a:r>
                        <a:rPr lang="en-US" sz="1000" b="1"/>
                        <a:t>Analyze</a:t>
                      </a:r>
                      <a:endParaRPr lang="en-US" sz="1000"/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5. Analyze a file-system design containing File and Folder objects. Explain why the Composite Pattern may be appropriate for representing this hierarchy.</a:t>
                      </a: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4638074"/>
                  </a:ext>
                </a:extLst>
              </a:tr>
              <a:tr h="842040">
                <a:tc>
                  <a:txBody>
                    <a:bodyPr/>
                    <a:lstStyle/>
                    <a:p>
                      <a:r>
                        <a:rPr lang="en-US" sz="1000" b="1"/>
                        <a:t>Evaluate</a:t>
                      </a:r>
                      <a:endParaRPr lang="en-US" sz="1000"/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6. Compare the Proxy and Facade Patterns. Evaluate which pattern would be more appropriate for controlling access to an expensive remote service and justify your answer.</a:t>
                      </a: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0004506"/>
                  </a:ext>
                </a:extLst>
              </a:tr>
              <a:tr h="684157">
                <a:tc>
                  <a:txBody>
                    <a:bodyPr/>
                    <a:lstStyle/>
                    <a:p>
                      <a:r>
                        <a:rPr lang="en-US" sz="1000" b="1"/>
                        <a:t>Create</a:t>
                      </a:r>
                      <a:endParaRPr lang="en-US" sz="1000"/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7. Design a home-theater system using the Facade Pattern. Identify the subsystem classes, Facade class, and the operations exposed to the client.</a:t>
                      </a: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1521727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3C3259B-3317-5A2E-B062-D6856767FC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1112088"/>
              </p:ext>
            </p:extLst>
          </p:nvPr>
        </p:nvGraphicFramePr>
        <p:xfrm>
          <a:off x="7422543" y="1785181"/>
          <a:ext cx="3582100" cy="4534140"/>
        </p:xfrm>
        <a:graphic>
          <a:graphicData uri="http://schemas.openxmlformats.org/drawingml/2006/table">
            <a:tbl>
              <a:tblPr/>
              <a:tblGrid>
                <a:gridCol w="797670">
                  <a:extLst>
                    <a:ext uri="{9D8B030D-6E8A-4147-A177-3AD203B41FA5}">
                      <a16:colId xmlns:a16="http://schemas.microsoft.com/office/drawing/2014/main" val="2575670553"/>
                    </a:ext>
                  </a:extLst>
                </a:gridCol>
                <a:gridCol w="2784430">
                  <a:extLst>
                    <a:ext uri="{9D8B030D-6E8A-4147-A177-3AD203B41FA5}">
                      <a16:colId xmlns:a16="http://schemas.microsoft.com/office/drawing/2014/main" val="1196952839"/>
                    </a:ext>
                  </a:extLst>
                </a:gridCol>
              </a:tblGrid>
              <a:tr h="179246">
                <a:tc>
                  <a:txBody>
                    <a:bodyPr/>
                    <a:lstStyle/>
                    <a:p>
                      <a:r>
                        <a:rPr lang="en-US" sz="900" dirty="0"/>
                        <a:t>Bloom's Level</a:t>
                      </a:r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Question</a:t>
                      </a:r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6758189"/>
                  </a:ext>
                </a:extLst>
              </a:tr>
              <a:tr h="448115">
                <a:tc>
                  <a:txBody>
                    <a:bodyPr/>
                    <a:lstStyle/>
                    <a:p>
                      <a:r>
                        <a:rPr lang="en-US" sz="900" b="1"/>
                        <a:t>Remember</a:t>
                      </a:r>
                      <a:endParaRPr lang="en-US" sz="900"/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1. Define Singleton, Factory Method, Adapter, Facade, Composite, Proxy, and Decorator Patterns.</a:t>
                      </a:r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8084107"/>
                  </a:ext>
                </a:extLst>
              </a:tr>
              <a:tr h="313681">
                <a:tc>
                  <a:txBody>
                    <a:bodyPr/>
                    <a:lstStyle/>
                    <a:p>
                      <a:r>
                        <a:rPr lang="en-US" sz="900" b="1"/>
                        <a:t>Understand</a:t>
                      </a:r>
                      <a:endParaRPr lang="en-US" sz="900"/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2. Explain how the Decorator Pattern adds responsibilities to an object dynamically.</a:t>
                      </a:r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8010098"/>
                  </a:ext>
                </a:extLst>
              </a:tr>
              <a:tr h="448115">
                <a:tc>
                  <a:txBody>
                    <a:bodyPr/>
                    <a:lstStyle/>
                    <a:p>
                      <a:r>
                        <a:rPr lang="en-US" sz="900" b="1"/>
                        <a:t>Understand</a:t>
                      </a:r>
                      <a:endParaRPr lang="en-US" sz="900"/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3. Explain the difference between inheritance and aggregation in the context of the Decorator Pattern.</a:t>
                      </a:r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5690685"/>
                  </a:ext>
                </a:extLst>
              </a:tr>
              <a:tr h="716984">
                <a:tc>
                  <a:txBody>
                    <a:bodyPr/>
                    <a:lstStyle/>
                    <a:p>
                      <a:r>
                        <a:rPr lang="en-US" sz="900" b="1"/>
                        <a:t>Apply</a:t>
                      </a:r>
                      <a:endParaRPr lang="en-US" sz="900"/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4. A coffee application needs to dynamically add milk, sugar, and whipped cream to a basic coffee object. Which design pattern would you use? Explain the implementation approach.</a:t>
                      </a:r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7100847"/>
                  </a:ext>
                </a:extLst>
              </a:tr>
              <a:tr h="1120288">
                <a:tc>
                  <a:txBody>
                    <a:bodyPr/>
                    <a:lstStyle/>
                    <a:p>
                      <a:r>
                        <a:rPr lang="en-US" sz="900" b="1" dirty="0"/>
                        <a:t>Analyze</a:t>
                      </a:r>
                      <a:endParaRPr lang="en-US" sz="900" dirty="0"/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5. Analyze a system in which separate subclasses have been created for every possible combination of features, such as CoffeeWithMilk, CoffeeWithSugar, CoffeeWithMilkAndSugar, and CoffeeWithMilkSugarCream. Identify the design problem and suggest a suitable pattern.</a:t>
                      </a:r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3829544"/>
                  </a:ext>
                </a:extLst>
              </a:tr>
              <a:tr h="582550">
                <a:tc>
                  <a:txBody>
                    <a:bodyPr/>
                    <a:lstStyle/>
                    <a:p>
                      <a:r>
                        <a:rPr lang="en-US" sz="900" b="1"/>
                        <a:t>Evaluate</a:t>
                      </a:r>
                      <a:endParaRPr lang="en-US" sz="900"/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6. Evaluate the use of the Decorator Pattern compared with creating multiple subclasses for every combination of additional functionality.</a:t>
                      </a:r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0880221"/>
                  </a:ext>
                </a:extLst>
              </a:tr>
              <a:tr h="716984">
                <a:tc>
                  <a:txBody>
                    <a:bodyPr/>
                    <a:lstStyle/>
                    <a:p>
                      <a:r>
                        <a:rPr lang="en-US" sz="900" b="1"/>
                        <a:t>Create</a:t>
                      </a:r>
                      <a:endParaRPr lang="en-US" sz="900"/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7. Design a Java-based notification system using the Decorator Pattern in which basic notifications can dynamically be enhanced with email, SMS, and push-notification features.</a:t>
                      </a:r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15355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6616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/>
              </a:rPr>
              <a:t>Sample Question</a:t>
            </a:r>
            <a:endParaRPr sz="3200" b="1" dirty="0">
              <a:latin typeface="Times New Roman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91ED37B-3D2C-4064-3F86-C489BD2F94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5859700"/>
              </p:ext>
            </p:extLst>
          </p:nvPr>
        </p:nvGraphicFramePr>
        <p:xfrm>
          <a:off x="102732" y="1164106"/>
          <a:ext cx="4209209" cy="4702436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694222">
                  <a:extLst>
                    <a:ext uri="{9D8B030D-6E8A-4147-A177-3AD203B41FA5}">
                      <a16:colId xmlns:a16="http://schemas.microsoft.com/office/drawing/2014/main" val="1397422104"/>
                    </a:ext>
                  </a:extLst>
                </a:gridCol>
                <a:gridCol w="3514987">
                  <a:extLst>
                    <a:ext uri="{9D8B030D-6E8A-4147-A177-3AD203B41FA5}">
                      <a16:colId xmlns:a16="http://schemas.microsoft.com/office/drawing/2014/main" val="4070946283"/>
                    </a:ext>
                  </a:extLst>
                </a:gridCol>
              </a:tblGrid>
              <a:tr h="196781">
                <a:tc>
                  <a:txBody>
                    <a:bodyPr/>
                    <a:lstStyle/>
                    <a:p>
                      <a:r>
                        <a:rPr lang="en-US" sz="1000"/>
                        <a:t>Bloom's Level</a:t>
                      </a:r>
                    </a:p>
                  </a:txBody>
                  <a:tcPr marL="49195" marR="49195" marT="24598" marB="24598" anchor="ctr"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Question</a:t>
                      </a:r>
                    </a:p>
                  </a:txBody>
                  <a:tcPr marL="49195" marR="49195" marT="24598" marB="24598" anchor="ctr"/>
                </a:tc>
                <a:extLst>
                  <a:ext uri="{0D108BD9-81ED-4DB2-BD59-A6C34878D82A}">
                    <a16:rowId xmlns:a16="http://schemas.microsoft.com/office/drawing/2014/main" val="1587016735"/>
                  </a:ext>
                </a:extLst>
              </a:tr>
              <a:tr h="491952">
                <a:tc>
                  <a:txBody>
                    <a:bodyPr/>
                    <a:lstStyle/>
                    <a:p>
                      <a:r>
                        <a:rPr lang="en-US" sz="1000" b="1"/>
                        <a:t>Remember</a:t>
                      </a:r>
                      <a:endParaRPr lang="en-US" sz="1000"/>
                    </a:p>
                  </a:txBody>
                  <a:tcPr marL="49195" marR="49195" marT="24598" marB="24598"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1. What is the main purpose of creational design patterns? Name two creational patterns discussed in Module 1.</a:t>
                      </a:r>
                    </a:p>
                  </a:txBody>
                  <a:tcPr marL="49195" marR="49195" marT="24598" marB="24598" anchor="ctr"/>
                </a:tc>
                <a:extLst>
                  <a:ext uri="{0D108BD9-81ED-4DB2-BD59-A6C34878D82A}">
                    <a16:rowId xmlns:a16="http://schemas.microsoft.com/office/drawing/2014/main" val="3512352477"/>
                  </a:ext>
                </a:extLst>
              </a:tr>
              <a:tr h="344367">
                <a:tc>
                  <a:txBody>
                    <a:bodyPr/>
                    <a:lstStyle/>
                    <a:p>
                      <a:r>
                        <a:rPr lang="en-US" sz="1000" b="1"/>
                        <a:t>Understand</a:t>
                      </a:r>
                      <a:endParaRPr lang="en-US" sz="1000"/>
                    </a:p>
                  </a:txBody>
                  <a:tcPr marL="49195" marR="49195" marT="24598" marB="24598" anchor="ctr"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2. Explain how the Singleton Pattern controls object creation.</a:t>
                      </a:r>
                    </a:p>
                  </a:txBody>
                  <a:tcPr marL="49195" marR="49195" marT="24598" marB="24598" anchor="ctr"/>
                </a:tc>
                <a:extLst>
                  <a:ext uri="{0D108BD9-81ED-4DB2-BD59-A6C34878D82A}">
                    <a16:rowId xmlns:a16="http://schemas.microsoft.com/office/drawing/2014/main" val="179414573"/>
                  </a:ext>
                </a:extLst>
              </a:tr>
              <a:tr h="344367">
                <a:tc>
                  <a:txBody>
                    <a:bodyPr/>
                    <a:lstStyle/>
                    <a:p>
                      <a:r>
                        <a:rPr lang="en-US" sz="1000" b="1"/>
                        <a:t>Understand</a:t>
                      </a:r>
                      <a:endParaRPr lang="en-US" sz="1000"/>
                    </a:p>
                  </a:txBody>
                  <a:tcPr marL="49195" marR="49195" marT="24598" marB="24598"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3. Explain the difference between the Facade Pattern and the Adapter Pattern.</a:t>
                      </a:r>
                    </a:p>
                  </a:txBody>
                  <a:tcPr marL="49195" marR="49195" marT="24598" marB="24598" anchor="ctr"/>
                </a:tc>
                <a:extLst>
                  <a:ext uri="{0D108BD9-81ED-4DB2-BD59-A6C34878D82A}">
                    <a16:rowId xmlns:a16="http://schemas.microsoft.com/office/drawing/2014/main" val="2826883658"/>
                  </a:ext>
                </a:extLst>
              </a:tr>
              <a:tr h="787124">
                <a:tc>
                  <a:txBody>
                    <a:bodyPr/>
                    <a:lstStyle/>
                    <a:p>
                      <a:r>
                        <a:rPr lang="en-US" sz="1000" b="1"/>
                        <a:t>Apply</a:t>
                      </a:r>
                      <a:endParaRPr lang="en-US" sz="1000"/>
                    </a:p>
                  </a:txBody>
                  <a:tcPr marL="49195" marR="49195" marT="24598" marB="24598" anchor="ctr"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4. A university system requires a single object to manage application-wide configuration settings. Which pattern would you select? Explain how you would implement it.</a:t>
                      </a:r>
                    </a:p>
                  </a:txBody>
                  <a:tcPr marL="49195" marR="49195" marT="24598" marB="24598" anchor="ctr"/>
                </a:tc>
                <a:extLst>
                  <a:ext uri="{0D108BD9-81ED-4DB2-BD59-A6C34878D82A}">
                    <a16:rowId xmlns:a16="http://schemas.microsoft.com/office/drawing/2014/main" val="689288349"/>
                  </a:ext>
                </a:extLst>
              </a:tr>
              <a:tr h="934710">
                <a:tc>
                  <a:txBody>
                    <a:bodyPr/>
                    <a:lstStyle/>
                    <a:p>
                      <a:r>
                        <a:rPr lang="en-US" sz="1000" b="1"/>
                        <a:t>Analyze</a:t>
                      </a:r>
                      <a:endParaRPr lang="en-US" sz="1000"/>
                    </a:p>
                  </a:txBody>
                  <a:tcPr marL="49195" marR="49195" marT="24598" marB="24598" anchor="ctr"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5. Analyze a system in which the client directly creates and manages several objects belonging to a complex subsystem. Identify the design problem and explain how the Facade Pattern could simplify the design.</a:t>
                      </a:r>
                    </a:p>
                  </a:txBody>
                  <a:tcPr marL="49195" marR="49195" marT="24598" marB="24598" anchor="ctr"/>
                </a:tc>
                <a:extLst>
                  <a:ext uri="{0D108BD9-81ED-4DB2-BD59-A6C34878D82A}">
                    <a16:rowId xmlns:a16="http://schemas.microsoft.com/office/drawing/2014/main" val="332178991"/>
                  </a:ext>
                </a:extLst>
              </a:tr>
              <a:tr h="787124">
                <a:tc>
                  <a:txBody>
                    <a:bodyPr/>
                    <a:lstStyle/>
                    <a:p>
                      <a:r>
                        <a:rPr lang="en-US" sz="1000" b="1"/>
                        <a:t>Evaluate</a:t>
                      </a:r>
                      <a:endParaRPr lang="en-US" sz="1000"/>
                    </a:p>
                  </a:txBody>
                  <a:tcPr marL="49195" marR="49195" marT="24598" marB="24598" anchor="ctr"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6. Evaluate whether the Adapter Pattern or Facade Pattern is more appropriate when two existing classes have incompatible interfaces. Justify your answer.</a:t>
                      </a:r>
                    </a:p>
                  </a:txBody>
                  <a:tcPr marL="49195" marR="49195" marT="24598" marB="24598" anchor="ctr"/>
                </a:tc>
                <a:extLst>
                  <a:ext uri="{0D108BD9-81ED-4DB2-BD59-A6C34878D82A}">
                    <a16:rowId xmlns:a16="http://schemas.microsoft.com/office/drawing/2014/main" val="2331937394"/>
                  </a:ext>
                </a:extLst>
              </a:tr>
              <a:tr h="639538">
                <a:tc>
                  <a:txBody>
                    <a:bodyPr/>
                    <a:lstStyle/>
                    <a:p>
                      <a:r>
                        <a:rPr lang="en-US" sz="1000" b="1"/>
                        <a:t>Create</a:t>
                      </a:r>
                      <a:endParaRPr lang="en-US" sz="1000"/>
                    </a:p>
                  </a:txBody>
                  <a:tcPr marL="49195" marR="49195" marT="24598" marB="24598"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7. Design a Java-based file-management system using the Composite Pattern. Show how individual files and folders can be treated uniformly.</a:t>
                      </a:r>
                    </a:p>
                  </a:txBody>
                  <a:tcPr marL="49195" marR="49195" marT="24598" marB="24598" anchor="ctr"/>
                </a:tc>
                <a:extLst>
                  <a:ext uri="{0D108BD9-81ED-4DB2-BD59-A6C34878D82A}">
                    <a16:rowId xmlns:a16="http://schemas.microsoft.com/office/drawing/2014/main" val="286910216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0F21EE8-1612-3822-89EC-1DA24B8B04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5697581"/>
              </p:ext>
            </p:extLst>
          </p:nvPr>
        </p:nvGraphicFramePr>
        <p:xfrm>
          <a:off x="4421122" y="1321042"/>
          <a:ext cx="4156496" cy="4525964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828288">
                  <a:extLst>
                    <a:ext uri="{9D8B030D-6E8A-4147-A177-3AD203B41FA5}">
                      <a16:colId xmlns:a16="http://schemas.microsoft.com/office/drawing/2014/main" val="1488282391"/>
                    </a:ext>
                  </a:extLst>
                </a:gridCol>
                <a:gridCol w="3328208">
                  <a:extLst>
                    <a:ext uri="{9D8B030D-6E8A-4147-A177-3AD203B41FA5}">
                      <a16:colId xmlns:a16="http://schemas.microsoft.com/office/drawing/2014/main" val="3996975704"/>
                    </a:ext>
                  </a:extLst>
                </a:gridCol>
              </a:tblGrid>
              <a:tr h="184733">
                <a:tc>
                  <a:txBody>
                    <a:bodyPr/>
                    <a:lstStyle/>
                    <a:p>
                      <a:r>
                        <a:rPr lang="en-US" sz="900"/>
                        <a:t>Bloom's Level</a:t>
                      </a:r>
                    </a:p>
                  </a:txBody>
                  <a:tcPr marL="46183" marR="46183" marT="23092" marB="23092" anchor="ctr"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Question</a:t>
                      </a:r>
                    </a:p>
                  </a:txBody>
                  <a:tcPr marL="46183" marR="46183" marT="23092" marB="23092" anchor="ctr"/>
                </a:tc>
                <a:extLst>
                  <a:ext uri="{0D108BD9-81ED-4DB2-BD59-A6C34878D82A}">
                    <a16:rowId xmlns:a16="http://schemas.microsoft.com/office/drawing/2014/main" val="1368599821"/>
                  </a:ext>
                </a:extLst>
              </a:tr>
              <a:tr h="461833">
                <a:tc>
                  <a:txBody>
                    <a:bodyPr/>
                    <a:lstStyle/>
                    <a:p>
                      <a:r>
                        <a:rPr lang="en-US" sz="900" b="1"/>
                        <a:t>Remember</a:t>
                      </a:r>
                      <a:endParaRPr lang="en-US" sz="900"/>
                    </a:p>
                  </a:txBody>
                  <a:tcPr marL="46183" marR="46183" marT="23092" marB="23092" anchor="ctr"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1. What are the three major categories of the GoF design patterns? Give two examples from each category.</a:t>
                      </a:r>
                    </a:p>
                  </a:txBody>
                  <a:tcPr marL="46183" marR="46183" marT="23092" marB="23092" anchor="ctr"/>
                </a:tc>
                <a:extLst>
                  <a:ext uri="{0D108BD9-81ED-4DB2-BD59-A6C34878D82A}">
                    <a16:rowId xmlns:a16="http://schemas.microsoft.com/office/drawing/2014/main" val="2030793537"/>
                  </a:ext>
                </a:extLst>
              </a:tr>
              <a:tr h="461833">
                <a:tc>
                  <a:txBody>
                    <a:bodyPr/>
                    <a:lstStyle/>
                    <a:p>
                      <a:r>
                        <a:rPr lang="en-US" sz="900" b="1" dirty="0"/>
                        <a:t>Understand</a:t>
                      </a:r>
                      <a:endParaRPr lang="en-US" sz="900" dirty="0"/>
                    </a:p>
                  </a:txBody>
                  <a:tcPr marL="46183" marR="46183" marT="23092" marB="23092" anchor="ctr"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2. Explain the role of the Factory Method Pattern in separating object creation from object usage.</a:t>
                      </a:r>
                    </a:p>
                  </a:txBody>
                  <a:tcPr marL="46183" marR="46183" marT="23092" marB="23092" anchor="ctr"/>
                </a:tc>
                <a:extLst>
                  <a:ext uri="{0D108BD9-81ED-4DB2-BD59-A6C34878D82A}">
                    <a16:rowId xmlns:a16="http://schemas.microsoft.com/office/drawing/2014/main" val="3810177343"/>
                  </a:ext>
                </a:extLst>
              </a:tr>
              <a:tr h="323283">
                <a:tc>
                  <a:txBody>
                    <a:bodyPr/>
                    <a:lstStyle/>
                    <a:p>
                      <a:r>
                        <a:rPr lang="en-US" sz="900" b="1"/>
                        <a:t>Understand</a:t>
                      </a:r>
                      <a:endParaRPr lang="en-US" sz="900"/>
                    </a:p>
                  </a:txBody>
                  <a:tcPr marL="46183" marR="46183" marT="23092" marB="23092" anchor="ctr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3. Explain how a Proxy object controls access to a Real Subject.</a:t>
                      </a:r>
                    </a:p>
                  </a:txBody>
                  <a:tcPr marL="46183" marR="46183" marT="23092" marB="23092" anchor="ctr"/>
                </a:tc>
                <a:extLst>
                  <a:ext uri="{0D108BD9-81ED-4DB2-BD59-A6C34878D82A}">
                    <a16:rowId xmlns:a16="http://schemas.microsoft.com/office/drawing/2014/main" val="2644322268"/>
                  </a:ext>
                </a:extLst>
              </a:tr>
              <a:tr h="738933">
                <a:tc>
                  <a:txBody>
                    <a:bodyPr/>
                    <a:lstStyle/>
                    <a:p>
                      <a:r>
                        <a:rPr lang="en-US" sz="900" b="1"/>
                        <a:t>Apply</a:t>
                      </a:r>
                      <a:endParaRPr lang="en-US" sz="900"/>
                    </a:p>
                  </a:txBody>
                  <a:tcPr marL="46183" marR="46183" marT="23092" marB="23092" anchor="ctr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4. A web application loads very large images, but the images should only be loaded when they are actually displayed. Which design pattern would you apply? Explain your approach.</a:t>
                      </a:r>
                    </a:p>
                  </a:txBody>
                  <a:tcPr marL="46183" marR="46183" marT="23092" marB="23092" anchor="ctr"/>
                </a:tc>
                <a:extLst>
                  <a:ext uri="{0D108BD9-81ED-4DB2-BD59-A6C34878D82A}">
                    <a16:rowId xmlns:a16="http://schemas.microsoft.com/office/drawing/2014/main" val="236551979"/>
                  </a:ext>
                </a:extLst>
              </a:tr>
              <a:tr h="877483">
                <a:tc>
                  <a:txBody>
                    <a:bodyPr/>
                    <a:lstStyle/>
                    <a:p>
                      <a:r>
                        <a:rPr lang="en-US" sz="900" b="1"/>
                        <a:t>Analyze</a:t>
                      </a:r>
                      <a:endParaRPr lang="en-US" sz="900"/>
                    </a:p>
                  </a:txBody>
                  <a:tcPr marL="46183" marR="46183" marT="23092" marB="23092" anchor="ctr"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5. Analyze a design where a program creates a separate subclass for every possible combination of additional features. Explain why this design may become difficult to maintain and identify a suitable pattern.</a:t>
                      </a:r>
                    </a:p>
                  </a:txBody>
                  <a:tcPr marL="46183" marR="46183" marT="23092" marB="23092" anchor="ctr"/>
                </a:tc>
                <a:extLst>
                  <a:ext uri="{0D108BD9-81ED-4DB2-BD59-A6C34878D82A}">
                    <a16:rowId xmlns:a16="http://schemas.microsoft.com/office/drawing/2014/main" val="1220913703"/>
                  </a:ext>
                </a:extLst>
              </a:tr>
              <a:tr h="738933">
                <a:tc>
                  <a:txBody>
                    <a:bodyPr/>
                    <a:lstStyle/>
                    <a:p>
                      <a:r>
                        <a:rPr lang="en-US" sz="900" b="1"/>
                        <a:t>Evaluate</a:t>
                      </a:r>
                      <a:endParaRPr lang="en-US" sz="900"/>
                    </a:p>
                  </a:txBody>
                  <a:tcPr marL="46183" marR="46183" marT="23092" marB="23092" anchor="ctr"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6. Compare inheritance-based extension with the Decorator Pattern. Evaluate which approach is more suitable when responsibilities need to be added dynamically at runtime.</a:t>
                      </a:r>
                    </a:p>
                  </a:txBody>
                  <a:tcPr marL="46183" marR="46183" marT="23092" marB="23092" anchor="ctr"/>
                </a:tc>
                <a:extLst>
                  <a:ext uri="{0D108BD9-81ED-4DB2-BD59-A6C34878D82A}">
                    <a16:rowId xmlns:a16="http://schemas.microsoft.com/office/drawing/2014/main" val="1789852472"/>
                  </a:ext>
                </a:extLst>
              </a:tr>
              <a:tr h="738933">
                <a:tc>
                  <a:txBody>
                    <a:bodyPr/>
                    <a:lstStyle/>
                    <a:p>
                      <a:r>
                        <a:rPr lang="en-US" sz="900" b="1"/>
                        <a:t>Create</a:t>
                      </a:r>
                      <a:endParaRPr lang="en-US" sz="900"/>
                    </a:p>
                  </a:txBody>
                  <a:tcPr marL="46183" marR="46183" marT="23092" marB="23092" anchor="ctr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7. Create a Java notification system in which a basic notification can dynamically be extended with SMS, email, and push-notification capabilities using the Decorator Pattern.</a:t>
                      </a:r>
                    </a:p>
                  </a:txBody>
                  <a:tcPr marL="46183" marR="46183" marT="23092" marB="23092" anchor="ctr"/>
                </a:tc>
                <a:extLst>
                  <a:ext uri="{0D108BD9-81ED-4DB2-BD59-A6C34878D82A}">
                    <a16:rowId xmlns:a16="http://schemas.microsoft.com/office/drawing/2014/main" val="3899546964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5A784F1-A898-48DD-D981-26FA3D1B5C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9056359"/>
              </p:ext>
            </p:extLst>
          </p:nvPr>
        </p:nvGraphicFramePr>
        <p:xfrm>
          <a:off x="8616528" y="1248374"/>
          <a:ext cx="3526536" cy="467130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633610">
                  <a:extLst>
                    <a:ext uri="{9D8B030D-6E8A-4147-A177-3AD203B41FA5}">
                      <a16:colId xmlns:a16="http://schemas.microsoft.com/office/drawing/2014/main" val="3476639018"/>
                    </a:ext>
                  </a:extLst>
                </a:gridCol>
                <a:gridCol w="2892926">
                  <a:extLst>
                    <a:ext uri="{9D8B030D-6E8A-4147-A177-3AD203B41FA5}">
                      <a16:colId xmlns:a16="http://schemas.microsoft.com/office/drawing/2014/main" val="3296389905"/>
                    </a:ext>
                  </a:extLst>
                </a:gridCol>
              </a:tblGrid>
              <a:tr h="179246">
                <a:tc>
                  <a:txBody>
                    <a:bodyPr/>
                    <a:lstStyle/>
                    <a:p>
                      <a:r>
                        <a:rPr lang="en-US" sz="900"/>
                        <a:t>Bloom's Level</a:t>
                      </a:r>
                    </a:p>
                  </a:txBody>
                  <a:tcPr marL="44812" marR="44812" marT="22406" marB="22406" anchor="ctr"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Question</a:t>
                      </a:r>
                    </a:p>
                  </a:txBody>
                  <a:tcPr marL="44812" marR="44812" marT="22406" marB="22406" anchor="ctr"/>
                </a:tc>
                <a:extLst>
                  <a:ext uri="{0D108BD9-81ED-4DB2-BD59-A6C34878D82A}">
                    <a16:rowId xmlns:a16="http://schemas.microsoft.com/office/drawing/2014/main" val="399284282"/>
                  </a:ext>
                </a:extLst>
              </a:tr>
              <a:tr h="313681">
                <a:tc>
                  <a:txBody>
                    <a:bodyPr/>
                    <a:lstStyle/>
                    <a:p>
                      <a:r>
                        <a:rPr lang="en-US" sz="900" b="1"/>
                        <a:t>Remember</a:t>
                      </a:r>
                      <a:endParaRPr lang="en-US" sz="900"/>
                    </a:p>
                  </a:txBody>
                  <a:tcPr marL="44812" marR="44812" marT="22406" marB="22406" anchor="ctr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1. Define the Adapter, Composite, Proxy, and Decorator Patterns.</a:t>
                      </a:r>
                    </a:p>
                  </a:txBody>
                  <a:tcPr marL="44812" marR="44812" marT="22406" marB="22406" anchor="ctr"/>
                </a:tc>
                <a:extLst>
                  <a:ext uri="{0D108BD9-81ED-4DB2-BD59-A6C34878D82A}">
                    <a16:rowId xmlns:a16="http://schemas.microsoft.com/office/drawing/2014/main" val="1213245192"/>
                  </a:ext>
                </a:extLst>
              </a:tr>
              <a:tr h="448115">
                <a:tc>
                  <a:txBody>
                    <a:bodyPr/>
                    <a:lstStyle/>
                    <a:p>
                      <a:r>
                        <a:rPr lang="en-US" sz="900" b="1"/>
                        <a:t>Understand</a:t>
                      </a:r>
                      <a:endParaRPr lang="en-US" sz="900"/>
                    </a:p>
                  </a:txBody>
                  <a:tcPr marL="44812" marR="44812" marT="22406" marB="22406" anchor="ctr"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2. Explain the purpose of Pattern Languages and how multiple design patterns can work together.</a:t>
                      </a:r>
                    </a:p>
                  </a:txBody>
                  <a:tcPr marL="44812" marR="44812" marT="22406" marB="22406" anchor="ctr"/>
                </a:tc>
                <a:extLst>
                  <a:ext uri="{0D108BD9-81ED-4DB2-BD59-A6C34878D82A}">
                    <a16:rowId xmlns:a16="http://schemas.microsoft.com/office/drawing/2014/main" val="2762376276"/>
                  </a:ext>
                </a:extLst>
              </a:tr>
              <a:tr h="448115">
                <a:tc>
                  <a:txBody>
                    <a:bodyPr/>
                    <a:lstStyle/>
                    <a:p>
                      <a:r>
                        <a:rPr lang="en-US" sz="900" b="1"/>
                        <a:t>Understand</a:t>
                      </a:r>
                      <a:endParaRPr lang="en-US" sz="900"/>
                    </a:p>
                  </a:txBody>
                  <a:tcPr marL="44812" marR="44812" marT="22406" marB="22406" anchor="ctr"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3. Explain why design patterns are considered reusable design solutions rather than ready-made programs.</a:t>
                      </a:r>
                    </a:p>
                  </a:txBody>
                  <a:tcPr marL="44812" marR="44812" marT="22406" marB="22406" anchor="ctr"/>
                </a:tc>
                <a:extLst>
                  <a:ext uri="{0D108BD9-81ED-4DB2-BD59-A6C34878D82A}">
                    <a16:rowId xmlns:a16="http://schemas.microsoft.com/office/drawing/2014/main" val="87106823"/>
                  </a:ext>
                </a:extLst>
              </a:tr>
              <a:tr h="851419">
                <a:tc>
                  <a:txBody>
                    <a:bodyPr/>
                    <a:lstStyle/>
                    <a:p>
                      <a:r>
                        <a:rPr lang="en-US" sz="900" b="1"/>
                        <a:t>Apply</a:t>
                      </a:r>
                      <a:endParaRPr lang="en-US" sz="900"/>
                    </a:p>
                  </a:txBody>
                  <a:tcPr marL="44812" marR="44812" marT="22406" marB="22406" anchor="ctr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4. An application needs to communicate with an old payment service whose interface is incompatible with the application's current payment interface. Select and apply an appropriate design pattern.</a:t>
                      </a:r>
                    </a:p>
                  </a:txBody>
                  <a:tcPr marL="44812" marR="44812" marT="22406" marB="22406" anchor="ctr"/>
                </a:tc>
                <a:extLst>
                  <a:ext uri="{0D108BD9-81ED-4DB2-BD59-A6C34878D82A}">
                    <a16:rowId xmlns:a16="http://schemas.microsoft.com/office/drawing/2014/main" val="2955436839"/>
                  </a:ext>
                </a:extLst>
              </a:tr>
              <a:tr h="851419">
                <a:tc>
                  <a:txBody>
                    <a:bodyPr/>
                    <a:lstStyle/>
                    <a:p>
                      <a:r>
                        <a:rPr lang="en-US" sz="900" b="1"/>
                        <a:t>Analyze</a:t>
                      </a:r>
                      <a:endParaRPr lang="en-US" sz="900"/>
                    </a:p>
                  </a:txBody>
                  <a:tcPr marL="44812" marR="44812" marT="22406" marB="22406" anchor="ctr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5. Analyze the following situation: a client directly communicates with five subsystem classes to perform one high-level operation. Identify the design problem and explain how the Facade Pattern can improve it.</a:t>
                      </a:r>
                    </a:p>
                  </a:txBody>
                  <a:tcPr marL="44812" marR="44812" marT="22406" marB="22406" anchor="ctr"/>
                </a:tc>
                <a:extLst>
                  <a:ext uri="{0D108BD9-81ED-4DB2-BD59-A6C34878D82A}">
                    <a16:rowId xmlns:a16="http://schemas.microsoft.com/office/drawing/2014/main" val="3401892346"/>
                  </a:ext>
                </a:extLst>
              </a:tr>
              <a:tr h="716984">
                <a:tc>
                  <a:txBody>
                    <a:bodyPr/>
                    <a:lstStyle/>
                    <a:p>
                      <a:r>
                        <a:rPr lang="en-US" sz="900" b="1"/>
                        <a:t>Evaluate</a:t>
                      </a:r>
                      <a:endParaRPr lang="en-US" sz="900"/>
                    </a:p>
                  </a:txBody>
                  <a:tcPr marL="44812" marR="44812" marT="22406" marB="22406" anchor="ctr"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6. Evaluate the following statement: </a:t>
                      </a:r>
                      <a:r>
                        <a:rPr lang="en-US" sz="900" b="1"/>
                        <a:t>“The Singleton Pattern should be used whenever an object is accessed from multiple parts of a program.”</a:t>
                      </a:r>
                      <a:r>
                        <a:rPr lang="en-US" sz="900"/>
                        <a:t> Give reasons for your answer.</a:t>
                      </a:r>
                    </a:p>
                  </a:txBody>
                  <a:tcPr marL="44812" marR="44812" marT="22406" marB="22406" anchor="ctr"/>
                </a:tc>
                <a:extLst>
                  <a:ext uri="{0D108BD9-81ED-4DB2-BD59-A6C34878D82A}">
                    <a16:rowId xmlns:a16="http://schemas.microsoft.com/office/drawing/2014/main" val="2884933041"/>
                  </a:ext>
                </a:extLst>
              </a:tr>
              <a:tr h="716984">
                <a:tc>
                  <a:txBody>
                    <a:bodyPr/>
                    <a:lstStyle/>
                    <a:p>
                      <a:r>
                        <a:rPr lang="en-US" sz="900" b="1"/>
                        <a:t>Create</a:t>
                      </a:r>
                      <a:endParaRPr lang="en-US" sz="900"/>
                    </a:p>
                  </a:txBody>
                  <a:tcPr marL="44812" marR="44812" marT="22406" marB="22406" anchor="ctr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7. Design an e-commerce system that uses at least </a:t>
                      </a:r>
                      <a:r>
                        <a:rPr lang="en-US" sz="900" b="1" dirty="0"/>
                        <a:t>two appropriate design patterns</a:t>
                      </a:r>
                      <a:r>
                        <a:rPr lang="en-US" sz="900" dirty="0"/>
                        <a:t> from Module 1. Explain why you selected each pattern and describe how the patterns cooperate.</a:t>
                      </a:r>
                    </a:p>
                  </a:txBody>
                  <a:tcPr marL="44812" marR="44812" marT="22406" marB="22406" anchor="ctr"/>
                </a:tc>
                <a:extLst>
                  <a:ext uri="{0D108BD9-81ED-4DB2-BD59-A6C34878D82A}">
                    <a16:rowId xmlns:a16="http://schemas.microsoft.com/office/drawing/2014/main" val="17417738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6483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1882</Words>
  <Application>Microsoft Office PowerPoint</Application>
  <PresentationFormat>Custom</PresentationFormat>
  <Paragraphs>218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Times New Roman</vt:lpstr>
      <vt:lpstr>Wingdings</vt:lpstr>
      <vt:lpstr>Office Theme</vt:lpstr>
      <vt:lpstr>PowerPoint Presentation</vt:lpstr>
      <vt:lpstr>Introduction to Design Patterns</vt:lpstr>
      <vt:lpstr>Importance and Applications of Design Patterns</vt:lpstr>
      <vt:lpstr>Gang of Four (GoF) Pattern Catalogue</vt:lpstr>
      <vt:lpstr>Pattern Languages</vt:lpstr>
      <vt:lpstr>Categories of Design Patterns</vt:lpstr>
      <vt:lpstr>Gang of Four (GoF) Pattern Catalogue</vt:lpstr>
      <vt:lpstr>Creational Patterns</vt:lpstr>
      <vt:lpstr>Singleton Pattern</vt:lpstr>
      <vt:lpstr>Singleton Pattern</vt:lpstr>
      <vt:lpstr>Factory Method Pattern</vt:lpstr>
      <vt:lpstr>Factory Method Steps</vt:lpstr>
      <vt:lpstr>Factory Method Steps</vt:lpstr>
      <vt:lpstr>Factory Method Steps</vt:lpstr>
      <vt:lpstr>Factory Method Steps</vt:lpstr>
      <vt:lpstr>Factory Method Steps</vt:lpstr>
      <vt:lpstr>Structural Patterns</vt:lpstr>
      <vt:lpstr>Facade Pattern</vt:lpstr>
      <vt:lpstr>Facade Pattern Steps</vt:lpstr>
      <vt:lpstr>Adapter Pattern</vt:lpstr>
      <vt:lpstr>Adapter Pattern Steps</vt:lpstr>
      <vt:lpstr>Composite Pattern</vt:lpstr>
      <vt:lpstr>Composite Pattern</vt:lpstr>
      <vt:lpstr>PowerPoint Presentation</vt:lpstr>
      <vt:lpstr>Proxy Pattern</vt:lpstr>
      <vt:lpstr>Decorator Pattern</vt:lpstr>
      <vt:lpstr>Decorator Pattern Steps</vt:lpstr>
      <vt:lpstr>Module 1 Summary</vt:lpstr>
      <vt:lpstr>Sample Question</vt:lpstr>
      <vt:lpstr>Sample Question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Abu Saleh Musa  Miah</cp:lastModifiedBy>
  <cp:revision>5</cp:revision>
  <dcterms:created xsi:type="dcterms:W3CDTF">2013-01-27T09:14:16Z</dcterms:created>
  <dcterms:modified xsi:type="dcterms:W3CDTF">2026-08-17T04:10:02Z</dcterms:modified>
  <cp:category/>
</cp:coreProperties>
</file>