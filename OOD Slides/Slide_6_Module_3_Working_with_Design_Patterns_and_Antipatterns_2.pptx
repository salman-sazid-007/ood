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88" r:id="rId3"/>
    <p:sldId id="280" r:id="rId4"/>
    <p:sldId id="257" r:id="rId5"/>
    <p:sldId id="281" r:id="rId6"/>
    <p:sldId id="258" r:id="rId7"/>
    <p:sldId id="259" r:id="rId8"/>
    <p:sldId id="260" r:id="rId9"/>
    <p:sldId id="282" r:id="rId10"/>
    <p:sldId id="261" r:id="rId11"/>
    <p:sldId id="273" r:id="rId12"/>
    <p:sldId id="262" r:id="rId13"/>
    <p:sldId id="283" r:id="rId14"/>
    <p:sldId id="263" r:id="rId15"/>
    <p:sldId id="270" r:id="rId16"/>
    <p:sldId id="271" r:id="rId17"/>
    <p:sldId id="284" r:id="rId18"/>
    <p:sldId id="265" r:id="rId19"/>
    <p:sldId id="266" r:id="rId20"/>
    <p:sldId id="267" r:id="rId21"/>
    <p:sldId id="268" r:id="rId22"/>
    <p:sldId id="269" r:id="rId23"/>
    <p:sldId id="294" r:id="rId24"/>
    <p:sldId id="295" r:id="rId25"/>
    <p:sldId id="293" r:id="rId26"/>
    <p:sldId id="272" r:id="rId27"/>
    <p:sldId id="296" r:id="rId28"/>
    <p:sldId id="297" r:id="rId29"/>
    <p:sldId id="298" r:id="rId30"/>
    <p:sldId id="299" r:id="rId31"/>
    <p:sldId id="300" r:id="rId32"/>
    <p:sldId id="274" r:id="rId33"/>
    <p:sldId id="285" r:id="rId34"/>
    <p:sldId id="286" r:id="rId35"/>
    <p:sldId id="264" r:id="rId36"/>
    <p:sldId id="291" r:id="rId37"/>
    <p:sldId id="290" r:id="rId38"/>
    <p:sldId id="287" r:id="rId39"/>
    <p:sldId id="275" r:id="rId40"/>
    <p:sldId id="278" r:id="rId41"/>
    <p:sldId id="27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AAC1F-44BC-4A37-BAE6-A3F17A004F98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D7C96-5AA1-40F6-8174-E4998F18A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531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The system suffers from </a:t>
            </a:r>
            <a:r>
              <a:rPr lang="en-US" altLang="ja-JP" b="1" dirty="0"/>
              <a:t>Large Class</a:t>
            </a:r>
            <a:r>
              <a:rPr lang="en-US" altLang="ja-JP" dirty="0"/>
              <a:t> because one class performs several unrelated responsibilities such as validation, database access, fee calculation, report generation, and email notification. It also suffers from </a:t>
            </a:r>
            <a:r>
              <a:rPr lang="en-US" altLang="ja-JP" b="1" dirty="0"/>
              <a:t>Duplicated Code</a:t>
            </a:r>
            <a:r>
              <a:rPr lang="en-US" altLang="ja-JP" dirty="0"/>
              <a:t> because validation and fee-calculation logic are repeated.</a:t>
            </a:r>
          </a:p>
          <a:p>
            <a:r>
              <a:rPr lang="en-US" altLang="ja-JP" dirty="0"/>
              <a:t>The appropriate refactoring is to </a:t>
            </a:r>
            <a:r>
              <a:rPr lang="en-US" altLang="ja-JP" b="1" dirty="0"/>
              <a:t>Extract Class</a:t>
            </a:r>
            <a:r>
              <a:rPr lang="en-US" altLang="ja-JP" dirty="0"/>
              <a:t> and centralize duplicated logic. The responsibilities can be redistributed into </a:t>
            </a:r>
            <a:r>
              <a:rPr lang="en-US" altLang="ja-JP" dirty="0" err="1"/>
              <a:t>StudentValidator</a:t>
            </a:r>
            <a:r>
              <a:rPr lang="en-US" altLang="ja-JP" dirty="0"/>
              <a:t>, </a:t>
            </a:r>
            <a:r>
              <a:rPr lang="en-US" altLang="ja-JP" dirty="0" err="1"/>
              <a:t>StudentRepository</a:t>
            </a:r>
            <a:r>
              <a:rPr lang="en-US" altLang="ja-JP" dirty="0"/>
              <a:t>, </a:t>
            </a:r>
            <a:r>
              <a:rPr lang="en-US" altLang="ja-JP" dirty="0" err="1"/>
              <a:t>FeeCalculator</a:t>
            </a:r>
            <a:r>
              <a:rPr lang="en-US" altLang="ja-JP" dirty="0"/>
              <a:t>, </a:t>
            </a:r>
            <a:r>
              <a:rPr lang="en-US" altLang="ja-JP" dirty="0" err="1"/>
              <a:t>ReportGenerator</a:t>
            </a:r>
            <a:r>
              <a:rPr lang="en-US" altLang="ja-JP" dirty="0"/>
              <a:t>, and </a:t>
            </a:r>
            <a:r>
              <a:rPr lang="en-US" altLang="ja-JP" dirty="0" err="1"/>
              <a:t>EmailService</a:t>
            </a:r>
            <a:r>
              <a:rPr lang="en-US" altLang="ja-JP" dirty="0"/>
              <a:t>, while </a:t>
            </a:r>
            <a:r>
              <a:rPr lang="en-US" altLang="ja-JP" dirty="0" err="1"/>
              <a:t>StudentService</a:t>
            </a:r>
            <a:r>
              <a:rPr lang="en-US" altLang="ja-JP" dirty="0"/>
              <a:t> coordinates these classes. This improves </a:t>
            </a:r>
            <a:r>
              <a:rPr lang="en-US" altLang="ja-JP" b="1" dirty="0"/>
              <a:t>cohesion, maintainability, reusability, testability, and adherence to the Single Responsibility Principle</a:t>
            </a:r>
            <a:r>
              <a:rPr lang="en-US" altLang="ja-JP" dirty="0"/>
              <a:t>. </a:t>
            </a:r>
            <a:r>
              <a:rPr lang="en-US" altLang="ja-JP" b="1"/>
              <a:t>Expected key answer:</a:t>
            </a:r>
            <a:br>
              <a:rPr lang="en-US" altLang="ja-JP"/>
            </a:br>
            <a:r>
              <a:rPr lang="en-US" altLang="ja-JP" b="1"/>
              <a:t>Large Class → Extract Class / Redistribute Responsibilities</a:t>
            </a:r>
            <a:br>
              <a:rPr lang="en-US" altLang="ja-JP"/>
            </a:br>
            <a:r>
              <a:rPr lang="en-US" altLang="ja-JP" b="1"/>
              <a:t>Duplicated Code → Extract Method / Centralize Common Logic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D7C96-5AA1-40F6-8174-E4998F18AC44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199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cialfuturo.com/tal-dia-como-hoy/microsoft-anuncia-window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cialfuturo.com/tal-dia-como-hoy/microsoft-anuncia-window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cialfuturo.com/tal-dia-como-hoy/microsoft-anuncia-window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cialfuturo.com/tal-dia-como-hoy/microsoft-anuncia-window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597" y="1432780"/>
            <a:ext cx="8992398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Times New Roman"/>
              </a:defRPr>
            </a:pPr>
            <a:r>
              <a:rPr sz="6000" dirty="0">
                <a:solidFill>
                  <a:srgbClr val="FF0000"/>
                </a:solidFill>
              </a:rPr>
              <a:t>Module 3:</a:t>
            </a:r>
            <a:endParaRPr lang="en-US" sz="6000" dirty="0">
              <a:solidFill>
                <a:srgbClr val="FF0000"/>
              </a:solidFill>
            </a:endParaRPr>
          </a:p>
          <a:p>
            <a:pPr algn="ctr">
              <a:defRPr sz="2800" b="1">
                <a:latin typeface="Times New Roman"/>
              </a:defRPr>
            </a:pPr>
            <a:r>
              <a:rPr sz="6000" dirty="0">
                <a:solidFill>
                  <a:srgbClr val="00B050"/>
                </a:solidFill>
              </a:rPr>
              <a:t> Working with Design </a:t>
            </a:r>
            <a:endParaRPr lang="en-US" sz="6000" dirty="0">
              <a:solidFill>
                <a:srgbClr val="00B050"/>
              </a:solidFill>
            </a:endParaRPr>
          </a:p>
          <a:p>
            <a:pPr algn="ctr">
              <a:defRPr sz="2800" b="1">
                <a:latin typeface="Times New Roman"/>
              </a:defRPr>
            </a:pPr>
            <a:r>
              <a:rPr sz="6000" dirty="0">
                <a:solidFill>
                  <a:srgbClr val="00B050"/>
                </a:solidFill>
              </a:rPr>
              <a:t>Patterns and Anti-patterns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9803" y="-91220"/>
            <a:ext cx="1058033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sz="3200" dirty="0">
                <a:solidFill>
                  <a:srgbClr val="00B050"/>
                </a:solidFill>
              </a:rPr>
              <a:t>Module 3: Working with Design Patterns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19" y="639097"/>
            <a:ext cx="11799693" cy="6453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r>
              <a:rPr sz="2800" b="1" dirty="0">
                <a:solidFill>
                  <a:srgbClr val="FF0000"/>
                </a:solidFill>
              </a:rPr>
              <a:t>Module Focus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dirty="0"/>
              <a:t>Understand how design patterns are applied in real software designs.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dirty="0"/>
              <a:t>Understand MVC as a design pattern for separating user-interface responsibilities.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dirty="0"/>
              <a:t>Apply general design principles to evaluate software</a:t>
            </a:r>
            <a:r>
              <a:rPr lang="en-US" sz="2800" dirty="0"/>
              <a:t> </a:t>
            </a:r>
            <a:r>
              <a:rPr lang="en-US" altLang="ja-JP" sz="2800" dirty="0"/>
              <a:t>structure.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lang="en-US" altLang="ja-JP" sz="2800" dirty="0"/>
              <a:t>Analyze and critique code that exhibits poor design.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dirty="0"/>
              <a:t>Recognize anti-patterns and code smells before they make a system difficult to maintain.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dirty="0"/>
              <a:t>Use refactoring to improve internal code structure without changing external behavior.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r>
              <a:rPr sz="2800" dirty="0"/>
              <a:t>Key idea: Good design is not only about selecting a pattern; it is also about recognizing when a design has become unnecessarily coupled, complex, duplicated, or difficult to maintain.</a:t>
            </a:r>
            <a:endParaRPr lang="en-US" sz="2800" dirty="0"/>
          </a:p>
          <a:p>
            <a:pPr>
              <a:spcAft>
                <a:spcPts val="500"/>
              </a:spcAft>
              <a:defRPr sz="1600">
                <a:latin typeface="Times New Roman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9577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Module 3: Working with Design Patterns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r>
              <a:rPr dirty="0"/>
              <a:t>Module Focus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dirty="0"/>
              <a:t>Understand how design patterns are applied in real software designs.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dirty="0"/>
              <a:t>Understand MVC as a design pattern for separating user-interface responsibilities.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dirty="0"/>
              <a:t>Apply general design principles to evaluate software</a:t>
            </a:r>
            <a:r>
              <a:rPr lang="en-US" dirty="0"/>
              <a:t> </a:t>
            </a:r>
            <a:r>
              <a:rPr lang="en-US" altLang="ja-JP" dirty="0"/>
              <a:t>structure.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lang="en-US" altLang="ja-JP" dirty="0"/>
              <a:t>Analyze and critique code that exhibits poor design.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dirty="0"/>
              <a:t>Recognize anti-patterns and code smells before they make a system difficult to maintain.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dirty="0"/>
              <a:t>Use refactoring to improve internal code structure without changing external behavior.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r>
              <a:rPr dirty="0"/>
              <a:t>Key idea: Good design is not only about selecting a pattern; it is also about recognizing when a design has become unnecessarily coupled, complex, duplicated, or difficult to maintain.</a:t>
            </a:r>
            <a:endParaRPr lang="en-US" dirty="0"/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r>
              <a:rPr lang="en-US" dirty="0" err="1"/>
              <a:t>Dfd</a:t>
            </a:r>
            <a:endParaRPr lang="en-US" dirty="0"/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882EFA-04AE-F30A-56FC-08DDB490D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12" y="0"/>
            <a:ext cx="11773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33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MVC Design Pattern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054348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400" b="1" dirty="0"/>
              <a:t>The Model–View–Controller (MVC) pattern divides the responsibilities of a system that offers a user interface into three parts: Model, View, and Controller.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400" b="1" dirty="0">
                <a:solidFill>
                  <a:srgbClr val="FF0000"/>
                </a:solidFill>
              </a:rPr>
              <a:t>Model</a:t>
            </a:r>
            <a:r>
              <a:rPr lang="en-US" sz="2400" b="1" dirty="0">
                <a:solidFill>
                  <a:srgbClr val="FF0000"/>
                </a:solidFill>
              </a:rPr>
              <a:t>: </a:t>
            </a:r>
            <a:r>
              <a:rPr sz="2400" dirty="0"/>
              <a:t>Contains the underlying </a:t>
            </a:r>
            <a:r>
              <a:rPr sz="2400" b="1" dirty="0">
                <a:solidFill>
                  <a:srgbClr val="7030A0"/>
                </a:solidFill>
              </a:rPr>
              <a:t>data and logic </a:t>
            </a:r>
            <a:r>
              <a:rPr sz="2400" dirty="0"/>
              <a:t>that users want to see and manipulate through an interface.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400" b="1" dirty="0">
                <a:solidFill>
                  <a:srgbClr val="FF0000"/>
                </a:solidFill>
              </a:rPr>
              <a:t>View</a:t>
            </a:r>
            <a:r>
              <a:rPr lang="en-US" sz="2400" b="1" dirty="0">
                <a:solidFill>
                  <a:srgbClr val="FF0000"/>
                </a:solidFill>
              </a:rPr>
              <a:t>: </a:t>
            </a:r>
            <a:r>
              <a:rPr sz="2400" dirty="0"/>
              <a:t>Allows </a:t>
            </a:r>
            <a:r>
              <a:rPr sz="2400" b="1" dirty="0">
                <a:solidFill>
                  <a:srgbClr val="7030A0"/>
                </a:solidFill>
              </a:rPr>
              <a:t>users</a:t>
            </a:r>
            <a:r>
              <a:rPr sz="2400" dirty="0"/>
              <a:t> to see all or part of the model.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400" b="1" dirty="0">
                <a:solidFill>
                  <a:srgbClr val="FF0000"/>
                </a:solidFill>
              </a:rPr>
              <a:t>Controller</a:t>
            </a:r>
            <a:r>
              <a:rPr lang="en-US" sz="2400" b="1" dirty="0">
                <a:solidFill>
                  <a:srgbClr val="FF0000"/>
                </a:solidFill>
              </a:rPr>
              <a:t>: </a:t>
            </a:r>
            <a:r>
              <a:rPr sz="2400" dirty="0"/>
              <a:t>Interprets </a:t>
            </a:r>
            <a:r>
              <a:rPr sz="2400" b="1" dirty="0">
                <a:solidFill>
                  <a:srgbClr val="7030A0"/>
                </a:solidFill>
              </a:rPr>
              <a:t>user requests and changes </a:t>
            </a:r>
            <a:r>
              <a:rPr sz="2400" dirty="0"/>
              <a:t>the model.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400" b="1" dirty="0">
                <a:solidFill>
                  <a:srgbClr val="FF0000"/>
                </a:solidFill>
              </a:rPr>
              <a:t>Main Goal: </a:t>
            </a:r>
            <a:r>
              <a:rPr sz="2400" dirty="0"/>
              <a:t>Separate responsibilities so that user-interface presentation, request handling, and application data/logic are not unnecessarily mixed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9004" y="5925312"/>
            <a:ext cx="1371600" cy="64008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0684" y="5742432"/>
            <a:ext cx="2194560" cy="91440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Controller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interprets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25324" y="5742432"/>
            <a:ext cx="2194560" cy="91440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Model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data +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59964" y="5742432"/>
            <a:ext cx="2194560" cy="91440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View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presents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0FA7480-C66B-59FD-F199-FC37DB376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73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MVC — Request and Response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643360" cy="3865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Typical interaction flow: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1. User interacts with the View.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2. The request/event is sent to the Controller.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3. The Controller interprets the request.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4. The Controller changes or asks the Model to change.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5. The Model contains the data and logic affected by the request.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6. The View presents the relevant part of the Model to the user.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dirty="0">
                <a:solidFill>
                  <a:srgbClr val="7030A0"/>
                </a:solidFill>
              </a:rPr>
              <a:t>Result: </a:t>
            </a:r>
            <a:r>
              <a:rPr sz="2400" dirty="0"/>
              <a:t>Each part has a clearer responsibility, making the system easier to understand and modify.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623560"/>
            <a:ext cx="1371600" cy="64008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Times New Roman"/>
              </a:defRPr>
            </a:pPr>
            <a:r>
              <a:rPr sz="2000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5623560"/>
            <a:ext cx="1554480" cy="64008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Times New Roman"/>
              </a:defRPr>
            </a:pPr>
            <a:r>
              <a:rPr sz="2000">
                <a:solidFill>
                  <a:schemeClr val="tx1"/>
                </a:solidFill>
              </a:rPr>
              <a:t>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5623560"/>
            <a:ext cx="1828800" cy="64008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Times New Roman"/>
              </a:defRPr>
            </a:pPr>
            <a:r>
              <a:rPr sz="200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5623560"/>
            <a:ext cx="1645920" cy="64008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Times New Roman"/>
              </a:defRPr>
            </a:pPr>
            <a:r>
              <a:rPr sz="200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5623560"/>
            <a:ext cx="1828800" cy="64008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Times New Roman"/>
              </a:defRPr>
            </a:pPr>
            <a:r>
              <a:rPr sz="2000">
                <a:solidFill>
                  <a:schemeClr val="tx1"/>
                </a:solidFill>
              </a:rPr>
              <a:t>Updated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MVC — Simple Example: Student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914400"/>
            <a:ext cx="11545037" cy="5345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b="1" dirty="0">
                <a:solidFill>
                  <a:srgbClr val="FF0000"/>
                </a:solidFill>
              </a:rPr>
              <a:t>Scenario: </a:t>
            </a:r>
            <a:r>
              <a:rPr sz="2800" dirty="0"/>
              <a:t>A user clicks “Add Student”.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b="1" dirty="0">
                <a:solidFill>
                  <a:srgbClr val="FF0000"/>
                </a:solidFill>
              </a:rPr>
              <a:t>View: </a:t>
            </a:r>
            <a:r>
              <a:rPr sz="2800" dirty="0"/>
              <a:t>Displays the student form and collects the user's input.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b="1" dirty="0">
                <a:solidFill>
                  <a:srgbClr val="FF0000"/>
                </a:solidFill>
              </a:rPr>
              <a:t>Controller: </a:t>
            </a:r>
            <a:r>
              <a:rPr sz="2800" dirty="0"/>
              <a:t>Receives the Add Student request, validates/coordinates the request, and asks the Model to perform the operation.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b="1" dirty="0">
                <a:solidFill>
                  <a:srgbClr val="FF0000"/>
                </a:solidFill>
              </a:rPr>
              <a:t>Model: </a:t>
            </a:r>
            <a:r>
              <a:rPr sz="2800" dirty="0"/>
              <a:t>Represents student data and performs the required application/data operations.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View: </a:t>
            </a:r>
            <a:r>
              <a:rPr sz="2800" dirty="0"/>
              <a:t>Displays the updated student list or confirmation.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b="1" dirty="0">
                <a:solidFill>
                  <a:srgbClr val="00B0F0"/>
                </a:solidFill>
              </a:rPr>
              <a:t>Separation of responsibilities: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400">
                <a:latin typeface="Times New Roman"/>
              </a:defRPr>
            </a:pPr>
            <a:r>
              <a:rPr sz="2800" dirty="0"/>
              <a:t>View should focus on presentation.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400">
                <a:latin typeface="Times New Roman"/>
              </a:defRPr>
            </a:pPr>
            <a:r>
              <a:rPr sz="2800" dirty="0"/>
              <a:t>Controller should coordinate requests.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400">
                <a:latin typeface="Times New Roman"/>
              </a:defRPr>
            </a:pPr>
            <a:r>
              <a:rPr sz="2800" dirty="0"/>
              <a:t>Model should contain the underlying data and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General Design Principles — Why They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914400"/>
            <a:ext cx="11643361" cy="490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u"/>
              <a:defRPr sz="1300">
                <a:latin typeface="Times New Roman"/>
              </a:defRPr>
            </a:pPr>
            <a:r>
              <a:rPr sz="2400" dirty="0"/>
              <a:t>Design principles provide guidance for creating reusable, flexible, understandable, and maintainable software.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u"/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Information Hiding</a:t>
            </a:r>
            <a:r>
              <a:rPr lang="en-US" sz="2400" b="1" dirty="0">
                <a:solidFill>
                  <a:srgbClr val="00B0F0"/>
                </a:solidFill>
              </a:rPr>
              <a:t>: </a:t>
            </a:r>
            <a:r>
              <a:rPr sz="2400" dirty="0"/>
              <a:t>Modules should expose the minimum information needed to use them correctly and hide the rest.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u"/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Separation of Concerns</a:t>
            </a:r>
            <a:r>
              <a:rPr lang="en-US" sz="2400" b="1" dirty="0">
                <a:solidFill>
                  <a:srgbClr val="00B0F0"/>
                </a:solidFill>
              </a:rPr>
              <a:t>: </a:t>
            </a:r>
            <a:r>
              <a:rPr sz="2400" dirty="0"/>
              <a:t>Organize software so different concerns are separated into different sections and addressed effectively.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u"/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Dependency Inversion</a:t>
            </a:r>
            <a:r>
              <a:rPr lang="en-US" sz="2400" b="1" dirty="0">
                <a:solidFill>
                  <a:srgbClr val="00B0F0"/>
                </a:solidFill>
              </a:rPr>
              <a:t>: </a:t>
            </a:r>
            <a:r>
              <a:rPr sz="2400" dirty="0"/>
              <a:t>High-level modules should depend on high-level generalizations rather than low-level implementation details.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u"/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Open/Closed Principle</a:t>
            </a:r>
            <a:r>
              <a:rPr lang="en-US" sz="2400" b="1" dirty="0">
                <a:solidFill>
                  <a:srgbClr val="00B0F0"/>
                </a:solidFill>
              </a:rPr>
              <a:t>:  </a:t>
            </a:r>
            <a:r>
              <a:rPr sz="2400" dirty="0"/>
              <a:t>Classes should be open for extension but closed to change.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u"/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Interface Segregation</a:t>
            </a:r>
            <a:r>
              <a:rPr lang="en-US" sz="2400" b="1" dirty="0">
                <a:solidFill>
                  <a:srgbClr val="00B0F0"/>
                </a:solidFill>
              </a:rPr>
              <a:t>: </a:t>
            </a:r>
            <a:r>
              <a:rPr sz="2400" dirty="0"/>
              <a:t>A class should not be forced to depend on methods it does not use.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u"/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Coupling Objects Principle</a:t>
            </a:r>
            <a:r>
              <a:rPr lang="en-US" sz="2400" b="1" dirty="0">
                <a:solidFill>
                  <a:srgbClr val="00B050"/>
                </a:solidFill>
              </a:rPr>
              <a:t>: </a:t>
            </a:r>
            <a:r>
              <a:rPr sz="2400" dirty="0"/>
              <a:t>Classes should achieve code reuse through aggregation rather than inheritance.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General Design Principles — Why They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54E880-1D6E-2B0F-BFDB-B2298A20E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935" y="0"/>
            <a:ext cx="11773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73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General Design Principles — DRY and Least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87" y="754598"/>
            <a:ext cx="11967826" cy="5409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Don't Repeat Yourself (DRY)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800" dirty="0"/>
              <a:t>Write programs that perform the same tasks with less repeated code.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800" dirty="0"/>
              <a:t>Reuse shared blocks of code so systems are easier to maintain.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Principle of Least Knowledge / Law of Demeter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800" dirty="0"/>
              <a:t>Classes should know about and interact with as few other classes as possible.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800" dirty="0"/>
              <a:t>Avoid unnecessary navigation through chains of dependent objects.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Ø"/>
              <a:defRPr sz="1500">
                <a:latin typeface="Times New Roman"/>
              </a:defRPr>
            </a:pPr>
            <a:r>
              <a:rPr sz="2800" b="1" dirty="0">
                <a:solidFill>
                  <a:srgbClr val="7030A0"/>
                </a:solidFill>
              </a:rPr>
              <a:t>Why these principles matter:</a:t>
            </a:r>
          </a:p>
          <a:p>
            <a:pPr marL="1371600" lvl="2" indent="-4572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800" dirty="0"/>
              <a:t>Less duplication means fewer places to update.</a:t>
            </a:r>
          </a:p>
          <a:p>
            <a:pPr marL="1371600" lvl="2" indent="-4572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800" dirty="0"/>
              <a:t>Less knowledge reduces coupling.</a:t>
            </a:r>
          </a:p>
          <a:p>
            <a:pPr marL="1371600" lvl="2" indent="-4572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800" dirty="0"/>
              <a:t>Simpler dependencies make testing and refactoring easier.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0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How to Analyze and Critique a Design —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0537"/>
            <a:ext cx="11612880" cy="540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Step 1: </a:t>
            </a:r>
            <a:r>
              <a:rPr sz="2400" dirty="0"/>
              <a:t>Identify Responsibilities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lang="en-US" sz="2400" b="1" dirty="0">
                <a:solidFill>
                  <a:srgbClr val="00B050"/>
                </a:solidFill>
              </a:rPr>
              <a:t>     </a:t>
            </a:r>
            <a:r>
              <a:rPr sz="2400" b="1" dirty="0">
                <a:solidFill>
                  <a:srgbClr val="FF0000"/>
                </a:solidFill>
              </a:rPr>
              <a:t>Ask: </a:t>
            </a:r>
            <a:r>
              <a:rPr sz="2400" dirty="0"/>
              <a:t>What does each class actually do? Does it have one clear purpose?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Step 2: </a:t>
            </a:r>
            <a:r>
              <a:rPr sz="2400" dirty="0"/>
              <a:t>Identify Dependencies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lang="en-US" sz="2400" b="1" dirty="0">
                <a:solidFill>
                  <a:srgbClr val="FF0000"/>
                </a:solidFill>
              </a:rPr>
              <a:t>    </a:t>
            </a:r>
            <a:r>
              <a:rPr sz="2400" b="1" dirty="0">
                <a:solidFill>
                  <a:srgbClr val="FF0000"/>
                </a:solidFill>
              </a:rPr>
              <a:t>Ask: </a:t>
            </a:r>
            <a:r>
              <a:rPr sz="2400" dirty="0"/>
              <a:t>Which classes know about each other? Are there unnecessary dependencies or cycles?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Step 3: </a:t>
            </a:r>
            <a:r>
              <a:rPr sz="2400" dirty="0"/>
              <a:t>Check Coupling and Cohesion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lang="en-US" sz="2400" b="1" dirty="0">
                <a:solidFill>
                  <a:srgbClr val="FF0000"/>
                </a:solidFill>
              </a:rPr>
              <a:t>          </a:t>
            </a:r>
            <a:r>
              <a:rPr sz="2400" b="1" dirty="0">
                <a:solidFill>
                  <a:srgbClr val="FF0000"/>
                </a:solidFill>
              </a:rPr>
              <a:t>Ask: </a:t>
            </a:r>
            <a:r>
              <a:rPr sz="2400" dirty="0"/>
              <a:t>Are responsibilities tightly connected inside a class, and are unrelated responsibilities separated?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Step 4: Look for Code Smells</a:t>
            </a:r>
            <a:r>
              <a:rPr lang="en-US" sz="2400" b="1" dirty="0">
                <a:solidFill>
                  <a:srgbClr val="00B0F0"/>
                </a:solidFill>
              </a:rPr>
              <a:t>: </a:t>
            </a:r>
            <a:r>
              <a:rPr sz="2400" dirty="0"/>
              <a:t>Check for duplication, long methods, large classes, message chains, primitive obsession, switch statements, and inappropriate intimacy.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Step 5: Check Principles</a:t>
            </a:r>
            <a:r>
              <a:rPr lang="en-US" sz="2400" b="1" dirty="0">
                <a:solidFill>
                  <a:srgbClr val="00B0F0"/>
                </a:solidFill>
              </a:rPr>
              <a:t>: </a:t>
            </a:r>
            <a:r>
              <a:rPr sz="2400" dirty="0"/>
              <a:t>Review information hiding, separation of concerns, DRY, least knowledge, dependency inversion, open/closed, and interface segregation.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Step 6: Refactor</a:t>
            </a:r>
            <a:r>
              <a:rPr lang="en-US" sz="2400" b="1" dirty="0">
                <a:solidFill>
                  <a:srgbClr val="00B0F0"/>
                </a:solidFill>
              </a:rPr>
              <a:t>: </a:t>
            </a:r>
            <a:r>
              <a:rPr sz="2400" dirty="0"/>
              <a:t>Improve the internal structure while preserving external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414566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Analyzing and Critiquing Code — What Is Bad Design?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584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When reviewing code, ask: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b="1" dirty="0">
                <a:solidFill>
                  <a:srgbClr val="00B0F0"/>
                </a:solidFill>
              </a:rPr>
              <a:t>1. Does one class have too many unrelated responsibilities?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b="1" dirty="0">
                <a:solidFill>
                  <a:srgbClr val="7030A0"/>
                </a:solidFill>
              </a:rPr>
              <a:t>2. Are responsibilities placed in the wrong class?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dirty="0"/>
              <a:t>3. Are classes tightly coupled through unnecessary dependencies?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b="1" dirty="0">
                <a:solidFill>
                  <a:srgbClr val="7030A0"/>
                </a:solidFill>
              </a:rPr>
              <a:t>4. Is the same logic duplicated in multiple locations?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dirty="0"/>
              <a:t>5. Are long methods, long parameter lists, or long call chains making behavior difficult to understand?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b="1" dirty="0">
                <a:solidFill>
                  <a:srgbClr val="7030A0"/>
                </a:solidFill>
              </a:rPr>
              <a:t>6. Are primitive values being used where meaningful</a:t>
            </a:r>
            <a:r>
              <a:rPr lang="ja-JP" altLang="en-US" sz="2800" b="1" dirty="0">
                <a:solidFill>
                  <a:srgbClr val="7030A0"/>
                </a:solidFill>
              </a:rPr>
              <a:t> </a:t>
            </a:r>
            <a:r>
              <a:rPr sz="2800" b="1" dirty="0">
                <a:solidFill>
                  <a:srgbClr val="7030A0"/>
                </a:solidFill>
              </a:rPr>
              <a:t>abstractions/classes should exist?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dirty="0"/>
              <a:t>7. Are switch statements scattered throughout the system?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b="1" dirty="0">
                <a:solidFill>
                  <a:srgbClr val="00B0F0"/>
                </a:solidFill>
              </a:rPr>
              <a:t>8. Is the code generalized for requirements that do not yet exist?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dirty="0"/>
              <a:t>9. Does inheritance force subclasses to receive behavior they do not need?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rPr lang="en-US" altLang="ja-JP"/>
              <a:t>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F69195-B6AD-B972-3A97-3D0F32A70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45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730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05074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lang="en-US" dirty="0"/>
              <a:t>Code Analysis/ </a:t>
            </a:r>
            <a:r>
              <a:rPr dirty="0"/>
              <a:t>Code Critique Example — Multiple Responsibilities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5939" y="1078992"/>
            <a:ext cx="4993312" cy="5394960"/>
          </a:xfrm>
          <a:prstGeom prst="roundRect">
            <a:avLst/>
          </a:prstGeom>
          <a:solidFill>
            <a:schemeClr val="bg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latin typeface="Courier New"/>
              </a:defRPr>
            </a:pPr>
            <a:r>
              <a:rPr dirty="0">
                <a:solidFill>
                  <a:schemeClr val="tx1"/>
                </a:solidFill>
              </a:rPr>
              <a:t>class </a:t>
            </a:r>
            <a:r>
              <a:rPr dirty="0" err="1">
                <a:solidFill>
                  <a:schemeClr val="tx1"/>
                </a:solidFill>
              </a:rPr>
              <a:t>StudentController</a:t>
            </a:r>
            <a:r>
              <a:rPr dirty="0">
                <a:solidFill>
                  <a:schemeClr val="tx1"/>
                </a:solidFill>
              </a:rPr>
              <a:t> {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void </a:t>
            </a:r>
            <a:r>
              <a:rPr dirty="0" err="1">
                <a:solidFill>
                  <a:schemeClr val="tx1"/>
                </a:solidFill>
              </a:rPr>
              <a:t>addStudent</a:t>
            </a:r>
            <a:r>
              <a:rPr dirty="0">
                <a:solidFill>
                  <a:schemeClr val="tx1"/>
                </a:solidFill>
              </a:rPr>
              <a:t>(String name, String email) 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// validate input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if (name == null || </a:t>
            </a:r>
            <a:r>
              <a:rPr dirty="0" err="1">
                <a:solidFill>
                  <a:schemeClr val="tx1"/>
                </a:solidFill>
              </a:rPr>
              <a:t>name.isEmpty</a:t>
            </a:r>
            <a:r>
              <a:rPr dirty="0">
                <a:solidFill>
                  <a:schemeClr val="tx1"/>
                </a:solidFill>
              </a:rPr>
              <a:t>()) return;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// create database connection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</a:t>
            </a:r>
            <a:r>
              <a:rPr dirty="0" err="1">
                <a:solidFill>
                  <a:schemeClr val="tx1"/>
                </a:solidFill>
              </a:rPr>
              <a:t>Connection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db</a:t>
            </a:r>
            <a:r>
              <a:rPr dirty="0">
                <a:solidFill>
                  <a:schemeClr val="tx1"/>
                </a:solidFill>
              </a:rPr>
              <a:t> = </a:t>
            </a:r>
            <a:r>
              <a:rPr dirty="0" err="1">
                <a:solidFill>
                  <a:schemeClr val="tx1"/>
                </a:solidFill>
              </a:rPr>
              <a:t>DriverManager.getConnection</a:t>
            </a:r>
            <a:r>
              <a:rPr dirty="0">
                <a:solidFill>
                  <a:schemeClr val="tx1"/>
                </a:solidFill>
              </a:rPr>
              <a:t>(...);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// SQL operation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String </a:t>
            </a:r>
            <a:r>
              <a:rPr dirty="0" err="1">
                <a:solidFill>
                  <a:schemeClr val="tx1"/>
                </a:solidFill>
              </a:rPr>
              <a:t>sql</a:t>
            </a:r>
            <a:r>
              <a:rPr dirty="0">
                <a:solidFill>
                  <a:schemeClr val="tx1"/>
                </a:solidFill>
              </a:rPr>
              <a:t> =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    "INSERT INTO students(</a:t>
            </a:r>
            <a:r>
              <a:rPr dirty="0" err="1">
                <a:solidFill>
                  <a:schemeClr val="tx1"/>
                </a:solidFill>
              </a:rPr>
              <a:t>name,email</a:t>
            </a:r>
            <a:r>
              <a:rPr dirty="0">
                <a:solidFill>
                  <a:schemeClr val="tx1"/>
                </a:solidFill>
              </a:rPr>
              <a:t>) VALUES(?,?)";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// execute SQL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// ...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// format HTML response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</a:t>
            </a:r>
            <a:r>
              <a:rPr dirty="0" err="1">
                <a:solidFill>
                  <a:schemeClr val="tx1"/>
                </a:solidFill>
              </a:rPr>
              <a:t>System.out.println</a:t>
            </a:r>
            <a:r>
              <a:rPr dirty="0">
                <a:solidFill>
                  <a:schemeClr val="tx1"/>
                </a:solidFill>
              </a:rPr>
              <a:t>(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    "&lt;html&gt;&lt;body&gt;Student Added&lt;/body&gt;&lt;/html&gt;");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}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92878" y="996696"/>
            <a:ext cx="6499122" cy="442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Critique: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Controller handles validation, database access, SQL, and presentation.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Responsibilities are mixed together.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Changing the database can affect the controller.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Changing the presentation can affect the controller.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Difficult to test each responsibility independently.</a:t>
            </a:r>
            <a:endParaRPr lang="en-US" sz="2000" dirty="0"/>
          </a:p>
          <a:p>
            <a:pPr lvl="1">
              <a:spcAft>
                <a:spcPts val="500"/>
              </a:spcAft>
              <a:defRPr sz="1100">
                <a:latin typeface="Times New Roman"/>
              </a:defRPr>
            </a:pPr>
            <a:endParaRPr sz="2000" dirty="0"/>
          </a:p>
          <a:p>
            <a:pPr marL="171450" indent="-17145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Better direction: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Controller coordinates.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Model/service handles data and application logic.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View handles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0732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lang="en-US" altLang="ja-JP" dirty="0"/>
              <a:t>Code Analysis/ Code Critique </a:t>
            </a:r>
            <a:r>
              <a:rPr dirty="0"/>
              <a:t>Example — Scattered Switch Statements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9295" y="914400"/>
            <a:ext cx="3380822" cy="5394960"/>
          </a:xfrm>
          <a:prstGeom prst="roundRect">
            <a:avLst/>
          </a:prstGeom>
          <a:solidFill>
            <a:schemeClr val="bg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latin typeface="Courier New"/>
              </a:defRPr>
            </a:pPr>
            <a:r>
              <a:rPr dirty="0">
                <a:solidFill>
                  <a:schemeClr val="tx1"/>
                </a:solidFill>
              </a:rPr>
              <a:t>double </a:t>
            </a:r>
            <a:r>
              <a:rPr dirty="0" err="1">
                <a:solidFill>
                  <a:schemeClr val="tx1"/>
                </a:solidFill>
              </a:rPr>
              <a:t>calculatePrice</a:t>
            </a:r>
            <a:r>
              <a:rPr dirty="0">
                <a:solidFill>
                  <a:schemeClr val="tx1"/>
                </a:solidFill>
              </a:rPr>
              <a:t>(String type) 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switch(type) 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case "REGULAR": return 100;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case "PREMIUM": return 150;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default: return 0;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}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}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String </a:t>
            </a:r>
            <a:r>
              <a:rPr dirty="0" err="1">
                <a:solidFill>
                  <a:schemeClr val="tx1"/>
                </a:solidFill>
              </a:rPr>
              <a:t>getDescription</a:t>
            </a:r>
            <a:r>
              <a:rPr dirty="0">
                <a:solidFill>
                  <a:schemeClr val="tx1"/>
                </a:solidFill>
              </a:rPr>
              <a:t>(String type) 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switch(type) 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case "REGULAR": return "Regular";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case "PREMIUM": return "Premium";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default: return "Unknown";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}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}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double </a:t>
            </a:r>
            <a:r>
              <a:rPr dirty="0" err="1">
                <a:solidFill>
                  <a:schemeClr val="tx1"/>
                </a:solidFill>
              </a:rPr>
              <a:t>getDiscount</a:t>
            </a:r>
            <a:r>
              <a:rPr dirty="0">
                <a:solidFill>
                  <a:schemeClr val="tx1"/>
                </a:solidFill>
              </a:rPr>
              <a:t>(String type) 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switch(type) 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case "REGULAR": return 0.05;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case "PREMIUM": return 0.15;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default: return 0;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}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10117" y="971413"/>
            <a:ext cx="8681883" cy="528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Critique: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800" dirty="0"/>
              <a:t>The same type information is checked repeatedly.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800" dirty="0"/>
              <a:t>Adding a new type requires changing several methods.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800" dirty="0"/>
              <a:t>The design can become difficult to maintain.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800" dirty="0"/>
              <a:t>This is the kind of situation where polymorphism may reduce scattered conditionals.</a:t>
            </a:r>
          </a:p>
          <a:p>
            <a:pPr marL="171450" indent="-17145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Possible refactoring: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800" dirty="0"/>
              <a:t>Create a common Product/Customer/Plan abstraction.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800" dirty="0"/>
              <a:t>Move price, description, and discount behavior into the appropriate concrete classes.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16494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97684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lang="en-US" altLang="ja-JP" dirty="0"/>
              <a:t>Code Analysis/ Code Critique </a:t>
            </a:r>
            <a:r>
              <a:rPr dirty="0"/>
              <a:t>Example — Primitive Obsession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1" y="1034354"/>
            <a:ext cx="3844413" cy="3017520"/>
          </a:xfrm>
          <a:prstGeom prst="roundRect">
            <a:avLst/>
          </a:prstGeom>
          <a:solidFill>
            <a:schemeClr val="bg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latin typeface="Courier New"/>
              </a:defRPr>
            </a:pPr>
            <a:r>
              <a:rPr dirty="0">
                <a:solidFill>
                  <a:schemeClr val="tx1"/>
                </a:solidFill>
              </a:rPr>
              <a:t>void </a:t>
            </a:r>
            <a:r>
              <a:rPr dirty="0" err="1">
                <a:solidFill>
                  <a:schemeClr val="tx1"/>
                </a:solidFill>
              </a:rPr>
              <a:t>createOrder</a:t>
            </a:r>
            <a:r>
              <a:rPr dirty="0">
                <a:solidFill>
                  <a:schemeClr val="tx1"/>
                </a:solidFill>
              </a:rPr>
              <a:t>(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String </a:t>
            </a:r>
            <a:r>
              <a:rPr dirty="0" err="1">
                <a:solidFill>
                  <a:schemeClr val="tx1"/>
                </a:solidFill>
              </a:rPr>
              <a:t>customerName</a:t>
            </a:r>
            <a:r>
              <a:rPr dirty="0">
                <a:solidFill>
                  <a:schemeClr val="tx1"/>
                </a:solidFill>
              </a:rPr>
              <a:t>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String </a:t>
            </a:r>
            <a:r>
              <a:rPr dirty="0" err="1">
                <a:solidFill>
                  <a:schemeClr val="tx1"/>
                </a:solidFill>
              </a:rPr>
              <a:t>customerEmail</a:t>
            </a:r>
            <a:r>
              <a:rPr dirty="0">
                <a:solidFill>
                  <a:schemeClr val="tx1"/>
                </a:solidFill>
              </a:rPr>
              <a:t>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String country,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String currency,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String street,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String city,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String </a:t>
            </a:r>
            <a:r>
              <a:rPr dirty="0" err="1">
                <a:solidFill>
                  <a:schemeClr val="tx1"/>
                </a:solidFill>
              </a:rPr>
              <a:t>postalCode</a:t>
            </a:r>
            <a:r>
              <a:rPr dirty="0">
                <a:solidFill>
                  <a:schemeClr val="tx1"/>
                </a:solidFill>
              </a:rPr>
              <a:t>) {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// many operations using raw Strings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0172" y="828859"/>
            <a:ext cx="7903169" cy="5711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Potential smell: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Many Strings represent different concepts.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The code does not clearly express the domain abstractions.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Validation and behavior may be duplicated across the system.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Possible improvement: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Create meaningful types such as Customer, </a:t>
            </a:r>
            <a:r>
              <a:rPr sz="2400" dirty="0" err="1"/>
              <a:t>EmailAddress</a:t>
            </a:r>
            <a:r>
              <a:rPr sz="2400" dirty="0"/>
              <a:t>, Address, </a:t>
            </a:r>
            <a:r>
              <a:rPr sz="2400" dirty="0" err="1"/>
              <a:t>PostalCode</a:t>
            </a:r>
            <a:r>
              <a:rPr sz="2400" dirty="0"/>
              <a:t>, and Money where appropriate.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Encapsulate validation and related behavior in those abstractions.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400" dirty="0">
                <a:solidFill>
                  <a:srgbClr val="FF0000"/>
                </a:solidFill>
              </a:rPr>
              <a:t>Result: </a:t>
            </a:r>
            <a:r>
              <a:rPr sz="2400" dirty="0"/>
              <a:t>The design communicates the domain more clearly and reduces primitive obsession.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32047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3DC613-E6A6-F82C-02A2-2DEAE6C13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28" y="262974"/>
            <a:ext cx="9888330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93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20" y="-82296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Anti-patterns and Code Smells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6720" y="426618"/>
            <a:ext cx="11607964" cy="5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Anti-patterns</a:t>
            </a:r>
            <a:r>
              <a:rPr lang="en-US" sz="2800" b="1" dirty="0">
                <a:solidFill>
                  <a:srgbClr val="00B050"/>
                </a:solidFill>
              </a:rPr>
              <a:t>: </a:t>
            </a:r>
            <a:r>
              <a:rPr sz="2800" b="1" dirty="0">
                <a:solidFill>
                  <a:srgbClr val="7030A0"/>
                </a:solidFill>
              </a:rPr>
              <a:t>Patterns of bad code that commonly emerge in software design; they are also described as code smells.</a:t>
            </a:r>
          </a:p>
          <a:p>
            <a:pPr marL="457200" indent="-4572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800" dirty="0"/>
              <a:t>Code smells are warning signs rather than automatic proof that code is wrong.</a:t>
            </a:r>
          </a:p>
          <a:p>
            <a:pPr marL="457200" indent="-4572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Why Identify Them?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ü"/>
              <a:defRPr sz="1400">
                <a:latin typeface="Times New Roman"/>
              </a:defRPr>
            </a:pPr>
            <a:r>
              <a:rPr sz="2800" dirty="0"/>
              <a:t>They help identify bad code and bad design early.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ü"/>
              <a:defRPr sz="1400">
                <a:latin typeface="Times New Roman"/>
              </a:defRPr>
            </a:pPr>
            <a:r>
              <a:rPr sz="2800" dirty="0"/>
              <a:t>They indicate places where refactoring may improve reuse, flexibility, and maintainability.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ü"/>
              <a:defRPr sz="1400">
                <a:latin typeface="Times New Roman"/>
              </a:defRPr>
            </a:pPr>
            <a:r>
              <a:rPr sz="2800" dirty="0"/>
              <a:t>Regular code review can prevent small problems from becoming major design problems.</a:t>
            </a:r>
          </a:p>
          <a:p>
            <a:pPr marL="457200" indent="-4572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Important: </a:t>
            </a:r>
            <a:r>
              <a:rPr sz="2800" dirty="0">
                <a:solidFill>
                  <a:srgbClr val="7030A0"/>
                </a:solidFill>
              </a:rPr>
              <a:t>A smell should be investigated in context. Some structures may be appropriate when there is a valid design reason.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Common Anti-patterns / Code Smells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Large Class </a:t>
            </a:r>
            <a:r>
              <a:rPr sz="2000" dirty="0"/>
              <a:t>— a class that is too long; also called a God, Blob, or Black Hole class.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Long Method </a:t>
            </a:r>
            <a:r>
              <a:rPr sz="2000" dirty="0"/>
              <a:t>— a method containing excessive logic.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Duplicated Code </a:t>
            </a:r>
            <a:r>
              <a:rPr sz="2000" dirty="0"/>
              <a:t>— similar code blocks appear in multiple places with slight differences.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Data Class — </a:t>
            </a:r>
            <a:r>
              <a:rPr sz="2000" dirty="0"/>
              <a:t>a class containing mostly data and little real functionality.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Data Clumps </a:t>
            </a:r>
            <a:r>
              <a:rPr sz="2000" dirty="0"/>
              <a:t>— groups of data repeatedly appear together as fields or method parameters.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Divergent Change </a:t>
            </a:r>
            <a:r>
              <a:rPr sz="2000" dirty="0"/>
              <a:t>— one class must be changed in many different ways for many different reasons.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Shotgun Surgery </a:t>
            </a:r>
            <a:r>
              <a:rPr sz="2000" dirty="0"/>
              <a:t>— one requirement change requires changes across many classes.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Feature Envy </a:t>
            </a:r>
            <a:r>
              <a:rPr sz="2000" dirty="0"/>
              <a:t>— a method is more interested in another class's details than its own class.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Long Parameter Lists — </a:t>
            </a:r>
            <a:r>
              <a:rPr sz="2000" dirty="0"/>
              <a:t>methods require too many parameters.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Comments as a smell </a:t>
            </a:r>
            <a:r>
              <a:rPr sz="2000" dirty="0"/>
              <a:t>— excessive comments may indicate that comments are being used to explain or cover a difficult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Code Smells — Inappropriate Intimacy and Message Chains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78992"/>
            <a:ext cx="1106424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Inappropriate Intimacy</a:t>
            </a:r>
            <a:r>
              <a:rPr lang="en-US" sz="2000" b="1" dirty="0">
                <a:solidFill>
                  <a:srgbClr val="00B050"/>
                </a:solidFill>
              </a:rPr>
              <a:t>: </a:t>
            </a:r>
            <a:r>
              <a:rPr sz="2000" dirty="0"/>
              <a:t>Occurs when two classes depend too much on each other through two-way communication.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000" dirty="0"/>
              <a:t>If methods in one class call the other and vice versa, consider removing the cycle.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000" dirty="0"/>
              <a:t>Factor methods so both classes can use another class, or at least make communication one-way.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Message Chains</a:t>
            </a:r>
            <a:r>
              <a:rPr lang="en-US" sz="2000" b="1" dirty="0">
                <a:solidFill>
                  <a:srgbClr val="00B050"/>
                </a:solidFill>
              </a:rPr>
              <a:t>: </a:t>
            </a:r>
            <a:r>
              <a:rPr sz="2000" dirty="0"/>
              <a:t>Long chains of calls can create rigidity and complexity and make code harder to test independently.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000" dirty="0"/>
              <a:t>They can violate the Law of Demeter when objects know too much about other objects' dependencies.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000" dirty="0"/>
              <a:t>Navigation through dependencies should not be unnecessarily baked into objects.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Important qualification: </a:t>
            </a:r>
            <a:r>
              <a:rPr sz="2000" dirty="0"/>
              <a:t>A message chain is not automatically bad if it returns a limited set of objects and follows the Law of Demeter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Code Smells — Primitive Obsession and Switch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5342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Primitive Obsession</a:t>
            </a:r>
            <a:r>
              <a:rPr lang="en-US" sz="2400" b="1" dirty="0">
                <a:solidFill>
                  <a:srgbClr val="00B050"/>
                </a:solidFill>
              </a:rPr>
              <a:t>:</a:t>
            </a:r>
            <a:endParaRPr sz="2400" b="1" dirty="0">
              <a:solidFill>
                <a:srgbClr val="00B050"/>
              </a:solidFill>
            </a:endParaRP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Occurs when the design relies too much on built-in types such as int, long, float, and String.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Overuse can indicate that meaningful abstractions/classes have not been identified.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High-level use of primitives may hide important domain concepts.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Switch Statements</a:t>
            </a:r>
            <a:r>
              <a:rPr lang="en-US" sz="2400" b="1" dirty="0">
                <a:solidFill>
                  <a:srgbClr val="00B050"/>
                </a:solidFill>
              </a:rPr>
              <a:t>: </a:t>
            </a:r>
            <a:endParaRPr sz="2400" b="1" dirty="0">
              <a:solidFill>
                <a:srgbClr val="00B050"/>
              </a:solidFill>
            </a:endParaRP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Scattered switch statements become a problem because changing one case may require finding and updating many other switches.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When conditionals repeatedly check type codes, consider whether polymorphism could express the behavior more clearly.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Better direction: </a:t>
            </a:r>
            <a:r>
              <a:rPr sz="2400" dirty="0"/>
              <a:t>Identify missing abstractions and move behavior into appropriate classes rather than encoding everything as primitive values or repeated conditionals.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Code Smells — Speculative Generality and Refused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64336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Speculative Generality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Creating a superclass, interface, or code that is not currently needed but may be useful someday.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It introduces generality that may not help and can over-engineer the system.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Just-in-Time Design suggests designing only what is needed for the current requirements/iteration.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If generalization becomes necessary later, refactor when the requirement is real.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Refused Request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A subclass inherits behavior that it does not need or use.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This may indicate that the subclass is not appropriate for the superclass.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Consider a standalone class or move behavior to the subclasses that actually need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57838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lang="en-US" dirty="0">
                <a:solidFill>
                  <a:srgbClr val="FF0000"/>
                </a:solidFill>
              </a:rPr>
              <a:t>Example-1: </a:t>
            </a:r>
            <a:r>
              <a:rPr dirty="0"/>
              <a:t>Code Smells — </a:t>
            </a:r>
            <a:r>
              <a:rPr lang="en-US" dirty="0"/>
              <a:t>Problem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784371"/>
            <a:ext cx="116433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lang="en-US" altLang="ja-JP" sz="2400" b="1" dirty="0">
                <a:solidFill>
                  <a:srgbClr val="FF0000"/>
                </a:solidFill>
              </a:rPr>
              <a:t>Problem: </a:t>
            </a:r>
            <a:r>
              <a:rPr lang="en-US" altLang="ja-JP" sz="2400" dirty="0"/>
              <a:t>A method contains 100 lines of code and performs validation, database access, calculations, and report generation. Identify the likely code smell and suggest an appropriate refactoring approach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1AB73-BF7B-5A55-3542-33A3DD6818FF}"/>
              </a:ext>
            </a:extLst>
          </p:cNvPr>
          <p:cNvSpPr txBox="1"/>
          <p:nvPr/>
        </p:nvSpPr>
        <p:spPr>
          <a:xfrm>
            <a:off x="519279" y="1976311"/>
            <a:ext cx="1164336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Likely Code Smell: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Method</a:t>
            </a:r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contains </a:t>
            </a: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lines of code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performs several different responsibilities: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access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Calculations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 the method has </a:t>
            </a: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many responsibilities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understand, test, maintain, and modify.</a:t>
            </a:r>
          </a:p>
          <a:p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Refactoring Approach: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Method</a:t>
            </a:r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large method should be divided into several smaller, focused methods, where each method performs one specific task.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EAE492-3078-9833-015A-2FF51FE8E950}"/>
              </a:ext>
            </a:extLst>
          </p:cNvPr>
          <p:cNvSpPr txBox="1"/>
          <p:nvPr/>
        </p:nvSpPr>
        <p:spPr>
          <a:xfrm>
            <a:off x="116398" y="5903893"/>
            <a:ext cx="11909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likely code smell is </a:t>
            </a:r>
            <a:r>
              <a:rPr kumimoji="0" lang="ja-JP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 Method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because the method contains about 100 lines and performs several different responsibilities such as validation, database access, calculation, and report generation. The appropriate refactoring technique is </a:t>
            </a:r>
            <a:r>
              <a:rPr kumimoji="0" lang="ja-JP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Method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 large method should be divided into smaller methods such as validateStudent(), getStudentMarks(), calculateAverage(), and generateReport(). This improves </a:t>
            </a:r>
            <a:r>
              <a:rPr kumimoji="0" lang="ja-JP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readability, maintainability, reusability, and testability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091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39179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Code Smells — </a:t>
            </a:r>
            <a:r>
              <a:rPr lang="en-US" dirty="0"/>
              <a:t>Problem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1AB73-BF7B-5A55-3542-33A3DD6818FF}"/>
              </a:ext>
            </a:extLst>
          </p:cNvPr>
          <p:cNvSpPr txBox="1"/>
          <p:nvPr/>
        </p:nvSpPr>
        <p:spPr>
          <a:xfrm>
            <a:off x="274320" y="889234"/>
            <a:ext cx="293866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Refactoring Long Method: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void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processStudent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Validation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studentName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null ||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studentName.isEmpty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student name");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0) {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student ID");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Database access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Connection con =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DriverManager.getConnection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jdbc:mysql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://localhost:3306/university",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"root",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"password"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PreparedStatement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con.prepareStatement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"SELECT marks FROM students WHERE id = ?"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ps.setInt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ps.executeQuery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Calculation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double total = 0;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count = 0;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(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rs.next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total +=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rs.getDouble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("marks");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count++;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double average = total / count;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Report generation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("Student: " +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studentName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("Student ID: " +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("Average Marks: " + average);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Many more lines...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ja-JP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349A1-2085-3649-B4A8-BF94C2FBF3A1}"/>
              </a:ext>
            </a:extLst>
          </p:cNvPr>
          <p:cNvSpPr txBox="1"/>
          <p:nvPr/>
        </p:nvSpPr>
        <p:spPr>
          <a:xfrm>
            <a:off x="2958796" y="805344"/>
            <a:ext cx="2938663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</a:rPr>
              <a:t>After Refactoring</a:t>
            </a:r>
            <a:r>
              <a:rPr lang="en-US" altLang="ja-JP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void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processStudent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(!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validateStudent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List&lt;Double&gt; marks =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getStudentMarks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double average =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calculateAverage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(marks);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generateReport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(average);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ja-JP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02B7F4-A5F9-0AB3-0C56-6DC884220483}"/>
              </a:ext>
            </a:extLst>
          </p:cNvPr>
          <p:cNvSpPr txBox="1"/>
          <p:nvPr/>
        </p:nvSpPr>
        <p:spPr>
          <a:xfrm>
            <a:off x="2958796" y="2462753"/>
            <a:ext cx="2938663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b="1" dirty="0"/>
              <a:t>The responsibilities are now separated:</a:t>
            </a:r>
            <a:endParaRPr lang="en-US" altLang="ja-JP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validateStudent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studentName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null || 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studentName.isEmpty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student name");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false;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0) {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student ID");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false;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true;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altLang="ja-JP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List&lt;Double&gt; 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getStudentMarks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List&lt;Double&gt; marks = new 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&lt;&gt;();</a:t>
            </a:r>
          </a:p>
          <a:p>
            <a:endParaRPr lang="en-US" altLang="ja-JP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Database access code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Execute SQL query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Retrieve marks</a:t>
            </a:r>
          </a:p>
          <a:p>
            <a:endParaRPr lang="en-US" altLang="ja-JP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marks;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altLang="ja-JP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2F1F41-986C-F8E7-53EB-BFDE4D311101}"/>
              </a:ext>
            </a:extLst>
          </p:cNvPr>
          <p:cNvSpPr txBox="1"/>
          <p:nvPr/>
        </p:nvSpPr>
        <p:spPr>
          <a:xfrm>
            <a:off x="6184855" y="2854856"/>
            <a:ext cx="60966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private void generateReport(double average) {</a:t>
            </a:r>
          </a:p>
          <a:p>
            <a:r>
              <a:rPr lang="ja-JP" altLang="en-US" dirty="0"/>
              <a:t>    System.out.println("Student: " + studentName);</a:t>
            </a:r>
          </a:p>
          <a:p>
            <a:r>
              <a:rPr lang="ja-JP" altLang="en-US" dirty="0"/>
              <a:t>    System.out.println("Student ID: " + studentId);</a:t>
            </a:r>
          </a:p>
          <a:p>
            <a:r>
              <a:rPr lang="ja-JP" altLang="en-US" dirty="0"/>
              <a:t>    System.out.println("Average Marks: " + average);</a:t>
            </a:r>
          </a:p>
          <a:p>
            <a:r>
              <a:rPr lang="ja-JP" altLang="en-US" dirty="0"/>
              <a:t>  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CB81A2-BC81-FD5A-E2B8-88596299C9B0}"/>
              </a:ext>
            </a:extLst>
          </p:cNvPr>
          <p:cNvSpPr txBox="1"/>
          <p:nvPr/>
        </p:nvSpPr>
        <p:spPr>
          <a:xfrm>
            <a:off x="6020150" y="275714"/>
            <a:ext cx="626867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private double calculateAverage(List&lt;Double&gt; marks) {</a:t>
            </a:r>
          </a:p>
          <a:p>
            <a:r>
              <a:rPr lang="ja-JP" altLang="en-US" sz="1100" dirty="0"/>
              <a:t>    if (marks.isEmpty()) {</a:t>
            </a:r>
          </a:p>
          <a:p>
            <a:r>
              <a:rPr lang="ja-JP" altLang="en-US" sz="1100" dirty="0"/>
              <a:t>        return 0;</a:t>
            </a:r>
          </a:p>
          <a:p>
            <a:r>
              <a:rPr lang="ja-JP" altLang="en-US" sz="1100" dirty="0"/>
              <a:t>    }</a:t>
            </a:r>
          </a:p>
          <a:p>
            <a:r>
              <a:rPr lang="ja-JP" altLang="en-US" sz="1100" dirty="0"/>
              <a:t>    double total = 0;</a:t>
            </a:r>
          </a:p>
          <a:p>
            <a:endParaRPr lang="ja-JP" altLang="en-US" sz="1100" dirty="0"/>
          </a:p>
          <a:p>
            <a:r>
              <a:rPr lang="ja-JP" altLang="en-US" sz="1100" dirty="0"/>
              <a:t>    for (double mark : marks) {</a:t>
            </a:r>
          </a:p>
          <a:p>
            <a:r>
              <a:rPr lang="ja-JP" altLang="en-US" sz="1100" dirty="0"/>
              <a:t>        total += mark;</a:t>
            </a:r>
          </a:p>
          <a:p>
            <a:r>
              <a:rPr lang="ja-JP" altLang="en-US" sz="1100" dirty="0"/>
              <a:t>    }</a:t>
            </a:r>
          </a:p>
          <a:p>
            <a:endParaRPr lang="ja-JP" altLang="en-US" sz="1100" dirty="0"/>
          </a:p>
          <a:p>
            <a:r>
              <a:rPr lang="ja-JP" altLang="en-US" sz="1100" dirty="0"/>
              <a:t>    return total / marks.size();</a:t>
            </a:r>
          </a:p>
          <a:p>
            <a:r>
              <a:rPr lang="ja-JP" altLang="en-US" sz="1100" dirty="0"/>
              <a:t>}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53A28B6-A8FB-4590-C2AF-2DF02D2AC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047652"/>
              </p:ext>
            </p:extLst>
          </p:nvPr>
        </p:nvGraphicFramePr>
        <p:xfrm>
          <a:off x="6294543" y="4675632"/>
          <a:ext cx="4963066" cy="188976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2481533">
                  <a:extLst>
                    <a:ext uri="{9D8B030D-6E8A-4147-A177-3AD203B41FA5}">
                      <a16:colId xmlns:a16="http://schemas.microsoft.com/office/drawing/2014/main" val="675930156"/>
                    </a:ext>
                  </a:extLst>
                </a:gridCol>
                <a:gridCol w="2481533">
                  <a:extLst>
                    <a:ext uri="{9D8B030D-6E8A-4147-A177-3AD203B41FA5}">
                      <a16:colId xmlns:a16="http://schemas.microsoft.com/office/drawing/2014/main" val="32665286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b="1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Answer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49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 dirty="0"/>
                        <a:t>Code Smell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Long Method</a:t>
                      </a:r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004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 dirty="0"/>
                        <a:t>Problem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One method performs too many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571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/>
                        <a:t>Refactoring Technique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Extract Method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271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/>
                        <a:t>Main benefit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Improves readability, maintainability, and testability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537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/>
                        <a:t>Extracted methods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validateStudent</a:t>
                      </a:r>
                      <a:r>
                        <a:rPr lang="en-US" sz="1100" dirty="0"/>
                        <a:t>(), </a:t>
                      </a:r>
                      <a:r>
                        <a:rPr lang="en-US" sz="1100" dirty="0" err="1"/>
                        <a:t>getStudentMarks</a:t>
                      </a:r>
                      <a:r>
                        <a:rPr lang="en-US" sz="1100" dirty="0"/>
                        <a:t>(), </a:t>
                      </a:r>
                      <a:r>
                        <a:rPr lang="en-US" sz="1100" dirty="0" err="1"/>
                        <a:t>calculateAverage</a:t>
                      </a:r>
                      <a:r>
                        <a:rPr lang="en-US" sz="1100" dirty="0"/>
                        <a:t>(), </a:t>
                      </a:r>
                      <a:r>
                        <a:rPr lang="en-US" sz="1100" dirty="0" err="1"/>
                        <a:t>generateReport</a:t>
                      </a:r>
                      <a:r>
                        <a:rPr lang="en-US" sz="1100" dirty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523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237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Code Smells — Speculative Generality and Refused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64336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Speculative Generality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Creating a superclass, interface, or code that is not currently needed but may be useful someday.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It introduces generality that may not help and can over-engineer the system.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Just-in-Time Design suggests designing only what is needed for the current requirements/iteration.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If generalization becomes necessary later, refactor when the requirement is real.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Refused Request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A subclass inherits behavior that it does not need or use.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This may indicate that the subclass is not appropriate for the superclass.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Consider a standalone class or move behavior to the subclasses that actually need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081914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MVC Anti-pattern — When Responsibilities Are Mixed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5106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000" dirty="0"/>
              <a:t>A common poor MVC design occurs when one class attempts to perform the responsibilities of Model, View, and Controller simultaneously.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000" b="1" dirty="0">
                <a:solidFill>
                  <a:srgbClr val="00B0F0"/>
                </a:solidFill>
              </a:rPr>
              <a:t>Symptoms: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Database queries inside UI code.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HTML/UI formatting inside data/model classes.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Business rules directly inside event-handling code.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Controllers that become extremely large and perform every operation themselves.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000" b="1" dirty="0">
                <a:solidFill>
                  <a:srgbClr val="00B0F0"/>
                </a:solidFill>
              </a:rPr>
              <a:t>Problems: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High coupling.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Difficult testing.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Difficult maintenance.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Changes in one concern affect unrelated concerns.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000" b="1" dirty="0">
                <a:solidFill>
                  <a:srgbClr val="00B0F0"/>
                </a:solidFill>
              </a:rPr>
              <a:t>Better approach: </a:t>
            </a:r>
            <a:r>
              <a:rPr sz="2000" dirty="0"/>
              <a:t>Preserve separation of concerns and assign each responsibility to the appropriate MVC component.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6428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lang="en-US" altLang="ja-JP" dirty="0">
                <a:solidFill>
                  <a:srgbClr val="FF0000"/>
                </a:solidFill>
              </a:rPr>
              <a:t>Example-2: </a:t>
            </a:r>
            <a:r>
              <a:rPr lang="en-US" altLang="ja-JP" dirty="0"/>
              <a:t>If a System Suffering from a </a:t>
            </a:r>
            <a:r>
              <a:rPr lang="en-US" altLang="ja-JP" b="1" dirty="0"/>
              <a:t>Large Class</a:t>
            </a:r>
            <a:r>
              <a:rPr lang="en-US" altLang="ja-JP" dirty="0"/>
              <a:t> and </a:t>
            </a:r>
            <a:r>
              <a:rPr lang="en-US" altLang="ja-JP" b="1" dirty="0"/>
              <a:t>Duplicated Code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501" y="876649"/>
            <a:ext cx="110642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Identify the Code Smells</a:t>
            </a:r>
          </a:p>
          <a:p>
            <a:pPr lvl="1"/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major code smells: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Class</a:t>
            </a:r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One class contains too many responsibilities. 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Duplicated Code</a:t>
            </a:r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same or very similar code is repeated in multiple methods.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21ED-DBA4-6F5D-47EF-F8D29129B437}"/>
              </a:ext>
            </a:extLst>
          </p:cNvPr>
          <p:cNvSpPr txBox="1"/>
          <p:nvPr/>
        </p:nvSpPr>
        <p:spPr>
          <a:xfrm>
            <a:off x="640918" y="3429000"/>
            <a:ext cx="110642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Scenario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Suppose we have a StudentManager class that handles: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information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validation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operations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 calculation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violates the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Responsibility Principle (SRP)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3767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21ED-DBA4-6F5D-47EF-F8D29129B437}"/>
              </a:ext>
            </a:extLst>
          </p:cNvPr>
          <p:cNvSpPr txBox="1"/>
          <p:nvPr/>
        </p:nvSpPr>
        <p:spPr>
          <a:xfrm>
            <a:off x="271803" y="379602"/>
            <a:ext cx="11064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/>
              <a:t>2. Before Refactoring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ja-JP" dirty="0"/>
              <a:t>    A poorly designed class might  very long code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ja-JP" dirty="0"/>
              <a:t>   For Example: 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StudentManager class is doing </a:t>
            </a:r>
            <a:r>
              <a:rPr kumimoji="0" lang="ja-JP" altLang="ja-JP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 many jobs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indent="-342900">
              <a:buFont typeface="+mj-ea"/>
              <a:buAutoNum type="circleNumDbPlain"/>
            </a:pPr>
            <a:endParaRPr lang="en-US" altLang="ja-JP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24F71-0CD6-CA11-FBE7-709CAB3A3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767" y="1273365"/>
            <a:ext cx="2720576" cy="19204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613F06-EC2E-EE60-410C-4E01E3E640D5}"/>
              </a:ext>
            </a:extLst>
          </p:cNvPr>
          <p:cNvSpPr txBox="1"/>
          <p:nvPr/>
        </p:nvSpPr>
        <p:spPr>
          <a:xfrm>
            <a:off x="3048350" y="3244334"/>
            <a:ext cx="60966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It also contains duplicated validation and fee-calculation code.</a:t>
            </a:r>
            <a:endParaRPr lang="ja-JP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8E03F-1F7F-9937-3DFA-14CEEE20AFFB}"/>
              </a:ext>
            </a:extLst>
          </p:cNvPr>
          <p:cNvSpPr txBox="1"/>
          <p:nvPr/>
        </p:nvSpPr>
        <p:spPr>
          <a:xfrm>
            <a:off x="217066" y="3923762"/>
            <a:ext cx="6096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/>
              <a:t>3. Refactored Design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ja-JP" dirty="0"/>
              <a:t>We can redistribute the responsibilities into several classes: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B6EF26-D0BF-F6BA-5142-EE60503B1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183" y="4612631"/>
            <a:ext cx="1757480" cy="2009331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9D9885B-EBE2-003F-CB85-1785423BC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971928"/>
              </p:ext>
            </p:extLst>
          </p:nvPr>
        </p:nvGraphicFramePr>
        <p:xfrm>
          <a:off x="7013195" y="4037622"/>
          <a:ext cx="5246965" cy="2651760"/>
        </p:xfrm>
        <a:graphic>
          <a:graphicData uri="http://schemas.openxmlformats.org/drawingml/2006/table">
            <a:tbl>
              <a:tblPr/>
              <a:tblGrid>
                <a:gridCol w="2634144">
                  <a:extLst>
                    <a:ext uri="{9D8B030D-6E8A-4147-A177-3AD203B41FA5}">
                      <a16:colId xmlns:a16="http://schemas.microsoft.com/office/drawing/2014/main" val="3793596787"/>
                    </a:ext>
                  </a:extLst>
                </a:gridCol>
                <a:gridCol w="2612821">
                  <a:extLst>
                    <a:ext uri="{9D8B030D-6E8A-4147-A177-3AD203B41FA5}">
                      <a16:colId xmlns:a16="http://schemas.microsoft.com/office/drawing/2014/main" val="3350575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25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student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22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StudentValidator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student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831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StudentRepository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362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FeeCalculator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Calculate tuition fees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108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student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548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 email notifications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281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Coordinate the overall student 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28088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D194E7AB-AF33-5B8D-83FD-CF94DA2AE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033" y="647199"/>
            <a:ext cx="2448367" cy="238427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978EB04-A0C6-25D7-9654-0A4C4071A29E}"/>
              </a:ext>
            </a:extLst>
          </p:cNvPr>
          <p:cNvSpPr txBox="1"/>
          <p:nvPr/>
        </p:nvSpPr>
        <p:spPr>
          <a:xfrm>
            <a:off x="6874777" y="256498"/>
            <a:ext cx="6130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/>
              <a:t>6. Final Design: </a:t>
            </a:r>
            <a:r>
              <a:rPr lang="en-US" altLang="ja-JP" dirty="0"/>
              <a:t>The final structure can be represented as:</a:t>
            </a:r>
          </a:p>
        </p:txBody>
      </p:sp>
    </p:spTree>
    <p:extLst>
      <p:ext uri="{BB962C8B-B14F-4D97-AF65-F5344CB8AC3E}">
        <p14:creationId xmlns:p14="http://schemas.microsoft.com/office/powerpoint/2010/main" val="201734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6E21ED-DBA4-6F5D-47EF-F8D29129B437}"/>
              </a:ext>
            </a:extLst>
          </p:cNvPr>
          <p:cNvSpPr txBox="1"/>
          <p:nvPr/>
        </p:nvSpPr>
        <p:spPr>
          <a:xfrm>
            <a:off x="271803" y="81792"/>
            <a:ext cx="11064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Times New Roman"/>
              </a:defRPr>
            </a:pPr>
            <a:r>
              <a:rPr lang="en-US" altLang="ja-JP" dirty="0"/>
              <a:t>If a System Suffering from a </a:t>
            </a:r>
            <a:r>
              <a:rPr lang="en-US" altLang="ja-JP" b="1" dirty="0"/>
              <a:t>Large Class</a:t>
            </a:r>
            <a:r>
              <a:rPr lang="en-US" altLang="ja-JP" dirty="0"/>
              <a:t> and </a:t>
            </a:r>
            <a:r>
              <a:rPr lang="en-US" altLang="ja-JP" b="1" dirty="0"/>
              <a:t>Duplicated Code: Java Example</a:t>
            </a:r>
            <a:endParaRPr lang="en-US" altLang="ja-JP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C1035-A468-BE38-EE49-6D1174FA8596}"/>
              </a:ext>
            </a:extLst>
          </p:cNvPr>
          <p:cNvSpPr txBox="1"/>
          <p:nvPr/>
        </p:nvSpPr>
        <p:spPr>
          <a:xfrm>
            <a:off x="645113" y="1306364"/>
            <a:ext cx="6096698" cy="542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dirty="0"/>
              <a:t>public class StudentManager {</a:t>
            </a:r>
          </a:p>
          <a:p>
            <a:endParaRPr lang="ja-JP" altLang="en-US" sz="1050" dirty="0"/>
          </a:p>
          <a:p>
            <a:r>
              <a:rPr lang="ja-JP" altLang="en-US" sz="1050" dirty="0"/>
              <a:t>    private String name;</a:t>
            </a:r>
          </a:p>
          <a:p>
            <a:r>
              <a:rPr lang="ja-JP" altLang="en-US" sz="1050" dirty="0"/>
              <a:t>    private int studentId;</a:t>
            </a:r>
          </a:p>
          <a:p>
            <a:r>
              <a:rPr lang="ja-JP" altLang="en-US" sz="1050" dirty="0"/>
              <a:t>    private double tuitionFee;</a:t>
            </a:r>
          </a:p>
          <a:p>
            <a:endParaRPr lang="ja-JP" altLang="en-US" sz="1050" dirty="0"/>
          </a:p>
          <a:p>
            <a:r>
              <a:rPr lang="ja-JP" altLang="en-US" sz="1050" dirty="0"/>
              <a:t>    public void registerStudent() {</a:t>
            </a:r>
          </a:p>
          <a:p>
            <a:r>
              <a:rPr lang="ja-JP" altLang="en-US" sz="1050" dirty="0"/>
              <a:t>        // Student validation</a:t>
            </a:r>
          </a:p>
          <a:p>
            <a:r>
              <a:rPr lang="ja-JP" altLang="en-US" sz="1050" dirty="0"/>
              <a:t>        if (name == null || name.isEmpty()) {</a:t>
            </a:r>
          </a:p>
          <a:p>
            <a:r>
              <a:rPr lang="ja-JP" altLang="en-US" sz="1050" dirty="0"/>
              <a:t>            System.out.println("Invalid student name");</a:t>
            </a:r>
          </a:p>
          <a:p>
            <a:r>
              <a:rPr lang="ja-JP" altLang="en-US" sz="1050" dirty="0"/>
              <a:t>            return;</a:t>
            </a:r>
          </a:p>
          <a:p>
            <a:r>
              <a:rPr lang="ja-JP" altLang="en-US" sz="1050" dirty="0"/>
              <a:t>        }</a:t>
            </a:r>
          </a:p>
          <a:p>
            <a:r>
              <a:rPr lang="ja-JP" altLang="en-US" sz="1050" dirty="0"/>
              <a:t>        if (studentId &lt;= 0) {</a:t>
            </a:r>
          </a:p>
          <a:p>
            <a:r>
              <a:rPr lang="ja-JP" altLang="en-US" sz="1050" dirty="0"/>
              <a:t>            System.out.println("Invalid student ID");</a:t>
            </a:r>
          </a:p>
          <a:p>
            <a:r>
              <a:rPr lang="ja-JP" altLang="en-US" sz="1050" dirty="0"/>
              <a:t>            return;</a:t>
            </a:r>
          </a:p>
          <a:p>
            <a:r>
              <a:rPr lang="ja-JP" altLang="en-US" sz="1050" dirty="0"/>
              <a:t>        }</a:t>
            </a:r>
          </a:p>
          <a:p>
            <a:r>
              <a:rPr lang="ja-JP" altLang="en-US" sz="1050" dirty="0"/>
              <a:t>        // Database operation</a:t>
            </a:r>
          </a:p>
          <a:p>
            <a:r>
              <a:rPr lang="ja-JP" altLang="en-US" sz="1050" dirty="0"/>
              <a:t>        System.out.println("Saving student to database...");</a:t>
            </a:r>
          </a:p>
          <a:p>
            <a:r>
              <a:rPr lang="ja-JP" altLang="en-US" sz="1050" dirty="0"/>
              <a:t>        // Fee calculation</a:t>
            </a:r>
          </a:p>
          <a:p>
            <a:r>
              <a:rPr lang="ja-JP" altLang="en-US" sz="1050" dirty="0"/>
              <a:t>        double fee = tuitionFee;</a:t>
            </a:r>
          </a:p>
          <a:p>
            <a:r>
              <a:rPr lang="ja-JP" altLang="en-US" sz="1050" dirty="0"/>
              <a:t>        if (fee &gt; 50000) {</a:t>
            </a:r>
          </a:p>
          <a:p>
            <a:r>
              <a:rPr lang="ja-JP" altLang="en-US" sz="1050" dirty="0"/>
              <a:t>            fee = fee * 0.90;   // 10% discount</a:t>
            </a:r>
          </a:p>
          <a:p>
            <a:r>
              <a:rPr lang="ja-JP" altLang="en-US" sz="1050" dirty="0"/>
              <a:t>        }</a:t>
            </a:r>
          </a:p>
          <a:p>
            <a:r>
              <a:rPr lang="ja-JP" altLang="en-US" sz="1050" dirty="0"/>
              <a:t>        System.out.println("Final fee: " + fee);</a:t>
            </a:r>
          </a:p>
          <a:p>
            <a:r>
              <a:rPr lang="ja-JP" altLang="en-US" sz="1050" dirty="0"/>
              <a:t>        // Report generation</a:t>
            </a:r>
          </a:p>
          <a:p>
            <a:r>
              <a:rPr lang="ja-JP" altLang="en-US" sz="1050" dirty="0"/>
              <a:t>        System.out.println("Student Report");</a:t>
            </a:r>
          </a:p>
          <a:p>
            <a:r>
              <a:rPr lang="ja-JP" altLang="en-US" sz="1050" dirty="0"/>
              <a:t>        System.out.println("Name: " + name);</a:t>
            </a:r>
          </a:p>
          <a:p>
            <a:r>
              <a:rPr lang="ja-JP" altLang="en-US" sz="1050" dirty="0"/>
              <a:t>        System.out.println("ID: " + studentId);</a:t>
            </a:r>
          </a:p>
          <a:p>
            <a:r>
              <a:rPr lang="ja-JP" altLang="en-US" sz="1050" dirty="0"/>
              <a:t>        // Email notification</a:t>
            </a:r>
          </a:p>
          <a:p>
            <a:r>
              <a:rPr lang="ja-JP" altLang="en-US" sz="1050" dirty="0"/>
              <a:t>        System.out.println("Sending email to student...");</a:t>
            </a:r>
          </a:p>
          <a:p>
            <a:r>
              <a:rPr lang="ja-JP" altLang="en-US" sz="1050" dirty="0"/>
              <a:t>    }</a:t>
            </a:r>
          </a:p>
          <a:p>
            <a:endParaRPr lang="ja-JP" altLang="en-US" sz="1050" dirty="0"/>
          </a:p>
          <a:p>
            <a:r>
              <a:rPr lang="ja-JP" altLang="en-US" sz="1050" dirty="0"/>
              <a:t>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F6457-71C0-8E88-DB18-2400F72C186D}"/>
              </a:ext>
            </a:extLst>
          </p:cNvPr>
          <p:cNvSpPr txBox="1"/>
          <p:nvPr/>
        </p:nvSpPr>
        <p:spPr>
          <a:xfrm>
            <a:off x="5699271" y="1371377"/>
            <a:ext cx="6096698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/>
              <a:t>public void updateStudent() {</a:t>
            </a:r>
          </a:p>
          <a:p>
            <a:r>
              <a:rPr lang="ja-JP" altLang="en-US" sz="1200" dirty="0"/>
              <a:t>        // Same validation code - DUPLICATED</a:t>
            </a:r>
          </a:p>
          <a:p>
            <a:r>
              <a:rPr lang="ja-JP" altLang="en-US" sz="1200" dirty="0"/>
              <a:t>        if (name == null || name.isEmpty()) {</a:t>
            </a:r>
          </a:p>
          <a:p>
            <a:r>
              <a:rPr lang="ja-JP" altLang="en-US" sz="1200" dirty="0"/>
              <a:t>            System.out.println("Invalid student name");</a:t>
            </a:r>
          </a:p>
          <a:p>
            <a:r>
              <a:rPr lang="ja-JP" altLang="en-US" sz="1200" dirty="0"/>
              <a:t>            return;</a:t>
            </a:r>
          </a:p>
          <a:p>
            <a:r>
              <a:rPr lang="ja-JP" altLang="en-US" sz="1200" dirty="0"/>
              <a:t>        }</a:t>
            </a:r>
          </a:p>
          <a:p>
            <a:r>
              <a:rPr lang="ja-JP" altLang="en-US" sz="1200" dirty="0"/>
              <a:t>        if (studentId &lt;= 0) {</a:t>
            </a:r>
          </a:p>
          <a:p>
            <a:r>
              <a:rPr lang="ja-JP" altLang="en-US" sz="1200" dirty="0"/>
              <a:t>            System.out.println("Invalid student ID");</a:t>
            </a:r>
          </a:p>
          <a:p>
            <a:r>
              <a:rPr lang="ja-JP" altLang="en-US" sz="1200" dirty="0"/>
              <a:t>            return;</a:t>
            </a:r>
          </a:p>
          <a:p>
            <a:r>
              <a:rPr lang="ja-JP" altLang="en-US" sz="1200" dirty="0"/>
              <a:t>        }</a:t>
            </a:r>
          </a:p>
          <a:p>
            <a:r>
              <a:rPr lang="ja-JP" altLang="en-US" sz="1200" dirty="0"/>
              <a:t>        // Database operation</a:t>
            </a:r>
          </a:p>
          <a:p>
            <a:r>
              <a:rPr lang="ja-JP" altLang="en-US" sz="1200" dirty="0"/>
              <a:t>        System.out.println("Updating student in database...");</a:t>
            </a:r>
          </a:p>
          <a:p>
            <a:r>
              <a:rPr lang="ja-JP" altLang="en-US" sz="1200" dirty="0"/>
              <a:t>        // Same fee calculation - DUPLICATED</a:t>
            </a:r>
          </a:p>
          <a:p>
            <a:r>
              <a:rPr lang="ja-JP" altLang="en-US" sz="1200" dirty="0"/>
              <a:t>        double fee = tuitionFee;</a:t>
            </a:r>
          </a:p>
          <a:p>
            <a:endParaRPr lang="ja-JP" altLang="en-US" sz="1200" dirty="0"/>
          </a:p>
          <a:p>
            <a:r>
              <a:rPr lang="ja-JP" altLang="en-US" sz="1200" dirty="0"/>
              <a:t>        if (fee &gt; 50000) {</a:t>
            </a:r>
          </a:p>
          <a:p>
            <a:r>
              <a:rPr lang="ja-JP" altLang="en-US" sz="1200" dirty="0"/>
              <a:t>            fee = fee * 0.90;</a:t>
            </a:r>
          </a:p>
          <a:p>
            <a:r>
              <a:rPr lang="ja-JP" altLang="en-US" sz="1200" dirty="0"/>
              <a:t>        }</a:t>
            </a:r>
          </a:p>
          <a:p>
            <a:r>
              <a:rPr lang="ja-JP" altLang="en-US" sz="1200" dirty="0"/>
              <a:t>        System.out.println("Updated fee: " + fee);</a:t>
            </a:r>
          </a:p>
          <a:p>
            <a:r>
              <a:rPr lang="ja-JP" altLang="en-US" sz="1200" dirty="0"/>
              <a:t>        // Email notification</a:t>
            </a:r>
          </a:p>
          <a:p>
            <a:r>
              <a:rPr lang="ja-JP" altLang="en-US" sz="1200" dirty="0"/>
              <a:t>        System.out.println("Sending email to student...");</a:t>
            </a:r>
          </a:p>
          <a:p>
            <a:r>
              <a:rPr lang="ja-JP" altLang="en-US" sz="1200" dirty="0"/>
              <a:t>    }</a:t>
            </a:r>
          </a:p>
          <a:p>
            <a:r>
              <a:rPr lang="ja-JP" altLang="en-US" sz="1200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E7A5C8-749C-7C00-9000-F594B06EE0F4}"/>
              </a:ext>
            </a:extLst>
          </p:cNvPr>
          <p:cNvSpPr txBox="1"/>
          <p:nvPr/>
        </p:nvSpPr>
        <p:spPr>
          <a:xfrm>
            <a:off x="359678" y="719860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Refactoring Long Method:</a:t>
            </a:r>
          </a:p>
        </p:txBody>
      </p:sp>
    </p:spTree>
    <p:extLst>
      <p:ext uri="{BB962C8B-B14F-4D97-AF65-F5344CB8AC3E}">
        <p14:creationId xmlns:p14="http://schemas.microsoft.com/office/powerpoint/2010/main" val="2319178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6E21ED-DBA4-6F5D-47EF-F8D29129B437}"/>
              </a:ext>
            </a:extLst>
          </p:cNvPr>
          <p:cNvSpPr txBox="1"/>
          <p:nvPr/>
        </p:nvSpPr>
        <p:spPr>
          <a:xfrm>
            <a:off x="271803" y="81792"/>
            <a:ext cx="11064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Times New Roman"/>
              </a:defRPr>
            </a:pPr>
            <a:r>
              <a:rPr lang="en-US" altLang="ja-JP" dirty="0"/>
              <a:t>If a System Suffering from a </a:t>
            </a:r>
            <a:r>
              <a:rPr lang="en-US" altLang="ja-JP" b="1" dirty="0"/>
              <a:t>Large Class</a:t>
            </a:r>
            <a:r>
              <a:rPr lang="en-US" altLang="ja-JP" dirty="0"/>
              <a:t> and </a:t>
            </a:r>
            <a:r>
              <a:rPr lang="en-US" altLang="ja-JP" b="1" dirty="0"/>
              <a:t>Duplicated Code: Java Example</a:t>
            </a:r>
            <a:endParaRPr lang="en-US" altLang="ja-JP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C1035-A468-BE38-EE49-6D1174FA8596}"/>
              </a:ext>
            </a:extLst>
          </p:cNvPr>
          <p:cNvSpPr txBox="1"/>
          <p:nvPr/>
        </p:nvSpPr>
        <p:spPr>
          <a:xfrm>
            <a:off x="435388" y="1207392"/>
            <a:ext cx="443022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b="1" dirty="0"/>
              <a:t>public class Student {</a:t>
            </a:r>
          </a:p>
          <a:p>
            <a:endParaRPr lang="en-US" altLang="ja-JP" sz="1050" dirty="0"/>
          </a:p>
          <a:p>
            <a:r>
              <a:rPr lang="en-US" altLang="ja-JP" sz="1050" dirty="0"/>
              <a:t>    private int </a:t>
            </a:r>
            <a:r>
              <a:rPr lang="en-US" altLang="ja-JP" sz="1050" dirty="0" err="1"/>
              <a:t>studentId</a:t>
            </a:r>
            <a:r>
              <a:rPr lang="en-US" altLang="ja-JP" sz="1050" dirty="0"/>
              <a:t>;</a:t>
            </a:r>
          </a:p>
          <a:p>
            <a:r>
              <a:rPr lang="en-US" altLang="ja-JP" sz="1050" dirty="0"/>
              <a:t>    private String name;</a:t>
            </a:r>
          </a:p>
          <a:p>
            <a:r>
              <a:rPr lang="en-US" altLang="ja-JP" sz="1050" dirty="0"/>
              <a:t>    private double </a:t>
            </a:r>
            <a:r>
              <a:rPr lang="en-US" altLang="ja-JP" sz="1050" dirty="0" err="1"/>
              <a:t>tuitionFee</a:t>
            </a:r>
            <a:r>
              <a:rPr lang="en-US" altLang="ja-JP" sz="1050" dirty="0"/>
              <a:t>;</a:t>
            </a:r>
          </a:p>
          <a:p>
            <a:endParaRPr lang="en-US" altLang="ja-JP" sz="1050" dirty="0"/>
          </a:p>
          <a:p>
            <a:r>
              <a:rPr lang="en-US" altLang="ja-JP" sz="1050" dirty="0"/>
              <a:t>    public Student(int </a:t>
            </a:r>
            <a:r>
              <a:rPr lang="en-US" altLang="ja-JP" sz="1050" dirty="0" err="1"/>
              <a:t>studentId</a:t>
            </a:r>
            <a:r>
              <a:rPr lang="en-US" altLang="ja-JP" sz="1050" dirty="0"/>
              <a:t>, String name, double </a:t>
            </a:r>
            <a:r>
              <a:rPr lang="en-US" altLang="ja-JP" sz="1050" dirty="0" err="1"/>
              <a:t>tuitionFee</a:t>
            </a:r>
            <a:r>
              <a:rPr lang="en-US" altLang="ja-JP" sz="1050" dirty="0"/>
              <a:t>) {</a:t>
            </a:r>
          </a:p>
          <a:p>
            <a:r>
              <a:rPr lang="en-US" altLang="ja-JP" sz="1050" dirty="0"/>
              <a:t>        </a:t>
            </a:r>
            <a:r>
              <a:rPr lang="en-US" altLang="ja-JP" sz="1050" dirty="0" err="1"/>
              <a:t>this.studentId</a:t>
            </a:r>
            <a:r>
              <a:rPr lang="en-US" altLang="ja-JP" sz="1050" dirty="0"/>
              <a:t> = </a:t>
            </a:r>
            <a:r>
              <a:rPr lang="en-US" altLang="ja-JP" sz="1050" dirty="0" err="1"/>
              <a:t>studentId</a:t>
            </a:r>
            <a:r>
              <a:rPr lang="en-US" altLang="ja-JP" sz="1050" dirty="0"/>
              <a:t>;</a:t>
            </a:r>
          </a:p>
          <a:p>
            <a:r>
              <a:rPr lang="en-US" altLang="ja-JP" sz="1050" dirty="0"/>
              <a:t>        this.name = name;</a:t>
            </a:r>
          </a:p>
          <a:p>
            <a:r>
              <a:rPr lang="en-US" altLang="ja-JP" sz="1050" dirty="0"/>
              <a:t>        </a:t>
            </a:r>
            <a:r>
              <a:rPr lang="en-US" altLang="ja-JP" sz="1050" dirty="0" err="1"/>
              <a:t>this.tuitionFee</a:t>
            </a:r>
            <a:r>
              <a:rPr lang="en-US" altLang="ja-JP" sz="1050" dirty="0"/>
              <a:t> = </a:t>
            </a:r>
            <a:r>
              <a:rPr lang="en-US" altLang="ja-JP" sz="1050" dirty="0" err="1"/>
              <a:t>tuitionFee</a:t>
            </a:r>
            <a:r>
              <a:rPr lang="en-US" altLang="ja-JP" sz="1050" dirty="0"/>
              <a:t>;</a:t>
            </a:r>
          </a:p>
          <a:p>
            <a:r>
              <a:rPr lang="en-US" altLang="ja-JP" sz="1050" dirty="0"/>
              <a:t>    }</a:t>
            </a:r>
          </a:p>
          <a:p>
            <a:endParaRPr lang="en-US" altLang="ja-JP" sz="1050" dirty="0"/>
          </a:p>
          <a:p>
            <a:r>
              <a:rPr lang="en-US" altLang="ja-JP" sz="1050" dirty="0"/>
              <a:t>    public int </a:t>
            </a:r>
            <a:r>
              <a:rPr lang="en-US" altLang="ja-JP" sz="1050" dirty="0" err="1"/>
              <a:t>getStudentId</a:t>
            </a:r>
            <a:r>
              <a:rPr lang="en-US" altLang="ja-JP" sz="1050" dirty="0"/>
              <a:t>() {</a:t>
            </a:r>
          </a:p>
          <a:p>
            <a:r>
              <a:rPr lang="en-US" altLang="ja-JP" sz="1050" dirty="0"/>
              <a:t>        return </a:t>
            </a:r>
            <a:r>
              <a:rPr lang="en-US" altLang="ja-JP" sz="1050" dirty="0" err="1"/>
              <a:t>studentId</a:t>
            </a:r>
            <a:r>
              <a:rPr lang="en-US" altLang="ja-JP" sz="1050" dirty="0"/>
              <a:t>;</a:t>
            </a:r>
          </a:p>
          <a:p>
            <a:r>
              <a:rPr lang="en-US" altLang="ja-JP" sz="1050" dirty="0"/>
              <a:t>    }</a:t>
            </a:r>
          </a:p>
          <a:p>
            <a:endParaRPr lang="en-US" altLang="ja-JP" sz="1050" dirty="0"/>
          </a:p>
          <a:p>
            <a:r>
              <a:rPr lang="en-US" altLang="ja-JP" sz="1050" dirty="0"/>
              <a:t>    public String </a:t>
            </a:r>
            <a:r>
              <a:rPr lang="en-US" altLang="ja-JP" sz="1050" dirty="0" err="1"/>
              <a:t>getName</a:t>
            </a:r>
            <a:r>
              <a:rPr lang="en-US" altLang="ja-JP" sz="1050" dirty="0"/>
              <a:t>() {</a:t>
            </a:r>
          </a:p>
          <a:p>
            <a:r>
              <a:rPr lang="en-US" altLang="ja-JP" sz="1050" dirty="0"/>
              <a:t>        return name;</a:t>
            </a:r>
          </a:p>
          <a:p>
            <a:r>
              <a:rPr lang="en-US" altLang="ja-JP" sz="1050" dirty="0"/>
              <a:t>    }</a:t>
            </a:r>
          </a:p>
          <a:p>
            <a:endParaRPr lang="en-US" altLang="ja-JP" sz="1050" dirty="0"/>
          </a:p>
          <a:p>
            <a:r>
              <a:rPr lang="en-US" altLang="ja-JP" sz="1050" dirty="0"/>
              <a:t>    public double </a:t>
            </a:r>
            <a:r>
              <a:rPr lang="en-US" altLang="ja-JP" sz="1050" dirty="0" err="1"/>
              <a:t>getTuitionFee</a:t>
            </a:r>
            <a:r>
              <a:rPr lang="en-US" altLang="ja-JP" sz="1050" dirty="0"/>
              <a:t>() {</a:t>
            </a:r>
          </a:p>
          <a:p>
            <a:r>
              <a:rPr lang="en-US" altLang="ja-JP" sz="1050" dirty="0"/>
              <a:t>        return </a:t>
            </a:r>
            <a:r>
              <a:rPr lang="en-US" altLang="ja-JP" sz="1050" dirty="0" err="1"/>
              <a:t>tuitionFee</a:t>
            </a:r>
            <a:r>
              <a:rPr lang="en-US" altLang="ja-JP" sz="1050" dirty="0"/>
              <a:t>;</a:t>
            </a:r>
          </a:p>
          <a:p>
            <a:r>
              <a:rPr lang="en-US" altLang="ja-JP" sz="1050" dirty="0"/>
              <a:t>    }</a:t>
            </a:r>
          </a:p>
          <a:p>
            <a:r>
              <a:rPr lang="en-US" altLang="ja-JP" sz="1050" dirty="0"/>
              <a:t>}</a:t>
            </a:r>
            <a:endParaRPr lang="ja-JP" alt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F6457-71C0-8E88-DB18-2400F72C186D}"/>
              </a:ext>
            </a:extLst>
          </p:cNvPr>
          <p:cNvSpPr txBox="1"/>
          <p:nvPr/>
        </p:nvSpPr>
        <p:spPr>
          <a:xfrm>
            <a:off x="4642258" y="1342015"/>
            <a:ext cx="31133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/>
              <a:t>public class </a:t>
            </a:r>
            <a:r>
              <a:rPr lang="en-US" altLang="ja-JP" sz="1200" b="1" dirty="0" err="1"/>
              <a:t>StudentValidator</a:t>
            </a:r>
            <a:r>
              <a:rPr lang="en-US" altLang="ja-JP" sz="1200" b="1" dirty="0"/>
              <a:t> {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public </a:t>
            </a:r>
            <a:r>
              <a:rPr lang="en-US" altLang="ja-JP" sz="1200" dirty="0" err="1"/>
              <a:t>boolean</a:t>
            </a:r>
            <a:r>
              <a:rPr lang="en-US" altLang="ja-JP" sz="1200" dirty="0"/>
              <a:t> </a:t>
            </a:r>
            <a:r>
              <a:rPr lang="en-US" altLang="ja-JP" sz="1200" dirty="0" err="1"/>
              <a:t>isValid</a:t>
            </a:r>
            <a:r>
              <a:rPr lang="en-US" altLang="ja-JP" sz="1200" dirty="0"/>
              <a:t>(Student student) {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    if (</a:t>
            </a:r>
            <a:r>
              <a:rPr lang="en-US" altLang="ja-JP" sz="1200" dirty="0" err="1"/>
              <a:t>student.getName</a:t>
            </a:r>
            <a:r>
              <a:rPr lang="en-US" altLang="ja-JP" sz="1200" dirty="0"/>
              <a:t>() == null ||</a:t>
            </a:r>
          </a:p>
          <a:p>
            <a:r>
              <a:rPr lang="en-US" altLang="ja-JP" sz="1200" dirty="0"/>
              <a:t>            </a:t>
            </a:r>
            <a:r>
              <a:rPr lang="en-US" altLang="ja-JP" sz="1200" dirty="0" err="1"/>
              <a:t>student.getName</a:t>
            </a:r>
            <a:r>
              <a:rPr lang="en-US" altLang="ja-JP" sz="1200" dirty="0"/>
              <a:t>().</a:t>
            </a:r>
            <a:r>
              <a:rPr lang="en-US" altLang="ja-JP" sz="1200" dirty="0" err="1"/>
              <a:t>isEmpty</a:t>
            </a:r>
            <a:r>
              <a:rPr lang="en-US" altLang="ja-JP" sz="1200" dirty="0"/>
              <a:t>()) {</a:t>
            </a:r>
          </a:p>
          <a:p>
            <a:r>
              <a:rPr lang="en-US" altLang="ja-JP" sz="1200" dirty="0"/>
              <a:t>            return false;</a:t>
            </a:r>
          </a:p>
          <a:p>
            <a:r>
              <a:rPr lang="en-US" altLang="ja-JP" sz="1200" dirty="0"/>
              <a:t>        }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    if (</a:t>
            </a:r>
            <a:r>
              <a:rPr lang="en-US" altLang="ja-JP" sz="1200" dirty="0" err="1"/>
              <a:t>student.getStudentId</a:t>
            </a:r>
            <a:r>
              <a:rPr lang="en-US" altLang="ja-JP" sz="1200" dirty="0"/>
              <a:t>() &lt;= 0) {</a:t>
            </a:r>
          </a:p>
          <a:p>
            <a:r>
              <a:rPr lang="en-US" altLang="ja-JP" sz="1200" dirty="0"/>
              <a:t>            return false;</a:t>
            </a:r>
          </a:p>
          <a:p>
            <a:r>
              <a:rPr lang="en-US" altLang="ja-JP" sz="1200" dirty="0"/>
              <a:t>        }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    return true;</a:t>
            </a:r>
          </a:p>
          <a:p>
            <a:r>
              <a:rPr lang="en-US" altLang="ja-JP" sz="1200" dirty="0"/>
              <a:t>    }</a:t>
            </a:r>
          </a:p>
          <a:p>
            <a:r>
              <a:rPr lang="en-US" altLang="ja-JP" sz="1200" dirty="0"/>
              <a:t>}</a:t>
            </a:r>
            <a:endParaRPr lang="ja-JP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E7A5C8-749C-7C00-9000-F594B06EE0F4}"/>
              </a:ext>
            </a:extLst>
          </p:cNvPr>
          <p:cNvSpPr txBox="1"/>
          <p:nvPr/>
        </p:nvSpPr>
        <p:spPr>
          <a:xfrm>
            <a:off x="359678" y="719860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Refactoring Long Method: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BA1C9C-FFCA-1292-0C28-A8892A23814D}"/>
              </a:ext>
            </a:extLst>
          </p:cNvPr>
          <p:cNvSpPr txBox="1"/>
          <p:nvPr/>
        </p:nvSpPr>
        <p:spPr>
          <a:xfrm>
            <a:off x="7808831" y="904526"/>
            <a:ext cx="609669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FeeCalculator {</a:t>
            </a:r>
          </a:p>
          <a:p>
            <a:endParaRPr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double calculateFee(double tuitionFee) {</a:t>
            </a:r>
          </a:p>
          <a:p>
            <a:endParaRPr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(tuitionFee &gt; 50000) {</a:t>
            </a:r>
          </a:p>
          <a:p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tuitionFee * 0.90;</a:t>
            </a:r>
          </a:p>
          <a:p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endParaRPr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tuitionFee;</a:t>
            </a:r>
          </a:p>
          <a:p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25904C-6DA7-7372-90DB-B02F47C86BDA}"/>
              </a:ext>
            </a:extLst>
          </p:cNvPr>
          <p:cNvSpPr txBox="1"/>
          <p:nvPr/>
        </p:nvSpPr>
        <p:spPr>
          <a:xfrm>
            <a:off x="359678" y="5312333"/>
            <a:ext cx="44302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1" dirty="0"/>
              <a:t>public class StudentRepository {</a:t>
            </a:r>
          </a:p>
          <a:p>
            <a:r>
              <a:rPr lang="ja-JP" altLang="en-US" sz="1200" dirty="0"/>
              <a:t>    public void save(Student student) {</a:t>
            </a:r>
          </a:p>
          <a:p>
            <a:r>
              <a:rPr lang="ja-JP" altLang="en-US" sz="1200" dirty="0"/>
              <a:t>        System.out.println("Saving student to database...");</a:t>
            </a:r>
          </a:p>
          <a:p>
            <a:r>
              <a:rPr lang="ja-JP" altLang="en-US" sz="1200" dirty="0"/>
              <a:t>    }</a:t>
            </a:r>
          </a:p>
          <a:p>
            <a:r>
              <a:rPr lang="ja-JP" altLang="en-US" sz="1200" dirty="0"/>
              <a:t>    public void update(Student student) {</a:t>
            </a:r>
          </a:p>
          <a:p>
            <a:r>
              <a:rPr lang="ja-JP" altLang="en-US" sz="1200" dirty="0"/>
              <a:t>        System.out.println("Updating student in database...");</a:t>
            </a:r>
          </a:p>
          <a:p>
            <a:r>
              <a:rPr lang="ja-JP" altLang="en-US" sz="1200" dirty="0"/>
              <a:t>    }</a:t>
            </a:r>
          </a:p>
          <a:p>
            <a:r>
              <a:rPr lang="ja-JP" altLang="en-US" sz="1200" dirty="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E51FB4-B7F9-F3DF-666B-7926038783F5}"/>
              </a:ext>
            </a:extLst>
          </p:cNvPr>
          <p:cNvSpPr txBox="1"/>
          <p:nvPr/>
        </p:nvSpPr>
        <p:spPr>
          <a:xfrm>
            <a:off x="4241262" y="4872067"/>
            <a:ext cx="443022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/>
              <a:t>public class </a:t>
            </a:r>
            <a:r>
              <a:rPr lang="en-US" altLang="ja-JP" sz="1200" b="1" dirty="0" err="1"/>
              <a:t>ReportGenerator</a:t>
            </a:r>
            <a:r>
              <a:rPr lang="en-US" altLang="ja-JP" sz="1200" b="1" dirty="0"/>
              <a:t> {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public void generate(Student </a:t>
            </a:r>
            <a:r>
              <a:rPr lang="en-US" altLang="ja-JP" sz="1200" dirty="0" err="1"/>
              <a:t>student</a:t>
            </a:r>
            <a:r>
              <a:rPr lang="en-US" altLang="ja-JP" sz="1200" dirty="0"/>
              <a:t>, double fee) {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    </a:t>
            </a:r>
            <a:r>
              <a:rPr lang="en-US" altLang="ja-JP" sz="1200" dirty="0" err="1"/>
              <a:t>System.out.println</a:t>
            </a:r>
            <a:r>
              <a:rPr lang="en-US" altLang="ja-JP" sz="1200" dirty="0"/>
              <a:t>("Student Report");</a:t>
            </a:r>
          </a:p>
          <a:p>
            <a:r>
              <a:rPr lang="en-US" altLang="ja-JP" sz="1200" dirty="0"/>
              <a:t>        </a:t>
            </a:r>
            <a:r>
              <a:rPr lang="en-US" altLang="ja-JP" sz="1200" dirty="0" err="1"/>
              <a:t>System.out.println</a:t>
            </a:r>
            <a:r>
              <a:rPr lang="en-US" altLang="ja-JP" sz="1200" dirty="0"/>
              <a:t>("Name: " + </a:t>
            </a:r>
            <a:r>
              <a:rPr lang="en-US" altLang="ja-JP" sz="1200" dirty="0" err="1"/>
              <a:t>student.getName</a:t>
            </a:r>
            <a:r>
              <a:rPr lang="en-US" altLang="ja-JP" sz="1200" dirty="0"/>
              <a:t>());</a:t>
            </a:r>
          </a:p>
          <a:p>
            <a:r>
              <a:rPr lang="en-US" altLang="ja-JP" sz="1200" dirty="0"/>
              <a:t>        </a:t>
            </a:r>
            <a:r>
              <a:rPr lang="en-US" altLang="ja-JP" sz="1200" dirty="0" err="1"/>
              <a:t>System.out.println</a:t>
            </a:r>
            <a:r>
              <a:rPr lang="en-US" altLang="ja-JP" sz="1200" dirty="0"/>
              <a:t>("ID: " + </a:t>
            </a:r>
            <a:r>
              <a:rPr lang="en-US" altLang="ja-JP" sz="1200" dirty="0" err="1"/>
              <a:t>student.getStudentId</a:t>
            </a:r>
            <a:r>
              <a:rPr lang="en-US" altLang="ja-JP" sz="1200" dirty="0"/>
              <a:t>());</a:t>
            </a:r>
          </a:p>
          <a:p>
            <a:r>
              <a:rPr lang="en-US" altLang="ja-JP" sz="1200" dirty="0"/>
              <a:t>        </a:t>
            </a:r>
            <a:r>
              <a:rPr lang="en-US" altLang="ja-JP" sz="1200" dirty="0" err="1"/>
              <a:t>System.out.println</a:t>
            </a:r>
            <a:r>
              <a:rPr lang="en-US" altLang="ja-JP" sz="1200" dirty="0"/>
              <a:t>("Final Fee: " + fee);</a:t>
            </a:r>
          </a:p>
          <a:p>
            <a:r>
              <a:rPr lang="en-US" altLang="ja-JP" sz="1200" dirty="0"/>
              <a:t>    }</a:t>
            </a:r>
          </a:p>
          <a:p>
            <a:r>
              <a:rPr lang="en-US" altLang="ja-JP" sz="1200" dirty="0"/>
              <a:t>}</a:t>
            </a:r>
            <a:endParaRPr lang="ja-JP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DA14E-A9F0-F366-6E9D-44AA1D137DEB}"/>
              </a:ext>
            </a:extLst>
          </p:cNvPr>
          <p:cNvSpPr txBox="1"/>
          <p:nvPr/>
        </p:nvSpPr>
        <p:spPr>
          <a:xfrm>
            <a:off x="8047136" y="3335367"/>
            <a:ext cx="44302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/>
              <a:t>public class </a:t>
            </a:r>
            <a:r>
              <a:rPr lang="en-US" altLang="ja-JP" sz="1200" b="1" dirty="0" err="1"/>
              <a:t>EmailService</a:t>
            </a:r>
            <a:r>
              <a:rPr lang="en-US" altLang="ja-JP" sz="1200" b="1" dirty="0"/>
              <a:t> {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public void </a:t>
            </a:r>
            <a:r>
              <a:rPr lang="en-US" altLang="ja-JP" sz="1200" dirty="0" err="1"/>
              <a:t>sendEmail</a:t>
            </a:r>
            <a:r>
              <a:rPr lang="en-US" altLang="ja-JP" sz="1200" dirty="0"/>
              <a:t>(Student student) {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    </a:t>
            </a:r>
            <a:r>
              <a:rPr lang="en-US" altLang="ja-JP" sz="1200" dirty="0" err="1"/>
              <a:t>System.out.println</a:t>
            </a:r>
            <a:r>
              <a:rPr lang="en-US" altLang="ja-JP" sz="1200" dirty="0"/>
              <a:t>(</a:t>
            </a:r>
          </a:p>
          <a:p>
            <a:r>
              <a:rPr lang="en-US" altLang="ja-JP" sz="1200" dirty="0"/>
              <a:t>            "Sending email to " + </a:t>
            </a:r>
            <a:r>
              <a:rPr lang="en-US" altLang="ja-JP" sz="1200" dirty="0" err="1"/>
              <a:t>student.getName</a:t>
            </a:r>
            <a:r>
              <a:rPr lang="en-US" altLang="ja-JP" sz="1200" dirty="0"/>
              <a:t>()</a:t>
            </a:r>
          </a:p>
          <a:p>
            <a:r>
              <a:rPr lang="en-US" altLang="ja-JP" sz="1200" dirty="0"/>
              <a:t>        );</a:t>
            </a:r>
          </a:p>
          <a:p>
            <a:r>
              <a:rPr lang="en-US" altLang="ja-JP" sz="1200" dirty="0"/>
              <a:t>    }</a:t>
            </a:r>
          </a:p>
          <a:p>
            <a:r>
              <a:rPr lang="en-US" altLang="ja-JP" sz="1200" dirty="0"/>
              <a:t>}</a:t>
            </a:r>
            <a:endParaRPr lang="ja-JP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E9BE45-9C41-D872-BCCB-2EFECBD54B3E}"/>
              </a:ext>
            </a:extLst>
          </p:cNvPr>
          <p:cNvSpPr txBox="1"/>
          <p:nvPr/>
        </p:nvSpPr>
        <p:spPr>
          <a:xfrm>
            <a:off x="8169903" y="5100667"/>
            <a:ext cx="4430227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500" dirty="0"/>
              <a:t>public class </a:t>
            </a:r>
            <a:r>
              <a:rPr lang="en-US" altLang="ja-JP" sz="500" dirty="0" err="1"/>
              <a:t>StudentService</a:t>
            </a:r>
            <a:r>
              <a:rPr lang="en-US" altLang="ja-JP" sz="500" dirty="0"/>
              <a:t> {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private </a:t>
            </a:r>
            <a:r>
              <a:rPr lang="en-US" altLang="ja-JP" sz="500" dirty="0" err="1"/>
              <a:t>StudentValidator</a:t>
            </a:r>
            <a:r>
              <a:rPr lang="en-US" altLang="ja-JP" sz="500" dirty="0"/>
              <a:t> validator;</a:t>
            </a:r>
          </a:p>
          <a:p>
            <a:r>
              <a:rPr lang="en-US" altLang="ja-JP" sz="500" dirty="0"/>
              <a:t>    private </a:t>
            </a:r>
            <a:r>
              <a:rPr lang="en-US" altLang="ja-JP" sz="500" dirty="0" err="1"/>
              <a:t>StudentRepository</a:t>
            </a:r>
            <a:r>
              <a:rPr lang="en-US" altLang="ja-JP" sz="500" dirty="0"/>
              <a:t> repository;</a:t>
            </a:r>
          </a:p>
          <a:p>
            <a:r>
              <a:rPr lang="en-US" altLang="ja-JP" sz="500" dirty="0"/>
              <a:t>    private </a:t>
            </a:r>
            <a:r>
              <a:rPr lang="en-US" altLang="ja-JP" sz="500" dirty="0" err="1"/>
              <a:t>FeeCalculator</a:t>
            </a:r>
            <a:r>
              <a:rPr lang="en-US" altLang="ja-JP" sz="500" dirty="0"/>
              <a:t> calculator;</a:t>
            </a:r>
          </a:p>
          <a:p>
            <a:r>
              <a:rPr lang="en-US" altLang="ja-JP" sz="500" dirty="0"/>
              <a:t>    private </a:t>
            </a:r>
            <a:r>
              <a:rPr lang="en-US" altLang="ja-JP" sz="500" dirty="0" err="1"/>
              <a:t>ReportGenerator</a:t>
            </a:r>
            <a:r>
              <a:rPr lang="en-US" altLang="ja-JP" sz="500" dirty="0"/>
              <a:t> </a:t>
            </a:r>
            <a:r>
              <a:rPr lang="en-US" altLang="ja-JP" sz="500" dirty="0" err="1"/>
              <a:t>reportGenerator</a:t>
            </a:r>
            <a:r>
              <a:rPr lang="en-US" altLang="ja-JP" sz="500" dirty="0"/>
              <a:t>;</a:t>
            </a:r>
          </a:p>
          <a:p>
            <a:r>
              <a:rPr lang="en-US" altLang="ja-JP" sz="500" dirty="0"/>
              <a:t>    private </a:t>
            </a:r>
            <a:r>
              <a:rPr lang="en-US" altLang="ja-JP" sz="500" dirty="0" err="1"/>
              <a:t>EmailService</a:t>
            </a:r>
            <a:r>
              <a:rPr lang="en-US" altLang="ja-JP" sz="500" dirty="0"/>
              <a:t> </a:t>
            </a:r>
            <a:r>
              <a:rPr lang="en-US" altLang="ja-JP" sz="500" dirty="0" err="1"/>
              <a:t>emailService</a:t>
            </a:r>
            <a:r>
              <a:rPr lang="en-US" altLang="ja-JP" sz="500" dirty="0"/>
              <a:t>;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public </a:t>
            </a:r>
            <a:r>
              <a:rPr lang="en-US" altLang="ja-JP" sz="500" dirty="0" err="1"/>
              <a:t>StudentService</a:t>
            </a:r>
            <a:r>
              <a:rPr lang="en-US" altLang="ja-JP" sz="500" dirty="0"/>
              <a:t>() {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validator = new </a:t>
            </a:r>
            <a:r>
              <a:rPr lang="en-US" altLang="ja-JP" sz="500" dirty="0" err="1"/>
              <a:t>StudentValidator</a:t>
            </a:r>
            <a:r>
              <a:rPr lang="en-US" altLang="ja-JP" sz="500" dirty="0"/>
              <a:t>();</a:t>
            </a:r>
          </a:p>
          <a:p>
            <a:r>
              <a:rPr lang="en-US" altLang="ja-JP" sz="500" dirty="0"/>
              <a:t>        repository = new </a:t>
            </a:r>
            <a:r>
              <a:rPr lang="en-US" altLang="ja-JP" sz="500" dirty="0" err="1"/>
              <a:t>StudentRepository</a:t>
            </a:r>
            <a:r>
              <a:rPr lang="en-US" altLang="ja-JP" sz="500" dirty="0"/>
              <a:t>();</a:t>
            </a:r>
          </a:p>
          <a:p>
            <a:r>
              <a:rPr lang="en-US" altLang="ja-JP" sz="500" dirty="0"/>
              <a:t>        calculator = new </a:t>
            </a:r>
            <a:r>
              <a:rPr lang="en-US" altLang="ja-JP" sz="500" dirty="0" err="1"/>
              <a:t>FeeCalculator</a:t>
            </a:r>
            <a:r>
              <a:rPr lang="en-US" altLang="ja-JP" sz="500" dirty="0"/>
              <a:t>();</a:t>
            </a:r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reportGenerator</a:t>
            </a:r>
            <a:r>
              <a:rPr lang="en-US" altLang="ja-JP" sz="500" dirty="0"/>
              <a:t> = new </a:t>
            </a:r>
            <a:r>
              <a:rPr lang="en-US" altLang="ja-JP" sz="500" dirty="0" err="1"/>
              <a:t>ReportGenerator</a:t>
            </a:r>
            <a:r>
              <a:rPr lang="en-US" altLang="ja-JP" sz="500" dirty="0"/>
              <a:t>();</a:t>
            </a:r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emailService</a:t>
            </a:r>
            <a:r>
              <a:rPr lang="en-US" altLang="ja-JP" sz="500" dirty="0"/>
              <a:t> = new </a:t>
            </a:r>
            <a:r>
              <a:rPr lang="en-US" altLang="ja-JP" sz="500" dirty="0" err="1"/>
              <a:t>EmailService</a:t>
            </a:r>
            <a:r>
              <a:rPr lang="en-US" altLang="ja-JP" sz="500" dirty="0"/>
              <a:t>();</a:t>
            </a:r>
          </a:p>
          <a:p>
            <a:r>
              <a:rPr lang="en-US" altLang="ja-JP" sz="500" dirty="0"/>
              <a:t>    }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public void </a:t>
            </a:r>
            <a:r>
              <a:rPr lang="en-US" altLang="ja-JP" sz="500" dirty="0" err="1"/>
              <a:t>registerStudent</a:t>
            </a:r>
            <a:r>
              <a:rPr lang="en-US" altLang="ja-JP" sz="500" dirty="0"/>
              <a:t>(Student student) {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if (!</a:t>
            </a:r>
            <a:r>
              <a:rPr lang="en-US" altLang="ja-JP" sz="500" dirty="0" err="1"/>
              <a:t>validator.isValid</a:t>
            </a:r>
            <a:r>
              <a:rPr lang="en-US" altLang="ja-JP" sz="500" dirty="0"/>
              <a:t>(student)) {</a:t>
            </a:r>
          </a:p>
          <a:p>
            <a:r>
              <a:rPr lang="en-US" altLang="ja-JP" sz="500" dirty="0"/>
              <a:t>            </a:t>
            </a:r>
            <a:r>
              <a:rPr lang="en-US" altLang="ja-JP" sz="500" dirty="0" err="1"/>
              <a:t>System.out.println</a:t>
            </a:r>
            <a:r>
              <a:rPr lang="en-US" altLang="ja-JP" sz="500" dirty="0"/>
              <a:t>("Invalid student information.");</a:t>
            </a:r>
          </a:p>
          <a:p>
            <a:r>
              <a:rPr lang="en-US" altLang="ja-JP" sz="500" dirty="0"/>
              <a:t>            return;</a:t>
            </a:r>
          </a:p>
          <a:p>
            <a:r>
              <a:rPr lang="en-US" altLang="ja-JP" sz="500" dirty="0"/>
              <a:t>        }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repository.save</a:t>
            </a:r>
            <a:r>
              <a:rPr lang="en-US" altLang="ja-JP" sz="500" dirty="0"/>
              <a:t>(student);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double fee =</a:t>
            </a:r>
          </a:p>
          <a:p>
            <a:r>
              <a:rPr lang="en-US" altLang="ja-JP" sz="500" dirty="0"/>
              <a:t>            </a:t>
            </a:r>
            <a:r>
              <a:rPr lang="en-US" altLang="ja-JP" sz="500" dirty="0" err="1"/>
              <a:t>calculator.calculateFee</a:t>
            </a:r>
            <a:r>
              <a:rPr lang="en-US" altLang="ja-JP" sz="500" dirty="0"/>
              <a:t>(</a:t>
            </a:r>
            <a:r>
              <a:rPr lang="en-US" altLang="ja-JP" sz="500" dirty="0" err="1"/>
              <a:t>student.getTuitionFee</a:t>
            </a:r>
            <a:r>
              <a:rPr lang="en-US" altLang="ja-JP" sz="500" dirty="0"/>
              <a:t>());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reportGenerator.generate</a:t>
            </a:r>
            <a:r>
              <a:rPr lang="en-US" altLang="ja-JP" sz="500" dirty="0"/>
              <a:t>(student, fee);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emailService.sendEmail</a:t>
            </a:r>
            <a:r>
              <a:rPr lang="en-US" altLang="ja-JP" sz="500" dirty="0"/>
              <a:t>(student);</a:t>
            </a:r>
          </a:p>
          <a:p>
            <a:r>
              <a:rPr lang="en-US" altLang="ja-JP" sz="500" dirty="0"/>
              <a:t>    }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public void </a:t>
            </a:r>
            <a:r>
              <a:rPr lang="en-US" altLang="ja-JP" sz="500" dirty="0" err="1"/>
              <a:t>updateStudent</a:t>
            </a:r>
            <a:r>
              <a:rPr lang="en-US" altLang="ja-JP" sz="500" dirty="0"/>
              <a:t>(Student student) {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if (!</a:t>
            </a:r>
            <a:r>
              <a:rPr lang="en-US" altLang="ja-JP" sz="500" dirty="0" err="1"/>
              <a:t>validator.isValid</a:t>
            </a:r>
            <a:r>
              <a:rPr lang="en-US" altLang="ja-JP" sz="500" dirty="0"/>
              <a:t>(student)) {</a:t>
            </a:r>
          </a:p>
          <a:p>
            <a:r>
              <a:rPr lang="en-US" altLang="ja-JP" sz="500" dirty="0"/>
              <a:t>            </a:t>
            </a:r>
            <a:r>
              <a:rPr lang="en-US" altLang="ja-JP" sz="500" dirty="0" err="1"/>
              <a:t>System.out.println</a:t>
            </a:r>
            <a:r>
              <a:rPr lang="en-US" altLang="ja-JP" sz="500" dirty="0"/>
              <a:t>("Invalid student information.");</a:t>
            </a:r>
          </a:p>
          <a:p>
            <a:r>
              <a:rPr lang="en-US" altLang="ja-JP" sz="500" dirty="0"/>
              <a:t>            return;</a:t>
            </a:r>
          </a:p>
          <a:p>
            <a:r>
              <a:rPr lang="en-US" altLang="ja-JP" sz="500" dirty="0"/>
              <a:t>        }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repository.update</a:t>
            </a:r>
            <a:r>
              <a:rPr lang="en-US" altLang="ja-JP" sz="500" dirty="0"/>
              <a:t>(student);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double fee =</a:t>
            </a:r>
          </a:p>
          <a:p>
            <a:r>
              <a:rPr lang="en-US" altLang="ja-JP" sz="500" dirty="0"/>
              <a:t>            </a:t>
            </a:r>
            <a:r>
              <a:rPr lang="en-US" altLang="ja-JP" sz="500" dirty="0" err="1"/>
              <a:t>calculator.calculateFee</a:t>
            </a:r>
            <a:r>
              <a:rPr lang="en-US" altLang="ja-JP" sz="500" dirty="0"/>
              <a:t>(</a:t>
            </a:r>
            <a:r>
              <a:rPr lang="en-US" altLang="ja-JP" sz="500" dirty="0" err="1"/>
              <a:t>student.getTuitionFee</a:t>
            </a:r>
            <a:r>
              <a:rPr lang="en-US" altLang="ja-JP" sz="500" dirty="0"/>
              <a:t>());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reportGenerator.generate</a:t>
            </a:r>
            <a:r>
              <a:rPr lang="en-US" altLang="ja-JP" sz="500" dirty="0"/>
              <a:t>(student, fee);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emailService.sendEmail</a:t>
            </a:r>
            <a:r>
              <a:rPr lang="en-US" altLang="ja-JP" sz="500" dirty="0"/>
              <a:t>(student);</a:t>
            </a:r>
          </a:p>
          <a:p>
            <a:r>
              <a:rPr lang="en-US" altLang="ja-JP" sz="500" dirty="0"/>
              <a:t>    }</a:t>
            </a:r>
          </a:p>
          <a:p>
            <a:r>
              <a:rPr lang="en-US" altLang="ja-JP" sz="500" dirty="0"/>
              <a:t>}</a:t>
            </a:r>
            <a:endParaRPr lang="ja-JP" altLang="en-US" sz="500" dirty="0"/>
          </a:p>
        </p:txBody>
      </p:sp>
    </p:spTree>
    <p:extLst>
      <p:ext uri="{BB962C8B-B14F-4D97-AF65-F5344CB8AC3E}">
        <p14:creationId xmlns:p14="http://schemas.microsoft.com/office/powerpoint/2010/main" val="1185968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6E21ED-DBA4-6F5D-47EF-F8D29129B437}"/>
              </a:ext>
            </a:extLst>
          </p:cNvPr>
          <p:cNvSpPr txBox="1"/>
          <p:nvPr/>
        </p:nvSpPr>
        <p:spPr>
          <a:xfrm>
            <a:off x="271803" y="81792"/>
            <a:ext cx="11064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Times New Roman"/>
              </a:defRPr>
            </a:pPr>
            <a:r>
              <a:rPr lang="en-US" altLang="ja-JP" dirty="0"/>
              <a:t>If a System Suffering from a </a:t>
            </a:r>
            <a:r>
              <a:rPr lang="en-US" altLang="ja-JP" b="1" dirty="0"/>
              <a:t>Large Class</a:t>
            </a:r>
            <a:r>
              <a:rPr lang="en-US" altLang="ja-JP" dirty="0"/>
              <a:t> and </a:t>
            </a:r>
            <a:r>
              <a:rPr lang="en-US" altLang="ja-JP" b="1" dirty="0"/>
              <a:t>Duplicated Code: Java Example</a:t>
            </a:r>
            <a:endParaRPr lang="en-US" altLang="ja-J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E7A5C8-749C-7C00-9000-F594B06EE0F4}"/>
              </a:ext>
            </a:extLst>
          </p:cNvPr>
          <p:cNvSpPr txBox="1"/>
          <p:nvPr/>
        </p:nvSpPr>
        <p:spPr>
          <a:xfrm>
            <a:off x="359678" y="719860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Refactoring Long Method: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E9BE45-9C41-D872-BCCB-2EFECBD54B3E}"/>
              </a:ext>
            </a:extLst>
          </p:cNvPr>
          <p:cNvSpPr txBox="1"/>
          <p:nvPr/>
        </p:nvSpPr>
        <p:spPr>
          <a:xfrm>
            <a:off x="271804" y="1153647"/>
            <a:ext cx="2815346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b="1" dirty="0"/>
              <a:t>public class </a:t>
            </a:r>
            <a:r>
              <a:rPr lang="en-US" altLang="ja-JP" sz="800" b="1" dirty="0" err="1"/>
              <a:t>StudentService</a:t>
            </a:r>
            <a:r>
              <a:rPr lang="en-US" altLang="ja-JP" sz="800" b="1" dirty="0"/>
              <a:t> {</a:t>
            </a:r>
          </a:p>
          <a:p>
            <a:endParaRPr lang="en-US" altLang="ja-JP" sz="800" dirty="0"/>
          </a:p>
          <a:p>
            <a:r>
              <a:rPr lang="en-US" altLang="ja-JP" sz="800" dirty="0"/>
              <a:t>    private </a:t>
            </a:r>
            <a:r>
              <a:rPr lang="en-US" altLang="ja-JP" sz="800" dirty="0" err="1"/>
              <a:t>StudentValidator</a:t>
            </a:r>
            <a:r>
              <a:rPr lang="en-US" altLang="ja-JP" sz="800" dirty="0"/>
              <a:t> validator;</a:t>
            </a:r>
          </a:p>
          <a:p>
            <a:r>
              <a:rPr lang="en-US" altLang="ja-JP" sz="800" dirty="0"/>
              <a:t>    private </a:t>
            </a:r>
            <a:r>
              <a:rPr lang="en-US" altLang="ja-JP" sz="800" dirty="0" err="1"/>
              <a:t>StudentRepository</a:t>
            </a:r>
            <a:r>
              <a:rPr lang="en-US" altLang="ja-JP" sz="800" dirty="0"/>
              <a:t> repository;</a:t>
            </a:r>
          </a:p>
          <a:p>
            <a:r>
              <a:rPr lang="en-US" altLang="ja-JP" sz="800" dirty="0"/>
              <a:t>    private </a:t>
            </a:r>
            <a:r>
              <a:rPr lang="en-US" altLang="ja-JP" sz="800" dirty="0" err="1"/>
              <a:t>FeeCalculator</a:t>
            </a:r>
            <a:r>
              <a:rPr lang="en-US" altLang="ja-JP" sz="800" dirty="0"/>
              <a:t> calculator;</a:t>
            </a:r>
          </a:p>
          <a:p>
            <a:r>
              <a:rPr lang="en-US" altLang="ja-JP" sz="800" dirty="0"/>
              <a:t>    private </a:t>
            </a:r>
            <a:r>
              <a:rPr lang="en-US" altLang="ja-JP" sz="800" dirty="0" err="1"/>
              <a:t>ReportGenerator</a:t>
            </a:r>
            <a:r>
              <a:rPr lang="en-US" altLang="ja-JP" sz="800" dirty="0"/>
              <a:t> </a:t>
            </a:r>
            <a:r>
              <a:rPr lang="en-US" altLang="ja-JP" sz="800" dirty="0" err="1"/>
              <a:t>reportGenerator</a:t>
            </a:r>
            <a:r>
              <a:rPr lang="en-US" altLang="ja-JP" sz="800" dirty="0"/>
              <a:t>;</a:t>
            </a:r>
          </a:p>
          <a:p>
            <a:r>
              <a:rPr lang="en-US" altLang="ja-JP" sz="800" dirty="0"/>
              <a:t>    private </a:t>
            </a:r>
            <a:r>
              <a:rPr lang="en-US" altLang="ja-JP" sz="800" dirty="0" err="1"/>
              <a:t>EmailService</a:t>
            </a:r>
            <a:r>
              <a:rPr lang="en-US" altLang="ja-JP" sz="800" dirty="0"/>
              <a:t> </a:t>
            </a:r>
            <a:r>
              <a:rPr lang="en-US" altLang="ja-JP" sz="800" dirty="0" err="1"/>
              <a:t>emailService</a:t>
            </a:r>
            <a:r>
              <a:rPr lang="en-US" altLang="ja-JP" sz="800" dirty="0"/>
              <a:t>;</a:t>
            </a:r>
          </a:p>
          <a:p>
            <a:endParaRPr lang="en-US" altLang="ja-JP" sz="800" dirty="0"/>
          </a:p>
          <a:p>
            <a:r>
              <a:rPr lang="en-US" altLang="ja-JP" sz="800" dirty="0"/>
              <a:t>    public </a:t>
            </a:r>
            <a:r>
              <a:rPr lang="en-US" altLang="ja-JP" sz="800" dirty="0" err="1"/>
              <a:t>StudentService</a:t>
            </a:r>
            <a:r>
              <a:rPr lang="en-US" altLang="ja-JP" sz="800" dirty="0"/>
              <a:t>() {</a:t>
            </a:r>
          </a:p>
          <a:p>
            <a:endParaRPr lang="en-US" altLang="ja-JP" sz="800" dirty="0"/>
          </a:p>
          <a:p>
            <a:r>
              <a:rPr lang="en-US" altLang="ja-JP" sz="800" dirty="0"/>
              <a:t>        validator = new </a:t>
            </a:r>
            <a:r>
              <a:rPr lang="en-US" altLang="ja-JP" sz="800" dirty="0" err="1"/>
              <a:t>StudentValidator</a:t>
            </a:r>
            <a:r>
              <a:rPr lang="en-US" altLang="ja-JP" sz="800" dirty="0"/>
              <a:t>();</a:t>
            </a:r>
          </a:p>
          <a:p>
            <a:r>
              <a:rPr lang="en-US" altLang="ja-JP" sz="800" dirty="0"/>
              <a:t>        repository = new </a:t>
            </a:r>
            <a:r>
              <a:rPr lang="en-US" altLang="ja-JP" sz="800" dirty="0" err="1"/>
              <a:t>StudentRepository</a:t>
            </a:r>
            <a:r>
              <a:rPr lang="en-US" altLang="ja-JP" sz="800" dirty="0"/>
              <a:t>();</a:t>
            </a:r>
          </a:p>
          <a:p>
            <a:r>
              <a:rPr lang="en-US" altLang="ja-JP" sz="800" dirty="0"/>
              <a:t>        calculator = new </a:t>
            </a:r>
            <a:r>
              <a:rPr lang="en-US" altLang="ja-JP" sz="800" dirty="0" err="1"/>
              <a:t>FeeCalculator</a:t>
            </a:r>
            <a:r>
              <a:rPr lang="en-US" altLang="ja-JP" sz="800" dirty="0"/>
              <a:t>();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reportGenerator</a:t>
            </a:r>
            <a:r>
              <a:rPr lang="en-US" altLang="ja-JP" sz="800" dirty="0"/>
              <a:t> = new </a:t>
            </a:r>
            <a:r>
              <a:rPr lang="en-US" altLang="ja-JP" sz="800" dirty="0" err="1"/>
              <a:t>ReportGenerator</a:t>
            </a:r>
            <a:r>
              <a:rPr lang="en-US" altLang="ja-JP" sz="800" dirty="0"/>
              <a:t>();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emailService</a:t>
            </a:r>
            <a:r>
              <a:rPr lang="en-US" altLang="ja-JP" sz="800" dirty="0"/>
              <a:t> = new </a:t>
            </a:r>
            <a:r>
              <a:rPr lang="en-US" altLang="ja-JP" sz="800" dirty="0" err="1"/>
              <a:t>EmailService</a:t>
            </a:r>
            <a:r>
              <a:rPr lang="en-US" altLang="ja-JP" sz="800" dirty="0"/>
              <a:t>();</a:t>
            </a:r>
          </a:p>
          <a:p>
            <a:r>
              <a:rPr lang="en-US" altLang="ja-JP" sz="800" dirty="0"/>
              <a:t>    }</a:t>
            </a:r>
          </a:p>
          <a:p>
            <a:r>
              <a:rPr lang="en-US" altLang="ja-JP" sz="800" dirty="0"/>
              <a:t>    public void </a:t>
            </a:r>
            <a:r>
              <a:rPr lang="en-US" altLang="ja-JP" sz="800" dirty="0" err="1"/>
              <a:t>registerStudent</a:t>
            </a:r>
            <a:r>
              <a:rPr lang="en-US" altLang="ja-JP" sz="800" dirty="0"/>
              <a:t>(Student student) {</a:t>
            </a:r>
          </a:p>
          <a:p>
            <a:endParaRPr lang="en-US" altLang="ja-JP" sz="800" dirty="0"/>
          </a:p>
          <a:p>
            <a:r>
              <a:rPr lang="en-US" altLang="ja-JP" sz="800" dirty="0"/>
              <a:t>        if (!</a:t>
            </a:r>
            <a:r>
              <a:rPr lang="en-US" altLang="ja-JP" sz="800" dirty="0" err="1"/>
              <a:t>validator.isValid</a:t>
            </a:r>
            <a:r>
              <a:rPr lang="en-US" altLang="ja-JP" sz="800" dirty="0"/>
              <a:t>(student)) {</a:t>
            </a:r>
          </a:p>
          <a:p>
            <a:r>
              <a:rPr lang="en-US" altLang="ja-JP" sz="800" dirty="0"/>
              <a:t>            </a:t>
            </a:r>
            <a:r>
              <a:rPr lang="en-US" altLang="ja-JP" sz="800" dirty="0" err="1"/>
              <a:t>System.out.println</a:t>
            </a:r>
            <a:r>
              <a:rPr lang="en-US" altLang="ja-JP" sz="800" dirty="0"/>
              <a:t>("Invalid student information.");</a:t>
            </a:r>
          </a:p>
          <a:p>
            <a:r>
              <a:rPr lang="en-US" altLang="ja-JP" sz="800" dirty="0"/>
              <a:t>            return;</a:t>
            </a:r>
          </a:p>
          <a:p>
            <a:r>
              <a:rPr lang="en-US" altLang="ja-JP" sz="800" dirty="0"/>
              <a:t>        }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repository.save</a:t>
            </a:r>
            <a:r>
              <a:rPr lang="en-US" altLang="ja-JP" sz="800" dirty="0"/>
              <a:t>(student);</a:t>
            </a:r>
          </a:p>
          <a:p>
            <a:r>
              <a:rPr lang="en-US" altLang="ja-JP" sz="800" dirty="0"/>
              <a:t>        double fee =</a:t>
            </a:r>
          </a:p>
          <a:p>
            <a:r>
              <a:rPr lang="en-US" altLang="ja-JP" sz="800" dirty="0"/>
              <a:t>            </a:t>
            </a:r>
            <a:r>
              <a:rPr lang="en-US" altLang="ja-JP" sz="800" dirty="0" err="1"/>
              <a:t>calculator.calculateFee</a:t>
            </a:r>
            <a:r>
              <a:rPr lang="en-US" altLang="ja-JP" sz="800" dirty="0"/>
              <a:t>(</a:t>
            </a:r>
            <a:r>
              <a:rPr lang="en-US" altLang="ja-JP" sz="800" dirty="0" err="1"/>
              <a:t>student.getTuitionFee</a:t>
            </a:r>
            <a:r>
              <a:rPr lang="en-US" altLang="ja-JP" sz="800" dirty="0"/>
              <a:t>());</a:t>
            </a:r>
          </a:p>
          <a:p>
            <a:endParaRPr lang="en-US" altLang="ja-JP" sz="800" dirty="0"/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reportGenerator.generate</a:t>
            </a:r>
            <a:r>
              <a:rPr lang="en-US" altLang="ja-JP" sz="800" dirty="0"/>
              <a:t>(student, fee);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emailService.sendEmail</a:t>
            </a:r>
            <a:r>
              <a:rPr lang="en-US" altLang="ja-JP" sz="800" dirty="0"/>
              <a:t>(student);</a:t>
            </a:r>
          </a:p>
          <a:p>
            <a:r>
              <a:rPr lang="en-US" altLang="ja-JP" sz="800" dirty="0"/>
              <a:t>    }</a:t>
            </a:r>
          </a:p>
          <a:p>
            <a:r>
              <a:rPr lang="en-US" altLang="ja-JP" sz="800" dirty="0"/>
              <a:t>    public void </a:t>
            </a:r>
            <a:r>
              <a:rPr lang="en-US" altLang="ja-JP" sz="800" dirty="0" err="1"/>
              <a:t>updateStudent</a:t>
            </a:r>
            <a:r>
              <a:rPr lang="en-US" altLang="ja-JP" sz="800" dirty="0"/>
              <a:t>(Student student) {</a:t>
            </a:r>
          </a:p>
          <a:p>
            <a:r>
              <a:rPr lang="en-US" altLang="ja-JP" sz="800" dirty="0"/>
              <a:t>        if (!</a:t>
            </a:r>
            <a:r>
              <a:rPr lang="en-US" altLang="ja-JP" sz="800" dirty="0" err="1"/>
              <a:t>validator.isValid</a:t>
            </a:r>
            <a:r>
              <a:rPr lang="en-US" altLang="ja-JP" sz="800" dirty="0"/>
              <a:t>(student)) {</a:t>
            </a:r>
          </a:p>
          <a:p>
            <a:r>
              <a:rPr lang="en-US" altLang="ja-JP" sz="800" dirty="0"/>
              <a:t>            </a:t>
            </a:r>
            <a:r>
              <a:rPr lang="en-US" altLang="ja-JP" sz="800" dirty="0" err="1"/>
              <a:t>System.out.println</a:t>
            </a:r>
            <a:r>
              <a:rPr lang="en-US" altLang="ja-JP" sz="800" dirty="0"/>
              <a:t>("Invalid student information.");</a:t>
            </a:r>
          </a:p>
          <a:p>
            <a:r>
              <a:rPr lang="en-US" altLang="ja-JP" sz="800" dirty="0"/>
              <a:t>            return;</a:t>
            </a:r>
          </a:p>
          <a:p>
            <a:r>
              <a:rPr lang="en-US" altLang="ja-JP" sz="800" dirty="0"/>
              <a:t>        }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repository.update</a:t>
            </a:r>
            <a:r>
              <a:rPr lang="en-US" altLang="ja-JP" sz="800" dirty="0"/>
              <a:t>(student);</a:t>
            </a:r>
          </a:p>
          <a:p>
            <a:r>
              <a:rPr lang="en-US" altLang="ja-JP" sz="800" dirty="0"/>
              <a:t>        double fee =</a:t>
            </a:r>
          </a:p>
          <a:p>
            <a:r>
              <a:rPr lang="en-US" altLang="ja-JP" sz="800" dirty="0"/>
              <a:t>            </a:t>
            </a:r>
            <a:r>
              <a:rPr lang="en-US" altLang="ja-JP" sz="800" dirty="0" err="1"/>
              <a:t>calculator.calculateFee</a:t>
            </a:r>
            <a:r>
              <a:rPr lang="en-US" altLang="ja-JP" sz="800" dirty="0"/>
              <a:t>(</a:t>
            </a:r>
            <a:r>
              <a:rPr lang="en-US" altLang="ja-JP" sz="800" dirty="0" err="1"/>
              <a:t>student.getTuitionFee</a:t>
            </a:r>
            <a:r>
              <a:rPr lang="en-US" altLang="ja-JP" sz="800" dirty="0"/>
              <a:t>());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reportGenerator.generate</a:t>
            </a:r>
            <a:r>
              <a:rPr lang="en-US" altLang="ja-JP" sz="800" dirty="0"/>
              <a:t>(student, fee);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emailService.sendEmail</a:t>
            </a:r>
            <a:r>
              <a:rPr lang="en-US" altLang="ja-JP" sz="800" dirty="0"/>
              <a:t>(student);</a:t>
            </a:r>
          </a:p>
          <a:p>
            <a:r>
              <a:rPr lang="en-US" altLang="ja-JP" sz="800" dirty="0"/>
              <a:t>    }</a:t>
            </a:r>
          </a:p>
          <a:p>
            <a:r>
              <a:rPr lang="en-US" altLang="ja-JP" sz="800" dirty="0"/>
              <a:t>}</a:t>
            </a:r>
            <a:endParaRPr lang="ja-JP" altLang="en-US" sz="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AB655F-4659-AC4D-4156-D4ED7B135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134098"/>
              </p:ext>
            </p:extLst>
          </p:nvPr>
        </p:nvGraphicFramePr>
        <p:xfrm>
          <a:off x="3787629" y="3429000"/>
          <a:ext cx="8229600" cy="310896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3850547">
                  <a:extLst>
                    <a:ext uri="{9D8B030D-6E8A-4147-A177-3AD203B41FA5}">
                      <a16:colId xmlns:a16="http://schemas.microsoft.com/office/drawing/2014/main" val="2511340335"/>
                    </a:ext>
                  </a:extLst>
                </a:gridCol>
                <a:gridCol w="4379053">
                  <a:extLst>
                    <a:ext uri="{9D8B030D-6E8A-4147-A177-3AD203B41FA5}">
                      <a16:colId xmlns:a16="http://schemas.microsoft.com/office/drawing/2014/main" val="2340318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Refactoring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173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Large Class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Extract Class / Responsibility redistribution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875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Duplicated Code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Extract Method / Move common logic to a single class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8620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Too many responsibilities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Apply </a:t>
                      </a:r>
                      <a:r>
                        <a:rPr lang="en-US" b="1"/>
                        <a:t>Single Responsibility Principle (SRP)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619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Repeated validation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Centralize in StudentValidator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7999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Repeated fee calculation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Centralize in FeeCalculator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044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Database code mixed with business logic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Move to </a:t>
                      </a:r>
                      <a:r>
                        <a:rPr lang="en-US" dirty="0" err="1"/>
                        <a:t>StudentRepository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442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6604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Design Patterns vs. Anti-patterns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49FF47-B5E5-885F-7941-C4AFF314F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0"/>
            <a:ext cx="856944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Design Patterns vs.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Design Pattern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Reusable solution to a recurring software design problem.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Improves communication and provides a proven design approach.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Used intentionally when the context is appropriate.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Anti-pattern / Code Smell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Recurring poor design or implementation tendency.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Warns that code may be difficult to reuse, modify, test, or maintain.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Should be investigated and potentially refactored.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Key lesson: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Do not apply patterns simply because they exist.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Choose a pattern because it solves a real design problem.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Likewise, do not automatically remove every code smell; understand the context and trade-offs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26158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20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487C57-665A-9832-39C7-347C9888B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1361"/>
          <a:stretch/>
        </p:blipFill>
        <p:spPr>
          <a:xfrm>
            <a:off x="868434" y="201168"/>
            <a:ext cx="10287000" cy="402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07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From Bad Design to Better Design — Refactoring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1" y="914400"/>
            <a:ext cx="11662532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i="1" dirty="0">
                <a:solidFill>
                  <a:srgbClr val="00B050"/>
                </a:solidFill>
              </a:rPr>
              <a:t>Refactoring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Refactoring is the process of changing code so that its external behavior remains the same while its internal structure is improved.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Refactoring approach for the previous example: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1. Move student data and operations into appropriate model/service classes.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2. Move presentation/HTML generation into the View.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3. Keep the Controller focused on interpreting the request and coordinating the operation.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4. Replace direct low-level dependencies with suitable abstractions where appropriate.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5. Test after each refactoring step to ensure behavior remains unchanged.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Goal: </a:t>
            </a:r>
            <a:r>
              <a:rPr sz="2400" dirty="0"/>
              <a:t>Improve structure without changing what the user expects the system to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47146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2102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Times New Roman"/>
              </a:defRPr>
            </a:pPr>
            <a:r>
              <a:rPr lang="en-US" dirty="0"/>
              <a:t>Goal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9</a:t>
            </a:r>
          </a:p>
        </p:txBody>
      </p:sp>
      <p:sp>
        <p:nvSpPr>
          <p:cNvPr id="5" name="AutoShape 2" descr="Generated image: Module 3: Design Patterns and Goals">
            <a:extLst>
              <a:ext uri="{FF2B5EF4-FFF2-40B4-BE49-F238E27FC236}">
                <a16:creationId xmlns:a16="http://schemas.microsoft.com/office/drawing/2014/main" id="{A0E571FE-08DB-045B-47AA-CCECCC8A9C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1338" y="0"/>
            <a:ext cx="8569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F8FCCB-A1A8-4809-119A-CB945C4D5748}"/>
              </a:ext>
            </a:extLst>
          </p:cNvPr>
          <p:cNvSpPr txBox="1"/>
          <p:nvPr/>
        </p:nvSpPr>
        <p:spPr>
          <a:xfrm>
            <a:off x="215571" y="1038395"/>
            <a:ext cx="11602066" cy="2310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r>
              <a:rPr lang="en-US" altLang="ja-JP" sz="2800" dirty="0"/>
              <a:t>Create software that remains reusable, flexible, understandable, and maintainable as requirements change.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r>
              <a:rPr lang="en-US" altLang="ja-JP" sz="2800" dirty="0"/>
              <a:t>Key idea: Good design is not only about selecting a pattern; it is also about recognizing when a design has become unnecessarily coupled, complex, duplicated, or difficult to maintain.</a:t>
            </a:r>
          </a:p>
        </p:txBody>
      </p:sp>
    </p:spTree>
    <p:extLst>
      <p:ext uri="{BB962C8B-B14F-4D97-AF65-F5344CB8AC3E}">
        <p14:creationId xmlns:p14="http://schemas.microsoft.com/office/powerpoint/2010/main" val="29975853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36872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>
                <a:solidFill>
                  <a:srgbClr val="00B050"/>
                </a:solidFill>
              </a:rPr>
              <a:t>Module 3 —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  <a:defRPr sz="1500">
                <a:latin typeface="Times New Roman"/>
              </a:defRPr>
            </a:pPr>
            <a:r>
              <a:rPr sz="2000" b="1" dirty="0">
                <a:solidFill>
                  <a:srgbClr val="FF0000"/>
                </a:solidFill>
              </a:rPr>
              <a:t>MVC</a:t>
            </a:r>
            <a:r>
              <a:rPr lang="en-US" sz="2000" b="1" dirty="0">
                <a:solidFill>
                  <a:srgbClr val="FF0000"/>
                </a:solidFill>
              </a:rPr>
              <a:t>: </a:t>
            </a:r>
            <a:r>
              <a:rPr sz="2000" dirty="0"/>
              <a:t>Separates a user-interface system into </a:t>
            </a:r>
            <a:r>
              <a:rPr sz="2000" b="1" dirty="0">
                <a:solidFill>
                  <a:srgbClr val="7030A0"/>
                </a:solidFill>
              </a:rPr>
              <a:t>Model, View, and Controller </a:t>
            </a:r>
            <a:r>
              <a:rPr sz="2000" dirty="0"/>
              <a:t>responsibilities.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  <a:defRPr sz="1500">
                <a:latin typeface="Times New Roman"/>
              </a:defRPr>
            </a:pPr>
            <a:r>
              <a:rPr sz="2000" b="1" dirty="0">
                <a:solidFill>
                  <a:srgbClr val="FF0000"/>
                </a:solidFill>
              </a:rPr>
              <a:t>General Design Principles</a:t>
            </a:r>
            <a:r>
              <a:rPr lang="en-US" sz="2000" b="1" dirty="0">
                <a:solidFill>
                  <a:srgbClr val="FF0000"/>
                </a:solidFill>
              </a:rPr>
              <a:t>: </a:t>
            </a:r>
            <a:r>
              <a:rPr sz="2000" b="1" dirty="0">
                <a:solidFill>
                  <a:srgbClr val="7030A0"/>
                </a:solidFill>
              </a:rPr>
              <a:t>Information hiding, separation of concerns, dependency inversion, open/closed, interface segregation, coupling objects, DRY, and least knowledge.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  <a:defRPr sz="1500">
                <a:latin typeface="Times New Roman"/>
              </a:defRPr>
            </a:pPr>
            <a:r>
              <a:rPr lang="en-US" sz="2000" b="1" dirty="0">
                <a:solidFill>
                  <a:srgbClr val="FF0000"/>
                </a:solidFill>
              </a:rPr>
              <a:t>Code Analysis: </a:t>
            </a:r>
            <a:r>
              <a:rPr sz="2000" dirty="0"/>
              <a:t>Look for excessive responsibilities, </a:t>
            </a:r>
            <a:r>
              <a:rPr sz="2000" b="1" dirty="0">
                <a:solidFill>
                  <a:srgbClr val="7030A0"/>
                </a:solidFill>
              </a:rPr>
              <a:t>coupling, duplication, long methods, complex </a:t>
            </a:r>
            <a:r>
              <a:rPr sz="2000" dirty="0"/>
              <a:t>dependencies, and inappropriate abstractions.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  <a:defRPr sz="1500">
                <a:latin typeface="Times New Roman"/>
              </a:defRPr>
            </a:pPr>
            <a:r>
              <a:rPr sz="2000" b="1" dirty="0">
                <a:solidFill>
                  <a:srgbClr val="FF0000"/>
                </a:solidFill>
              </a:rPr>
              <a:t>Anti-patterns / Code Smells</a:t>
            </a:r>
          </a:p>
          <a:p>
            <a:pPr marL="742950" lvl="1" indent="-28575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000" dirty="0"/>
              <a:t>Inappropriate intimacy, message chains, primitive obsession, switch statements, speculative generality, refused request, and many other smells.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  <a:defRPr sz="1500">
                <a:latin typeface="Times New Roman"/>
              </a:defRPr>
            </a:pPr>
            <a:r>
              <a:rPr sz="2000" b="1" dirty="0">
                <a:solidFill>
                  <a:srgbClr val="FF0000"/>
                </a:solidFill>
              </a:rPr>
              <a:t>Refactoring</a:t>
            </a:r>
            <a:r>
              <a:rPr lang="en-US" sz="2000" b="1" dirty="0">
                <a:solidFill>
                  <a:srgbClr val="FF0000"/>
                </a:solidFill>
              </a:rPr>
              <a:t>: </a:t>
            </a:r>
            <a:r>
              <a:rPr sz="2000" dirty="0"/>
              <a:t>Improve internal structure while preserving external behavior.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  <a:defRPr sz="1500">
                <a:latin typeface="Times New Roman"/>
              </a:defRPr>
            </a:pPr>
            <a:r>
              <a:rPr sz="2000" b="1" dirty="0">
                <a:solidFill>
                  <a:srgbClr val="FF0000"/>
                </a:solidFill>
              </a:rPr>
              <a:t>Final Goal</a:t>
            </a:r>
            <a:r>
              <a:rPr lang="en-US" sz="2000" b="1" dirty="0">
                <a:solidFill>
                  <a:srgbClr val="FF0000"/>
                </a:solidFill>
              </a:rPr>
              <a:t>: </a:t>
            </a:r>
            <a:r>
              <a:rPr sz="2000" dirty="0"/>
              <a:t>Create software that remains reusable, flexible, understandable, and maintainable as requirements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033117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Module 3 —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20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67D46F-610B-5125-ACB8-342DCF81E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16" y="0"/>
            <a:ext cx="117473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516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20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DBC639-3F2B-E294-03A0-5D34325FC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51280"/>
              </p:ext>
            </p:extLst>
          </p:nvPr>
        </p:nvGraphicFramePr>
        <p:xfrm>
          <a:off x="117987" y="93013"/>
          <a:ext cx="11946196" cy="68443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025445">
                  <a:extLst>
                    <a:ext uri="{9D8B030D-6E8A-4147-A177-3AD203B41FA5}">
                      <a16:colId xmlns:a16="http://schemas.microsoft.com/office/drawing/2014/main" val="2605832584"/>
                    </a:ext>
                  </a:extLst>
                </a:gridCol>
                <a:gridCol w="2644878">
                  <a:extLst>
                    <a:ext uri="{9D8B030D-6E8A-4147-A177-3AD203B41FA5}">
                      <a16:colId xmlns:a16="http://schemas.microsoft.com/office/drawing/2014/main" val="3977635221"/>
                    </a:ext>
                  </a:extLst>
                </a:gridCol>
                <a:gridCol w="3470787">
                  <a:extLst>
                    <a:ext uri="{9D8B030D-6E8A-4147-A177-3AD203B41FA5}">
                      <a16:colId xmlns:a16="http://schemas.microsoft.com/office/drawing/2014/main" val="3711631217"/>
                    </a:ext>
                  </a:extLst>
                </a:gridCol>
                <a:gridCol w="3805086">
                  <a:extLst>
                    <a:ext uri="{9D8B030D-6E8A-4147-A177-3AD203B41FA5}">
                      <a16:colId xmlns:a16="http://schemas.microsoft.com/office/drawing/2014/main" val="2102610790"/>
                    </a:ext>
                  </a:extLst>
                </a:gridCol>
              </a:tblGrid>
              <a:tr h="201636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 Explanation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in Dhaka Urban Management System (DUMS)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121678045"/>
                  </a:ext>
                </a:extLst>
              </a:tr>
              <a:tr h="480824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MVC (Model–View–Controller)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Separates user interface, data, and request handling responsibilities.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Divides DUMS into </a:t>
                      </a: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(urban data &amp; logic), View (citizen/admin interfaces), Controller (request processing)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Citizen submits a waste complaint → </a:t>
                      </a: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View: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Complaint Form → </a:t>
                      </a: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Controller: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Processes request → </a:t>
                      </a: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Model: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Stores complaint in database → View shows status update.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3688887770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Hiding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Hides internal implementation details and exposes only necessary interfaces.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Protects internal operations of urban service modules.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module provides getTrafficStatus() API without exposing how traffic prediction is calculated.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3476410283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Separation of Concerns (SoC)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Divides a system into independent parts, each handling a specific responsibility.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Separates traffic, waste, emergency, payment, and citizen service modules.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 collection scheduling is handled by </a:t>
                      </a: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 Management Module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not mixed with traffic operations.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45118864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Dependency Inversion Principle (DIP)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High-level modules should depend on abstractions, 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specific implementations.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 services communicate through common interfaces.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EmergencyService depends on NotificationService interface rather than directly depending on SMS or Email systems.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1115663259"/>
                  </a:ext>
                </a:extLst>
              </a:tr>
              <a:tr h="248167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Open/Closed Principle (OCP)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entities should be open for extension but closed for modification.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urban services can be added without changing existing modules.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Adding a </a:t>
                      </a: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Parking Module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without modifying Traffic Management code.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2484631603"/>
                  </a:ext>
                </a:extLst>
              </a:tr>
              <a:tr h="294698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Segregation Principle (ISP)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Clients should not depend on unnecessary methods.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specific interfaces for different users and services.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Officer uses TrafficControlInterface, while Waste Manager uses WasteCollectionInterface.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3840489652"/>
                  </a:ext>
                </a:extLst>
              </a:tr>
              <a:tr h="38776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Coupling Management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dependency between modules to improve flexibility.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DUMS modules communicate through APIs/services instead of direct dependency.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Management receives road information from a shared City Data Service instead of directly depending on Waste Management.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4014134887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DRY (Don't Repeat Yourself)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Avoids duplicate code and logic.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Common functions are reused across modules.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single NotificationService is used for complaints, emergency alerts, and service updates.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695371040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Least Knowledge Principle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module should know only necessary information about other modules.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Limits unnecessary communication between urban modules.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Complaint Module only requests service status; it does not access internal Waste Management operations.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1952176719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Analysis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Evaluates code quality by identifying design problems.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DUMS modules for maintainability and complexity.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Detecting that Citizen Service class contains login, payment, complaint, and notification responsibilities.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1691204686"/>
                  </a:ext>
                </a:extLst>
              </a:tr>
              <a:tr h="38776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Anti-patterns / Code Smells</a:t>
                      </a:r>
                      <a:endParaRPr lang="en-US" sz="11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design practices that make software difficult to maintain.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problematic structures before they affect system quality.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single </a:t>
                      </a:r>
                      <a:r>
                        <a:rPr lang="en-US" sz="11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CityManagement</a:t>
                      </a: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controlling traffic, waste, emergency, and payment creates excessive responsibility.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4118468311"/>
                  </a:ext>
                </a:extLst>
              </a:tr>
              <a:tr h="201636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Inappropriate Intimacy</a:t>
                      </a:r>
                      <a:endParaRPr lang="en-US" sz="11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class depends too much on another class’s internal details.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Prevents modules from accessing unnecessary internal data.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module directly modifying Waste Vehicle database records.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3267051755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Message Chains</a:t>
                      </a:r>
                      <a:endParaRPr lang="en-US" sz="11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 sequences of object calls indicate poor design.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Avoids complicated communication paths.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Citizen → Complaint → Department → Manager → Employee → Database (too many dependencies).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2096586679"/>
                  </a:ext>
                </a:extLst>
              </a:tr>
              <a:tr h="248167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Primitive Obsession</a:t>
                      </a:r>
                      <a:endParaRPr lang="en-US" sz="11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Overuse of basic data types instead of meaningful objects.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Encourages proper domain modeling.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Instead of storing location as "23.8103,90.4125" string, create a </a:t>
                      </a: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768376779"/>
                  </a:ext>
                </a:extLst>
              </a:tr>
              <a:tr h="294698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Switch Statements</a:t>
                      </a:r>
                      <a:endParaRPr lang="en-US" sz="11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Excessive conditional logic often indicates missing abstraction.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Replaces complex decision structures with polymorphism.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Instead of checking if(service=="Traffic"), if(service=="Waste"), create separate service classes.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1064071076"/>
                  </a:ext>
                </a:extLst>
              </a:tr>
              <a:tr h="201636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Speculative Generality</a:t>
                      </a:r>
                      <a:endParaRPr lang="en-US" sz="11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Adding unnecessary features for possible future use.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Keeps DUMS simple and focused.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 creating unused AI modules before actual requirements exist.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2461756822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Refactoring</a:t>
                      </a:r>
                      <a:endParaRPr lang="en-US" sz="1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internal code structure without changing external behavior.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maintainability of DUMS while keeping services working.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Splitting a large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CityManagement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 into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TrafficService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WasteService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EmergencyService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classes.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1156009952"/>
                  </a:ext>
                </a:extLst>
              </a:tr>
              <a:tr h="248167"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Goal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software that is reusable, flexible, understandable, and maintainable.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DUMS can evolve with future smart-city requirements.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Adding new IoT sensors or AI analytics without redesigning the entire system.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33515582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98" y="-26848"/>
            <a:ext cx="27895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lang="en-US" dirty="0"/>
              <a:t>Sample Question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20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8CAEE9-4613-7364-AFA4-2FBC92B4D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494425"/>
              </p:ext>
            </p:extLst>
          </p:nvPr>
        </p:nvGraphicFramePr>
        <p:xfrm>
          <a:off x="162004" y="1683171"/>
          <a:ext cx="4045075" cy="4672881"/>
        </p:xfrm>
        <a:graphic>
          <a:graphicData uri="http://schemas.openxmlformats.org/drawingml/2006/table">
            <a:tbl>
              <a:tblPr/>
              <a:tblGrid>
                <a:gridCol w="787595">
                  <a:extLst>
                    <a:ext uri="{9D8B030D-6E8A-4147-A177-3AD203B41FA5}">
                      <a16:colId xmlns:a16="http://schemas.microsoft.com/office/drawing/2014/main" val="2530014378"/>
                    </a:ext>
                  </a:extLst>
                </a:gridCol>
                <a:gridCol w="3257480">
                  <a:extLst>
                    <a:ext uri="{9D8B030D-6E8A-4147-A177-3AD203B41FA5}">
                      <a16:colId xmlns:a16="http://schemas.microsoft.com/office/drawing/2014/main" val="379098981"/>
                    </a:ext>
                  </a:extLst>
                </a:gridCol>
              </a:tblGrid>
              <a:tr h="210510">
                <a:tc>
                  <a:txBody>
                    <a:bodyPr/>
                    <a:lstStyle/>
                    <a:p>
                      <a:r>
                        <a:rPr lang="en-US" sz="1000"/>
                        <a:t>Bloom's Level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Question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115834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Remember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1. What are the three components of the MVC Pattern?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374232"/>
                  </a:ext>
                </a:extLst>
              </a:tr>
              <a:tr h="526275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Understand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2. Explain the responsibilities of the Model, View, and Controller in the MVC Pattern.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96053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Understand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3. Explain how the MVC Pattern supports separation of concerns.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641649"/>
                  </a:ext>
                </a:extLst>
              </a:tr>
              <a:tr h="684157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Apply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4. Apply MVC to a university student registration system. Identify suitable responsibilities for the Model, View, and Controller.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300602"/>
                  </a:ext>
                </a:extLst>
              </a:tr>
              <a:tr h="842040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401477"/>
                  </a:ext>
                </a:extLst>
              </a:tr>
              <a:tr h="684157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441236"/>
                  </a:ext>
                </a:extLst>
              </a:tr>
              <a:tr h="84204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Create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7. Design the architecture of an MVC-based Student Management System. Identify the major classes and explain how the Model, View, and Controller communicate.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9938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111376-71C5-A2F2-A3BD-23B23483A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198263"/>
              </p:ext>
            </p:extLst>
          </p:nvPr>
        </p:nvGraphicFramePr>
        <p:xfrm>
          <a:off x="4116587" y="1782662"/>
          <a:ext cx="4150764" cy="4525963"/>
        </p:xfrm>
        <a:graphic>
          <a:graphicData uri="http://schemas.openxmlformats.org/drawingml/2006/table">
            <a:tbl>
              <a:tblPr/>
              <a:tblGrid>
                <a:gridCol w="884720">
                  <a:extLst>
                    <a:ext uri="{9D8B030D-6E8A-4147-A177-3AD203B41FA5}">
                      <a16:colId xmlns:a16="http://schemas.microsoft.com/office/drawing/2014/main" val="4195617223"/>
                    </a:ext>
                  </a:extLst>
                </a:gridCol>
                <a:gridCol w="3266044">
                  <a:extLst>
                    <a:ext uri="{9D8B030D-6E8A-4147-A177-3AD203B41FA5}">
                      <a16:colId xmlns:a16="http://schemas.microsoft.com/office/drawing/2014/main" val="2187777874"/>
                    </a:ext>
                  </a:extLst>
                </a:gridCol>
              </a:tblGrid>
              <a:tr h="203414">
                <a:tc>
                  <a:txBody>
                    <a:bodyPr/>
                    <a:lstStyle/>
                    <a:p>
                      <a:r>
                        <a:rPr lang="en-US" sz="1000"/>
                        <a:t>Bloom's Level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Question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67789"/>
                  </a:ext>
                </a:extLst>
              </a:tr>
              <a:tr h="355975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Remember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1. Define an anti-pattern and a code smell. Give three examples of code smells.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463426"/>
                  </a:ext>
                </a:extLst>
              </a:tr>
              <a:tr h="508535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Understand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2. Explain the meaning of the Large Class, Long Method, and Duplicated Code smells.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769564"/>
                  </a:ext>
                </a:extLst>
              </a:tr>
              <a:tr h="355975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353978"/>
                  </a:ext>
                </a:extLst>
              </a:tr>
              <a:tr h="813656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Apply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4. A method contains 100 lines of code and performs validation, database access, calculations, and report generation. Identify the likely code smell and suggest an appropriate refactoring approach.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275690"/>
                  </a:ext>
                </a:extLst>
              </a:tr>
              <a:tr h="813656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Analyze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5. Analyze a system where the same switch statement for customer types appears in five different methods. Identify the code smell and explain why it creates maintenance problems.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56624"/>
                  </a:ext>
                </a:extLst>
              </a:tr>
              <a:tr h="661096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Evaluate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6. Evaluate whether every occurrence of a code smell must always be refactored. Explain why the context of the software design should be considered.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087888"/>
                  </a:ext>
                </a:extLst>
              </a:tr>
              <a:tr h="813656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Create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7. Create a refactored design for a system suffering from a Large Class and Duplicated Code. Identify how responsibilities should be redistributed among multiple classes.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14972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A7FE74B-6ED3-7716-2982-5ED2CD04A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39778"/>
              </p:ext>
            </p:extLst>
          </p:nvPr>
        </p:nvGraphicFramePr>
        <p:xfrm>
          <a:off x="8485462" y="1674466"/>
          <a:ext cx="3401920" cy="4584901"/>
        </p:xfrm>
        <a:graphic>
          <a:graphicData uri="http://schemas.openxmlformats.org/drawingml/2006/table">
            <a:tbl>
              <a:tblPr/>
              <a:tblGrid>
                <a:gridCol w="1010875">
                  <a:extLst>
                    <a:ext uri="{9D8B030D-6E8A-4147-A177-3AD203B41FA5}">
                      <a16:colId xmlns:a16="http://schemas.microsoft.com/office/drawing/2014/main" val="340758052"/>
                    </a:ext>
                  </a:extLst>
                </a:gridCol>
                <a:gridCol w="2391045">
                  <a:extLst>
                    <a:ext uri="{9D8B030D-6E8A-4147-A177-3AD203B41FA5}">
                      <a16:colId xmlns:a16="http://schemas.microsoft.com/office/drawing/2014/main" val="4208852416"/>
                    </a:ext>
                  </a:extLst>
                </a:gridCol>
              </a:tblGrid>
              <a:tr h="16558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00B0F0"/>
                          </a:solidFill>
                        </a:rPr>
                        <a:t>Bloom's Level</a:t>
                      </a: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00B0F0"/>
                          </a:solidFill>
                        </a:rPr>
                        <a:t>Question</a:t>
                      </a: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290712"/>
                  </a:ext>
                </a:extLst>
              </a:tr>
              <a:tr h="416990"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00B0F0"/>
                          </a:solidFill>
                        </a:rPr>
                        <a:t>Remember</a:t>
                      </a:r>
                      <a:endParaRPr lang="en-US" sz="900">
                        <a:solidFill>
                          <a:srgbClr val="00B0F0"/>
                        </a:solidFill>
                      </a:endParaRP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00B0F0"/>
                          </a:solidFill>
                        </a:rPr>
                        <a:t>1. What are the DRY principle, Principle of Least Knowledge, Open/Closed Principle, and Information Hiding?</a:t>
                      </a: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487512"/>
                  </a:ext>
                </a:extLst>
              </a:tr>
              <a:tr h="291288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rgbClr val="00B0F0"/>
                          </a:solidFill>
                        </a:rPr>
                        <a:t>Understand</a:t>
                      </a:r>
                      <a:endParaRPr lang="en-US" sz="900" dirty="0">
                        <a:solidFill>
                          <a:srgbClr val="00B0F0"/>
                        </a:solidFill>
                      </a:endParaRP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00B0F0"/>
                          </a:solidFill>
                        </a:rPr>
                        <a:t>2. Explain how the DRY principle improves software maintainability.</a:t>
                      </a: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068138"/>
                  </a:ext>
                </a:extLst>
              </a:tr>
              <a:tr h="416990"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00B0F0"/>
                          </a:solidFill>
                        </a:rPr>
                        <a:t>Understand</a:t>
                      </a:r>
                      <a:endParaRPr lang="en-US" sz="900">
                        <a:solidFill>
                          <a:srgbClr val="00B0F0"/>
                        </a:solidFill>
                      </a:endParaRP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00B0F0"/>
                          </a:solidFill>
                        </a:rPr>
                        <a:t>3. Explain why excessive coupling between classes can make software difficult to maintain and modify.</a:t>
                      </a: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416069"/>
                  </a:ext>
                </a:extLst>
              </a:tr>
              <a:tr h="668395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212410"/>
                  </a:ext>
                </a:extLst>
              </a:tr>
              <a:tr h="79409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408473"/>
                  </a:ext>
                </a:extLst>
              </a:tr>
              <a:tr h="668395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739288"/>
                  </a:ext>
                </a:extLst>
              </a:tr>
              <a:tr h="10455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4025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62E07E-9081-C15B-7DD6-DCBDCB9D550F}"/>
              </a:ext>
            </a:extLst>
          </p:cNvPr>
          <p:cNvSpPr txBox="1"/>
          <p:nvPr/>
        </p:nvSpPr>
        <p:spPr>
          <a:xfrm>
            <a:off x="259010" y="407404"/>
            <a:ext cx="101768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ja-JP" sz="1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Explain the responsibilities of the Model, View, and Controller in the MVC Pattern.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three components of the MVC Pattern?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MVC to a university student registration system. Identify suitable responsibilities for the Model, View, and Controller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the architecture of an MVC-based Student Management System. Identify the major classes and explain how the Model, View, and Controller communicate.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the DRY principle and the Principle of Least Knowledge.</a:t>
            </a:r>
            <a:endParaRPr lang="ja-JP" altLang="en-US" sz="1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689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844"/>
            <a:ext cx="27895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lang="en-US" altLang="ja-JP" dirty="0"/>
              <a:t>Sample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20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7B65A3-BB9D-A8E4-A8C2-927080A46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219147"/>
              </p:ext>
            </p:extLst>
          </p:nvPr>
        </p:nvGraphicFramePr>
        <p:xfrm>
          <a:off x="281087" y="2158611"/>
          <a:ext cx="4102161" cy="4672881"/>
        </p:xfrm>
        <a:graphic>
          <a:graphicData uri="http://schemas.openxmlformats.org/drawingml/2006/table">
            <a:tbl>
              <a:tblPr/>
              <a:tblGrid>
                <a:gridCol w="701006">
                  <a:extLst>
                    <a:ext uri="{9D8B030D-6E8A-4147-A177-3AD203B41FA5}">
                      <a16:colId xmlns:a16="http://schemas.microsoft.com/office/drawing/2014/main" val="2758533641"/>
                    </a:ext>
                  </a:extLst>
                </a:gridCol>
                <a:gridCol w="3401155">
                  <a:extLst>
                    <a:ext uri="{9D8B030D-6E8A-4147-A177-3AD203B41FA5}">
                      <a16:colId xmlns:a16="http://schemas.microsoft.com/office/drawing/2014/main" val="3748749835"/>
                    </a:ext>
                  </a:extLst>
                </a:gridCol>
              </a:tblGrid>
              <a:tr h="210510">
                <a:tc>
                  <a:txBody>
                    <a:bodyPr/>
                    <a:lstStyle/>
                    <a:p>
                      <a:r>
                        <a:rPr lang="en-US" sz="1000"/>
                        <a:t>Bloom's Level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Question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715371"/>
                  </a:ext>
                </a:extLst>
              </a:tr>
              <a:tr h="526275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Remember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1. What are the three components of MVC? State the primary responsibility of each component.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599984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Understand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2. Explain how separation of concerns is achieved through the MVC Pattern.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229758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Understand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3. Explain the DRY principle and the Principle of Least Knowledge.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198693"/>
                  </a:ext>
                </a:extLst>
              </a:tr>
              <a:tr h="84204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180384"/>
                  </a:ext>
                </a:extLst>
              </a:tr>
              <a:tr h="84204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Analyze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5. Analyze a class that performs database access, user-interface formatting, validation, and business calculations. Identify the possible design problems and code smells.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38610"/>
                  </a:ext>
                </a:extLst>
              </a:tr>
              <a:tr h="684157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Evaluate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6. Evaluate the statement: </a:t>
                      </a:r>
                      <a:r>
                        <a:rPr lang="en-US" sz="1000" b="1" dirty="0">
                          <a:solidFill>
                            <a:srgbClr val="00B0F0"/>
                          </a:solidFill>
                        </a:rPr>
                        <a:t>“A large class is always an example of bad design.”</a:t>
                      </a:r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 Discuss the importance of context when identifying code smells.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930199"/>
                  </a:ext>
                </a:extLst>
              </a:tr>
              <a:tr h="684157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Create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7. Design an MVC architecture for an online course-registration system. Identify the Model, View, Controller, and major responsibilities of each.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87236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68E383-A663-8001-6AD2-15D3658F2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357385"/>
              </p:ext>
            </p:extLst>
          </p:nvPr>
        </p:nvGraphicFramePr>
        <p:xfrm>
          <a:off x="4603016" y="1983952"/>
          <a:ext cx="3504944" cy="4672880"/>
        </p:xfrm>
        <a:graphic>
          <a:graphicData uri="http://schemas.openxmlformats.org/drawingml/2006/table">
            <a:tbl>
              <a:tblPr/>
              <a:tblGrid>
                <a:gridCol w="784059">
                  <a:extLst>
                    <a:ext uri="{9D8B030D-6E8A-4147-A177-3AD203B41FA5}">
                      <a16:colId xmlns:a16="http://schemas.microsoft.com/office/drawing/2014/main" val="2414319581"/>
                    </a:ext>
                  </a:extLst>
                </a:gridCol>
                <a:gridCol w="2720885">
                  <a:extLst>
                    <a:ext uri="{9D8B030D-6E8A-4147-A177-3AD203B41FA5}">
                      <a16:colId xmlns:a16="http://schemas.microsoft.com/office/drawing/2014/main" val="4272231511"/>
                    </a:ext>
                  </a:extLst>
                </a:gridCol>
              </a:tblGrid>
              <a:tr h="210510">
                <a:tc>
                  <a:txBody>
                    <a:bodyPr/>
                    <a:lstStyle/>
                    <a:p>
                      <a:r>
                        <a:rPr lang="en-US" sz="1000"/>
                        <a:t>Bloom's Level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Question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163656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Remember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1. Define Large Class, Long Method, Duplicated Code, and Primitive Obsession.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146593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Understand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2. Explain why duplicated code can make software difficult to maintain.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309819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643908"/>
                  </a:ext>
                </a:extLst>
              </a:tr>
              <a:tr h="684157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Apply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4. A program contains the same student-validation code in five different classes. Identify the code smell and propose an appropriate refactoring approach.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641802"/>
                  </a:ext>
                </a:extLst>
              </a:tr>
              <a:tr h="999922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Analyze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5. Analyze a method containing 150 lines that performs validation, database operations, calculations, and report generation. Identify the possible smells and explain how they affect maintainability.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201157"/>
                  </a:ext>
                </a:extLst>
              </a:tr>
              <a:tr h="68415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81462"/>
                  </a:ext>
                </a:extLst>
              </a:tr>
              <a:tr h="84204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00B0F0"/>
                          </a:solidFill>
                        </a:rPr>
                        <a:t>Create</a:t>
                      </a:r>
                      <a:endParaRPr lang="en-US" sz="1000">
                        <a:solidFill>
                          <a:srgbClr val="00B0F0"/>
                        </a:solidFill>
                      </a:endParaRP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F0"/>
                          </a:solidFill>
                        </a:rPr>
                        <a:t>7. Create a refactoring plan for a Java application suffering from a Large Class, Long Methods, and Duplicated Code. Explain the sequence of improvements you would make.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9356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9F4296-5D31-6E4E-973D-242712830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585377"/>
              </p:ext>
            </p:extLst>
          </p:nvPr>
        </p:nvGraphicFramePr>
        <p:xfrm>
          <a:off x="8424202" y="2445390"/>
          <a:ext cx="3604750" cy="3113692"/>
        </p:xfrm>
        <a:graphic>
          <a:graphicData uri="http://schemas.openxmlformats.org/drawingml/2006/table">
            <a:tbl>
              <a:tblPr/>
              <a:tblGrid>
                <a:gridCol w="846031">
                  <a:extLst>
                    <a:ext uri="{9D8B030D-6E8A-4147-A177-3AD203B41FA5}">
                      <a16:colId xmlns:a16="http://schemas.microsoft.com/office/drawing/2014/main" val="1651049377"/>
                    </a:ext>
                  </a:extLst>
                </a:gridCol>
                <a:gridCol w="2758719">
                  <a:extLst>
                    <a:ext uri="{9D8B030D-6E8A-4147-A177-3AD203B41FA5}">
                      <a16:colId xmlns:a16="http://schemas.microsoft.com/office/drawing/2014/main" val="828984065"/>
                    </a:ext>
                  </a:extLst>
                </a:gridCol>
              </a:tblGrid>
              <a:tr h="108917">
                <a:tc>
                  <a:txBody>
                    <a:bodyPr/>
                    <a:lstStyle/>
                    <a:p>
                      <a:r>
                        <a:rPr lang="en-US" sz="800"/>
                        <a:t>Bloom's Level</a:t>
                      </a: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Question</a:t>
                      </a: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274530"/>
                  </a:ext>
                </a:extLst>
              </a:tr>
              <a:tr h="26933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210785"/>
                  </a:ext>
                </a:extLst>
              </a:tr>
              <a:tr h="26933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576233"/>
                  </a:ext>
                </a:extLst>
              </a:tr>
              <a:tr h="269332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236030"/>
                  </a:ext>
                </a:extLst>
              </a:tr>
              <a:tr h="430931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155911"/>
                  </a:ext>
                </a:extLst>
              </a:tr>
              <a:tr h="511731">
                <a:tc>
                  <a:txBody>
                    <a:bodyPr/>
                    <a:lstStyle/>
                    <a:p>
                      <a:endParaRPr lang="en-US" sz="800">
                        <a:solidFill>
                          <a:srgbClr val="00B0F0"/>
                        </a:solidFill>
                      </a:endParaRP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solidFill>
                          <a:srgbClr val="00B0F0"/>
                        </a:solidFill>
                      </a:endParaRP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409606"/>
                  </a:ext>
                </a:extLst>
              </a:tr>
              <a:tr h="511731">
                <a:tc>
                  <a:txBody>
                    <a:bodyPr/>
                    <a:lstStyle/>
                    <a:p>
                      <a:r>
                        <a:rPr lang="en-US" sz="800" b="1">
                          <a:solidFill>
                            <a:srgbClr val="00B0F0"/>
                          </a:solidFill>
                        </a:rPr>
                        <a:t>Evaluate</a:t>
                      </a:r>
                      <a:endParaRPr lang="en-US" sz="800">
                        <a:solidFill>
                          <a:srgbClr val="00B0F0"/>
                        </a:solidFill>
                      </a:endParaRP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00B0F0"/>
                          </a:solidFill>
                        </a:rPr>
                        <a:t>6. Evaluate the statement: </a:t>
                      </a:r>
                      <a:r>
                        <a:rPr lang="en-US" sz="800" b="1" dirty="0">
                          <a:solidFill>
                            <a:srgbClr val="00B0F0"/>
                          </a:solidFill>
                        </a:rPr>
                        <a:t>“Design patterns should always be used to improve software design.”</a:t>
                      </a:r>
                      <a:r>
                        <a:rPr lang="en-US" sz="800" dirty="0">
                          <a:solidFill>
                            <a:srgbClr val="00B0F0"/>
                          </a:solidFill>
                        </a:rPr>
                        <a:t> Discuss situations in which applying a design pattern could actually make a simple system unnecessarily complicated.</a:t>
                      </a: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125649"/>
                  </a:ext>
                </a:extLst>
              </a:tr>
              <a:tr h="673330">
                <a:tc>
                  <a:txBody>
                    <a:bodyPr/>
                    <a:lstStyle/>
                    <a:p>
                      <a:r>
                        <a:rPr lang="en-US" sz="800" b="1">
                          <a:solidFill>
                            <a:srgbClr val="00B0F0"/>
                          </a:solidFill>
                        </a:rPr>
                        <a:t>Create</a:t>
                      </a:r>
                      <a:endParaRPr lang="en-US" sz="800">
                        <a:solidFill>
                          <a:srgbClr val="00B0F0"/>
                        </a:solidFill>
                      </a:endParaRP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00B0F0"/>
                          </a:solidFill>
                        </a:rPr>
                        <a:t>7. Create a complete design-improvement strategy for a poorly designed Java application containing tight coupling, duplicated code, primitive obsession, long methods, and inappropriate intimacy. Identify the design principles, patterns, and refactoring techniques you would apply.</a:t>
                      </a: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35059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0747C01-AE18-D223-BB40-C026D3312294}"/>
              </a:ext>
            </a:extLst>
          </p:cNvPr>
          <p:cNvSpPr txBox="1"/>
          <p:nvPr/>
        </p:nvSpPr>
        <p:spPr>
          <a:xfrm>
            <a:off x="205390" y="537071"/>
            <a:ext cx="115751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ja-JP" sz="1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A method contains 100 lines of code and performs validation, database access, calculations, and report generation. Identify the likely code smell and suggest an appropriate refactoring approach.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a system where the same switch statement for customer types appears in five different methods. Identify the code smell and explain why it creates maintenance problems.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a method containing 150 lines that performs validation, database operations, calculations, and report generation. Identify the possible smells and explain how they affect maintainability.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whether comments are always beneficial in software development. Explain how excessive comments may sometimes indicate a design problem.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refactoring plan for a Java application suffering from a Large Class, Long Methods, and Duplicated Code. Explain the sequence of improvements you would make.</a:t>
            </a:r>
            <a:endParaRPr lang="ja-JP" altLang="en-US" sz="1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326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6821</Words>
  <Application>Microsoft Office PowerPoint</Application>
  <PresentationFormat>Widescreen</PresentationFormat>
  <Paragraphs>837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游ゴシック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Abu Saleh Musa  Miah</cp:lastModifiedBy>
  <cp:revision>20</cp:revision>
  <dcterms:created xsi:type="dcterms:W3CDTF">2013-01-27T09:14:16Z</dcterms:created>
  <dcterms:modified xsi:type="dcterms:W3CDTF">2026-10-06T17:23:59Z</dcterms:modified>
  <cp:category/>
</cp:coreProperties>
</file>