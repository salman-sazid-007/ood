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257" r:id="rId3"/>
    <p:sldId id="336" r:id="rId4"/>
    <p:sldId id="427" r:id="rId5"/>
    <p:sldId id="309" r:id="rId6"/>
    <p:sldId id="377" r:id="rId7"/>
    <p:sldId id="406" r:id="rId8"/>
    <p:sldId id="378" r:id="rId9"/>
    <p:sldId id="379" r:id="rId10"/>
    <p:sldId id="407" r:id="rId11"/>
    <p:sldId id="423" r:id="rId12"/>
    <p:sldId id="424" r:id="rId13"/>
    <p:sldId id="425" r:id="rId14"/>
    <p:sldId id="426" r:id="rId15"/>
    <p:sldId id="422" r:id="rId16"/>
    <p:sldId id="382" r:id="rId17"/>
    <p:sldId id="428" r:id="rId18"/>
    <p:sldId id="408" r:id="rId19"/>
    <p:sldId id="410" r:id="rId20"/>
    <p:sldId id="412" r:id="rId21"/>
    <p:sldId id="383" r:id="rId22"/>
    <p:sldId id="413" r:id="rId23"/>
    <p:sldId id="384" r:id="rId24"/>
    <p:sldId id="414" r:id="rId25"/>
    <p:sldId id="381" r:id="rId26"/>
    <p:sldId id="415" r:id="rId27"/>
    <p:sldId id="386" r:id="rId28"/>
    <p:sldId id="385" r:id="rId29"/>
    <p:sldId id="416" r:id="rId30"/>
    <p:sldId id="387" r:id="rId31"/>
    <p:sldId id="429" r:id="rId32"/>
    <p:sldId id="417" r:id="rId33"/>
    <p:sldId id="418" r:id="rId34"/>
    <p:sldId id="388" r:id="rId35"/>
    <p:sldId id="389" r:id="rId36"/>
    <p:sldId id="390" r:id="rId37"/>
    <p:sldId id="430" r:id="rId38"/>
    <p:sldId id="411" r:id="rId39"/>
    <p:sldId id="419" r:id="rId40"/>
    <p:sldId id="391" r:id="rId41"/>
    <p:sldId id="420" r:id="rId42"/>
    <p:sldId id="421" r:id="rId43"/>
    <p:sldId id="380" r:id="rId44"/>
    <p:sldId id="398" r:id="rId45"/>
    <p:sldId id="399" r:id="rId46"/>
    <p:sldId id="400" r:id="rId47"/>
    <p:sldId id="401" r:id="rId48"/>
    <p:sldId id="397" r:id="rId49"/>
    <p:sldId id="402" r:id="rId50"/>
    <p:sldId id="405" r:id="rId51"/>
    <p:sldId id="403" r:id="rId52"/>
    <p:sldId id="376"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76" autoAdjust="0"/>
    <p:restoredTop sz="87320" autoAdjust="0"/>
  </p:normalViewPr>
  <p:slideViewPr>
    <p:cSldViewPr>
      <p:cViewPr varScale="1">
        <p:scale>
          <a:sx n="89" d="100"/>
          <a:sy n="89" d="100"/>
        </p:scale>
        <p:origin x="1478"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88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E4B0601-F296-42D9-A69B-4895C0FEFABA}" type="datetimeFigureOut">
              <a:rPr lang="en-US" smtClean="0"/>
              <a:t>8/13/2026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3211DCF-9C25-4121-98B8-1A71B48A30E8}" type="slidenum">
              <a:rPr lang="en-US" smtClean="0"/>
              <a:t>‹#›</a:t>
            </a:fld>
            <a:endParaRPr lang="en-US"/>
          </a:p>
        </p:txBody>
      </p:sp>
    </p:spTree>
    <p:extLst>
      <p:ext uri="{BB962C8B-B14F-4D97-AF65-F5344CB8AC3E}">
        <p14:creationId xmlns:p14="http://schemas.microsoft.com/office/powerpoint/2010/main" val="878882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sz="1800" b="1" dirty="0">
                <a:effectLst/>
                <a:latin typeface="ＭＳ Ｐゴシック" panose="020B0600070205080204" pitchFamily="50" charset="-128"/>
                <a:ea typeface="ＭＳ Ｐゴシック" panose="020B0600070205080204" pitchFamily="50" charset="-128"/>
                <a:cs typeface="ＭＳ Ｐゴシック" panose="020B0600070205080204" pitchFamily="50" charset="-128"/>
              </a:rPr>
              <a:t>Design Principles:</a:t>
            </a:r>
            <a:r>
              <a:rPr lang="en-US" altLang="ja-JP" sz="1800" dirty="0">
                <a:effectLst/>
                <a:latin typeface="ＭＳ Ｐゴシック" panose="020B0600070205080204" pitchFamily="50" charset="-128"/>
                <a:ea typeface="ＭＳ Ｐゴシック" panose="020B0600070205080204" pitchFamily="50" charset="-128"/>
                <a:cs typeface="ＭＳ Ｐゴシック" panose="020B0600070205080204" pitchFamily="50" charset="-128"/>
              </a:rPr>
              <a:t> Additional design principles will help you to create code that is flexible, reusable, and maintainable. You will learn about coupling and cohesion, separation of concerns, information hiding, and conceptual integrity. You will also learn to avoid common pitfalls with inheritance, and ways to express software behavior in UML</a:t>
            </a:r>
            <a:endParaRPr lang="ja-JP" altLang="ja-JP" sz="1800" dirty="0">
              <a:effectLst/>
              <a:latin typeface="ＭＳ Ｐゴシック" panose="020B0600070205080204" pitchFamily="50" charset="-128"/>
              <a:ea typeface="ＭＳ Ｐゴシック" panose="020B0600070205080204" pitchFamily="50" charset="-128"/>
              <a:cs typeface="ＭＳ Ｐゴシック" panose="020B0600070205080204" pitchFamily="50" charset="-128"/>
            </a:endParaRPr>
          </a:p>
        </p:txBody>
      </p:sp>
      <p:sp>
        <p:nvSpPr>
          <p:cNvPr id="4" name="Slide Number Placeholder 3"/>
          <p:cNvSpPr>
            <a:spLocks noGrp="1"/>
          </p:cNvSpPr>
          <p:nvPr>
            <p:ph type="sldNum" sz="quarter" idx="10"/>
          </p:nvPr>
        </p:nvSpPr>
        <p:spPr/>
        <p:txBody>
          <a:bodyPr/>
          <a:lstStyle/>
          <a:p>
            <a:fld id="{93211DCF-9C25-4121-98B8-1A71B48A30E8}" type="slidenum">
              <a:rPr lang="en-US" smtClean="0"/>
              <a:t>1</a:t>
            </a:fld>
            <a:endParaRPr lang="en-US" dirty="0"/>
          </a:p>
        </p:txBody>
      </p:sp>
    </p:spTree>
    <p:extLst>
      <p:ext uri="{BB962C8B-B14F-4D97-AF65-F5344CB8AC3E}">
        <p14:creationId xmlns:p14="http://schemas.microsoft.com/office/powerpoint/2010/main" val="3823056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3</a:t>
            </a:fld>
            <a:endParaRPr lang="en-US" dirty="0"/>
          </a:p>
        </p:txBody>
      </p:sp>
    </p:spTree>
    <p:extLst>
      <p:ext uri="{BB962C8B-B14F-4D97-AF65-F5344CB8AC3E}">
        <p14:creationId xmlns:p14="http://schemas.microsoft.com/office/powerpoint/2010/main" val="1425828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4</a:t>
            </a:fld>
            <a:endParaRPr lang="en-US" dirty="0"/>
          </a:p>
        </p:txBody>
      </p:sp>
    </p:spTree>
    <p:extLst>
      <p:ext uri="{BB962C8B-B14F-4D97-AF65-F5344CB8AC3E}">
        <p14:creationId xmlns:p14="http://schemas.microsoft.com/office/powerpoint/2010/main" val="2053903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5</a:t>
            </a:fld>
            <a:endParaRPr lang="en-US" dirty="0"/>
          </a:p>
        </p:txBody>
      </p:sp>
    </p:spTree>
    <p:extLst>
      <p:ext uri="{BB962C8B-B14F-4D97-AF65-F5344CB8AC3E}">
        <p14:creationId xmlns:p14="http://schemas.microsoft.com/office/powerpoint/2010/main" val="8984113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6</a:t>
            </a:fld>
            <a:endParaRPr lang="en-US" dirty="0"/>
          </a:p>
        </p:txBody>
      </p:sp>
    </p:spTree>
    <p:extLst>
      <p:ext uri="{BB962C8B-B14F-4D97-AF65-F5344CB8AC3E}">
        <p14:creationId xmlns:p14="http://schemas.microsoft.com/office/powerpoint/2010/main" val="2803414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7</a:t>
            </a:fld>
            <a:endParaRPr lang="en-US" dirty="0"/>
          </a:p>
        </p:txBody>
      </p:sp>
    </p:spTree>
    <p:extLst>
      <p:ext uri="{BB962C8B-B14F-4D97-AF65-F5344CB8AC3E}">
        <p14:creationId xmlns:p14="http://schemas.microsoft.com/office/powerpoint/2010/main" val="22908403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8</a:t>
            </a:fld>
            <a:endParaRPr lang="en-US" dirty="0"/>
          </a:p>
        </p:txBody>
      </p:sp>
    </p:spTree>
    <p:extLst>
      <p:ext uri="{BB962C8B-B14F-4D97-AF65-F5344CB8AC3E}">
        <p14:creationId xmlns:p14="http://schemas.microsoft.com/office/powerpoint/2010/main" val="25485018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9</a:t>
            </a:fld>
            <a:endParaRPr lang="en-US" dirty="0"/>
          </a:p>
        </p:txBody>
      </p:sp>
    </p:spTree>
    <p:extLst>
      <p:ext uri="{BB962C8B-B14F-4D97-AF65-F5344CB8AC3E}">
        <p14:creationId xmlns:p14="http://schemas.microsoft.com/office/powerpoint/2010/main" val="874866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10</a:t>
            </a:fld>
            <a:endParaRPr lang="en-US" dirty="0"/>
          </a:p>
        </p:txBody>
      </p:sp>
    </p:spTree>
    <p:extLst>
      <p:ext uri="{BB962C8B-B14F-4D97-AF65-F5344CB8AC3E}">
        <p14:creationId xmlns:p14="http://schemas.microsoft.com/office/powerpoint/2010/main" val="30211448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11</a:t>
            </a:fld>
            <a:endParaRPr lang="en-US" dirty="0"/>
          </a:p>
        </p:txBody>
      </p:sp>
    </p:spTree>
    <p:extLst>
      <p:ext uri="{BB962C8B-B14F-4D97-AF65-F5344CB8AC3E}">
        <p14:creationId xmlns:p14="http://schemas.microsoft.com/office/powerpoint/2010/main" val="29742398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12</a:t>
            </a:fld>
            <a:endParaRPr lang="en-US" dirty="0"/>
          </a:p>
        </p:txBody>
      </p:sp>
    </p:spTree>
    <p:extLst>
      <p:ext uri="{BB962C8B-B14F-4D97-AF65-F5344CB8AC3E}">
        <p14:creationId xmlns:p14="http://schemas.microsoft.com/office/powerpoint/2010/main" val="37684724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13</a:t>
            </a:fld>
            <a:endParaRPr lang="en-US" dirty="0"/>
          </a:p>
        </p:txBody>
      </p:sp>
    </p:spTree>
    <p:extLst>
      <p:ext uri="{BB962C8B-B14F-4D97-AF65-F5344CB8AC3E}">
        <p14:creationId xmlns:p14="http://schemas.microsoft.com/office/powerpoint/2010/main" val="37199578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altLang="ja-JP" dirty="0"/>
              <a:t>Advantage: </a:t>
            </a:r>
            <a:r>
              <a:rPr lang="en-US" dirty="0"/>
              <a:t>No flags.</a:t>
            </a:r>
            <a:br>
              <a:rPr lang="en-US" dirty="0"/>
            </a:br>
            <a:r>
              <a:rPr lang="en-US" dirty="0"/>
              <a:t>No switch statements.</a:t>
            </a:r>
            <a:br>
              <a:rPr lang="en-US" dirty="0"/>
            </a:br>
            <a:r>
              <a:rPr lang="en-US" dirty="0"/>
              <a:t>Clear responsibilities.</a:t>
            </a:r>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14</a:t>
            </a:fld>
            <a:endParaRPr lang="en-US" dirty="0"/>
          </a:p>
        </p:txBody>
      </p:sp>
    </p:spTree>
    <p:extLst>
      <p:ext uri="{BB962C8B-B14F-4D97-AF65-F5344CB8AC3E}">
        <p14:creationId xmlns:p14="http://schemas.microsoft.com/office/powerpoint/2010/main" val="17711847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15</a:t>
            </a:fld>
            <a:endParaRPr lang="en-US" dirty="0"/>
          </a:p>
        </p:txBody>
      </p:sp>
    </p:spTree>
    <p:extLst>
      <p:ext uri="{BB962C8B-B14F-4D97-AF65-F5344CB8AC3E}">
        <p14:creationId xmlns:p14="http://schemas.microsoft.com/office/powerpoint/2010/main" val="20697977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16</a:t>
            </a:fld>
            <a:endParaRPr lang="en-US" dirty="0"/>
          </a:p>
        </p:txBody>
      </p:sp>
    </p:spTree>
    <p:extLst>
      <p:ext uri="{BB962C8B-B14F-4D97-AF65-F5344CB8AC3E}">
        <p14:creationId xmlns:p14="http://schemas.microsoft.com/office/powerpoint/2010/main" val="32157999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17</a:t>
            </a:fld>
            <a:endParaRPr lang="en-US" dirty="0"/>
          </a:p>
        </p:txBody>
      </p:sp>
    </p:spTree>
    <p:extLst>
      <p:ext uri="{BB962C8B-B14F-4D97-AF65-F5344CB8AC3E}">
        <p14:creationId xmlns:p14="http://schemas.microsoft.com/office/powerpoint/2010/main" val="3627742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18</a:t>
            </a:fld>
            <a:endParaRPr lang="en-US" dirty="0"/>
          </a:p>
        </p:txBody>
      </p:sp>
    </p:spTree>
    <p:extLst>
      <p:ext uri="{BB962C8B-B14F-4D97-AF65-F5344CB8AC3E}">
        <p14:creationId xmlns:p14="http://schemas.microsoft.com/office/powerpoint/2010/main" val="27923199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19</a:t>
            </a:fld>
            <a:endParaRPr lang="en-US" dirty="0"/>
          </a:p>
        </p:txBody>
      </p:sp>
    </p:spTree>
    <p:extLst>
      <p:ext uri="{BB962C8B-B14F-4D97-AF65-F5344CB8AC3E}">
        <p14:creationId xmlns:p14="http://schemas.microsoft.com/office/powerpoint/2010/main" val="25651688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20</a:t>
            </a:fld>
            <a:endParaRPr lang="en-US"/>
          </a:p>
        </p:txBody>
      </p:sp>
    </p:spTree>
    <p:extLst>
      <p:ext uri="{BB962C8B-B14F-4D97-AF65-F5344CB8AC3E}">
        <p14:creationId xmlns:p14="http://schemas.microsoft.com/office/powerpoint/2010/main" val="11657645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21</a:t>
            </a:fld>
            <a:endParaRPr lang="en-US"/>
          </a:p>
        </p:txBody>
      </p:sp>
    </p:spTree>
    <p:extLst>
      <p:ext uri="{BB962C8B-B14F-4D97-AF65-F5344CB8AC3E}">
        <p14:creationId xmlns:p14="http://schemas.microsoft.com/office/powerpoint/2010/main" val="31938467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22</a:t>
            </a:fld>
            <a:endParaRPr lang="en-US"/>
          </a:p>
        </p:txBody>
      </p:sp>
    </p:spTree>
    <p:extLst>
      <p:ext uri="{BB962C8B-B14F-4D97-AF65-F5344CB8AC3E}">
        <p14:creationId xmlns:p14="http://schemas.microsoft.com/office/powerpoint/2010/main" val="8229132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23</a:t>
            </a:fld>
            <a:endParaRPr lang="en-US"/>
          </a:p>
        </p:txBody>
      </p:sp>
    </p:spTree>
    <p:extLst>
      <p:ext uri="{BB962C8B-B14F-4D97-AF65-F5344CB8AC3E}">
        <p14:creationId xmlns:p14="http://schemas.microsoft.com/office/powerpoint/2010/main" val="22384935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24</a:t>
            </a:fld>
            <a:endParaRPr lang="en-US"/>
          </a:p>
        </p:txBody>
      </p:sp>
    </p:spTree>
    <p:extLst>
      <p:ext uri="{BB962C8B-B14F-4D97-AF65-F5344CB8AC3E}">
        <p14:creationId xmlns:p14="http://schemas.microsoft.com/office/powerpoint/2010/main" val="39868160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25</a:t>
            </a:fld>
            <a:endParaRPr lang="en-US"/>
          </a:p>
        </p:txBody>
      </p:sp>
    </p:spTree>
    <p:extLst>
      <p:ext uri="{BB962C8B-B14F-4D97-AF65-F5344CB8AC3E}">
        <p14:creationId xmlns:p14="http://schemas.microsoft.com/office/powerpoint/2010/main" val="3497466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26</a:t>
            </a:fld>
            <a:endParaRPr lang="en-US"/>
          </a:p>
        </p:txBody>
      </p:sp>
    </p:spTree>
    <p:extLst>
      <p:ext uri="{BB962C8B-B14F-4D97-AF65-F5344CB8AC3E}">
        <p14:creationId xmlns:p14="http://schemas.microsoft.com/office/powerpoint/2010/main" val="1303180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27</a:t>
            </a:fld>
            <a:endParaRPr lang="en-US"/>
          </a:p>
        </p:txBody>
      </p:sp>
    </p:spTree>
    <p:extLst>
      <p:ext uri="{BB962C8B-B14F-4D97-AF65-F5344CB8AC3E}">
        <p14:creationId xmlns:p14="http://schemas.microsoft.com/office/powerpoint/2010/main" val="20659176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28</a:t>
            </a:fld>
            <a:endParaRPr lang="en-US"/>
          </a:p>
        </p:txBody>
      </p:sp>
    </p:spTree>
    <p:extLst>
      <p:ext uri="{BB962C8B-B14F-4D97-AF65-F5344CB8AC3E}">
        <p14:creationId xmlns:p14="http://schemas.microsoft.com/office/powerpoint/2010/main" val="17352057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29</a:t>
            </a:fld>
            <a:endParaRPr lang="en-US"/>
          </a:p>
        </p:txBody>
      </p:sp>
    </p:spTree>
    <p:extLst>
      <p:ext uri="{BB962C8B-B14F-4D97-AF65-F5344CB8AC3E}">
        <p14:creationId xmlns:p14="http://schemas.microsoft.com/office/powerpoint/2010/main" val="804047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30</a:t>
            </a:fld>
            <a:endParaRPr lang="en-US"/>
          </a:p>
        </p:txBody>
      </p:sp>
    </p:spTree>
    <p:extLst>
      <p:ext uri="{BB962C8B-B14F-4D97-AF65-F5344CB8AC3E}">
        <p14:creationId xmlns:p14="http://schemas.microsoft.com/office/powerpoint/2010/main" val="30845396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31</a:t>
            </a:fld>
            <a:endParaRPr lang="en-US"/>
          </a:p>
        </p:txBody>
      </p:sp>
    </p:spTree>
    <p:extLst>
      <p:ext uri="{BB962C8B-B14F-4D97-AF65-F5344CB8AC3E}">
        <p14:creationId xmlns:p14="http://schemas.microsoft.com/office/powerpoint/2010/main" val="14129867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32</a:t>
            </a:fld>
            <a:endParaRPr lang="en-US"/>
          </a:p>
        </p:txBody>
      </p:sp>
    </p:spTree>
    <p:extLst>
      <p:ext uri="{BB962C8B-B14F-4D97-AF65-F5344CB8AC3E}">
        <p14:creationId xmlns:p14="http://schemas.microsoft.com/office/powerpoint/2010/main" val="14615995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33</a:t>
            </a:fld>
            <a:endParaRPr lang="en-US"/>
          </a:p>
        </p:txBody>
      </p:sp>
    </p:spTree>
    <p:extLst>
      <p:ext uri="{BB962C8B-B14F-4D97-AF65-F5344CB8AC3E}">
        <p14:creationId xmlns:p14="http://schemas.microsoft.com/office/powerpoint/2010/main" val="33539095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34</a:t>
            </a:fld>
            <a:endParaRPr lang="en-US"/>
          </a:p>
        </p:txBody>
      </p:sp>
    </p:spTree>
    <p:extLst>
      <p:ext uri="{BB962C8B-B14F-4D97-AF65-F5344CB8AC3E}">
        <p14:creationId xmlns:p14="http://schemas.microsoft.com/office/powerpoint/2010/main" val="1845664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35</a:t>
            </a:fld>
            <a:endParaRPr lang="en-US"/>
          </a:p>
        </p:txBody>
      </p:sp>
    </p:spTree>
    <p:extLst>
      <p:ext uri="{BB962C8B-B14F-4D97-AF65-F5344CB8AC3E}">
        <p14:creationId xmlns:p14="http://schemas.microsoft.com/office/powerpoint/2010/main" val="6849551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36</a:t>
            </a:fld>
            <a:endParaRPr lang="en-US"/>
          </a:p>
        </p:txBody>
      </p:sp>
    </p:spTree>
    <p:extLst>
      <p:ext uri="{BB962C8B-B14F-4D97-AF65-F5344CB8AC3E}">
        <p14:creationId xmlns:p14="http://schemas.microsoft.com/office/powerpoint/2010/main" val="36112842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37</a:t>
            </a:fld>
            <a:endParaRPr lang="en-US"/>
          </a:p>
        </p:txBody>
      </p:sp>
    </p:spTree>
    <p:extLst>
      <p:ext uri="{BB962C8B-B14F-4D97-AF65-F5344CB8AC3E}">
        <p14:creationId xmlns:p14="http://schemas.microsoft.com/office/powerpoint/2010/main" val="33833694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38</a:t>
            </a:fld>
            <a:endParaRPr lang="en-US"/>
          </a:p>
        </p:txBody>
      </p:sp>
    </p:spTree>
    <p:extLst>
      <p:ext uri="{BB962C8B-B14F-4D97-AF65-F5344CB8AC3E}">
        <p14:creationId xmlns:p14="http://schemas.microsoft.com/office/powerpoint/2010/main" val="33709596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39</a:t>
            </a:fld>
            <a:endParaRPr lang="en-US"/>
          </a:p>
        </p:txBody>
      </p:sp>
    </p:spTree>
    <p:extLst>
      <p:ext uri="{BB962C8B-B14F-4D97-AF65-F5344CB8AC3E}">
        <p14:creationId xmlns:p14="http://schemas.microsoft.com/office/powerpoint/2010/main" val="14143612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40</a:t>
            </a:fld>
            <a:endParaRPr lang="en-US"/>
          </a:p>
        </p:txBody>
      </p:sp>
    </p:spTree>
    <p:extLst>
      <p:ext uri="{BB962C8B-B14F-4D97-AF65-F5344CB8AC3E}">
        <p14:creationId xmlns:p14="http://schemas.microsoft.com/office/powerpoint/2010/main" val="36698922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41</a:t>
            </a:fld>
            <a:endParaRPr lang="en-US"/>
          </a:p>
        </p:txBody>
      </p:sp>
    </p:spTree>
    <p:extLst>
      <p:ext uri="{BB962C8B-B14F-4D97-AF65-F5344CB8AC3E}">
        <p14:creationId xmlns:p14="http://schemas.microsoft.com/office/powerpoint/2010/main" val="37208092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42</a:t>
            </a:fld>
            <a:endParaRPr lang="en-US"/>
          </a:p>
        </p:txBody>
      </p:sp>
    </p:spTree>
    <p:extLst>
      <p:ext uri="{BB962C8B-B14F-4D97-AF65-F5344CB8AC3E}">
        <p14:creationId xmlns:p14="http://schemas.microsoft.com/office/powerpoint/2010/main" val="396897688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43</a:t>
            </a:fld>
            <a:endParaRPr lang="en-US"/>
          </a:p>
        </p:txBody>
      </p:sp>
    </p:spTree>
    <p:extLst>
      <p:ext uri="{BB962C8B-B14F-4D97-AF65-F5344CB8AC3E}">
        <p14:creationId xmlns:p14="http://schemas.microsoft.com/office/powerpoint/2010/main" val="738012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44</a:t>
            </a:fld>
            <a:endParaRPr lang="en-US"/>
          </a:p>
        </p:txBody>
      </p:sp>
    </p:spTree>
    <p:extLst>
      <p:ext uri="{BB962C8B-B14F-4D97-AF65-F5344CB8AC3E}">
        <p14:creationId xmlns:p14="http://schemas.microsoft.com/office/powerpoint/2010/main" val="5268335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45</a:t>
            </a:fld>
            <a:endParaRPr lang="en-US"/>
          </a:p>
        </p:txBody>
      </p:sp>
    </p:spTree>
    <p:extLst>
      <p:ext uri="{BB962C8B-B14F-4D97-AF65-F5344CB8AC3E}">
        <p14:creationId xmlns:p14="http://schemas.microsoft.com/office/powerpoint/2010/main" val="15236266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46</a:t>
            </a:fld>
            <a:endParaRPr lang="en-US"/>
          </a:p>
        </p:txBody>
      </p:sp>
    </p:spTree>
    <p:extLst>
      <p:ext uri="{BB962C8B-B14F-4D97-AF65-F5344CB8AC3E}">
        <p14:creationId xmlns:p14="http://schemas.microsoft.com/office/powerpoint/2010/main" val="30472102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47</a:t>
            </a:fld>
            <a:endParaRPr lang="en-US"/>
          </a:p>
        </p:txBody>
      </p:sp>
    </p:spTree>
    <p:extLst>
      <p:ext uri="{BB962C8B-B14F-4D97-AF65-F5344CB8AC3E}">
        <p14:creationId xmlns:p14="http://schemas.microsoft.com/office/powerpoint/2010/main" val="273562859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48</a:t>
            </a:fld>
            <a:endParaRPr lang="en-US"/>
          </a:p>
        </p:txBody>
      </p:sp>
    </p:spTree>
    <p:extLst>
      <p:ext uri="{BB962C8B-B14F-4D97-AF65-F5344CB8AC3E}">
        <p14:creationId xmlns:p14="http://schemas.microsoft.com/office/powerpoint/2010/main" val="30651695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49</a:t>
            </a:fld>
            <a:endParaRPr lang="en-US"/>
          </a:p>
        </p:txBody>
      </p:sp>
    </p:spTree>
    <p:extLst>
      <p:ext uri="{BB962C8B-B14F-4D97-AF65-F5344CB8AC3E}">
        <p14:creationId xmlns:p14="http://schemas.microsoft.com/office/powerpoint/2010/main" val="35092508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50</a:t>
            </a:fld>
            <a:endParaRPr lang="en-US"/>
          </a:p>
        </p:txBody>
      </p:sp>
    </p:spTree>
    <p:extLst>
      <p:ext uri="{BB962C8B-B14F-4D97-AF65-F5344CB8AC3E}">
        <p14:creationId xmlns:p14="http://schemas.microsoft.com/office/powerpoint/2010/main" val="350518831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93211DCF-9C25-4121-98B8-1A71B48A30E8}" type="slidenum">
              <a:rPr lang="en-US" smtClean="0"/>
              <a:t>51</a:t>
            </a:fld>
            <a:endParaRPr lang="en-US"/>
          </a:p>
        </p:txBody>
      </p:sp>
    </p:spTree>
    <p:extLst>
      <p:ext uri="{BB962C8B-B14F-4D97-AF65-F5344CB8AC3E}">
        <p14:creationId xmlns:p14="http://schemas.microsoft.com/office/powerpoint/2010/main" val="168414957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211DCF-9C25-4121-98B8-1A71B48A30E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47934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968DC0B-53AB-4330-AE8C-6E35A04EA7DF}" type="datetime1">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BCC66C1-0816-4392-B26F-F1E3C27050E5}" type="datetime1">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B9B777-7103-40E6-B4B0-D9AE5D50EF20}" type="datetime1">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072F743-7022-4A54-94CF-91C88B4154B4}" type="datetime1">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7F8327E-E1D6-47F6-9CBC-6BF56420F2D2}" type="datetime1">
              <a:rPr lang="en-US" smtClean="0"/>
              <a:t>8/13/2026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A31519F-84A1-44A9-8063-AFC3A21C5AE6}" type="datetime1">
              <a:rPr lang="en-US" smtClean="0"/>
              <a:t>8/13/2026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85A6D2-1783-469D-ADBE-580CFE436622}" type="datetime1">
              <a:rPr lang="en-US" smtClean="0"/>
              <a:t>8/13/2026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FC317C-C926-4ED5-ABF3-17E77EA5FE40}" type="datetime1">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9070A4-FBD8-499E-8FF8-96684B46D6AA}" type="datetime1">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BD8FCD-9549-4EFF-9EB4-61EF12A5F552}" type="datetime1">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D84BF3-0685-4EBD-A8F7-34307A81705C}" type="datetime1">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617B77-AD59-4769-B471-401FD9B81E84}" type="datetime1">
              <a:rPr lang="en-US" smtClean="0"/>
              <a:t>8/13/2026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5344" y="219456"/>
            <a:ext cx="8610600" cy="1828800"/>
          </a:xfrm>
        </p:spPr>
        <p:txBody>
          <a:bodyPr>
            <a:normAutofit/>
          </a:bodyPr>
          <a:lstStyle/>
          <a:p>
            <a:r>
              <a:rPr lang="en-US" altLang="ja-JP" b="1" dirty="0">
                <a:latin typeface="ＭＳ Ｐゴシック" panose="020B0600070205080204" pitchFamily="50" charset="-128"/>
                <a:ea typeface="ＭＳ Ｐゴシック" panose="020B0600070205080204" pitchFamily="50" charset="-128"/>
                <a:cs typeface="ＭＳ Ｐゴシック" panose="020B0600070205080204" pitchFamily="50" charset="-128"/>
              </a:rPr>
              <a:t>P</a:t>
            </a:r>
            <a:r>
              <a:rPr lang="en-US" altLang="ja-JP" sz="4400" b="1" dirty="0">
                <a:effectLst/>
                <a:latin typeface="ＭＳ Ｐゴシック" panose="020B0600070205080204" pitchFamily="50" charset="-128"/>
                <a:ea typeface="ＭＳ Ｐゴシック" panose="020B0600070205080204" pitchFamily="50" charset="-128"/>
                <a:cs typeface="ＭＳ Ｐゴシック" panose="020B0600070205080204" pitchFamily="50" charset="-128"/>
              </a:rPr>
              <a:t>art A: Object-Oriented Design</a:t>
            </a:r>
            <a:br>
              <a:rPr lang="ja-JP" altLang="ja-JP" sz="4400" dirty="0">
                <a:effectLst/>
                <a:latin typeface="ＭＳ Ｐゴシック" panose="020B0600070205080204" pitchFamily="50" charset="-128"/>
                <a:ea typeface="ＭＳ Ｐゴシック" panose="020B0600070205080204" pitchFamily="50" charset="-128"/>
                <a:cs typeface="ＭＳ Ｐゴシック" panose="020B0600070205080204" pitchFamily="50" charset="-128"/>
              </a:rPr>
            </a:br>
            <a:r>
              <a:rPr lang="en-US" dirty="0"/>
              <a:t>	</a:t>
            </a:r>
          </a:p>
        </p:txBody>
      </p:sp>
      <p:sp>
        <p:nvSpPr>
          <p:cNvPr id="5" name="Slide Number Placeholder 4"/>
          <p:cNvSpPr>
            <a:spLocks noGrp="1"/>
          </p:cNvSpPr>
          <p:nvPr>
            <p:ph type="sldNum" sz="quarter" idx="12"/>
          </p:nvPr>
        </p:nvSpPr>
        <p:spPr>
          <a:xfrm>
            <a:off x="26963" y="6492875"/>
            <a:ext cx="2133600" cy="365125"/>
          </a:xfrm>
        </p:spPr>
        <p:txBody>
          <a:bodyPr/>
          <a:lstStyle/>
          <a:p>
            <a:pPr algn="ctr"/>
            <a:fld id="{47A386C0-51E2-4A59-9996-4063C503BDFB}" type="slidenum">
              <a:rPr lang="en-US" sz="1400" smtClean="0">
                <a:solidFill>
                  <a:schemeClr val="tx1"/>
                </a:solidFill>
              </a:rPr>
              <a:t>1</a:t>
            </a:fld>
            <a:endParaRPr lang="en-US" sz="1400" dirty="0">
              <a:solidFill>
                <a:schemeClr val="tx1"/>
              </a:solidFill>
            </a:endParaRPr>
          </a:p>
        </p:txBody>
      </p:sp>
      <p:pic>
        <p:nvPicPr>
          <p:cNvPr id="6" name="Picture 5">
            <a:extLst>
              <a:ext uri="{FF2B5EF4-FFF2-40B4-BE49-F238E27FC236}">
                <a16:creationId xmlns:a16="http://schemas.microsoft.com/office/drawing/2014/main" id="{E971F599-5F86-22A6-D4DC-2E5746F640A5}"/>
              </a:ext>
            </a:extLst>
          </p:cNvPr>
          <p:cNvPicPr>
            <a:picLocks noChangeAspect="1"/>
          </p:cNvPicPr>
          <p:nvPr/>
        </p:nvPicPr>
        <p:blipFill>
          <a:blip r:embed="rId3"/>
          <a:stretch>
            <a:fillRect/>
          </a:stretch>
        </p:blipFill>
        <p:spPr>
          <a:xfrm>
            <a:off x="0" y="1304628"/>
            <a:ext cx="9058656" cy="4387933"/>
          </a:xfrm>
          <a:prstGeom prst="rect">
            <a:avLst/>
          </a:prstGeom>
        </p:spPr>
      </p:pic>
      <p:sp>
        <p:nvSpPr>
          <p:cNvPr id="3" name="TextBox 2">
            <a:extLst>
              <a:ext uri="{FF2B5EF4-FFF2-40B4-BE49-F238E27FC236}">
                <a16:creationId xmlns:a16="http://schemas.microsoft.com/office/drawing/2014/main" id="{28A5C28F-DD78-81D3-A394-5E4139960EB3}"/>
              </a:ext>
            </a:extLst>
          </p:cNvPr>
          <p:cNvSpPr txBox="1"/>
          <p:nvPr/>
        </p:nvSpPr>
        <p:spPr>
          <a:xfrm>
            <a:off x="2160563" y="6019800"/>
            <a:ext cx="5992837" cy="369332"/>
          </a:xfrm>
          <a:prstGeom prst="rect">
            <a:avLst/>
          </a:prstGeom>
          <a:noFill/>
        </p:spPr>
        <p:txBody>
          <a:bodyPr wrap="square" rtlCol="0">
            <a:spAutoFit/>
          </a:bodyPr>
          <a:lstStyle/>
          <a:p>
            <a:r>
              <a:rPr kumimoji="1" lang="en-US" altLang="ja-JP" dirty="0">
                <a:latin typeface="Times New Roman" panose="02020603050405020304" pitchFamily="18" charset="0"/>
                <a:cs typeface="Times New Roman" panose="02020603050405020304" pitchFamily="18" charset="0"/>
              </a:rPr>
              <a:t>Abu Saleh Musa Miah (PhD)</a:t>
            </a:r>
            <a:endParaRPr kumimoji="1" lang="ja-JP" alt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D6A0643-CFEE-47B6-3B25-EEF17E3B126B}"/>
              </a:ext>
            </a:extLst>
          </p:cNvPr>
          <p:cNvSpPr txBox="1"/>
          <p:nvPr/>
        </p:nvSpPr>
        <p:spPr>
          <a:xfrm>
            <a:off x="107735" y="2630232"/>
            <a:ext cx="4105656" cy="2308324"/>
          </a:xfrm>
          <a:prstGeom prst="rect">
            <a:avLst/>
          </a:prstGeom>
          <a:solidFill>
            <a:schemeClr val="bg2">
              <a:lumMod val="90000"/>
            </a:schemeClr>
          </a:solidFill>
        </p:spPr>
        <p:txBody>
          <a:bodyPr wrap="square" rtlCol="0">
            <a:spAutoFit/>
          </a:bodyPr>
          <a:lstStyle/>
          <a:p>
            <a:r>
              <a:rPr lang="en-US" altLang="ja-JP" sz="7200" b="1" dirty="0">
                <a:effectLst/>
                <a:latin typeface="Times New Roman" panose="02020603050405020304" pitchFamily="18" charset="0"/>
                <a:ea typeface="ＭＳ Ｐゴシック" panose="020B0600070205080204" pitchFamily="50" charset="-128"/>
                <a:cs typeface="Times New Roman" panose="02020603050405020304" pitchFamily="18" charset="0"/>
              </a:rPr>
              <a:t>Design Principles</a:t>
            </a:r>
            <a:endParaRPr kumimoji="1" lang="ja-JP" altLang="en-US" sz="7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9306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305" y="152400"/>
            <a:ext cx="9134622" cy="838200"/>
          </a:xfrm>
          <a:ln/>
        </p:spPr>
        <p:style>
          <a:lnRef idx="2">
            <a:schemeClr val="accent6"/>
          </a:lnRef>
          <a:fillRef idx="1">
            <a:schemeClr val="lt1"/>
          </a:fillRef>
          <a:effectRef idx="0">
            <a:schemeClr val="accent6"/>
          </a:effectRef>
          <a:fontRef idx="minor">
            <a:schemeClr val="dk1"/>
          </a:fontRef>
        </p:style>
        <p:txBody>
          <a:bodyPr>
            <a:normAutofit/>
          </a:bodyPr>
          <a:lstStyle/>
          <a:p>
            <a:r>
              <a:rPr lang="en-US" sz="4800" b="1" dirty="0">
                <a:latin typeface="Times New Roman" pitchFamily="18" charset="0"/>
                <a:cs typeface="Times New Roman" pitchFamily="18" charset="0"/>
              </a:rPr>
              <a:t>Presentation Outline</a:t>
            </a:r>
          </a:p>
        </p:txBody>
      </p:sp>
      <p:sp>
        <p:nvSpPr>
          <p:cNvPr id="3" name="Subtitle 2"/>
          <p:cNvSpPr>
            <a:spLocks noGrp="1"/>
          </p:cNvSpPr>
          <p:nvPr>
            <p:ph type="subTitle" idx="1"/>
          </p:nvPr>
        </p:nvSpPr>
        <p:spPr>
          <a:xfrm>
            <a:off x="533400" y="1295400"/>
            <a:ext cx="8686800" cy="4648200"/>
          </a:xfrm>
        </p:spPr>
        <p:txBody>
          <a:bodyPr>
            <a:normAutofit/>
          </a:bodyPr>
          <a:lstStyle/>
          <a:p>
            <a:pPr marL="457200" indent="-457200" algn="l">
              <a:buFont typeface="Wingdings" pitchFamily="2" charset="2"/>
              <a:buChar char="ü"/>
            </a:pPr>
            <a:r>
              <a:rPr lang="en-US" altLang="ja-JP" sz="2400" b="1" dirty="0">
                <a:solidFill>
                  <a:schemeClr val="tx1"/>
                </a:solidFill>
                <a:latin typeface="Times New Roman" pitchFamily="18" charset="0"/>
                <a:cs typeface="Times New Roman" pitchFamily="18" charset="0"/>
              </a:rPr>
              <a:t>Design Principle</a:t>
            </a:r>
          </a:p>
          <a:p>
            <a:pPr marL="457200" indent="-457200" algn="l">
              <a:buFont typeface="Wingdings" pitchFamily="2" charset="2"/>
              <a:buChar char="ü"/>
            </a:pPr>
            <a:r>
              <a:rPr lang="en-US" altLang="ja-JP" sz="2400" dirty="0">
                <a:solidFill>
                  <a:schemeClr val="tx1"/>
                </a:solidFill>
                <a:latin typeface="Times New Roman" panose="02020603050405020304" pitchFamily="18" charset="0"/>
                <a:cs typeface="Times New Roman" panose="02020603050405020304" pitchFamily="18" charset="0"/>
              </a:rPr>
              <a:t>Evaluating Design Complexity</a:t>
            </a:r>
          </a:p>
          <a:p>
            <a:pPr algn="l"/>
            <a:endParaRPr lang="en-US" dirty="0"/>
          </a:p>
          <a:p>
            <a:pPr algn="l"/>
            <a:endParaRPr lang="en-US" dirty="0"/>
          </a:p>
          <a:p>
            <a:pPr algn="l"/>
            <a:endParaRPr lang="en-US" dirty="0"/>
          </a:p>
        </p:txBody>
      </p:sp>
      <p:sp>
        <p:nvSpPr>
          <p:cNvPr id="4" name="Slide Number Placeholder 3"/>
          <p:cNvSpPr>
            <a:spLocks noGrp="1"/>
          </p:cNvSpPr>
          <p:nvPr>
            <p:ph type="sldNum" sz="quarter" idx="12"/>
          </p:nvPr>
        </p:nvSpPr>
        <p:spPr>
          <a:xfrm>
            <a:off x="7010400" y="6324600"/>
            <a:ext cx="2133600" cy="365125"/>
          </a:xfrm>
        </p:spPr>
        <p:txBody>
          <a:bodyPr/>
          <a:lstStyle/>
          <a:p>
            <a:pPr algn="ctr"/>
            <a:fld id="{B6F15528-21DE-4FAA-801E-634DDDAF4B2B}" type="slidenum">
              <a:rPr lang="en-US" smtClean="0">
                <a:solidFill>
                  <a:schemeClr val="tx1"/>
                </a:solidFill>
              </a:rPr>
              <a:pPr algn="ctr"/>
              <a:t>2</a:t>
            </a:fld>
            <a:endParaRPr lang="en-US" dirty="0">
              <a:solidFill>
                <a:schemeClr val="tx1"/>
              </a:solidFill>
            </a:endParaRPr>
          </a:p>
        </p:txBody>
      </p:sp>
    </p:spTree>
    <p:extLst>
      <p:ext uri="{BB962C8B-B14F-4D97-AF65-F5344CB8AC3E}">
        <p14:creationId xmlns:p14="http://schemas.microsoft.com/office/powerpoint/2010/main" val="1899874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Design Principles</a:t>
            </a:r>
          </a:p>
        </p:txBody>
      </p:sp>
      <p:sp>
        <p:nvSpPr>
          <p:cNvPr id="4" name="Subtitle 3"/>
          <p:cNvSpPr>
            <a:spLocks noGrp="1"/>
          </p:cNvSpPr>
          <p:nvPr>
            <p:ph type="subTitle" idx="1"/>
          </p:nvPr>
        </p:nvSpPr>
        <p:spPr>
          <a:xfrm>
            <a:off x="164892" y="1285719"/>
            <a:ext cx="8979108" cy="1752601"/>
          </a:xfrm>
        </p:spPr>
        <p:txBody>
          <a:bodyPr>
            <a:no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guidelines for evaluating software structure</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Ensures software is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flexible, reusable, and maintainable</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Covers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behavior modeling</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a:t>
            </a:r>
          </a:p>
          <a:p>
            <a:pPr marL="800100" lvl="1" indent="-342900" algn="l"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UML State Diagrams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algn="l"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UML Sequence Diagrams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2400" b="0" i="0" u="none" strike="noStrike" cap="none" normalizeH="0" baseline="0" dirty="0">
              <a:ln>
                <a:noFill/>
              </a:ln>
              <a:solidFill>
                <a:schemeClr val="tx1"/>
              </a:solidFill>
              <a:effectLst/>
              <a:latin typeface="Arial" panose="020B0604020202020204" pitchFamily="34"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3</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9" name="TextBox 8">
            <a:extLst>
              <a:ext uri="{FF2B5EF4-FFF2-40B4-BE49-F238E27FC236}">
                <a16:creationId xmlns:a16="http://schemas.microsoft.com/office/drawing/2014/main" id="{E176C879-84F7-F9F2-F10C-DBAFF4A4D4B7}"/>
              </a:ext>
            </a:extLst>
          </p:cNvPr>
          <p:cNvSpPr txBox="1"/>
          <p:nvPr/>
        </p:nvSpPr>
        <p:spPr>
          <a:xfrm>
            <a:off x="-35142" y="3065406"/>
            <a:ext cx="9283908" cy="2831544"/>
          </a:xfrm>
          <a:prstGeom prst="rect">
            <a:avLst/>
          </a:prstGeom>
          <a:noFill/>
        </p:spPr>
        <p:txBody>
          <a:bodyPr wrap="square">
            <a:spAutoFit/>
          </a:bodyPr>
          <a:lstStyle/>
          <a:p>
            <a:pPr marL="342900" indent="-342900">
              <a:buFont typeface="Wingdings" panose="05000000000000000000" pitchFamily="2" charset="2"/>
              <a:buChar char="u"/>
            </a:pPr>
            <a:r>
              <a:rPr lang="en-US" altLang="ja-JP" sz="2000" dirty="0">
                <a:latin typeface="Times New Roman" panose="02020603050405020304" pitchFamily="18" charset="0"/>
                <a:cs typeface="Times New Roman" panose="02020603050405020304" pitchFamily="18" charset="0"/>
              </a:rPr>
              <a:t>Evaluating Design Complexity</a:t>
            </a:r>
          </a:p>
          <a:p>
            <a:pPr marL="742950" lvl="1" indent="-285750"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Keep modules simple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avoid unnecessary complexity</a:t>
            </a:r>
          </a:p>
          <a:p>
            <a:pPr marL="742950" lvl="1" indent="-285750" eaLnBrk="0" fontAlgn="base" hangingPunct="0">
              <a:spcBef>
                <a:spcPct val="0"/>
              </a:spcBef>
              <a:spcAft>
                <a:spcPct val="0"/>
              </a:spcAft>
              <a:buFont typeface="Wingdings" panose="05000000000000000000" pitchFamily="2" charset="2"/>
              <a:buChar char="ü"/>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Excessive complexity →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harder to understand</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more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bugs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Evaluation of design complexity</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essential for quality assurance</a:t>
            </a:r>
          </a:p>
          <a:p>
            <a:pPr marL="742950" lvl="1" indent="-285750" eaLnBrk="0" fontAlgn="base" hangingPunct="0">
              <a:spcBef>
                <a:spcPct val="0"/>
              </a:spcBef>
              <a:spcAft>
                <a:spcPct val="0"/>
              </a:spcAft>
              <a:buFont typeface="Wingdings" panose="05000000000000000000" pitchFamily="2" charset="2"/>
              <a:buChar char="ü"/>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Complexity applies to:</a:t>
            </a:r>
          </a:p>
          <a:p>
            <a:pPr marL="1200150" lvl="2" indent="-285750"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Classes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200150" lvl="2" indent="-285750"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Methods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within classes</a:t>
            </a:r>
          </a:p>
          <a:p>
            <a:pPr marL="742950" lvl="1" indent="-285750" eaLnBrk="0" fontAlgn="base" hangingPunct="0">
              <a:spcBef>
                <a:spcPct val="0"/>
              </a:spcBef>
              <a:spcAft>
                <a:spcPct val="0"/>
              </a:spcAft>
              <a:buFont typeface="Wingdings" panose="05000000000000000000" pitchFamily="2" charset="2"/>
              <a:buChar char="ü"/>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this module,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"module" = program unit containing classes and methods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ja-JP" altLang="en-US" dirty="0"/>
          </a:p>
        </p:txBody>
      </p:sp>
    </p:spTree>
    <p:extLst>
      <p:ext uri="{BB962C8B-B14F-4D97-AF65-F5344CB8AC3E}">
        <p14:creationId xmlns:p14="http://schemas.microsoft.com/office/powerpoint/2010/main" val="3746177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sz="3600" b="1" dirty="0">
                <a:latin typeface="Times New Roman" pitchFamily="18" charset="0"/>
                <a:cs typeface="Times New Roman" pitchFamily="18" charset="0"/>
              </a:rPr>
              <a:t>Design Principles</a:t>
            </a:r>
          </a:p>
        </p:txBody>
      </p:sp>
      <p:sp>
        <p:nvSpPr>
          <p:cNvPr id="4" name="Subtitle 3"/>
          <p:cNvSpPr>
            <a:spLocks noGrp="1"/>
          </p:cNvSpPr>
          <p:nvPr>
            <p:ph type="subTitle" idx="1"/>
          </p:nvPr>
        </p:nvSpPr>
        <p:spPr>
          <a:xfrm>
            <a:off x="164892" y="1285719"/>
            <a:ext cx="8979108" cy="1752601"/>
          </a:xfrm>
        </p:spPr>
        <p:txBody>
          <a:bodyPr>
            <a:no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guidelines for evaluating software structure</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Ensures software is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flexible, reusable, and maintainable</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Covers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behavior modeling</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a:t>
            </a:r>
          </a:p>
          <a:p>
            <a:pPr marL="800100" lvl="1" indent="-342900" algn="l"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UML State Diagrams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algn="l"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UML Sequence Diagrams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2400" b="0" i="0" u="none" strike="noStrike" cap="none" normalizeH="0" baseline="0" dirty="0">
              <a:ln>
                <a:noFill/>
              </a:ln>
              <a:solidFill>
                <a:schemeClr val="tx1"/>
              </a:solidFill>
              <a:effectLst/>
              <a:latin typeface="Arial" panose="020B0604020202020204" pitchFamily="34"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4</a:t>
            </a:fld>
            <a:endParaRPr lang="en-US" dirty="0">
              <a:solidFill>
                <a:schemeClr val="tx1"/>
              </a:solidFill>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9" name="TextBox 8">
            <a:extLst>
              <a:ext uri="{FF2B5EF4-FFF2-40B4-BE49-F238E27FC236}">
                <a16:creationId xmlns:a16="http://schemas.microsoft.com/office/drawing/2014/main" id="{E176C879-84F7-F9F2-F10C-DBAFF4A4D4B7}"/>
              </a:ext>
            </a:extLst>
          </p:cNvPr>
          <p:cNvSpPr txBox="1"/>
          <p:nvPr/>
        </p:nvSpPr>
        <p:spPr>
          <a:xfrm>
            <a:off x="-35142" y="3065406"/>
            <a:ext cx="9283908" cy="2831544"/>
          </a:xfrm>
          <a:prstGeom prst="rect">
            <a:avLst/>
          </a:prstGeom>
          <a:noFill/>
        </p:spPr>
        <p:txBody>
          <a:bodyPr wrap="square">
            <a:spAutoFit/>
          </a:bodyPr>
          <a:lstStyle/>
          <a:p>
            <a:pPr marL="342900" indent="-342900">
              <a:buFont typeface="Wingdings" panose="05000000000000000000" pitchFamily="2" charset="2"/>
              <a:buChar char="u"/>
            </a:pPr>
            <a:r>
              <a:rPr lang="en-US" altLang="ja-JP" sz="2000" dirty="0">
                <a:latin typeface="Times New Roman" panose="02020603050405020304" pitchFamily="18" charset="0"/>
                <a:cs typeface="Times New Roman" panose="02020603050405020304" pitchFamily="18" charset="0"/>
              </a:rPr>
              <a:t>Evaluating Design Complexity</a:t>
            </a:r>
          </a:p>
          <a:p>
            <a:pPr marL="742950" lvl="1" indent="-285750"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Keep modules simple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avoid unnecessary complexity</a:t>
            </a:r>
          </a:p>
          <a:p>
            <a:pPr marL="742950" lvl="1" indent="-285750" eaLnBrk="0" fontAlgn="base" hangingPunct="0">
              <a:spcBef>
                <a:spcPct val="0"/>
              </a:spcBef>
              <a:spcAft>
                <a:spcPct val="0"/>
              </a:spcAft>
              <a:buFont typeface="Wingdings" panose="05000000000000000000" pitchFamily="2" charset="2"/>
              <a:buChar char="ü"/>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Excessive complexity →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harder to understand</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more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bugs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Evaluation of design complexity</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essential for quality assurance</a:t>
            </a:r>
          </a:p>
          <a:p>
            <a:pPr marL="742950" lvl="1" indent="-285750" eaLnBrk="0" fontAlgn="base" hangingPunct="0">
              <a:spcBef>
                <a:spcPct val="0"/>
              </a:spcBef>
              <a:spcAft>
                <a:spcPct val="0"/>
              </a:spcAft>
              <a:buFont typeface="Wingdings" panose="05000000000000000000" pitchFamily="2" charset="2"/>
              <a:buChar char="ü"/>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Complexity applies to:</a:t>
            </a:r>
          </a:p>
          <a:p>
            <a:pPr marL="1200150" lvl="2" indent="-285750"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Classes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200150" lvl="2" indent="-285750"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Methods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within classes</a:t>
            </a:r>
          </a:p>
          <a:p>
            <a:pPr marL="742950" lvl="1" indent="-285750" eaLnBrk="0" fontAlgn="base" hangingPunct="0">
              <a:spcBef>
                <a:spcPct val="0"/>
              </a:spcBef>
              <a:spcAft>
                <a:spcPct val="0"/>
              </a:spcAft>
              <a:buFont typeface="Wingdings" panose="05000000000000000000" pitchFamily="2" charset="2"/>
              <a:buChar char="ü"/>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this module,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"module" = program unit containing classes and methods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ja-JP" altLang="en-US" dirty="0"/>
          </a:p>
        </p:txBody>
      </p:sp>
      <p:pic>
        <p:nvPicPr>
          <p:cNvPr id="7" name="Picture 6">
            <a:extLst>
              <a:ext uri="{FF2B5EF4-FFF2-40B4-BE49-F238E27FC236}">
                <a16:creationId xmlns:a16="http://schemas.microsoft.com/office/drawing/2014/main" id="{9AA7BF88-B38E-AF17-4B9C-D624D0FA3A3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08376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0"/>
            <a:ext cx="8839200" cy="762000"/>
          </a:xfrm>
        </p:spPr>
        <p:style>
          <a:lnRef idx="2">
            <a:schemeClr val="accent6"/>
          </a:lnRef>
          <a:fillRef idx="1">
            <a:schemeClr val="lt1"/>
          </a:fillRef>
          <a:effectRef idx="0">
            <a:schemeClr val="accent6"/>
          </a:effectRef>
          <a:fontRef idx="minor">
            <a:schemeClr val="dk1"/>
          </a:fontRef>
        </p:style>
        <p:txBody>
          <a:bodyPr>
            <a:normAutofit fontScale="90000"/>
          </a:bodyPr>
          <a:lstStyle/>
          <a:p>
            <a:r>
              <a:rPr lang="en-US" altLang="ja-JP" sz="4800" b="1" dirty="0">
                <a:latin typeface="Times New Roman" pitchFamily="18" charset="0"/>
                <a:cs typeface="Times New Roman" pitchFamily="18" charset="0"/>
              </a:rPr>
              <a:t>System Design &amp; Module Interaction</a:t>
            </a:r>
          </a:p>
        </p:txBody>
      </p:sp>
      <p:sp>
        <p:nvSpPr>
          <p:cNvPr id="4" name="Subtitle 3"/>
          <p:cNvSpPr>
            <a:spLocks noGrp="1"/>
          </p:cNvSpPr>
          <p:nvPr>
            <p:ph type="subTitle" idx="1"/>
          </p:nvPr>
        </p:nvSpPr>
        <p:spPr>
          <a:xfrm>
            <a:off x="76200" y="795670"/>
            <a:ext cx="8839200" cy="5413744"/>
          </a:xfrm>
        </p:spPr>
        <p:txBody>
          <a:bodyPr>
            <a:noAutofit/>
          </a:bodyPr>
          <a:lstStyle/>
          <a:p>
            <a:pPr marL="342900" indent="-342900" algn="l">
              <a:buFont typeface="Wingdings" panose="05000000000000000000" pitchFamily="2" charset="2"/>
              <a:buChar char="ü"/>
            </a:pPr>
            <a:r>
              <a:rPr lang="en-US" altLang="ja-JP" sz="2000" b="1" dirty="0">
                <a:solidFill>
                  <a:schemeClr val="tx1"/>
                </a:solidFill>
                <a:latin typeface="Times New Roman" panose="02020603050405020304" pitchFamily="18" charset="0"/>
                <a:cs typeface="Times New Roman" panose="02020603050405020304" pitchFamily="18" charset="0"/>
              </a:rPr>
              <a:t>System = combination of modules</a:t>
            </a:r>
            <a:endParaRPr lang="en-US" altLang="ja-JP" sz="2000" dirty="0">
              <a:solidFill>
                <a:schemeClr val="tx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r>
              <a:rPr lang="en-US" altLang="ja-JP" sz="2000" b="1" dirty="0">
                <a:solidFill>
                  <a:schemeClr val="tx1"/>
                </a:solidFill>
                <a:latin typeface="Times New Roman" panose="02020603050405020304" pitchFamily="18" charset="0"/>
                <a:cs typeface="Times New Roman" panose="02020603050405020304" pitchFamily="18" charset="0"/>
              </a:rPr>
              <a:t>Bad design</a:t>
            </a:r>
            <a:r>
              <a:rPr lang="en-US" altLang="ja-JP" sz="2000" dirty="0">
                <a:solidFill>
                  <a:schemeClr val="tx1"/>
                </a:solidFill>
                <a:latin typeface="Times New Roman" panose="02020603050405020304" pitchFamily="18" charset="0"/>
                <a:cs typeface="Times New Roman" panose="02020603050405020304" pitchFamily="18" charset="0"/>
              </a:rPr>
              <a:t>:</a:t>
            </a:r>
          </a:p>
          <a:p>
            <a:pPr marL="800100" lvl="1"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Modules can connect only to specific modules</a:t>
            </a:r>
          </a:p>
          <a:p>
            <a:pPr marL="800100" lvl="1"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Limits flexibility and reuse</a:t>
            </a:r>
          </a:p>
          <a:p>
            <a:pPr marL="342900" indent="-342900" algn="l">
              <a:buFont typeface="Wingdings" panose="05000000000000000000" pitchFamily="2" charset="2"/>
              <a:buChar char="ü"/>
            </a:pPr>
            <a:r>
              <a:rPr lang="en-US" altLang="ja-JP" sz="2000" b="1" dirty="0">
                <a:solidFill>
                  <a:schemeClr val="tx1"/>
                </a:solidFill>
                <a:latin typeface="Times New Roman" panose="02020603050405020304" pitchFamily="18" charset="0"/>
                <a:cs typeface="Times New Roman" panose="02020603050405020304" pitchFamily="18" charset="0"/>
              </a:rPr>
              <a:t>Good design</a:t>
            </a:r>
            <a:r>
              <a:rPr lang="en-US" altLang="ja-JP" sz="2000" dirty="0">
                <a:solidFill>
                  <a:schemeClr val="tx1"/>
                </a:solidFill>
                <a:latin typeface="Times New Roman" panose="02020603050405020304" pitchFamily="18" charset="0"/>
                <a:cs typeface="Times New Roman" panose="02020603050405020304" pitchFamily="18" charset="0"/>
              </a:rPr>
              <a:t>:</a:t>
            </a:r>
          </a:p>
          <a:p>
            <a:pPr marL="800100" lvl="1"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Modules are </a:t>
            </a:r>
            <a:r>
              <a:rPr lang="en-US" altLang="ja-JP" sz="2000" b="1" dirty="0">
                <a:solidFill>
                  <a:schemeClr val="tx1"/>
                </a:solidFill>
                <a:latin typeface="Times New Roman" panose="02020603050405020304" pitchFamily="18" charset="0"/>
                <a:cs typeface="Times New Roman" panose="02020603050405020304" pitchFamily="18" charset="0"/>
              </a:rPr>
              <a:t>compatible</a:t>
            </a:r>
            <a:r>
              <a:rPr lang="en-US" altLang="ja-JP" sz="2000" dirty="0">
                <a:solidFill>
                  <a:schemeClr val="tx1"/>
                </a:solidFill>
                <a:latin typeface="Times New Roman" panose="02020603050405020304" pitchFamily="18" charset="0"/>
                <a:cs typeface="Times New Roman" panose="02020603050405020304" pitchFamily="18" charset="0"/>
              </a:rPr>
              <a:t> with each other</a:t>
            </a:r>
          </a:p>
          <a:p>
            <a:pPr marL="800100" lvl="1"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Can be </a:t>
            </a:r>
            <a:r>
              <a:rPr lang="en-US" altLang="ja-JP" sz="2000" b="1" dirty="0">
                <a:solidFill>
                  <a:schemeClr val="tx1"/>
                </a:solidFill>
                <a:latin typeface="Times New Roman" panose="02020603050405020304" pitchFamily="18" charset="0"/>
                <a:cs typeface="Times New Roman" panose="02020603050405020304" pitchFamily="18" charset="0"/>
              </a:rPr>
              <a:t>easily connected</a:t>
            </a:r>
            <a:r>
              <a:rPr lang="en-US" altLang="ja-JP" sz="2000" dirty="0">
                <a:solidFill>
                  <a:schemeClr val="tx1"/>
                </a:solidFill>
                <a:latin typeface="Times New Roman" panose="02020603050405020304" pitchFamily="18" charset="0"/>
                <a:cs typeface="Times New Roman" panose="02020603050405020304" pitchFamily="18" charset="0"/>
              </a:rPr>
              <a:t> and </a:t>
            </a:r>
            <a:r>
              <a:rPr lang="en-US" altLang="ja-JP" sz="2000" b="1" dirty="0">
                <a:solidFill>
                  <a:schemeClr val="tx1"/>
                </a:solidFill>
                <a:latin typeface="Times New Roman" panose="02020603050405020304" pitchFamily="18" charset="0"/>
                <a:cs typeface="Times New Roman" panose="02020603050405020304" pitchFamily="18" charset="0"/>
              </a:rPr>
              <a:t>re-used</a:t>
            </a:r>
          </a:p>
          <a:p>
            <a:pPr marL="342900" indent="-342900" algn="l">
              <a:buFont typeface="Wingdings" panose="05000000000000000000" pitchFamily="2" charset="2"/>
              <a:buChar char="ü"/>
            </a:pPr>
            <a:r>
              <a:rPr lang="en-US" altLang="ja-JP" sz="2000" b="1" dirty="0">
                <a:solidFill>
                  <a:schemeClr val="tx1"/>
                </a:solidFill>
                <a:latin typeface="Times New Roman" panose="02020603050405020304" pitchFamily="18" charset="0"/>
                <a:cs typeface="Times New Roman" panose="02020603050405020304" pitchFamily="18" charset="0"/>
              </a:rPr>
              <a:t>Evaluating Design Complexity</a:t>
            </a:r>
          </a:p>
          <a:p>
            <a:pPr marL="800100" lvl="1" indent="-342900" algn="l">
              <a:buFont typeface="Wingdings" panose="05000000000000000000" pitchFamily="2" charset="2"/>
              <a:buChar char="Ø"/>
            </a:pPr>
            <a:r>
              <a:rPr lang="en-US" altLang="ja-JP" sz="2000" b="1" dirty="0">
                <a:solidFill>
                  <a:schemeClr val="tx1"/>
                </a:solidFill>
                <a:latin typeface="Times New Roman" panose="02020603050405020304" pitchFamily="18" charset="0"/>
                <a:cs typeface="Times New Roman" panose="02020603050405020304" pitchFamily="18" charset="0"/>
              </a:rPr>
              <a:t>Coupling</a:t>
            </a:r>
            <a:r>
              <a:rPr lang="en-US" altLang="ja-JP" sz="2000" dirty="0">
                <a:solidFill>
                  <a:schemeClr val="tx1"/>
                </a:solidFill>
                <a:latin typeface="Times New Roman" panose="02020603050405020304" pitchFamily="18" charset="0"/>
                <a:cs typeface="Times New Roman" panose="02020603050405020304" pitchFamily="18" charset="0"/>
              </a:rPr>
              <a:t> (Interdependence between modules)– degree of interdependence between modules</a:t>
            </a:r>
          </a:p>
          <a:p>
            <a:pPr marL="800100" lvl="1" indent="-342900" algn="l">
              <a:buFont typeface="Wingdings" panose="05000000000000000000" pitchFamily="2" charset="2"/>
              <a:buChar char="Ø"/>
            </a:pPr>
            <a:r>
              <a:rPr lang="en-US" altLang="ja-JP" sz="2000" b="1" dirty="0">
                <a:solidFill>
                  <a:schemeClr val="tx1"/>
                </a:solidFill>
                <a:latin typeface="Times New Roman" panose="02020603050405020304" pitchFamily="18" charset="0"/>
                <a:cs typeface="Times New Roman" panose="02020603050405020304" pitchFamily="18" charset="0"/>
              </a:rPr>
              <a:t>Cohesion</a:t>
            </a:r>
            <a:r>
              <a:rPr lang="en-US" altLang="ja-JP" sz="2000" dirty="0">
                <a:solidFill>
                  <a:schemeClr val="tx1"/>
                </a:solidFill>
                <a:latin typeface="Times New Roman" panose="02020603050405020304" pitchFamily="18" charset="0"/>
                <a:cs typeface="Times New Roman" panose="02020603050405020304" pitchFamily="18" charset="0"/>
              </a:rPr>
              <a:t> (How well a single module works internally)– degree to which elements within a module work together</a:t>
            </a:r>
          </a:p>
          <a:p>
            <a:pPr marL="342900" indent="-342900" algn="l">
              <a:buFont typeface="Wingdings" panose="05000000000000000000" pitchFamily="2" charset="2"/>
              <a:buChar char="ü"/>
            </a:pPr>
            <a:endParaRPr lang="en-US" altLang="ja-JP" sz="24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5</a:t>
            </a:fld>
            <a:endParaRPr lang="en-US" dirty="0">
              <a:solidFill>
                <a:schemeClr val="tx1"/>
              </a:solidFill>
            </a:endParaRPr>
          </a:p>
        </p:txBody>
      </p:sp>
    </p:spTree>
    <p:extLst>
      <p:ext uri="{BB962C8B-B14F-4D97-AF65-F5344CB8AC3E}">
        <p14:creationId xmlns:p14="http://schemas.microsoft.com/office/powerpoint/2010/main" val="2354958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altLang="ja-JP" sz="4800" b="1" dirty="0">
                <a:latin typeface="Times New Roman" pitchFamily="18" charset="0"/>
                <a:cs typeface="Times New Roman" pitchFamily="18" charset="0"/>
              </a:rPr>
              <a:t>Coupling in Software Design</a:t>
            </a:r>
          </a:p>
        </p:txBody>
      </p:sp>
      <p:sp>
        <p:nvSpPr>
          <p:cNvPr id="4" name="Subtitle 3"/>
          <p:cNvSpPr>
            <a:spLocks noGrp="1"/>
          </p:cNvSpPr>
          <p:nvPr>
            <p:ph type="subTitle" idx="1"/>
          </p:nvPr>
        </p:nvSpPr>
        <p:spPr>
          <a:xfrm>
            <a:off x="76200" y="1222744"/>
            <a:ext cx="8839200" cy="5638800"/>
          </a:xfrm>
        </p:spPr>
        <p:txBody>
          <a:bodyPr>
            <a:no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Definition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Measures complexity between a module and other modules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Types of Coupling</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800100" lvl="1" indent="-342900" algn="l"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Tight Coupling (Bad Design)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module heavily depends on others</a:t>
            </a:r>
          </a:p>
          <a:p>
            <a:pPr marL="800100" lvl="1" indent="-342900" algn="l"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Loose Coupling (Good Design)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module connects via well-defined interfaces</a:t>
            </a:r>
          </a:p>
          <a:p>
            <a:pPr marL="342900" indent="-342900" algn="l">
              <a:buFont typeface="Wingdings" panose="05000000000000000000" pitchFamily="2" charset="2"/>
              <a:buChar char="u"/>
            </a:pPr>
            <a:r>
              <a:rPr lang="en-US" altLang="ja-JP" sz="2000" b="1" dirty="0">
                <a:solidFill>
                  <a:schemeClr val="tx1"/>
                </a:solidFill>
                <a:latin typeface="Times New Roman" panose="02020603050405020304" pitchFamily="18" charset="0"/>
                <a:cs typeface="Times New Roman" panose="02020603050405020304" pitchFamily="18" charset="0"/>
              </a:rPr>
              <a:t>Metrics to Evaluate Coupling</a:t>
            </a:r>
          </a:p>
          <a:p>
            <a:pPr marL="342900" indent="-342900" algn="l">
              <a:buFont typeface="Wingdings" panose="05000000000000000000" pitchFamily="2" charset="2"/>
              <a:buChar char="ü"/>
            </a:pPr>
            <a:r>
              <a:rPr lang="en-US" altLang="ja-JP" sz="2000" b="1" dirty="0">
                <a:solidFill>
                  <a:schemeClr val="tx1"/>
                </a:solidFill>
                <a:latin typeface="Times New Roman" panose="02020603050405020304" pitchFamily="18" charset="0"/>
                <a:cs typeface="Times New Roman" panose="02020603050405020304" pitchFamily="18" charset="0"/>
              </a:rPr>
              <a:t>Degree</a:t>
            </a:r>
            <a:r>
              <a:rPr lang="en-US" altLang="ja-JP" sz="2000" dirty="0">
                <a:solidFill>
                  <a:schemeClr val="tx1"/>
                </a:solidFill>
                <a:latin typeface="Times New Roman" panose="02020603050405020304" pitchFamily="18" charset="0"/>
                <a:cs typeface="Times New Roman" panose="02020603050405020304" pitchFamily="18" charset="0"/>
              </a:rPr>
              <a:t> – number of connections</a:t>
            </a:r>
          </a:p>
          <a:p>
            <a:pPr marL="800100" lvl="1"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Fewer connections → </a:t>
            </a:r>
            <a:r>
              <a:rPr lang="en-US" altLang="ja-JP" sz="2000" b="1" dirty="0">
                <a:solidFill>
                  <a:schemeClr val="tx1"/>
                </a:solidFill>
                <a:latin typeface="Times New Roman" panose="02020603050405020304" pitchFamily="18" charset="0"/>
                <a:cs typeface="Times New Roman" panose="02020603050405020304" pitchFamily="18" charset="0"/>
              </a:rPr>
              <a:t>looser coupling</a:t>
            </a:r>
            <a:endParaRPr lang="en-US" altLang="ja-JP" sz="2000" dirty="0">
              <a:solidFill>
                <a:schemeClr val="tx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r>
              <a:rPr lang="en-US" altLang="ja-JP" sz="2000" b="1" dirty="0">
                <a:solidFill>
                  <a:schemeClr val="tx1"/>
                </a:solidFill>
                <a:latin typeface="Times New Roman" panose="02020603050405020304" pitchFamily="18" charset="0"/>
                <a:cs typeface="Times New Roman" panose="02020603050405020304" pitchFamily="18" charset="0"/>
              </a:rPr>
              <a:t>Ease</a:t>
            </a:r>
            <a:r>
              <a:rPr lang="en-US" altLang="ja-JP" sz="2000" dirty="0">
                <a:solidFill>
                  <a:schemeClr val="tx1"/>
                </a:solidFill>
                <a:latin typeface="Times New Roman" panose="02020603050405020304" pitchFamily="18" charset="0"/>
                <a:cs typeface="Times New Roman" panose="02020603050405020304" pitchFamily="18" charset="0"/>
              </a:rPr>
              <a:t> – clarity of connections</a:t>
            </a:r>
          </a:p>
          <a:p>
            <a:pPr marL="800100" lvl="1"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Should not require understanding internal details of other modules</a:t>
            </a:r>
          </a:p>
          <a:p>
            <a:pPr marL="342900" indent="-342900" algn="l">
              <a:buFont typeface="Wingdings" panose="05000000000000000000" pitchFamily="2" charset="2"/>
              <a:buChar char="ü"/>
            </a:pPr>
            <a:r>
              <a:rPr lang="en-US" altLang="ja-JP" sz="2000" b="1" dirty="0">
                <a:solidFill>
                  <a:schemeClr val="tx1"/>
                </a:solidFill>
                <a:latin typeface="Times New Roman" panose="02020603050405020304" pitchFamily="18" charset="0"/>
                <a:cs typeface="Times New Roman" panose="02020603050405020304" pitchFamily="18" charset="0"/>
              </a:rPr>
              <a:t>Flexibility</a:t>
            </a:r>
            <a:r>
              <a:rPr lang="en-US" altLang="ja-JP" sz="2000" dirty="0">
                <a:solidFill>
                  <a:schemeClr val="tx1"/>
                </a:solidFill>
                <a:latin typeface="Times New Roman" panose="02020603050405020304" pitchFamily="18" charset="0"/>
                <a:cs typeface="Times New Roman" panose="02020603050405020304" pitchFamily="18" charset="0"/>
              </a:rPr>
              <a:t> – interchangeability</a:t>
            </a:r>
          </a:p>
          <a:p>
            <a:pPr marL="800100" lvl="1"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Modules should be </a:t>
            </a:r>
            <a:r>
              <a:rPr lang="en-US" altLang="ja-JP" sz="2000" b="1" dirty="0">
                <a:solidFill>
                  <a:schemeClr val="tx1"/>
                </a:solidFill>
                <a:latin typeface="Times New Roman" panose="02020603050405020304" pitchFamily="18" charset="0"/>
                <a:cs typeface="Times New Roman" panose="02020603050405020304" pitchFamily="18" charset="0"/>
              </a:rPr>
              <a:t>easily replaceable</a:t>
            </a:r>
            <a:endParaRPr lang="en-US" altLang="ja-JP" sz="2000" dirty="0">
              <a:solidFill>
                <a:schemeClr val="tx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r>
              <a:rPr lang="en-US" altLang="ja-JP" sz="2000" b="1" dirty="0">
                <a:solidFill>
                  <a:schemeClr val="tx1"/>
                </a:solidFill>
                <a:latin typeface="Times New Roman" panose="02020603050405020304" pitchFamily="18" charset="0"/>
                <a:cs typeface="Times New Roman" panose="02020603050405020304" pitchFamily="18" charset="0"/>
              </a:rPr>
              <a:t>Signs of Tight Coupling (Bad Design)</a:t>
            </a:r>
          </a:p>
          <a:p>
            <a:pPr marL="342900"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Too many parameters or interfaces in connections</a:t>
            </a:r>
          </a:p>
          <a:p>
            <a:pPr marL="342900"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Difficulty finding corresponding modules</a:t>
            </a:r>
          </a:p>
          <a:p>
            <a:pPr marL="342900"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Module can only connect to </a:t>
            </a:r>
            <a:r>
              <a:rPr lang="en-US" altLang="ja-JP" sz="2000" b="1" dirty="0">
                <a:solidFill>
                  <a:schemeClr val="tx1"/>
                </a:solidFill>
                <a:latin typeface="Times New Roman" panose="02020603050405020304" pitchFamily="18" charset="0"/>
                <a:cs typeface="Times New Roman" panose="02020603050405020304" pitchFamily="18" charset="0"/>
              </a:rPr>
              <a:t>specific modules</a:t>
            </a:r>
            <a:r>
              <a:rPr lang="en-US" altLang="ja-JP" sz="2000" dirty="0">
                <a:solidFill>
                  <a:schemeClr val="tx1"/>
                </a:solidFill>
                <a:latin typeface="Times New Roman" panose="02020603050405020304" pitchFamily="18" charset="0"/>
                <a:cs typeface="Times New Roman" panose="02020603050405020304" pitchFamily="18" charset="0"/>
              </a:rPr>
              <a:t> (not interchangeable)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2000" b="0" i="0" u="none" strike="noStrike" cap="none" normalizeH="0" baseline="0" dirty="0">
              <a:ln>
                <a:noFill/>
              </a:ln>
              <a:solidFill>
                <a:schemeClr val="tx1"/>
              </a:solidFill>
              <a:effectLst/>
              <a:latin typeface="Arial" panose="020B0604020202020204" pitchFamily="34"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6</a:t>
            </a:fld>
            <a:endParaRPr lang="en-US" dirty="0">
              <a:solidFill>
                <a:schemeClr val="tx1"/>
              </a:solidFill>
            </a:endParaRPr>
          </a:p>
        </p:txBody>
      </p:sp>
    </p:spTree>
    <p:extLst>
      <p:ext uri="{BB962C8B-B14F-4D97-AF65-F5344CB8AC3E}">
        <p14:creationId xmlns:p14="http://schemas.microsoft.com/office/powerpoint/2010/main" val="3270253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442" y="26581"/>
            <a:ext cx="9144000" cy="990600"/>
          </a:xfrm>
        </p:spPr>
        <p:style>
          <a:lnRef idx="2">
            <a:schemeClr val="accent6"/>
          </a:lnRef>
          <a:fillRef idx="1">
            <a:schemeClr val="lt1"/>
          </a:fillRef>
          <a:effectRef idx="0">
            <a:schemeClr val="accent6"/>
          </a:effectRef>
          <a:fontRef idx="minor">
            <a:schemeClr val="dk1"/>
          </a:fontRef>
        </p:style>
        <p:txBody>
          <a:bodyPr>
            <a:noAutofit/>
          </a:bodyPr>
          <a:lstStyle/>
          <a:p>
            <a:r>
              <a:rPr lang="en-US" altLang="ja-JP" sz="3600" b="1" dirty="0">
                <a:latin typeface="Times New Roman" pitchFamily="18" charset="0"/>
                <a:cs typeface="Times New Roman" pitchFamily="18" charset="0"/>
              </a:rPr>
              <a:t>Coupling (Interdependence between modules)</a:t>
            </a:r>
          </a:p>
        </p:txBody>
      </p:sp>
      <p:sp>
        <p:nvSpPr>
          <p:cNvPr id="4" name="Subtitle 3"/>
          <p:cNvSpPr>
            <a:spLocks noGrp="1"/>
          </p:cNvSpPr>
          <p:nvPr>
            <p:ph type="subTitle" idx="1"/>
          </p:nvPr>
        </p:nvSpPr>
        <p:spPr>
          <a:xfrm>
            <a:off x="69112" y="1123581"/>
            <a:ext cx="9039446" cy="5638800"/>
          </a:xfrm>
        </p:spPr>
        <p:txBody>
          <a:bodyPr>
            <a:no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Tight Coupling (Bad Design/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Coupling):</a:t>
            </a:r>
            <a:b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Suppose the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Traffic Management Module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directly depends on the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Waste Management Module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update road availability. For example, traffic routes can only be updated if the waste collection module first finishes its update.</a:t>
            </a:r>
          </a:p>
          <a:p>
            <a:pPr marL="800100" lvl="1" indent="-34290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the waste system fails, the traffic system also fails.</a:t>
            </a:r>
          </a:p>
          <a:p>
            <a:pPr marL="800100" lvl="1" indent="-34290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makes the system rigid and hard to maintain.</a:t>
            </a:r>
            <a:endParaRPr kumimoji="0" lang="en-US"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spcBef>
                <a:spcPct val="0"/>
              </a:spcBef>
              <a:spcAft>
                <a:spcPct val="0"/>
              </a:spcAft>
            </a:pP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Loose Coupling (Good Design/</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 Coupling):</a:t>
            </a:r>
            <a:b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Traffic Management Module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just reads from a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shared database or service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(e.g., a central “City Resource Service”) that contains road availability. The Waste Management Module also updates the same database, but they don’t directly depend on each other.</a:t>
            </a:r>
          </a:p>
          <a:p>
            <a:pPr marL="800100" lvl="1" indent="-34290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waste management fails, traffic still works with the last available data.</a:t>
            </a:r>
          </a:p>
          <a:p>
            <a:pPr marL="800100" lvl="1" indent="-34290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Modules can evolve independently and be reused in other cities.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2000" b="0" i="0" u="none" strike="noStrike" cap="none" normalizeH="0" baseline="0" dirty="0">
              <a:ln>
                <a:noFill/>
              </a:ln>
              <a:solidFill>
                <a:schemeClr val="tx1"/>
              </a:solidFill>
              <a:effectLst/>
              <a:latin typeface="Arial" panose="020B0604020202020204" pitchFamily="34"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7</a:t>
            </a:fld>
            <a:endParaRPr lang="en-US" dirty="0">
              <a:solidFill>
                <a:schemeClr val="tx1"/>
              </a:solidFill>
            </a:endParaRPr>
          </a:p>
        </p:txBody>
      </p:sp>
    </p:spTree>
    <p:extLst>
      <p:ext uri="{BB962C8B-B14F-4D97-AF65-F5344CB8AC3E}">
        <p14:creationId xmlns:p14="http://schemas.microsoft.com/office/powerpoint/2010/main" val="2212286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altLang="ja-JP" sz="4800" b="1" dirty="0">
                <a:latin typeface="Times New Roman" pitchFamily="18" charset="0"/>
                <a:cs typeface="Times New Roman" pitchFamily="18" charset="0"/>
              </a:rPr>
              <a:t>Cohesion in Software Design</a:t>
            </a:r>
          </a:p>
        </p:txBody>
      </p:sp>
      <p:sp>
        <p:nvSpPr>
          <p:cNvPr id="4" name="Subtitle 3"/>
          <p:cNvSpPr>
            <a:spLocks noGrp="1"/>
          </p:cNvSpPr>
          <p:nvPr>
            <p:ph type="subTitle" idx="1"/>
          </p:nvPr>
        </p:nvSpPr>
        <p:spPr>
          <a:xfrm>
            <a:off x="76200" y="1222744"/>
            <a:ext cx="8839200" cy="5638800"/>
          </a:xfrm>
        </p:spPr>
        <p:txBody>
          <a:bodyPr>
            <a:no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Definition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Focuses on complexity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within a module</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Types of Cohesion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800100" lvl="1" indent="-342900" algn="l"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Cohesion (Good Design)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module has a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clear, single purpose</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algn="l"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 Cohesion (Bad Design)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module has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multiple or unclear responsibilities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r>
              <a:rPr lang="en-US" altLang="ja-JP" sz="2400" b="1" dirty="0">
                <a:solidFill>
                  <a:schemeClr val="tx1"/>
                </a:solidFill>
                <a:latin typeface="Times New Roman" panose="02020603050405020304" pitchFamily="18" charset="0"/>
                <a:cs typeface="Times New Roman" panose="02020603050405020304" pitchFamily="18" charset="0"/>
              </a:rPr>
              <a:t>Characteristics</a:t>
            </a:r>
          </a:p>
          <a:p>
            <a:pPr marL="800100" lvl="1" indent="-342900" algn="l">
              <a:buFont typeface="Wingdings" panose="05000000000000000000" pitchFamily="2" charset="2"/>
              <a:buChar char="ü"/>
            </a:pPr>
            <a:r>
              <a:rPr lang="en-US" altLang="ja-JP" sz="2000" b="1" dirty="0">
                <a:solidFill>
                  <a:schemeClr val="tx1"/>
                </a:solidFill>
                <a:latin typeface="Times New Roman" panose="02020603050405020304" pitchFamily="18" charset="0"/>
                <a:cs typeface="Times New Roman" panose="02020603050405020304" pitchFamily="18" charset="0"/>
              </a:rPr>
              <a:t>High Cohesion</a:t>
            </a:r>
            <a:r>
              <a:rPr lang="en-US" altLang="ja-JP" sz="2000" dirty="0">
                <a:solidFill>
                  <a:schemeClr val="tx1"/>
                </a:solidFill>
                <a:latin typeface="Times New Roman" panose="02020603050405020304" pitchFamily="18" charset="0"/>
                <a:cs typeface="Times New Roman" panose="02020603050405020304" pitchFamily="18" charset="0"/>
              </a:rPr>
              <a:t>:</a:t>
            </a:r>
          </a:p>
          <a:p>
            <a:pPr marL="1257300" lvl="2"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Module performs </a:t>
            </a:r>
            <a:r>
              <a:rPr lang="en-US" altLang="ja-JP" sz="2000" b="1" dirty="0">
                <a:solidFill>
                  <a:schemeClr val="tx1"/>
                </a:solidFill>
                <a:latin typeface="Times New Roman" panose="02020603050405020304" pitchFamily="18" charset="0"/>
                <a:cs typeface="Times New Roman" panose="02020603050405020304" pitchFamily="18" charset="0"/>
              </a:rPr>
              <a:t>one task only</a:t>
            </a:r>
            <a:endParaRPr lang="en-US" altLang="ja-JP" sz="2000" dirty="0">
              <a:solidFill>
                <a:schemeClr val="tx1"/>
              </a:solidFill>
              <a:latin typeface="Times New Roman" panose="02020603050405020304" pitchFamily="18" charset="0"/>
              <a:cs typeface="Times New Roman" panose="02020603050405020304" pitchFamily="18" charset="0"/>
            </a:endParaRPr>
          </a:p>
          <a:p>
            <a:pPr marL="1257300" lvl="2"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Purpose is </a:t>
            </a:r>
            <a:r>
              <a:rPr lang="en-US" altLang="ja-JP" sz="2000" b="1" dirty="0">
                <a:solidFill>
                  <a:schemeClr val="tx1"/>
                </a:solidFill>
                <a:latin typeface="Times New Roman" panose="02020603050405020304" pitchFamily="18" charset="0"/>
                <a:cs typeface="Times New Roman" panose="02020603050405020304" pitchFamily="18" charset="0"/>
              </a:rPr>
              <a:t>clear and easy to understand</a:t>
            </a:r>
            <a:endParaRPr lang="en-US" altLang="ja-JP" sz="2000" dirty="0">
              <a:solidFill>
                <a:schemeClr val="tx1"/>
              </a:solidFill>
              <a:latin typeface="Times New Roman" panose="02020603050405020304" pitchFamily="18" charset="0"/>
              <a:cs typeface="Times New Roman" panose="02020603050405020304" pitchFamily="18" charset="0"/>
            </a:endParaRPr>
          </a:p>
          <a:p>
            <a:pPr marL="800100" lvl="1" indent="-342900" algn="l">
              <a:buFont typeface="Wingdings" panose="05000000000000000000" pitchFamily="2" charset="2"/>
              <a:buChar char="ü"/>
            </a:pPr>
            <a:r>
              <a:rPr lang="en-US" altLang="ja-JP" sz="2000" b="1" dirty="0">
                <a:solidFill>
                  <a:schemeClr val="tx1"/>
                </a:solidFill>
                <a:latin typeface="Times New Roman" panose="02020603050405020304" pitchFamily="18" charset="0"/>
                <a:cs typeface="Times New Roman" panose="02020603050405020304" pitchFamily="18" charset="0"/>
              </a:rPr>
              <a:t>Low Cohesion</a:t>
            </a:r>
            <a:r>
              <a:rPr lang="en-US" altLang="ja-JP" sz="2000" dirty="0">
                <a:solidFill>
                  <a:schemeClr val="tx1"/>
                </a:solidFill>
                <a:latin typeface="Times New Roman" panose="02020603050405020304" pitchFamily="18" charset="0"/>
                <a:cs typeface="Times New Roman" panose="02020603050405020304" pitchFamily="18" charset="0"/>
              </a:rPr>
              <a:t>:</a:t>
            </a:r>
          </a:p>
          <a:p>
            <a:pPr marL="1257300" lvl="2"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Module performs </a:t>
            </a:r>
            <a:r>
              <a:rPr lang="en-US" altLang="ja-JP" sz="2000" b="1" dirty="0">
                <a:solidFill>
                  <a:schemeClr val="tx1"/>
                </a:solidFill>
                <a:latin typeface="Times New Roman" panose="02020603050405020304" pitchFamily="18" charset="0"/>
                <a:cs typeface="Times New Roman" panose="02020603050405020304" pitchFamily="18" charset="0"/>
              </a:rPr>
              <a:t>multiple unrelated tasks</a:t>
            </a:r>
            <a:endParaRPr lang="en-US" altLang="ja-JP" sz="2000" dirty="0">
              <a:solidFill>
                <a:schemeClr val="tx1"/>
              </a:solidFill>
              <a:latin typeface="Times New Roman" panose="02020603050405020304" pitchFamily="18" charset="0"/>
              <a:cs typeface="Times New Roman" panose="02020603050405020304" pitchFamily="18" charset="0"/>
            </a:endParaRPr>
          </a:p>
          <a:p>
            <a:pPr marL="1257300" lvl="2"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Purpose is unclear → harder to maintain</a:t>
            </a:r>
          </a:p>
          <a:p>
            <a:pPr marL="1257300" lvl="2"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Encapsulation must be broken to understand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2000" b="0" i="0" u="none" strike="noStrike" cap="none" normalizeH="0" baseline="0" dirty="0">
              <a:ln>
                <a:noFill/>
              </a:ln>
              <a:solidFill>
                <a:schemeClr val="tx1"/>
              </a:solidFill>
              <a:effectLst/>
              <a:latin typeface="Arial" panose="020B0604020202020204" pitchFamily="34"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8</a:t>
            </a:fld>
            <a:endParaRPr lang="en-US" dirty="0">
              <a:solidFill>
                <a:schemeClr val="tx1"/>
              </a:solidFill>
            </a:endParaRPr>
          </a:p>
        </p:txBody>
      </p:sp>
    </p:spTree>
    <p:extLst>
      <p:ext uri="{BB962C8B-B14F-4D97-AF65-F5344CB8AC3E}">
        <p14:creationId xmlns:p14="http://schemas.microsoft.com/office/powerpoint/2010/main" val="339256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altLang="ja-JP" sz="4800" b="1" dirty="0">
                <a:latin typeface="Times New Roman" pitchFamily="18" charset="0"/>
                <a:cs typeface="Times New Roman" pitchFamily="18" charset="0"/>
              </a:rPr>
              <a:t>Cohesion in Software Design</a:t>
            </a:r>
          </a:p>
        </p:txBody>
      </p:sp>
      <p:sp>
        <p:nvSpPr>
          <p:cNvPr id="4" name="Subtitle 3"/>
          <p:cNvSpPr>
            <a:spLocks noGrp="1"/>
          </p:cNvSpPr>
          <p:nvPr>
            <p:ph type="subTitle" idx="1"/>
          </p:nvPr>
        </p:nvSpPr>
        <p:spPr>
          <a:xfrm>
            <a:off x="76200" y="1222744"/>
            <a:ext cx="8839200" cy="2053856"/>
          </a:xfrm>
        </p:spPr>
        <p:txBody>
          <a:bodyPr>
            <a:noAutofit/>
          </a:bodyPr>
          <a:lstStyle/>
          <a:p>
            <a:pPr marL="342900" indent="-342900" algn="l">
              <a:buFont typeface="Wingdings" panose="05000000000000000000" pitchFamily="2" charset="2"/>
              <a:buChar char="ü"/>
            </a:pPr>
            <a:r>
              <a:rPr lang="en-US" altLang="ja-JP" sz="2000" b="1" dirty="0">
                <a:solidFill>
                  <a:schemeClr val="tx1"/>
                </a:solidFill>
                <a:latin typeface="Times New Roman" panose="02020603050405020304" pitchFamily="18" charset="0"/>
                <a:cs typeface="Times New Roman" panose="02020603050405020304" pitchFamily="18" charset="0"/>
              </a:rPr>
              <a:t>Balancing Cohesion &amp; Coupling</a:t>
            </a:r>
          </a:p>
          <a:p>
            <a:pPr marL="800100" lvl="1" indent="-342900" algn="l">
              <a:buFont typeface="Wingdings" panose="05000000000000000000" pitchFamily="2" charset="2"/>
              <a:buChar char="Ø"/>
            </a:pPr>
            <a:r>
              <a:rPr lang="en-US" altLang="ja-JP" sz="2000" b="1" dirty="0">
                <a:solidFill>
                  <a:schemeClr val="tx1"/>
                </a:solidFill>
                <a:latin typeface="Times New Roman" panose="02020603050405020304" pitchFamily="18" charset="0"/>
                <a:cs typeface="Times New Roman" panose="02020603050405020304" pitchFamily="18" charset="0"/>
              </a:rPr>
              <a:t>Goal</a:t>
            </a:r>
            <a:r>
              <a:rPr lang="en-US" altLang="ja-JP" sz="2000" dirty="0">
                <a:solidFill>
                  <a:schemeClr val="tx1"/>
                </a:solidFill>
                <a:latin typeface="Times New Roman" panose="02020603050405020304" pitchFamily="18" charset="0"/>
                <a:cs typeface="Times New Roman" panose="02020603050405020304" pitchFamily="18" charset="0"/>
              </a:rPr>
              <a:t>: </a:t>
            </a:r>
            <a:r>
              <a:rPr lang="en-US" altLang="ja-JP" sz="2000" b="1" dirty="0">
                <a:solidFill>
                  <a:schemeClr val="tx1"/>
                </a:solidFill>
                <a:latin typeface="Times New Roman" panose="02020603050405020304" pitchFamily="18" charset="0"/>
                <a:cs typeface="Times New Roman" panose="02020603050405020304" pitchFamily="18" charset="0"/>
              </a:rPr>
              <a:t>Low Coupling + High Cohesion</a:t>
            </a:r>
            <a:endParaRPr lang="en-US" altLang="ja-JP" sz="2000" dirty="0">
              <a:solidFill>
                <a:schemeClr val="tx1"/>
              </a:solidFill>
              <a:latin typeface="Times New Roman" panose="02020603050405020304" pitchFamily="18" charset="0"/>
              <a:cs typeface="Times New Roman" panose="02020603050405020304" pitchFamily="18" charset="0"/>
            </a:endParaRPr>
          </a:p>
          <a:p>
            <a:pPr marL="800100" lvl="1" indent="-342900" algn="l">
              <a:buFont typeface="Wingdings" panose="05000000000000000000" pitchFamily="2" charset="2"/>
              <a:buChar char="Ø"/>
            </a:pPr>
            <a:r>
              <a:rPr lang="en-US" altLang="ja-JP" sz="2000" b="1" dirty="0">
                <a:solidFill>
                  <a:schemeClr val="tx1"/>
                </a:solidFill>
                <a:latin typeface="Times New Roman" panose="02020603050405020304" pitchFamily="18" charset="0"/>
                <a:cs typeface="Times New Roman" panose="02020603050405020304" pitchFamily="18" charset="0"/>
              </a:rPr>
              <a:t>Trade-offs in Complex Systems</a:t>
            </a:r>
            <a:r>
              <a:rPr lang="en-US" altLang="ja-JP" sz="2000" dirty="0">
                <a:solidFill>
                  <a:schemeClr val="tx1"/>
                </a:solidFill>
                <a:latin typeface="Times New Roman" panose="02020603050405020304" pitchFamily="18" charset="0"/>
                <a:cs typeface="Times New Roman" panose="02020603050405020304" pitchFamily="18" charset="0"/>
              </a:rPr>
              <a:t>:</a:t>
            </a:r>
          </a:p>
          <a:p>
            <a:pPr marL="1257300" lvl="2"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Increasing </a:t>
            </a:r>
            <a:r>
              <a:rPr lang="en-US" altLang="ja-JP" sz="2000" b="1" dirty="0">
                <a:solidFill>
                  <a:schemeClr val="tx1"/>
                </a:solidFill>
                <a:latin typeface="Times New Roman" panose="02020603050405020304" pitchFamily="18" charset="0"/>
                <a:cs typeface="Times New Roman" panose="02020603050405020304" pitchFamily="18" charset="0"/>
              </a:rPr>
              <a:t>cohesion</a:t>
            </a:r>
            <a:r>
              <a:rPr lang="en-US" altLang="ja-JP" sz="2000" dirty="0">
                <a:solidFill>
                  <a:schemeClr val="tx1"/>
                </a:solidFill>
                <a:latin typeface="Times New Roman" panose="02020603050405020304" pitchFamily="18" charset="0"/>
                <a:cs typeface="Times New Roman" panose="02020603050405020304" pitchFamily="18" charset="0"/>
              </a:rPr>
              <a:t> may increase </a:t>
            </a:r>
            <a:r>
              <a:rPr lang="en-US" altLang="ja-JP" sz="2000" b="1" dirty="0">
                <a:solidFill>
                  <a:schemeClr val="tx1"/>
                </a:solidFill>
                <a:latin typeface="Times New Roman" panose="02020603050405020304" pitchFamily="18" charset="0"/>
                <a:cs typeface="Times New Roman" panose="02020603050405020304" pitchFamily="18" charset="0"/>
              </a:rPr>
              <a:t>coupling</a:t>
            </a:r>
            <a:endParaRPr lang="en-US" altLang="ja-JP" sz="2000" dirty="0">
              <a:solidFill>
                <a:schemeClr val="tx1"/>
              </a:solidFill>
              <a:latin typeface="Times New Roman" panose="02020603050405020304" pitchFamily="18" charset="0"/>
              <a:cs typeface="Times New Roman" panose="02020603050405020304" pitchFamily="18" charset="0"/>
            </a:endParaRPr>
          </a:p>
          <a:p>
            <a:pPr marL="1257300" lvl="2"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Reducing </a:t>
            </a:r>
            <a:r>
              <a:rPr lang="en-US" altLang="ja-JP" sz="2000" b="1" dirty="0">
                <a:solidFill>
                  <a:schemeClr val="tx1"/>
                </a:solidFill>
                <a:latin typeface="Times New Roman" panose="02020603050405020304" pitchFamily="18" charset="0"/>
                <a:cs typeface="Times New Roman" panose="02020603050405020304" pitchFamily="18" charset="0"/>
              </a:rPr>
              <a:t>coupling</a:t>
            </a:r>
            <a:r>
              <a:rPr lang="en-US" altLang="ja-JP" sz="2000" dirty="0">
                <a:solidFill>
                  <a:schemeClr val="tx1"/>
                </a:solidFill>
                <a:latin typeface="Times New Roman" panose="02020603050405020304" pitchFamily="18" charset="0"/>
                <a:cs typeface="Times New Roman" panose="02020603050405020304" pitchFamily="18" charset="0"/>
              </a:rPr>
              <a:t> may reduce </a:t>
            </a:r>
            <a:r>
              <a:rPr lang="en-US" altLang="ja-JP" sz="2000" b="1" dirty="0">
                <a:solidFill>
                  <a:schemeClr val="tx1"/>
                </a:solidFill>
                <a:latin typeface="Times New Roman" panose="02020603050405020304" pitchFamily="18" charset="0"/>
                <a:cs typeface="Times New Roman" panose="02020603050405020304" pitchFamily="18" charset="0"/>
              </a:rPr>
              <a:t>cohesion</a:t>
            </a:r>
          </a:p>
          <a:p>
            <a:pPr lvl="2" algn="l"/>
            <a:endParaRPr lang="en-US" altLang="ja-JP" sz="20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2000" b="0" i="0" u="none" strike="noStrike" cap="none" normalizeH="0" baseline="0" dirty="0">
              <a:ln>
                <a:noFill/>
              </a:ln>
              <a:solidFill>
                <a:schemeClr val="tx1"/>
              </a:solidFill>
              <a:effectLst/>
              <a:latin typeface="Arial" panose="020B0604020202020204" pitchFamily="34"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9</a:t>
            </a:fld>
            <a:endParaRPr lang="en-US" dirty="0">
              <a:solidFill>
                <a:schemeClr val="tx1"/>
              </a:solidFill>
            </a:endParaRPr>
          </a:p>
        </p:txBody>
      </p:sp>
    </p:spTree>
    <p:extLst>
      <p:ext uri="{BB962C8B-B14F-4D97-AF65-F5344CB8AC3E}">
        <p14:creationId xmlns:p14="http://schemas.microsoft.com/office/powerpoint/2010/main" val="241866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altLang="ja-JP" sz="4800" b="1" dirty="0">
                <a:latin typeface="Times New Roman" pitchFamily="18" charset="0"/>
                <a:cs typeface="Times New Roman" pitchFamily="18" charset="0"/>
              </a:rPr>
              <a:t>Cohesion in Software Design</a:t>
            </a:r>
          </a:p>
        </p:txBody>
      </p:sp>
      <p:sp>
        <p:nvSpPr>
          <p:cNvPr id="4" name="Subtitle 3"/>
          <p:cNvSpPr>
            <a:spLocks noGrp="1"/>
          </p:cNvSpPr>
          <p:nvPr>
            <p:ph type="subTitle" idx="1"/>
          </p:nvPr>
        </p:nvSpPr>
        <p:spPr>
          <a:xfrm>
            <a:off x="76200" y="1222744"/>
            <a:ext cx="8839200" cy="5638800"/>
          </a:xfrm>
        </p:spPr>
        <p:txBody>
          <a:bodyPr>
            <a:no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Bad Design (Low Cohesion):</a:t>
            </a:r>
            <a:b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Water Supply Module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 only distributes water but also contains code for traffic control and garbage collection.</a:t>
            </a:r>
          </a:p>
          <a:p>
            <a:pPr marL="800100" lvl="1" indent="-34290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Responsibilities are mixed.</a:t>
            </a:r>
          </a:p>
          <a:p>
            <a:pPr marL="800100" lvl="1" indent="-34290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Hard to test, maintain, or reuse.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Good Design (High Cohesion):</a:t>
            </a:r>
            <a:b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Water Supply Module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only handles tasks related to water: pipeline monitoring, supply scheduling, water quality checking, and billing.</a:t>
            </a:r>
          </a:p>
          <a:p>
            <a:pPr marL="800100" lvl="1" indent="-34290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Single responsibility.</a:t>
            </a:r>
          </a:p>
          <a:p>
            <a:pPr marL="800100" lvl="1" indent="-342900" algn="l"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to maintain and extend (e.g., adding smart water sensors).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10</a:t>
            </a:fld>
            <a:endParaRPr lang="en-US" dirty="0">
              <a:solidFill>
                <a:schemeClr val="tx1"/>
              </a:solidFill>
            </a:endParaRPr>
          </a:p>
        </p:txBody>
      </p:sp>
    </p:spTree>
    <p:extLst>
      <p:ext uri="{BB962C8B-B14F-4D97-AF65-F5344CB8AC3E}">
        <p14:creationId xmlns:p14="http://schemas.microsoft.com/office/powerpoint/2010/main" val="1206205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altLang="ja-JP" sz="4800" b="1" dirty="0">
                <a:latin typeface="Times New Roman" pitchFamily="18" charset="0"/>
                <a:cs typeface="Times New Roman" pitchFamily="18" charset="0"/>
              </a:rPr>
              <a:t>Coupling Cohesion </a:t>
            </a:r>
            <a:r>
              <a:rPr lang="en-US" altLang="ja-JP" sz="4800" b="1" dirty="0">
                <a:solidFill>
                  <a:srgbClr val="00B050"/>
                </a:solidFill>
                <a:latin typeface="Times New Roman" pitchFamily="18" charset="0"/>
                <a:cs typeface="Times New Roman" pitchFamily="18" charset="0"/>
              </a:rPr>
              <a:t>Example-1 </a:t>
            </a:r>
          </a:p>
        </p:txBody>
      </p:sp>
      <p:sp>
        <p:nvSpPr>
          <p:cNvPr id="4" name="Subtitle 3"/>
          <p:cNvSpPr>
            <a:spLocks noGrp="1"/>
          </p:cNvSpPr>
          <p:nvPr>
            <p:ph type="subTitle" idx="1"/>
          </p:nvPr>
        </p:nvSpPr>
        <p:spPr>
          <a:xfrm>
            <a:off x="76200" y="1222744"/>
            <a:ext cx="8839200" cy="5638800"/>
          </a:xfrm>
        </p:spPr>
        <p:txBody>
          <a:bodyPr>
            <a:noAutofit/>
          </a:bodyPr>
          <a:lstStyle/>
          <a:p>
            <a:pPr lvl="0" algn="just" eaLnBrk="0" fontAlgn="base" hangingPunct="0">
              <a:spcBef>
                <a:spcPct val="0"/>
              </a:spcBef>
              <a:spcAft>
                <a:spcPct val="0"/>
              </a:spcAft>
            </a:pPr>
            <a:r>
              <a:rPr kumimoji="0" lang="en-US" altLang="ja-JP" sz="2000" b="1"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Scenario-1</a:t>
            </a:r>
            <a:r>
              <a:rPr lang="en-US" altLang="ja-JP" sz="2000" b="1" dirty="0">
                <a:solidFill>
                  <a:srgbClr val="00B050"/>
                </a:solidFill>
                <a:latin typeface="Times New Roman" panose="02020603050405020304" pitchFamily="18" charset="0"/>
                <a:cs typeface="Times New Roman" panose="02020603050405020304" pitchFamily="18" charset="0"/>
              </a:rPr>
              <a:t>: </a:t>
            </a:r>
            <a:r>
              <a:rPr lang="en-US" altLang="ja-JP" sz="2000" dirty="0">
                <a:solidFill>
                  <a:schemeClr val="tx1"/>
                </a:solidFill>
                <a:latin typeface="Times New Roman" panose="02020603050405020304" pitchFamily="18" charset="0"/>
                <a:cs typeface="Times New Roman" panose="02020603050405020304" pitchFamily="18" charset="0"/>
              </a:rPr>
              <a:t>Suppose we have a class called </a:t>
            </a:r>
            <a:r>
              <a:rPr lang="en-US" altLang="ja-JP" sz="2000" dirty="0" err="1">
                <a:solidFill>
                  <a:schemeClr val="tx1"/>
                </a:solidFill>
                <a:latin typeface="Times New Roman" panose="02020603050405020304" pitchFamily="18" charset="0"/>
                <a:cs typeface="Times New Roman" panose="02020603050405020304" pitchFamily="18" charset="0"/>
              </a:rPr>
              <a:t>FarmController</a:t>
            </a:r>
            <a:r>
              <a:rPr lang="en-US" altLang="ja-JP" sz="2000" dirty="0">
                <a:solidFill>
                  <a:schemeClr val="tx1"/>
                </a:solidFill>
                <a:latin typeface="Times New Roman" panose="02020603050405020304" pitchFamily="18" charset="0"/>
                <a:cs typeface="Times New Roman" panose="02020603050405020304" pitchFamily="18" charset="0"/>
              </a:rPr>
              <a:t> in the Automated Agricultural System that has two purposes: controlling irrigation and fertilizer dispensing. Here we have a </a:t>
            </a:r>
            <a:r>
              <a:rPr lang="en-US" altLang="ja-JP" sz="2000" dirty="0" err="1">
                <a:solidFill>
                  <a:schemeClr val="tx1"/>
                </a:solidFill>
                <a:latin typeface="Times New Roman" panose="02020603050405020304" pitchFamily="18" charset="0"/>
                <a:cs typeface="Times New Roman" panose="02020603050405020304" pitchFamily="18" charset="0"/>
              </a:rPr>
              <a:t>controlSystem</a:t>
            </a:r>
            <a:r>
              <a:rPr lang="en-US" altLang="ja-JP" sz="2000" dirty="0">
                <a:solidFill>
                  <a:schemeClr val="tx1"/>
                </a:solidFill>
                <a:latin typeface="Times New Roman" panose="02020603050405020304" pitchFamily="18" charset="0"/>
                <a:cs typeface="Times New Roman" panose="02020603050405020304" pitchFamily="18" charset="0"/>
              </a:rPr>
              <a:t>() method that takes a zero (0) flag if you want to activate the irrigation system, and takes the one (1) flag if you want to activate the fertilizer system. The class diagram for the </a:t>
            </a:r>
            <a:r>
              <a:rPr lang="en-US" altLang="ja-JP" sz="2000" dirty="0" err="1">
                <a:solidFill>
                  <a:schemeClr val="tx1"/>
                </a:solidFill>
                <a:latin typeface="Times New Roman" panose="02020603050405020304" pitchFamily="18" charset="0"/>
                <a:cs typeface="Times New Roman" panose="02020603050405020304" pitchFamily="18" charset="0"/>
              </a:rPr>
              <a:t>FarmController</a:t>
            </a:r>
            <a:r>
              <a:rPr lang="en-US" altLang="ja-JP" sz="2000" dirty="0">
                <a:solidFill>
                  <a:schemeClr val="tx1"/>
                </a:solidFill>
                <a:latin typeface="Times New Roman" panose="02020603050405020304" pitchFamily="18" charset="0"/>
                <a:cs typeface="Times New Roman" panose="02020603050405020304" pitchFamily="18" charset="0"/>
              </a:rPr>
              <a:t> and implementation of its </a:t>
            </a:r>
            <a:r>
              <a:rPr lang="en-US" altLang="ja-JP" sz="2000" dirty="0" err="1">
                <a:solidFill>
                  <a:schemeClr val="tx1"/>
                </a:solidFill>
                <a:latin typeface="Times New Roman" panose="02020603050405020304" pitchFamily="18" charset="0"/>
                <a:cs typeface="Times New Roman" panose="02020603050405020304" pitchFamily="18" charset="0"/>
              </a:rPr>
              <a:t>controlSystem</a:t>
            </a:r>
            <a:r>
              <a:rPr lang="en-US" altLang="ja-JP" sz="2000" dirty="0">
                <a:solidFill>
                  <a:schemeClr val="tx1"/>
                </a:solidFill>
                <a:latin typeface="Times New Roman" panose="02020603050405020304" pitchFamily="18" charset="0"/>
                <a:cs typeface="Times New Roman" panose="02020603050405020304" pitchFamily="18" charset="0"/>
              </a:rPr>
              <a:t>() method is as below:</a:t>
            </a:r>
          </a:p>
          <a:p>
            <a:pPr lvl="0" algn="just" eaLnBrk="0" fontAlgn="base" hangingPunct="0">
              <a:spcBef>
                <a:spcPct val="0"/>
              </a:spcBef>
              <a:spcAft>
                <a:spcPct val="0"/>
              </a:spcAft>
            </a:pPr>
            <a:endParaRPr lang="en-US" altLang="ja-JP" sz="20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11</a:t>
            </a:fld>
            <a:endParaRPr lang="en-US" dirty="0">
              <a:solidFill>
                <a:schemeClr val="tx1"/>
              </a:solidFill>
            </a:endParaRPr>
          </a:p>
        </p:txBody>
      </p:sp>
      <p:graphicFrame>
        <p:nvGraphicFramePr>
          <p:cNvPr id="6" name="Table 5">
            <a:extLst>
              <a:ext uri="{FF2B5EF4-FFF2-40B4-BE49-F238E27FC236}">
                <a16:creationId xmlns:a16="http://schemas.microsoft.com/office/drawing/2014/main" id="{21F2B620-AEB0-433B-8266-CB148C685AA1}"/>
              </a:ext>
            </a:extLst>
          </p:cNvPr>
          <p:cNvGraphicFramePr>
            <a:graphicFrameLocks noGrp="1"/>
          </p:cNvGraphicFramePr>
          <p:nvPr>
            <p:extLst>
              <p:ext uri="{D42A27DB-BD31-4B8C-83A1-F6EECF244321}">
                <p14:modId xmlns:p14="http://schemas.microsoft.com/office/powerpoint/2010/main" val="2699568432"/>
              </p:ext>
            </p:extLst>
          </p:nvPr>
        </p:nvGraphicFramePr>
        <p:xfrm>
          <a:off x="568212" y="3257036"/>
          <a:ext cx="6248400" cy="1828800"/>
        </p:xfrm>
        <a:graphic>
          <a:graphicData uri="http://schemas.openxmlformats.org/drawingml/2006/table">
            <a:tbl>
              <a:tblPr firstRow="1" firstCol="1" bandRow="1">
                <a:tableStyleId>{5940675A-B579-460E-94D1-54222C63F5DA}</a:tableStyleId>
              </a:tblPr>
              <a:tblGrid>
                <a:gridCol w="3124200">
                  <a:extLst>
                    <a:ext uri="{9D8B030D-6E8A-4147-A177-3AD203B41FA5}">
                      <a16:colId xmlns:a16="http://schemas.microsoft.com/office/drawing/2014/main" val="4183779256"/>
                    </a:ext>
                  </a:extLst>
                </a:gridCol>
                <a:gridCol w="3124200">
                  <a:extLst>
                    <a:ext uri="{9D8B030D-6E8A-4147-A177-3AD203B41FA5}">
                      <a16:colId xmlns:a16="http://schemas.microsoft.com/office/drawing/2014/main" val="439865145"/>
                    </a:ext>
                  </a:extLst>
                </a:gridCol>
              </a:tblGrid>
              <a:tr h="0">
                <a:tc>
                  <a:txBody>
                    <a:bodyPr/>
                    <a:lstStyle/>
                    <a:p>
                      <a:pPr marL="0" marR="0" algn="l">
                        <a:spcBef>
                          <a:spcPts val="0"/>
                        </a:spcBef>
                        <a:spcAft>
                          <a:spcPts val="0"/>
                        </a:spcAft>
                      </a:pPr>
                      <a:r>
                        <a:rPr lang="en-US" sz="1200" dirty="0" err="1">
                          <a:effectLst/>
                          <a:latin typeface="Times New Roman" panose="02020603050405020304" pitchFamily="18" charset="0"/>
                          <a:cs typeface="Times New Roman" panose="02020603050405020304" pitchFamily="18" charset="0"/>
                        </a:rPr>
                        <a:t>FarmController</a:t>
                      </a:r>
                      <a:endParaRPr lang="en-US" sz="1200" dirty="0">
                        <a:effectLst/>
                        <a:latin typeface="Times New Roman" panose="02020603050405020304" pitchFamily="18" charset="0"/>
                        <a:cs typeface="Times New Roman" panose="02020603050405020304" pitchFamily="18" charset="0"/>
                      </a:endParaRPr>
                    </a:p>
                    <a:p>
                      <a:pPr marL="0" marR="0" algn="l">
                        <a:spcBef>
                          <a:spcPts val="0"/>
                        </a:spcBef>
                        <a:spcAft>
                          <a:spcPts val="0"/>
                        </a:spcAft>
                      </a:pPr>
                      <a:r>
                        <a:rPr lang="en-US" sz="1200" dirty="0">
                          <a:effectLst/>
                          <a:latin typeface="Times New Roman" panose="02020603050405020304" pitchFamily="18" charset="0"/>
                          <a:cs typeface="Times New Roman" panose="02020603050405020304" pitchFamily="18" charset="0"/>
                        </a:rPr>
                        <a:t>+ </a:t>
                      </a:r>
                      <a:r>
                        <a:rPr lang="en-US" sz="1200" dirty="0" err="1">
                          <a:effectLst/>
                          <a:latin typeface="Times New Roman" panose="02020603050405020304" pitchFamily="18" charset="0"/>
                          <a:cs typeface="Times New Roman" panose="02020603050405020304" pitchFamily="18" charset="0"/>
                        </a:rPr>
                        <a:t>controlSystem</a:t>
                      </a:r>
                      <a:r>
                        <a:rPr lang="en-US" sz="1200" dirty="0">
                          <a:effectLst/>
                          <a:latin typeface="Times New Roman" panose="02020603050405020304" pitchFamily="18" charset="0"/>
                          <a:cs typeface="Times New Roman" panose="02020603050405020304" pitchFamily="18" charset="0"/>
                        </a:rPr>
                        <a:t>(</a:t>
                      </a:r>
                      <a:r>
                        <a:rPr lang="en-US" sz="1200" dirty="0" err="1">
                          <a:effectLst/>
                          <a:latin typeface="Times New Roman" panose="02020603050405020304" pitchFamily="18" charset="0"/>
                          <a:cs typeface="Times New Roman" panose="02020603050405020304" pitchFamily="18" charset="0"/>
                        </a:rPr>
                        <a:t>controlFlag</a:t>
                      </a:r>
                      <a:r>
                        <a:rPr lang="en-US" sz="1200" dirty="0">
                          <a:effectLst/>
                          <a:latin typeface="Times New Roman" panose="02020603050405020304" pitchFamily="18" charset="0"/>
                          <a:cs typeface="Times New Roman" panose="02020603050405020304" pitchFamily="18" charset="0"/>
                        </a:rPr>
                        <a:t>: int)</a:t>
                      </a:r>
                      <a:endParaRPr lang="en-US" sz="1200" dirty="0">
                        <a:effectLst/>
                        <a:latin typeface="Times New Roman" panose="02020603050405020304" pitchFamily="18" charset="0"/>
                        <a:ea typeface="MS PGothic" panose="020B0600070205080204" pitchFamily="34" charset="-128"/>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200" dirty="0">
                          <a:effectLst/>
                          <a:latin typeface="Times New Roman" panose="02020603050405020304" pitchFamily="18" charset="0"/>
                          <a:cs typeface="Times New Roman" panose="02020603050405020304" pitchFamily="18" charset="0"/>
                        </a:rPr>
                        <a:t>public void </a:t>
                      </a:r>
                      <a:r>
                        <a:rPr lang="en-US" sz="1200" dirty="0" err="1">
                          <a:effectLst/>
                          <a:latin typeface="Times New Roman" panose="02020603050405020304" pitchFamily="18" charset="0"/>
                          <a:cs typeface="Times New Roman" panose="02020603050405020304" pitchFamily="18" charset="0"/>
                        </a:rPr>
                        <a:t>controlSystem</a:t>
                      </a:r>
                      <a:r>
                        <a:rPr lang="en-US" sz="1200" dirty="0">
                          <a:effectLst/>
                          <a:latin typeface="Times New Roman" panose="02020603050405020304" pitchFamily="18" charset="0"/>
                          <a:cs typeface="Times New Roman" panose="02020603050405020304" pitchFamily="18" charset="0"/>
                        </a:rPr>
                        <a:t>(int </a:t>
                      </a:r>
                      <a:r>
                        <a:rPr lang="en-US" sz="1200" dirty="0" err="1">
                          <a:effectLst/>
                          <a:latin typeface="Times New Roman" panose="02020603050405020304" pitchFamily="18" charset="0"/>
                          <a:cs typeface="Times New Roman" panose="02020603050405020304" pitchFamily="18" charset="0"/>
                        </a:rPr>
                        <a:t>controlFlag</a:t>
                      </a:r>
                      <a:r>
                        <a:rPr lang="en-US" sz="1200" dirty="0">
                          <a:effectLst/>
                          <a:latin typeface="Times New Roman" panose="02020603050405020304" pitchFamily="18" charset="0"/>
                          <a:cs typeface="Times New Roman" panose="02020603050405020304" pitchFamily="18" charset="0"/>
                        </a:rPr>
                        <a:t>) {</a:t>
                      </a:r>
                    </a:p>
                    <a:p>
                      <a:pPr marL="0" marR="0" algn="l">
                        <a:spcBef>
                          <a:spcPts val="0"/>
                        </a:spcBef>
                        <a:spcAft>
                          <a:spcPts val="0"/>
                        </a:spcAft>
                      </a:pPr>
                      <a:r>
                        <a:rPr lang="en-US" sz="1200" dirty="0">
                          <a:effectLst/>
                          <a:latin typeface="Times New Roman" panose="02020603050405020304" pitchFamily="18" charset="0"/>
                          <a:cs typeface="Times New Roman" panose="02020603050405020304" pitchFamily="18" charset="0"/>
                        </a:rPr>
                        <a:t>    switch (</a:t>
                      </a:r>
                      <a:r>
                        <a:rPr lang="en-US" sz="1200" dirty="0" err="1">
                          <a:effectLst/>
                          <a:latin typeface="Times New Roman" panose="02020603050405020304" pitchFamily="18" charset="0"/>
                          <a:cs typeface="Times New Roman" panose="02020603050405020304" pitchFamily="18" charset="0"/>
                        </a:rPr>
                        <a:t>controlFlag</a:t>
                      </a:r>
                      <a:r>
                        <a:rPr lang="en-US" sz="1200" dirty="0">
                          <a:effectLst/>
                          <a:latin typeface="Times New Roman" panose="02020603050405020304" pitchFamily="18" charset="0"/>
                          <a:cs typeface="Times New Roman" panose="02020603050405020304" pitchFamily="18" charset="0"/>
                        </a:rPr>
                        <a:t>) {</a:t>
                      </a:r>
                    </a:p>
                    <a:p>
                      <a:pPr marL="0" marR="0" algn="l">
                        <a:spcBef>
                          <a:spcPts val="0"/>
                        </a:spcBef>
                        <a:spcAft>
                          <a:spcPts val="0"/>
                        </a:spcAft>
                      </a:pPr>
                      <a:r>
                        <a:rPr lang="en-US" sz="1200" dirty="0">
                          <a:effectLst/>
                          <a:latin typeface="Times New Roman" panose="02020603050405020304" pitchFamily="18" charset="0"/>
                          <a:cs typeface="Times New Roman" panose="02020603050405020304" pitchFamily="18" charset="0"/>
                        </a:rPr>
                        <a:t>        case 0:</a:t>
                      </a:r>
                    </a:p>
                    <a:p>
                      <a:pPr marL="0" marR="0" algn="l">
                        <a:spcBef>
                          <a:spcPts val="0"/>
                        </a:spcBef>
                        <a:spcAft>
                          <a:spcPts val="0"/>
                        </a:spcAft>
                      </a:pPr>
                      <a:r>
                        <a:rPr lang="en-US" sz="1200" dirty="0">
                          <a:effectLst/>
                          <a:latin typeface="Times New Roman" panose="02020603050405020304" pitchFamily="18" charset="0"/>
                          <a:cs typeface="Times New Roman" panose="02020603050405020304" pitchFamily="18" charset="0"/>
                        </a:rPr>
                        <a:t>            return </a:t>
                      </a:r>
                      <a:r>
                        <a:rPr lang="en-US" sz="1200" dirty="0" err="1">
                          <a:effectLst/>
                          <a:latin typeface="Times New Roman" panose="02020603050405020304" pitchFamily="18" charset="0"/>
                          <a:cs typeface="Times New Roman" panose="02020603050405020304" pitchFamily="18" charset="0"/>
                        </a:rPr>
                        <a:t>this.startIrrigation</a:t>
                      </a:r>
                      <a:r>
                        <a:rPr lang="en-US" sz="1200" dirty="0">
                          <a:effectLst/>
                          <a:latin typeface="Times New Roman" panose="02020603050405020304" pitchFamily="18" charset="0"/>
                          <a:cs typeface="Times New Roman" panose="02020603050405020304" pitchFamily="18" charset="0"/>
                        </a:rPr>
                        <a:t>();</a:t>
                      </a:r>
                    </a:p>
                    <a:p>
                      <a:pPr marL="0" marR="0" algn="l">
                        <a:spcBef>
                          <a:spcPts val="0"/>
                        </a:spcBef>
                        <a:spcAft>
                          <a:spcPts val="0"/>
                        </a:spcAft>
                      </a:pPr>
                      <a:r>
                        <a:rPr lang="en-US" sz="1200" dirty="0">
                          <a:effectLst/>
                          <a:latin typeface="Times New Roman" panose="02020603050405020304" pitchFamily="18" charset="0"/>
                          <a:cs typeface="Times New Roman" panose="02020603050405020304" pitchFamily="18" charset="0"/>
                        </a:rPr>
                        <a:t>        case 1:</a:t>
                      </a:r>
                    </a:p>
                    <a:p>
                      <a:pPr marL="0" marR="0" algn="l">
                        <a:spcBef>
                          <a:spcPts val="0"/>
                        </a:spcBef>
                        <a:spcAft>
                          <a:spcPts val="0"/>
                        </a:spcAft>
                      </a:pPr>
                      <a:r>
                        <a:rPr lang="en-US" sz="1200" dirty="0">
                          <a:effectLst/>
                          <a:latin typeface="Times New Roman" panose="02020603050405020304" pitchFamily="18" charset="0"/>
                          <a:cs typeface="Times New Roman" panose="02020603050405020304" pitchFamily="18" charset="0"/>
                        </a:rPr>
                        <a:t>            return </a:t>
                      </a:r>
                      <a:r>
                        <a:rPr lang="en-US" sz="1200" dirty="0" err="1">
                          <a:effectLst/>
                          <a:latin typeface="Times New Roman" panose="02020603050405020304" pitchFamily="18" charset="0"/>
                          <a:cs typeface="Times New Roman" panose="02020603050405020304" pitchFamily="18" charset="0"/>
                        </a:rPr>
                        <a:t>this.startFertilizerDispense</a:t>
                      </a:r>
                      <a:r>
                        <a:rPr lang="en-US" sz="1200" dirty="0">
                          <a:effectLst/>
                          <a:latin typeface="Times New Roman" panose="02020603050405020304" pitchFamily="18" charset="0"/>
                          <a:cs typeface="Times New Roman" panose="02020603050405020304" pitchFamily="18" charset="0"/>
                        </a:rPr>
                        <a:t>();</a:t>
                      </a:r>
                    </a:p>
                    <a:p>
                      <a:pPr marL="0" marR="0" algn="l">
                        <a:spcBef>
                          <a:spcPts val="0"/>
                        </a:spcBef>
                        <a:spcAft>
                          <a:spcPts val="0"/>
                        </a:spcAft>
                      </a:pPr>
                      <a:r>
                        <a:rPr lang="en-US" sz="1200" dirty="0">
                          <a:effectLst/>
                          <a:latin typeface="Times New Roman" panose="02020603050405020304" pitchFamily="18" charset="0"/>
                          <a:cs typeface="Times New Roman" panose="02020603050405020304" pitchFamily="18" charset="0"/>
                        </a:rPr>
                        <a:t>        default:</a:t>
                      </a:r>
                    </a:p>
                    <a:p>
                      <a:pPr marL="0" marR="0" algn="l">
                        <a:spcBef>
                          <a:spcPts val="0"/>
                        </a:spcBef>
                        <a:spcAft>
                          <a:spcPts val="0"/>
                        </a:spcAft>
                      </a:pPr>
                      <a:r>
                        <a:rPr lang="en-US" sz="1200" dirty="0">
                          <a:effectLst/>
                          <a:latin typeface="Times New Roman" panose="02020603050405020304" pitchFamily="18" charset="0"/>
                          <a:cs typeface="Times New Roman" panose="02020603050405020304" pitchFamily="18" charset="0"/>
                        </a:rPr>
                        <a:t>            throw new </a:t>
                      </a:r>
                      <a:r>
                        <a:rPr lang="en-US" sz="1200" dirty="0" err="1">
                          <a:effectLst/>
                          <a:latin typeface="Times New Roman" panose="02020603050405020304" pitchFamily="18" charset="0"/>
                          <a:cs typeface="Times New Roman" panose="02020603050405020304" pitchFamily="18" charset="0"/>
                        </a:rPr>
                        <a:t>UnknownControlFlagException</a:t>
                      </a:r>
                      <a:r>
                        <a:rPr lang="en-US" sz="1200" dirty="0">
                          <a:effectLst/>
                          <a:latin typeface="Times New Roman" panose="02020603050405020304" pitchFamily="18" charset="0"/>
                          <a:cs typeface="Times New Roman" panose="02020603050405020304" pitchFamily="18" charset="0"/>
                        </a:rPr>
                        <a:t>();</a:t>
                      </a:r>
                    </a:p>
                    <a:p>
                      <a:pPr marL="0" marR="0" algn="l">
                        <a:spcBef>
                          <a:spcPts val="0"/>
                        </a:spcBef>
                        <a:spcAft>
                          <a:spcPts val="0"/>
                        </a:spcAft>
                      </a:pPr>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MS PGothic" panose="020B0600070205080204" pitchFamily="34" charset="-128"/>
                        <a:cs typeface="Times New Roman" panose="02020603050405020304" pitchFamily="18" charset="0"/>
                      </a:endParaRPr>
                    </a:p>
                  </a:txBody>
                  <a:tcPr marL="68580" marR="68580" marT="0" marB="0"/>
                </a:tc>
                <a:extLst>
                  <a:ext uri="{0D108BD9-81ED-4DB2-BD59-A6C34878D82A}">
                    <a16:rowId xmlns:a16="http://schemas.microsoft.com/office/drawing/2014/main" val="2638561952"/>
                  </a:ext>
                </a:extLst>
              </a:tr>
            </a:tbl>
          </a:graphicData>
        </a:graphic>
      </p:graphicFrame>
      <p:sp>
        <p:nvSpPr>
          <p:cNvPr id="5" name="Rectangle 4">
            <a:extLst>
              <a:ext uri="{FF2B5EF4-FFF2-40B4-BE49-F238E27FC236}">
                <a16:creationId xmlns:a16="http://schemas.microsoft.com/office/drawing/2014/main" id="{F81FEB27-67D4-4FFC-A35B-9034C50492C7}"/>
              </a:ext>
            </a:extLst>
          </p:cNvPr>
          <p:cNvSpPr/>
          <p:nvPr/>
        </p:nvSpPr>
        <p:spPr>
          <a:xfrm>
            <a:off x="152401" y="5181455"/>
            <a:ext cx="8839200" cy="1200329"/>
          </a:xfrm>
          <a:prstGeom prst="rect">
            <a:avLst/>
          </a:prstGeom>
        </p:spPr>
        <p:txBody>
          <a:bodyPr wrap="square">
            <a:spAutoFit/>
          </a:bodyPr>
          <a:lstStyle/>
          <a:p>
            <a:r>
              <a:rPr lang="en-US" b="1" dirty="0">
                <a:latin typeface="MS PGothic" panose="020B0600070205080204" pitchFamily="34" charset="-128"/>
                <a:ea typeface="MS PGothic" panose="020B0600070205080204" pitchFamily="34" charset="-128"/>
                <a:cs typeface="MS PGothic" panose="020B0600070205080204" pitchFamily="34" charset="-128"/>
              </a:rPr>
              <a:t>Problem a):</a:t>
            </a:r>
            <a:r>
              <a:rPr lang="en-US" dirty="0">
                <a:latin typeface="Times New Roman" panose="02020603050405020304" pitchFamily="18" charset="0"/>
                <a:ea typeface="MS PGothic" panose="020B0600070205080204" pitchFamily="34" charset="-128"/>
                <a:cs typeface="MS PGothic" panose="020B0600070205080204" pitchFamily="34" charset="-128"/>
              </a:rPr>
              <a:t> Evaluate the above design in terms of </a:t>
            </a:r>
            <a:r>
              <a:rPr lang="en-US" b="1" dirty="0">
                <a:latin typeface="Times New Roman" panose="02020603050405020304" pitchFamily="18" charset="0"/>
                <a:ea typeface="MS PGothic" panose="020B0600070205080204" pitchFamily="34" charset="-128"/>
                <a:cs typeface="MS PGothic" panose="020B0600070205080204" pitchFamily="34" charset="-128"/>
              </a:rPr>
              <a:t>coupling</a:t>
            </a:r>
            <a:r>
              <a:rPr lang="en-US" dirty="0">
                <a:latin typeface="Times New Roman" panose="02020603050405020304" pitchFamily="18" charset="0"/>
                <a:ea typeface="MS PGothic" panose="020B0600070205080204" pitchFamily="34" charset="-128"/>
                <a:cs typeface="MS PGothic" panose="020B0600070205080204" pitchFamily="34" charset="-128"/>
              </a:rPr>
              <a:t> and </a:t>
            </a:r>
            <a:r>
              <a:rPr lang="en-US" b="1" dirty="0">
                <a:latin typeface="Times New Roman" panose="02020603050405020304" pitchFamily="18" charset="0"/>
                <a:ea typeface="MS PGothic" panose="020B0600070205080204" pitchFamily="34" charset="-128"/>
                <a:cs typeface="MS PGothic" panose="020B0600070205080204" pitchFamily="34" charset="-128"/>
              </a:rPr>
              <a:t>cohesion</a:t>
            </a:r>
            <a:r>
              <a:rPr lang="en-US" dirty="0">
                <a:latin typeface="Times New Roman" panose="02020603050405020304" pitchFamily="18" charset="0"/>
                <a:ea typeface="MS PGothic" panose="020B0600070205080204" pitchFamily="34" charset="-128"/>
                <a:cs typeface="MS PGothic" panose="020B0600070205080204" pitchFamily="34" charset="-128"/>
              </a:rPr>
              <a:t>. Give justification in each case. </a:t>
            </a:r>
            <a:br>
              <a:rPr lang="en-US" dirty="0">
                <a:latin typeface="Times New Roman" panose="02020603050405020304" pitchFamily="18" charset="0"/>
                <a:ea typeface="MS PGothic" panose="020B0600070205080204" pitchFamily="34" charset="-128"/>
                <a:cs typeface="MS PGothic" panose="020B0600070205080204" pitchFamily="34" charset="-128"/>
              </a:rPr>
            </a:br>
            <a:r>
              <a:rPr lang="en-US" b="1" dirty="0">
                <a:latin typeface="Times New Roman" panose="02020603050405020304" pitchFamily="18" charset="0"/>
                <a:ea typeface="MS PGothic" panose="020B0600070205080204" pitchFamily="34" charset="-128"/>
                <a:cs typeface="MS PGothic" panose="020B0600070205080204" pitchFamily="34" charset="-128"/>
              </a:rPr>
              <a:t>Problem b): </a:t>
            </a:r>
            <a:r>
              <a:rPr lang="en-US" dirty="0">
                <a:latin typeface="Times New Roman" panose="02020603050405020304" pitchFamily="18" charset="0"/>
                <a:ea typeface="MS PGothic" panose="020B0600070205080204" pitchFamily="34" charset="-128"/>
                <a:cs typeface="MS PGothic" panose="020B0600070205080204" pitchFamily="34" charset="-128"/>
              </a:rPr>
              <a:t>Suggest a </a:t>
            </a:r>
            <a:r>
              <a:rPr lang="en-US" b="1" dirty="0">
                <a:latin typeface="Times New Roman" panose="02020603050405020304" pitchFamily="18" charset="0"/>
                <a:ea typeface="MS PGothic" panose="020B0600070205080204" pitchFamily="34" charset="-128"/>
                <a:cs typeface="MS PGothic" panose="020B0600070205080204" pitchFamily="34" charset="-128"/>
              </a:rPr>
              <a:t>better design</a:t>
            </a:r>
            <a:r>
              <a:rPr lang="en-US" dirty="0">
                <a:latin typeface="Times New Roman" panose="02020603050405020304" pitchFamily="18" charset="0"/>
                <a:ea typeface="MS PGothic" panose="020B0600070205080204" pitchFamily="34" charset="-128"/>
                <a:cs typeface="MS PGothic" panose="020B0600070205080204" pitchFamily="34" charset="-128"/>
              </a:rPr>
              <a:t> for the above class that meets acceptable </a:t>
            </a:r>
            <a:r>
              <a:rPr lang="en-US" b="1" dirty="0">
                <a:latin typeface="Times New Roman" panose="02020603050405020304" pitchFamily="18" charset="0"/>
                <a:ea typeface="MS PGothic" panose="020B0600070205080204" pitchFamily="34" charset="-128"/>
                <a:cs typeface="MS PGothic" panose="020B0600070205080204" pitchFamily="34" charset="-128"/>
              </a:rPr>
              <a:t>coupling</a:t>
            </a:r>
            <a:r>
              <a:rPr lang="en-US" dirty="0">
                <a:latin typeface="Times New Roman" panose="02020603050405020304" pitchFamily="18" charset="0"/>
                <a:ea typeface="MS PGothic" panose="020B0600070205080204" pitchFamily="34" charset="-128"/>
                <a:cs typeface="MS PGothic" panose="020B0600070205080204" pitchFamily="34" charset="-128"/>
              </a:rPr>
              <a:t> and </a:t>
            </a:r>
            <a:r>
              <a:rPr lang="en-US" b="1" dirty="0">
                <a:latin typeface="Times New Roman" panose="02020603050405020304" pitchFamily="18" charset="0"/>
                <a:ea typeface="MS PGothic" panose="020B0600070205080204" pitchFamily="34" charset="-128"/>
                <a:cs typeface="MS PGothic" panose="020B0600070205080204" pitchFamily="34" charset="-128"/>
              </a:rPr>
              <a:t>cohesion</a:t>
            </a:r>
            <a:r>
              <a:rPr lang="en-US" dirty="0">
                <a:latin typeface="Times New Roman" panose="02020603050405020304" pitchFamily="18" charset="0"/>
                <a:ea typeface="MS PGothic" panose="020B0600070205080204" pitchFamily="34" charset="-128"/>
                <a:cs typeface="MS PGothic" panose="020B0600070205080204" pitchFamily="34" charset="-128"/>
              </a:rPr>
              <a:t> requirements. </a:t>
            </a:r>
            <a:endParaRPr lang="en-US" sz="2000" dirty="0">
              <a:effectLst/>
              <a:latin typeface="MS PGothic" panose="020B0600070205080204" pitchFamily="34" charset="-128"/>
              <a:ea typeface="MS PGothic" panose="020B0600070205080204" pitchFamily="34" charset="-128"/>
              <a:cs typeface="MS PGothic" panose="020B0600070205080204" pitchFamily="34" charset="-128"/>
            </a:endParaRPr>
          </a:p>
        </p:txBody>
      </p:sp>
    </p:spTree>
    <p:extLst>
      <p:ext uri="{BB962C8B-B14F-4D97-AF65-F5344CB8AC3E}">
        <p14:creationId xmlns:p14="http://schemas.microsoft.com/office/powerpoint/2010/main" val="1495378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altLang="ja-JP" sz="4800" b="1" dirty="0">
                <a:latin typeface="Times New Roman" pitchFamily="18" charset="0"/>
                <a:cs typeface="Times New Roman" pitchFamily="18" charset="0"/>
              </a:rPr>
              <a:t>Coupling Cohesion </a:t>
            </a:r>
            <a:r>
              <a:rPr lang="en-US" altLang="ja-JP" sz="4800" b="1" dirty="0">
                <a:solidFill>
                  <a:srgbClr val="00B050"/>
                </a:solidFill>
                <a:latin typeface="Times New Roman" pitchFamily="18" charset="0"/>
                <a:cs typeface="Times New Roman" pitchFamily="18" charset="0"/>
              </a:rPr>
              <a:t>Example-1 </a:t>
            </a:r>
            <a:endParaRPr lang="en-US" altLang="ja-JP" sz="4800" b="1" dirty="0">
              <a:latin typeface="Times New Roman" pitchFamily="18" charset="0"/>
              <a:cs typeface="Times New Roman" pitchFamily="18" charset="0"/>
            </a:endParaRPr>
          </a:p>
        </p:txBody>
      </p:sp>
      <p:sp>
        <p:nvSpPr>
          <p:cNvPr id="4" name="Subtitle 3"/>
          <p:cNvSpPr>
            <a:spLocks noGrp="1"/>
          </p:cNvSpPr>
          <p:nvPr>
            <p:ph type="subTitle" idx="1"/>
          </p:nvPr>
        </p:nvSpPr>
        <p:spPr>
          <a:xfrm>
            <a:off x="76200" y="1222744"/>
            <a:ext cx="8839200" cy="5638800"/>
          </a:xfrm>
        </p:spPr>
        <p:txBody>
          <a:bodyPr>
            <a:noAutofit/>
          </a:bodyPr>
          <a:lstStyle/>
          <a:p>
            <a:pPr marL="457200" lvl="0" indent="-457200" algn="just" eaLnBrk="0" fontAlgn="base" hangingPunct="0">
              <a:spcBef>
                <a:spcPct val="0"/>
              </a:spcBef>
              <a:spcAft>
                <a:spcPct val="0"/>
              </a:spcAft>
              <a:buAutoNum type="alphaLcParenR"/>
            </a:pPr>
            <a:r>
              <a:rPr lang="en-US" sz="2000" b="1" dirty="0">
                <a:solidFill>
                  <a:schemeClr val="tx1"/>
                </a:solidFill>
                <a:latin typeface="Times New Roman" panose="02020603050405020304" pitchFamily="18" charset="0"/>
                <a:cs typeface="Times New Roman" panose="02020603050405020304" pitchFamily="18" charset="0"/>
              </a:rPr>
              <a:t>Evaluation of the Current Design</a:t>
            </a:r>
          </a:p>
          <a:p>
            <a:pPr marL="285750" lvl="0" indent="-285750" algn="l" eaLnBrk="0" fontAlgn="base" hangingPunct="0">
              <a:spcBef>
                <a:spcPct val="0"/>
              </a:spcBef>
              <a:spcAft>
                <a:spcPct val="0"/>
              </a:spcAft>
              <a:buFont typeface="Wingdings" panose="05000000000000000000" pitchFamily="2" charset="2"/>
              <a:buChar char="v"/>
            </a:pPr>
            <a:r>
              <a:rPr lang="en-US" altLang="en-US" sz="1800" b="1" dirty="0">
                <a:solidFill>
                  <a:schemeClr val="tx1"/>
                </a:solidFill>
                <a:latin typeface="Times New Roman" panose="02020603050405020304" pitchFamily="18" charset="0"/>
                <a:cs typeface="Times New Roman" panose="02020603050405020304" pitchFamily="18" charset="0"/>
              </a:rPr>
              <a:t>Cohesion: Low Cohesion (Poor Design)- </a:t>
            </a:r>
            <a:r>
              <a:rPr lang="en-US" altLang="en-US" sz="1800" dirty="0">
                <a:solidFill>
                  <a:schemeClr val="tx1"/>
                </a:solidFill>
                <a:latin typeface="Times New Roman" panose="02020603050405020304" pitchFamily="18" charset="0"/>
                <a:cs typeface="Times New Roman" panose="02020603050405020304" pitchFamily="18" charset="0"/>
              </a:rPr>
              <a:t>The </a:t>
            </a:r>
            <a:r>
              <a:rPr lang="en-US" altLang="en-US" sz="1800" dirty="0" err="1">
                <a:solidFill>
                  <a:schemeClr val="tx1"/>
                </a:solidFill>
                <a:latin typeface="Times New Roman" panose="02020603050405020304" pitchFamily="18" charset="0"/>
                <a:cs typeface="Times New Roman" panose="02020603050405020304" pitchFamily="18" charset="0"/>
              </a:rPr>
              <a:t>FarmController</a:t>
            </a:r>
            <a:r>
              <a:rPr lang="en-US" altLang="en-US" sz="1800" dirty="0">
                <a:solidFill>
                  <a:schemeClr val="tx1"/>
                </a:solidFill>
                <a:latin typeface="Times New Roman" panose="02020603050405020304" pitchFamily="18" charset="0"/>
                <a:cs typeface="Times New Roman" panose="02020603050405020304" pitchFamily="18" charset="0"/>
              </a:rPr>
              <a:t> class is responsible for </a:t>
            </a:r>
            <a:r>
              <a:rPr lang="en-US" altLang="en-US" sz="1800" b="1" dirty="0">
                <a:solidFill>
                  <a:schemeClr val="tx1"/>
                </a:solidFill>
                <a:latin typeface="Times New Roman" panose="02020603050405020304" pitchFamily="18" charset="0"/>
                <a:cs typeface="Times New Roman" panose="02020603050405020304" pitchFamily="18" charset="0"/>
              </a:rPr>
              <a:t>two unrelated tasks</a:t>
            </a:r>
            <a:r>
              <a:rPr lang="en-US" altLang="en-US" sz="1800" dirty="0">
                <a:solidFill>
                  <a:schemeClr val="tx1"/>
                </a:solidFill>
                <a:latin typeface="Times New Roman" panose="02020603050405020304" pitchFamily="18" charset="0"/>
                <a:cs typeface="Times New Roman" panose="02020603050405020304" pitchFamily="18" charset="0"/>
              </a:rPr>
              <a:t>:</a:t>
            </a:r>
          </a:p>
          <a:p>
            <a:pPr marL="800100" lvl="1" indent="-342900" algn="l" eaLnBrk="0" fontAlgn="base" hangingPunct="0">
              <a:spcBef>
                <a:spcPct val="0"/>
              </a:spcBef>
              <a:spcAft>
                <a:spcPct val="0"/>
              </a:spcAft>
              <a:buFont typeface="+mj-lt"/>
              <a:buAutoNum type="arabicPeriod"/>
            </a:pPr>
            <a:r>
              <a:rPr lang="en-US" altLang="en-US" sz="1400" b="1" dirty="0">
                <a:solidFill>
                  <a:schemeClr val="tx1"/>
                </a:solidFill>
                <a:latin typeface="Times New Roman" panose="02020603050405020304" pitchFamily="18" charset="0"/>
                <a:cs typeface="Times New Roman" panose="02020603050405020304" pitchFamily="18" charset="0"/>
              </a:rPr>
              <a:t>starting irrigation</a:t>
            </a:r>
            <a:r>
              <a:rPr lang="en-US" altLang="en-US" sz="1400" dirty="0">
                <a:solidFill>
                  <a:schemeClr val="tx1"/>
                </a:solidFill>
                <a:latin typeface="Times New Roman" panose="02020603050405020304" pitchFamily="18" charset="0"/>
                <a:cs typeface="Times New Roman" panose="02020603050405020304" pitchFamily="18" charset="0"/>
              </a:rPr>
              <a:t>, and</a:t>
            </a:r>
          </a:p>
          <a:p>
            <a:pPr marL="800100" lvl="1" indent="-342900" algn="l" eaLnBrk="0" fontAlgn="base" hangingPunct="0">
              <a:spcBef>
                <a:spcPct val="0"/>
              </a:spcBef>
              <a:spcAft>
                <a:spcPct val="0"/>
              </a:spcAft>
              <a:buFont typeface="+mj-lt"/>
              <a:buAutoNum type="arabicPeriod"/>
            </a:pPr>
            <a:r>
              <a:rPr lang="en-US" altLang="en-US" sz="1400" b="1" dirty="0">
                <a:solidFill>
                  <a:schemeClr val="tx1"/>
                </a:solidFill>
                <a:latin typeface="Times New Roman" panose="02020603050405020304" pitchFamily="18" charset="0"/>
                <a:cs typeface="Times New Roman" panose="02020603050405020304" pitchFamily="18" charset="0"/>
              </a:rPr>
              <a:t>starting fertilizer dispensing</a:t>
            </a:r>
            <a:r>
              <a:rPr lang="en-US" altLang="en-US" sz="1400" dirty="0">
                <a:solidFill>
                  <a:schemeClr val="tx1"/>
                </a:solidFill>
                <a:latin typeface="Times New Roman" panose="02020603050405020304" pitchFamily="18" charset="0"/>
                <a:cs typeface="Times New Roman" panose="02020603050405020304" pitchFamily="18" charset="0"/>
              </a:rPr>
              <a:t>.</a:t>
            </a:r>
          </a:p>
          <a:p>
            <a:pPr marL="285750" lvl="0" indent="-285750" algn="l" eaLnBrk="0" fontAlgn="base" hangingPunct="0">
              <a:spcBef>
                <a:spcPct val="0"/>
              </a:spcBef>
              <a:spcAft>
                <a:spcPct val="0"/>
              </a:spcAft>
              <a:buFont typeface="Wingdings" panose="05000000000000000000" pitchFamily="2" charset="2"/>
              <a:buChar char="v"/>
            </a:pPr>
            <a:r>
              <a:rPr lang="en-US" altLang="en-US" sz="1800" dirty="0">
                <a:solidFill>
                  <a:schemeClr val="tx1"/>
                </a:solidFill>
                <a:latin typeface="Times New Roman" panose="02020603050405020304" pitchFamily="18" charset="0"/>
                <a:cs typeface="Times New Roman" panose="02020603050405020304" pitchFamily="18" charset="0"/>
              </a:rPr>
              <a:t>Both actions belong to different subsystems of the agricultural system, yet they are handled in a single method (</a:t>
            </a:r>
            <a:r>
              <a:rPr lang="en-US" altLang="en-US" sz="1800" dirty="0" err="1">
                <a:solidFill>
                  <a:schemeClr val="tx1"/>
                </a:solidFill>
                <a:latin typeface="Times New Roman" panose="02020603050405020304" pitchFamily="18" charset="0"/>
                <a:cs typeface="Times New Roman" panose="02020603050405020304" pitchFamily="18" charset="0"/>
              </a:rPr>
              <a:t>controlSystem</a:t>
            </a:r>
            <a:r>
              <a:rPr lang="en-US" altLang="en-US" sz="1800" dirty="0">
                <a:solidFill>
                  <a:schemeClr val="tx1"/>
                </a:solidFill>
                <a:latin typeface="Times New Roman" panose="02020603050405020304" pitchFamily="18" charset="0"/>
                <a:cs typeface="Times New Roman" panose="02020603050405020304" pitchFamily="18" charset="0"/>
              </a:rPr>
              <a:t>()), which switches behavior via flags. This leads to </a:t>
            </a:r>
            <a:r>
              <a:rPr lang="en-US" altLang="en-US" sz="1800" b="1" dirty="0">
                <a:solidFill>
                  <a:schemeClr val="tx1"/>
                </a:solidFill>
                <a:latin typeface="Times New Roman" panose="02020603050405020304" pitchFamily="18" charset="0"/>
                <a:cs typeface="Times New Roman" panose="02020603050405020304" pitchFamily="18" charset="0"/>
              </a:rPr>
              <a:t>low cohesion</a:t>
            </a:r>
            <a:r>
              <a:rPr lang="en-US" altLang="en-US" sz="1800" dirty="0">
                <a:solidFill>
                  <a:schemeClr val="tx1"/>
                </a:solidFill>
                <a:latin typeface="Times New Roman" panose="02020603050405020304" pitchFamily="18" charset="0"/>
                <a:cs typeface="Times New Roman" panose="02020603050405020304" pitchFamily="18" charset="0"/>
              </a:rPr>
              <a:t> because:</a:t>
            </a:r>
          </a:p>
          <a:p>
            <a:pPr marL="742950" lvl="1" indent="-285750" algn="l" eaLnBrk="0" fontAlgn="base" hangingPunct="0">
              <a:spcBef>
                <a:spcPct val="0"/>
              </a:spcBef>
              <a:spcAft>
                <a:spcPct val="0"/>
              </a:spcAft>
              <a:buFont typeface="Wingdings" panose="05000000000000000000" pitchFamily="2" charset="2"/>
              <a:buChar char="ü"/>
            </a:pPr>
            <a:r>
              <a:rPr lang="en-US" altLang="en-US" sz="1400" dirty="0">
                <a:solidFill>
                  <a:schemeClr val="tx1"/>
                </a:solidFill>
                <a:latin typeface="Times New Roman" panose="02020603050405020304" pitchFamily="18" charset="0"/>
                <a:cs typeface="Times New Roman" panose="02020603050405020304" pitchFamily="18" charset="0"/>
              </a:rPr>
              <a:t>The class performs </a:t>
            </a:r>
            <a:r>
              <a:rPr lang="en-US" altLang="en-US" sz="1400" b="1" dirty="0">
                <a:solidFill>
                  <a:schemeClr val="tx1"/>
                </a:solidFill>
                <a:latin typeface="Times New Roman" panose="02020603050405020304" pitchFamily="18" charset="0"/>
                <a:cs typeface="Times New Roman" panose="02020603050405020304" pitchFamily="18" charset="0"/>
              </a:rPr>
              <a:t>multiple independent functions</a:t>
            </a:r>
            <a:r>
              <a:rPr lang="en-US" altLang="en-US" sz="1400" dirty="0">
                <a:solidFill>
                  <a:schemeClr val="tx1"/>
                </a:solidFill>
                <a:latin typeface="Times New Roman" panose="02020603050405020304" pitchFamily="18" charset="0"/>
                <a:cs typeface="Times New Roman" panose="02020603050405020304" pitchFamily="18" charset="0"/>
              </a:rPr>
              <a:t>, violating the </a:t>
            </a:r>
            <a:r>
              <a:rPr lang="en-US" altLang="en-US" sz="1400" i="1" dirty="0">
                <a:solidFill>
                  <a:schemeClr val="tx1"/>
                </a:solidFill>
                <a:latin typeface="Times New Roman" panose="02020603050405020304" pitchFamily="18" charset="0"/>
                <a:cs typeface="Times New Roman" panose="02020603050405020304" pitchFamily="18" charset="0"/>
              </a:rPr>
              <a:t>Single Responsibility Principle (SRP)</a:t>
            </a:r>
            <a:r>
              <a:rPr lang="en-US" altLang="en-US" sz="1400" dirty="0">
                <a:solidFill>
                  <a:schemeClr val="tx1"/>
                </a:solidFill>
                <a:latin typeface="Times New Roman" panose="02020603050405020304" pitchFamily="18" charset="0"/>
                <a:cs typeface="Times New Roman" panose="02020603050405020304" pitchFamily="18" charset="0"/>
              </a:rPr>
              <a:t>.</a:t>
            </a:r>
          </a:p>
          <a:p>
            <a:pPr marL="742950" lvl="1" indent="-285750" algn="l" eaLnBrk="0" fontAlgn="base" hangingPunct="0">
              <a:spcBef>
                <a:spcPct val="0"/>
              </a:spcBef>
              <a:spcAft>
                <a:spcPct val="0"/>
              </a:spcAft>
              <a:buFont typeface="Wingdings" panose="05000000000000000000" pitchFamily="2" charset="2"/>
              <a:buChar char="ü"/>
            </a:pPr>
            <a:r>
              <a:rPr lang="en-US" altLang="en-US" sz="1400" dirty="0">
                <a:solidFill>
                  <a:schemeClr val="tx1"/>
                </a:solidFill>
                <a:latin typeface="Times New Roman" panose="02020603050405020304" pitchFamily="18" charset="0"/>
                <a:cs typeface="Times New Roman" panose="02020603050405020304" pitchFamily="18" charset="0"/>
              </a:rPr>
              <a:t>The </a:t>
            </a:r>
            <a:r>
              <a:rPr lang="en-US" altLang="en-US" sz="1400" dirty="0" err="1">
                <a:solidFill>
                  <a:schemeClr val="tx1"/>
                </a:solidFill>
                <a:latin typeface="Times New Roman" panose="02020603050405020304" pitchFamily="18" charset="0"/>
                <a:cs typeface="Times New Roman" panose="02020603050405020304" pitchFamily="18" charset="0"/>
              </a:rPr>
              <a:t>controlSystem</a:t>
            </a:r>
            <a:r>
              <a:rPr lang="en-US" altLang="en-US" sz="1400" dirty="0">
                <a:solidFill>
                  <a:schemeClr val="tx1"/>
                </a:solidFill>
                <a:latin typeface="Times New Roman" panose="02020603050405020304" pitchFamily="18" charset="0"/>
                <a:cs typeface="Times New Roman" panose="02020603050405020304" pitchFamily="18" charset="0"/>
              </a:rPr>
              <a:t>() method does </a:t>
            </a:r>
            <a:r>
              <a:rPr lang="en-US" altLang="en-US" sz="1400" b="1" dirty="0">
                <a:solidFill>
                  <a:schemeClr val="tx1"/>
                </a:solidFill>
                <a:latin typeface="Times New Roman" panose="02020603050405020304" pitchFamily="18" charset="0"/>
                <a:cs typeface="Times New Roman" panose="02020603050405020304" pitchFamily="18" charset="0"/>
              </a:rPr>
              <a:t>more than one job</a:t>
            </a:r>
            <a:r>
              <a:rPr lang="en-US" altLang="en-US" sz="1400" dirty="0">
                <a:solidFill>
                  <a:schemeClr val="tx1"/>
                </a:solidFill>
                <a:latin typeface="Times New Roman" panose="02020603050405020304" pitchFamily="18" charset="0"/>
                <a:cs typeface="Times New Roman" panose="02020603050405020304" pitchFamily="18" charset="0"/>
              </a:rPr>
              <a:t>, decided by a control flag (0 or 1).</a:t>
            </a:r>
          </a:p>
          <a:p>
            <a:pPr marL="742950" lvl="1" indent="-285750" algn="l" eaLnBrk="0" fontAlgn="base" hangingPunct="0">
              <a:spcBef>
                <a:spcPct val="0"/>
              </a:spcBef>
              <a:spcAft>
                <a:spcPct val="0"/>
              </a:spcAft>
              <a:buFont typeface="Wingdings" panose="05000000000000000000" pitchFamily="2" charset="2"/>
              <a:buChar char="ü"/>
            </a:pPr>
            <a:r>
              <a:rPr lang="en-US" altLang="en-US" sz="1400" dirty="0">
                <a:solidFill>
                  <a:schemeClr val="tx1"/>
                </a:solidFill>
                <a:latin typeface="Times New Roman" panose="02020603050405020304" pitchFamily="18" charset="0"/>
                <a:cs typeface="Times New Roman" panose="02020603050405020304" pitchFamily="18" charset="0"/>
              </a:rPr>
              <a:t>If future systems (e.g., pest-control, greenhouse ventilation) are added, the class must be modified repeatedly, further reducing cohesion.</a:t>
            </a:r>
          </a:p>
          <a:p>
            <a:pPr marL="742950" lvl="1" indent="-285750" algn="l" eaLnBrk="0" fontAlgn="base" hangingPunct="0">
              <a:spcBef>
                <a:spcPct val="0"/>
              </a:spcBef>
              <a:spcAft>
                <a:spcPct val="0"/>
              </a:spcAft>
              <a:buFont typeface="Wingdings" panose="05000000000000000000" pitchFamily="2" charset="2"/>
              <a:buChar char="ü"/>
            </a:pPr>
            <a:r>
              <a:rPr lang="en-US" altLang="en-US" sz="1400" dirty="0">
                <a:solidFill>
                  <a:schemeClr val="tx1"/>
                </a:solidFill>
                <a:latin typeface="Times New Roman" panose="02020603050405020304" pitchFamily="18" charset="0"/>
                <a:cs typeface="Times New Roman" panose="02020603050405020304" pitchFamily="18" charset="0"/>
              </a:rPr>
              <a:t>Thus, the class is </a:t>
            </a:r>
            <a:r>
              <a:rPr lang="en-US" altLang="en-US" sz="1400" b="1" dirty="0">
                <a:solidFill>
                  <a:schemeClr val="tx1"/>
                </a:solidFill>
                <a:latin typeface="Times New Roman" panose="02020603050405020304" pitchFamily="18" charset="0"/>
                <a:cs typeface="Times New Roman" panose="02020603050405020304" pitchFamily="18" charset="0"/>
              </a:rPr>
              <a:t>not focused on one responsibility</a:t>
            </a:r>
            <a:r>
              <a:rPr lang="en-US" altLang="en-US" sz="1400" dirty="0">
                <a:solidFill>
                  <a:schemeClr val="tx1"/>
                </a:solidFill>
                <a:latin typeface="Times New Roman" panose="02020603050405020304" pitchFamily="18" charset="0"/>
                <a:cs typeface="Times New Roman" panose="02020603050405020304" pitchFamily="18" charset="0"/>
              </a:rPr>
              <a:t>, making it difficult to maintain and extend.</a:t>
            </a:r>
          </a:p>
          <a:p>
            <a:pPr lvl="0" algn="just" eaLnBrk="0" fontAlgn="base" hangingPunct="0">
              <a:spcBef>
                <a:spcPct val="0"/>
              </a:spcBef>
              <a:spcAft>
                <a:spcPct val="0"/>
              </a:spcAft>
            </a:pPr>
            <a:endParaRPr lang="en-US" altLang="ja-JP" sz="1100" dirty="0">
              <a:solidFill>
                <a:schemeClr val="tx1"/>
              </a:solidFill>
              <a:latin typeface="Times New Roman" panose="02020603050405020304" pitchFamily="18" charset="0"/>
              <a:cs typeface="Times New Roman" panose="02020603050405020304" pitchFamily="18" charset="0"/>
            </a:endParaRPr>
          </a:p>
          <a:p>
            <a:pPr marL="285750" lvl="0" indent="-285750" algn="l" eaLnBrk="0" fontAlgn="base" hangingPunct="0">
              <a:spcBef>
                <a:spcPct val="0"/>
              </a:spcBef>
              <a:spcAft>
                <a:spcPct val="0"/>
              </a:spcAft>
              <a:buFont typeface="Wingdings" panose="05000000000000000000" pitchFamily="2" charset="2"/>
              <a:buChar char="v"/>
            </a:pPr>
            <a:r>
              <a:rPr lang="en-US" altLang="en-US" sz="1800" b="1" dirty="0">
                <a:solidFill>
                  <a:schemeClr val="tx1"/>
                </a:solidFill>
                <a:latin typeface="Times New Roman" panose="02020603050405020304" pitchFamily="18" charset="0"/>
                <a:cs typeface="Times New Roman" panose="02020603050405020304" pitchFamily="18" charset="0"/>
              </a:rPr>
              <a:t>Coupling: Higher Than Necessary (Flag-Based Coupling)- </a:t>
            </a:r>
            <a:r>
              <a:rPr lang="en-US" altLang="en-US" sz="1800" dirty="0">
                <a:solidFill>
                  <a:schemeClr val="tx1"/>
                </a:solidFill>
                <a:latin typeface="Times New Roman" panose="02020603050405020304" pitchFamily="18" charset="0"/>
                <a:cs typeface="Times New Roman" panose="02020603050405020304" pitchFamily="18" charset="0"/>
              </a:rPr>
              <a:t>While the class itself may not depend on many external components, the </a:t>
            </a:r>
            <a:r>
              <a:rPr lang="en-US" altLang="en-US" sz="1800" b="1" dirty="0">
                <a:solidFill>
                  <a:schemeClr val="tx1"/>
                </a:solidFill>
                <a:latin typeface="Times New Roman" panose="02020603050405020304" pitchFamily="18" charset="0"/>
                <a:cs typeface="Times New Roman" panose="02020603050405020304" pitchFamily="18" charset="0"/>
              </a:rPr>
              <a:t>internal coupling</a:t>
            </a:r>
            <a:r>
              <a:rPr lang="en-US" altLang="en-US" sz="1800" dirty="0">
                <a:solidFill>
                  <a:schemeClr val="tx1"/>
                </a:solidFill>
                <a:latin typeface="Times New Roman" panose="02020603050405020304" pitchFamily="18" charset="0"/>
                <a:cs typeface="Times New Roman" panose="02020603050405020304" pitchFamily="18" charset="0"/>
              </a:rPr>
              <a:t> is unnecessarily strong:</a:t>
            </a:r>
          </a:p>
          <a:p>
            <a:pPr marL="742950" lvl="1" indent="-285750" algn="l" eaLnBrk="0" fontAlgn="base" hangingPunct="0">
              <a:spcBef>
                <a:spcPct val="0"/>
              </a:spcBef>
              <a:spcAft>
                <a:spcPct val="0"/>
              </a:spcAft>
              <a:buFont typeface="Wingdings" panose="05000000000000000000" pitchFamily="2" charset="2"/>
              <a:buChar char="ü"/>
            </a:pPr>
            <a:r>
              <a:rPr lang="en-US" altLang="en-US" sz="1400" dirty="0">
                <a:solidFill>
                  <a:schemeClr val="tx1"/>
                </a:solidFill>
                <a:latin typeface="Times New Roman" panose="02020603050405020304" pitchFamily="18" charset="0"/>
                <a:cs typeface="Times New Roman" panose="02020603050405020304" pitchFamily="18" charset="0"/>
              </a:rPr>
              <a:t>The class </a:t>
            </a:r>
            <a:r>
              <a:rPr lang="en-US" altLang="en-US" sz="1400" b="1" dirty="0">
                <a:solidFill>
                  <a:schemeClr val="tx1"/>
                </a:solidFill>
                <a:latin typeface="Times New Roman" panose="02020603050405020304" pitchFamily="18" charset="0"/>
                <a:cs typeface="Times New Roman" panose="02020603050405020304" pitchFamily="18" charset="0"/>
              </a:rPr>
              <a:t>knows the internal details</a:t>
            </a:r>
            <a:r>
              <a:rPr lang="en-US" altLang="en-US" sz="1400" dirty="0">
                <a:solidFill>
                  <a:schemeClr val="tx1"/>
                </a:solidFill>
                <a:latin typeface="Times New Roman" panose="02020603050405020304" pitchFamily="18" charset="0"/>
                <a:cs typeface="Times New Roman" panose="02020603050405020304" pitchFamily="18" charset="0"/>
              </a:rPr>
              <a:t> of both irrigation and fertilizer systems.</a:t>
            </a:r>
          </a:p>
          <a:p>
            <a:pPr marL="742950" lvl="1" indent="-285750" algn="l" eaLnBrk="0" fontAlgn="base" hangingPunct="0">
              <a:spcBef>
                <a:spcPct val="0"/>
              </a:spcBef>
              <a:spcAft>
                <a:spcPct val="0"/>
              </a:spcAft>
              <a:buFont typeface="Wingdings" panose="05000000000000000000" pitchFamily="2" charset="2"/>
              <a:buChar char="ü"/>
            </a:pPr>
            <a:r>
              <a:rPr lang="en-US" altLang="en-US" sz="1400" dirty="0">
                <a:solidFill>
                  <a:schemeClr val="tx1"/>
                </a:solidFill>
                <a:latin typeface="Times New Roman" panose="02020603050405020304" pitchFamily="18" charset="0"/>
                <a:cs typeface="Times New Roman" panose="02020603050405020304" pitchFamily="18" charset="0"/>
              </a:rPr>
              <a:t>Changing the logic of either subsystem would force modifications inside </a:t>
            </a:r>
            <a:r>
              <a:rPr lang="en-US" altLang="en-US" sz="1400" dirty="0" err="1">
                <a:solidFill>
                  <a:schemeClr val="tx1"/>
                </a:solidFill>
                <a:latin typeface="Times New Roman" panose="02020603050405020304" pitchFamily="18" charset="0"/>
                <a:cs typeface="Times New Roman" panose="02020603050405020304" pitchFamily="18" charset="0"/>
              </a:rPr>
              <a:t>FarmController</a:t>
            </a:r>
            <a:r>
              <a:rPr lang="en-US" altLang="en-US" sz="1400" dirty="0">
                <a:solidFill>
                  <a:schemeClr val="tx1"/>
                </a:solidFill>
                <a:latin typeface="Times New Roman" panose="02020603050405020304" pitchFamily="18" charset="0"/>
                <a:cs typeface="Times New Roman" panose="02020603050405020304" pitchFamily="18" charset="0"/>
              </a:rPr>
              <a:t>.</a:t>
            </a:r>
          </a:p>
          <a:p>
            <a:pPr marL="742950" lvl="1" indent="-285750" algn="l" eaLnBrk="0" fontAlgn="base" hangingPunct="0">
              <a:spcBef>
                <a:spcPct val="0"/>
              </a:spcBef>
              <a:spcAft>
                <a:spcPct val="0"/>
              </a:spcAft>
              <a:buFont typeface="Wingdings" panose="05000000000000000000" pitchFamily="2" charset="2"/>
              <a:buChar char="ü"/>
            </a:pPr>
            <a:r>
              <a:rPr lang="en-US" altLang="en-US" sz="1400" dirty="0">
                <a:solidFill>
                  <a:schemeClr val="tx1"/>
                </a:solidFill>
                <a:latin typeface="Times New Roman" panose="02020603050405020304" pitchFamily="18" charset="0"/>
                <a:cs typeface="Times New Roman" panose="02020603050405020304" pitchFamily="18" charset="0"/>
              </a:rPr>
              <a:t>Using numeric flags (0 and 1) introduces </a:t>
            </a:r>
            <a:r>
              <a:rPr lang="en-US" altLang="en-US" sz="1400" b="1" dirty="0">
                <a:solidFill>
                  <a:schemeClr val="tx1"/>
                </a:solidFill>
                <a:latin typeface="Times New Roman" panose="02020603050405020304" pitchFamily="18" charset="0"/>
                <a:cs typeface="Times New Roman" panose="02020603050405020304" pitchFamily="18" charset="0"/>
              </a:rPr>
              <a:t>implicit, error-prone coupling</a:t>
            </a:r>
            <a:r>
              <a:rPr lang="en-US" altLang="en-US" sz="1400" dirty="0">
                <a:solidFill>
                  <a:schemeClr val="tx1"/>
                </a:solidFill>
                <a:latin typeface="Times New Roman" panose="02020603050405020304" pitchFamily="18" charset="0"/>
                <a:cs typeface="Times New Roman" panose="02020603050405020304" pitchFamily="18" charset="0"/>
              </a:rPr>
              <a:t>—only the sender of the flag knows what the values mean.</a:t>
            </a:r>
          </a:p>
          <a:p>
            <a:pPr marL="742950" lvl="1" indent="-285750" algn="l" eaLnBrk="0" fontAlgn="base" hangingPunct="0">
              <a:spcBef>
                <a:spcPct val="0"/>
              </a:spcBef>
              <a:spcAft>
                <a:spcPct val="0"/>
              </a:spcAft>
              <a:buFont typeface="Wingdings" panose="05000000000000000000" pitchFamily="2" charset="2"/>
              <a:buChar char="ü"/>
            </a:pPr>
            <a:r>
              <a:rPr lang="en-US" altLang="en-US" sz="1400" dirty="0">
                <a:solidFill>
                  <a:schemeClr val="tx1"/>
                </a:solidFill>
                <a:latin typeface="Times New Roman" panose="02020603050405020304" pitchFamily="18" charset="0"/>
                <a:cs typeface="Times New Roman" panose="02020603050405020304" pitchFamily="18" charset="0"/>
              </a:rPr>
              <a:t>External components that call </a:t>
            </a:r>
            <a:r>
              <a:rPr lang="en-US" altLang="en-US" sz="1400" dirty="0" err="1">
                <a:solidFill>
                  <a:schemeClr val="tx1"/>
                </a:solidFill>
                <a:latin typeface="Times New Roman" panose="02020603050405020304" pitchFamily="18" charset="0"/>
                <a:cs typeface="Times New Roman" panose="02020603050405020304" pitchFamily="18" charset="0"/>
              </a:rPr>
              <a:t>controlSystem</a:t>
            </a:r>
            <a:r>
              <a:rPr lang="en-US" altLang="en-US" sz="1400" dirty="0">
                <a:solidFill>
                  <a:schemeClr val="tx1"/>
                </a:solidFill>
                <a:latin typeface="Times New Roman" panose="02020603050405020304" pitchFamily="18" charset="0"/>
                <a:cs typeface="Times New Roman" panose="02020603050405020304" pitchFamily="18" charset="0"/>
              </a:rPr>
              <a:t>(flag) must also depend on the meaning of those numbers, creating a hidden dependency.</a:t>
            </a:r>
          </a:p>
          <a:p>
            <a:pPr lvl="0" algn="l" eaLnBrk="0" fontAlgn="base" hangingPunct="0">
              <a:spcBef>
                <a:spcPct val="0"/>
              </a:spcBef>
              <a:spcAft>
                <a:spcPct val="0"/>
              </a:spcAft>
            </a:pPr>
            <a:r>
              <a:rPr lang="en-US" altLang="en-US" sz="1800" dirty="0">
                <a:solidFill>
                  <a:schemeClr val="tx1"/>
                </a:solidFill>
                <a:latin typeface="Times New Roman" panose="02020603050405020304" pitchFamily="18" charset="0"/>
                <a:cs typeface="Times New Roman" panose="02020603050405020304" pitchFamily="18" charset="0"/>
              </a:rPr>
              <a:t>This design leads to </a:t>
            </a:r>
            <a:r>
              <a:rPr lang="en-US" altLang="en-US" sz="1800" b="1" dirty="0">
                <a:solidFill>
                  <a:schemeClr val="tx1"/>
                </a:solidFill>
                <a:latin typeface="Times New Roman" panose="02020603050405020304" pitchFamily="18" charset="0"/>
                <a:cs typeface="Times New Roman" panose="02020603050405020304" pitchFamily="18" charset="0"/>
              </a:rPr>
              <a:t>tighter coupling</a:t>
            </a:r>
            <a:r>
              <a:rPr lang="en-US" altLang="en-US" sz="1800" dirty="0">
                <a:solidFill>
                  <a:schemeClr val="tx1"/>
                </a:solidFill>
                <a:latin typeface="Times New Roman" panose="02020603050405020304" pitchFamily="18" charset="0"/>
                <a:cs typeface="Times New Roman" panose="02020603050405020304" pitchFamily="18" charset="0"/>
              </a:rPr>
              <a:t> and reduces flexibility.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ja-JP"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12</a:t>
            </a:fld>
            <a:endParaRPr lang="en-US" dirty="0">
              <a:solidFill>
                <a:schemeClr val="tx1"/>
              </a:solidFill>
            </a:endParaRPr>
          </a:p>
        </p:txBody>
      </p:sp>
    </p:spTree>
    <p:extLst>
      <p:ext uri="{BB962C8B-B14F-4D97-AF65-F5344CB8AC3E}">
        <p14:creationId xmlns:p14="http://schemas.microsoft.com/office/powerpoint/2010/main" val="823497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altLang="ja-JP" sz="4800" b="1" dirty="0">
                <a:latin typeface="Times New Roman" pitchFamily="18" charset="0"/>
                <a:cs typeface="Times New Roman" pitchFamily="18" charset="0"/>
              </a:rPr>
              <a:t>Coupling Cohesion </a:t>
            </a:r>
            <a:r>
              <a:rPr lang="en-US" altLang="ja-JP" sz="4800" b="1" dirty="0">
                <a:solidFill>
                  <a:srgbClr val="00B050"/>
                </a:solidFill>
                <a:latin typeface="Times New Roman" pitchFamily="18" charset="0"/>
                <a:cs typeface="Times New Roman" pitchFamily="18" charset="0"/>
              </a:rPr>
              <a:t>Example-1 </a:t>
            </a:r>
            <a:endParaRPr lang="en-US" altLang="ja-JP" sz="4800" b="1" dirty="0">
              <a:latin typeface="Times New Roman" pitchFamily="18" charset="0"/>
              <a:cs typeface="Times New Roman" pitchFamily="18" charset="0"/>
            </a:endParaRPr>
          </a:p>
        </p:txBody>
      </p:sp>
      <p:sp>
        <p:nvSpPr>
          <p:cNvPr id="4" name="Subtitle 3"/>
          <p:cNvSpPr>
            <a:spLocks noGrp="1"/>
          </p:cNvSpPr>
          <p:nvPr>
            <p:ph type="subTitle" idx="1"/>
          </p:nvPr>
        </p:nvSpPr>
        <p:spPr>
          <a:xfrm>
            <a:off x="76200" y="1222744"/>
            <a:ext cx="8382000" cy="5638800"/>
          </a:xfrm>
        </p:spPr>
        <p:txBody>
          <a:bodyPr>
            <a:noAutofit/>
          </a:bodyPr>
          <a:lstStyle/>
          <a:p>
            <a:pPr lvl="0" algn="l" eaLnBrk="0" fontAlgn="base" hangingPunct="0">
              <a:spcBef>
                <a:spcPct val="0"/>
              </a:spcBef>
              <a:spcAft>
                <a:spcPct val="0"/>
              </a:spcAft>
            </a:pPr>
            <a:r>
              <a:rPr lang="en-US" altLang="en-US" sz="2000" b="1" dirty="0">
                <a:solidFill>
                  <a:schemeClr val="tx1"/>
                </a:solidFill>
                <a:latin typeface="Times New Roman" panose="02020603050405020304" pitchFamily="18" charset="0"/>
                <a:cs typeface="Times New Roman" panose="02020603050405020304" pitchFamily="18" charset="0"/>
              </a:rPr>
              <a:t>b) Suggested Improved Design (Better Cohesion &amp; Lower Coupling)</a:t>
            </a:r>
          </a:p>
          <a:p>
            <a:pPr lvl="0" algn="l" eaLnBrk="0" fontAlgn="base" hangingPunct="0">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To achieve a clean design, the responsibilities should be </a:t>
            </a:r>
            <a:r>
              <a:rPr lang="en-US" altLang="en-US" sz="2000" b="1" dirty="0">
                <a:solidFill>
                  <a:schemeClr val="tx1"/>
                </a:solidFill>
                <a:latin typeface="Times New Roman" panose="02020603050405020304" pitchFamily="18" charset="0"/>
                <a:cs typeface="Times New Roman" panose="02020603050405020304" pitchFamily="18" charset="0"/>
              </a:rPr>
              <a:t>separated</a:t>
            </a:r>
            <a:r>
              <a:rPr lang="en-US" altLang="en-US" sz="2000" dirty="0">
                <a:solidFill>
                  <a:schemeClr val="tx1"/>
                </a:solidFill>
                <a:latin typeface="Times New Roman" panose="02020603050405020304" pitchFamily="18" charset="0"/>
                <a:cs typeface="Times New Roman" panose="02020603050405020304" pitchFamily="18" charset="0"/>
              </a:rPr>
              <a:t> into their own classes, and </a:t>
            </a:r>
            <a:r>
              <a:rPr lang="en-US" altLang="en-US" sz="2000" dirty="0" err="1">
                <a:solidFill>
                  <a:schemeClr val="tx1"/>
                </a:solidFill>
                <a:latin typeface="Times New Roman" panose="02020603050405020304" pitchFamily="18" charset="0"/>
                <a:cs typeface="Times New Roman" panose="02020603050405020304" pitchFamily="18" charset="0"/>
              </a:rPr>
              <a:t>FarmController</a:t>
            </a:r>
            <a:r>
              <a:rPr lang="en-US" altLang="en-US" sz="2000" dirty="0">
                <a:solidFill>
                  <a:schemeClr val="tx1"/>
                </a:solidFill>
                <a:latin typeface="Times New Roman" panose="02020603050405020304" pitchFamily="18" charset="0"/>
                <a:cs typeface="Times New Roman" panose="02020603050405020304" pitchFamily="18" charset="0"/>
              </a:rPr>
              <a:t> should act only as a </a:t>
            </a:r>
            <a:r>
              <a:rPr lang="en-US" altLang="en-US" sz="2000" b="1" dirty="0">
                <a:solidFill>
                  <a:schemeClr val="tx1"/>
                </a:solidFill>
                <a:latin typeface="Times New Roman" panose="02020603050405020304" pitchFamily="18" charset="0"/>
                <a:cs typeface="Times New Roman" panose="02020603050405020304" pitchFamily="18" charset="0"/>
              </a:rPr>
              <a:t>coordinator</a:t>
            </a:r>
            <a:r>
              <a:rPr lang="en-US" altLang="en-US" sz="2000" dirty="0">
                <a:solidFill>
                  <a:schemeClr val="tx1"/>
                </a:solidFill>
                <a:latin typeface="Times New Roman" panose="02020603050405020304" pitchFamily="18" charset="0"/>
                <a:cs typeface="Times New Roman" panose="02020603050405020304" pitchFamily="18" charset="0"/>
              </a:rPr>
              <a:t>.</a:t>
            </a:r>
          </a:p>
          <a:p>
            <a:pPr marL="342900" indent="-342900" algn="l">
              <a:buFont typeface="Wingdings" panose="05000000000000000000" pitchFamily="2" charset="2"/>
              <a:buChar char="v"/>
            </a:pPr>
            <a:r>
              <a:rPr lang="en-US" sz="2000" b="1" dirty="0">
                <a:solidFill>
                  <a:schemeClr val="tx1"/>
                </a:solidFill>
                <a:latin typeface="Times New Roman" panose="02020603050405020304" pitchFamily="18" charset="0"/>
                <a:cs typeface="Times New Roman" panose="02020603050405020304" pitchFamily="18" charset="0"/>
              </a:rPr>
              <a:t>Better Design Structure</a:t>
            </a:r>
          </a:p>
          <a:p>
            <a:pPr lvl="1" algn="l"/>
            <a:r>
              <a:rPr lang="en-US" sz="1600" b="1" dirty="0">
                <a:solidFill>
                  <a:schemeClr val="tx1"/>
                </a:solidFill>
                <a:latin typeface="Times New Roman" panose="02020603050405020304" pitchFamily="18" charset="0"/>
                <a:cs typeface="Times New Roman" panose="02020603050405020304" pitchFamily="18" charset="0"/>
              </a:rPr>
              <a:t>1. </a:t>
            </a:r>
            <a:r>
              <a:rPr lang="en-US" sz="1600" b="1" dirty="0" err="1">
                <a:solidFill>
                  <a:schemeClr val="tx1"/>
                </a:solidFill>
                <a:latin typeface="Times New Roman" panose="02020603050405020304" pitchFamily="18" charset="0"/>
                <a:cs typeface="Times New Roman" panose="02020603050405020304" pitchFamily="18" charset="0"/>
              </a:rPr>
              <a:t>IrrigationController</a:t>
            </a:r>
            <a:r>
              <a:rPr lang="en-US" sz="1600" b="1" dirty="0">
                <a:solidFill>
                  <a:schemeClr val="tx1"/>
                </a:solidFill>
                <a:latin typeface="Times New Roman" panose="02020603050405020304" pitchFamily="18" charset="0"/>
                <a:cs typeface="Times New Roman" panose="02020603050405020304" pitchFamily="18" charset="0"/>
              </a:rPr>
              <a:t> Class</a:t>
            </a:r>
          </a:p>
          <a:p>
            <a:pPr marL="1200150" lvl="2" indent="-285750" algn="l">
              <a:buFont typeface="Wingdings" panose="05000000000000000000" pitchFamily="2" charset="2"/>
              <a:buChar char="ü"/>
            </a:pPr>
            <a:r>
              <a:rPr lang="en-US" sz="1200" dirty="0">
                <a:solidFill>
                  <a:schemeClr val="tx1"/>
                </a:solidFill>
                <a:latin typeface="Times New Roman" panose="02020603050405020304" pitchFamily="18" charset="0"/>
                <a:cs typeface="Times New Roman" panose="02020603050405020304" pitchFamily="18" charset="0"/>
              </a:rPr>
              <a:t>Handles all irrigation-related operations.</a:t>
            </a:r>
          </a:p>
          <a:p>
            <a:pPr marL="1200150" lvl="2" indent="-285750" algn="l">
              <a:buFont typeface="Wingdings" panose="05000000000000000000" pitchFamily="2" charset="2"/>
              <a:buChar char="ü"/>
            </a:pPr>
            <a:r>
              <a:rPr lang="en-US" sz="1200" dirty="0">
                <a:solidFill>
                  <a:schemeClr val="tx1"/>
                </a:solidFill>
                <a:latin typeface="Times New Roman" panose="02020603050405020304" pitchFamily="18" charset="0"/>
                <a:cs typeface="Times New Roman" panose="02020603050405020304" pitchFamily="18" charset="0"/>
              </a:rPr>
              <a:t>Highly cohesive: one responsibility.</a:t>
            </a:r>
          </a:p>
          <a:p>
            <a:pPr lvl="1" algn="l"/>
            <a:r>
              <a:rPr lang="en-US" sz="1600" b="1" dirty="0">
                <a:solidFill>
                  <a:schemeClr val="tx1"/>
                </a:solidFill>
                <a:latin typeface="Times New Roman" panose="02020603050405020304" pitchFamily="18" charset="0"/>
                <a:cs typeface="Times New Roman" panose="02020603050405020304" pitchFamily="18" charset="0"/>
              </a:rPr>
              <a:t>2. </a:t>
            </a:r>
            <a:r>
              <a:rPr lang="en-US" sz="1600" b="1" dirty="0" err="1">
                <a:solidFill>
                  <a:schemeClr val="tx1"/>
                </a:solidFill>
                <a:latin typeface="Times New Roman" panose="02020603050405020304" pitchFamily="18" charset="0"/>
                <a:cs typeface="Times New Roman" panose="02020603050405020304" pitchFamily="18" charset="0"/>
              </a:rPr>
              <a:t>FertilizerController</a:t>
            </a:r>
            <a:r>
              <a:rPr lang="en-US" sz="1600" b="1" dirty="0">
                <a:solidFill>
                  <a:schemeClr val="tx1"/>
                </a:solidFill>
                <a:latin typeface="Times New Roman" panose="02020603050405020304" pitchFamily="18" charset="0"/>
                <a:cs typeface="Times New Roman" panose="02020603050405020304" pitchFamily="18" charset="0"/>
              </a:rPr>
              <a:t> Class</a:t>
            </a:r>
          </a:p>
          <a:p>
            <a:pPr marL="1257300" lvl="2" indent="-342900" algn="l">
              <a:buFont typeface="Wingdings" panose="05000000000000000000" pitchFamily="2" charset="2"/>
              <a:buChar char="ü"/>
            </a:pPr>
            <a:r>
              <a:rPr lang="en-US" sz="1200" dirty="0">
                <a:solidFill>
                  <a:schemeClr val="tx1"/>
                </a:solidFill>
                <a:latin typeface="Times New Roman" panose="02020603050405020304" pitchFamily="18" charset="0"/>
                <a:cs typeface="Times New Roman" panose="02020603050405020304" pitchFamily="18" charset="0"/>
              </a:rPr>
              <a:t>Responsible only for fertilizer dispensing.</a:t>
            </a:r>
          </a:p>
          <a:p>
            <a:pPr marL="1257300" lvl="2" indent="-342900" algn="l">
              <a:buFont typeface="Wingdings" panose="05000000000000000000" pitchFamily="2" charset="2"/>
              <a:buChar char="ü"/>
            </a:pPr>
            <a:r>
              <a:rPr lang="en-US" sz="1200" dirty="0">
                <a:solidFill>
                  <a:schemeClr val="tx1"/>
                </a:solidFill>
                <a:latin typeface="Times New Roman" panose="02020603050405020304" pitchFamily="18" charset="0"/>
                <a:cs typeface="Times New Roman" panose="02020603050405020304" pitchFamily="18" charset="0"/>
              </a:rPr>
              <a:t>Highly cohesive.</a:t>
            </a:r>
          </a:p>
          <a:p>
            <a:pPr lvl="1" algn="l"/>
            <a:r>
              <a:rPr lang="en-US" sz="1600" b="1" dirty="0">
                <a:solidFill>
                  <a:schemeClr val="tx1"/>
                </a:solidFill>
                <a:latin typeface="Times New Roman" panose="02020603050405020304" pitchFamily="18" charset="0"/>
                <a:cs typeface="Times New Roman" panose="02020603050405020304" pitchFamily="18" charset="0"/>
              </a:rPr>
              <a:t>3 </a:t>
            </a:r>
            <a:r>
              <a:rPr lang="en-US" sz="1600" b="1" dirty="0" err="1">
                <a:solidFill>
                  <a:schemeClr val="tx1"/>
                </a:solidFill>
                <a:latin typeface="Times New Roman" panose="02020603050405020304" pitchFamily="18" charset="0"/>
                <a:cs typeface="Times New Roman" panose="02020603050405020304" pitchFamily="18" charset="0"/>
              </a:rPr>
              <a:t>FarmController</a:t>
            </a:r>
            <a:r>
              <a:rPr lang="en-US" sz="1600" b="1" dirty="0">
                <a:solidFill>
                  <a:schemeClr val="tx1"/>
                </a:solidFill>
                <a:latin typeface="Times New Roman" panose="02020603050405020304" pitchFamily="18" charset="0"/>
                <a:cs typeface="Times New Roman" panose="02020603050405020304" pitchFamily="18" charset="0"/>
              </a:rPr>
              <a:t> Class</a:t>
            </a:r>
          </a:p>
          <a:p>
            <a:pPr marL="1371600" lvl="2" indent="-457200" algn="l">
              <a:buFont typeface="Wingdings" panose="05000000000000000000" pitchFamily="2" charset="2"/>
              <a:buChar char="ü"/>
            </a:pPr>
            <a:r>
              <a:rPr lang="en-US" sz="1200" dirty="0">
                <a:solidFill>
                  <a:schemeClr val="tx1"/>
                </a:solidFill>
                <a:latin typeface="Times New Roman" panose="02020603050405020304" pitchFamily="18" charset="0"/>
                <a:cs typeface="Times New Roman" panose="02020603050405020304" pitchFamily="18" charset="0"/>
              </a:rPr>
              <a:t>Coordinates actions by calling the appropriate controller.</a:t>
            </a:r>
          </a:p>
          <a:p>
            <a:pPr marL="1371600" lvl="2" indent="-457200" algn="l">
              <a:buFont typeface="Wingdings" panose="05000000000000000000" pitchFamily="2" charset="2"/>
              <a:buChar char="ü"/>
            </a:pPr>
            <a:r>
              <a:rPr lang="en-US" sz="1200" dirty="0">
                <a:solidFill>
                  <a:schemeClr val="tx1"/>
                </a:solidFill>
                <a:latin typeface="Times New Roman" panose="02020603050405020304" pitchFamily="18" charset="0"/>
                <a:cs typeface="Times New Roman" panose="02020603050405020304" pitchFamily="18" charset="0"/>
              </a:rPr>
              <a:t>Low coupling: interacts with controllers through clean </a:t>
            </a:r>
          </a:p>
          <a:p>
            <a:pPr lvl="2" algn="l"/>
            <a:r>
              <a:rPr lang="en-US" sz="1200" dirty="0">
                <a:solidFill>
                  <a:schemeClr val="tx1"/>
                </a:solidFill>
                <a:latin typeface="Times New Roman" panose="02020603050405020304" pitchFamily="18" charset="0"/>
                <a:cs typeface="Times New Roman" panose="02020603050405020304" pitchFamily="18" charset="0"/>
              </a:rPr>
              <a:t>           method calls—not numeric flags.</a:t>
            </a:r>
          </a:p>
          <a:p>
            <a:pPr lvl="0" algn="l" eaLnBrk="0" fontAlgn="base" hangingPunct="0">
              <a:spcBef>
                <a:spcPct val="0"/>
              </a:spcBef>
              <a:spcAft>
                <a:spcPct val="0"/>
              </a:spcAft>
            </a:pPr>
            <a:endParaRPr lang="en-US" altLang="en-US" sz="20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13</a:t>
            </a:fld>
            <a:endParaRPr lang="en-US" dirty="0">
              <a:solidFill>
                <a:schemeClr val="tx1"/>
              </a:solidFill>
            </a:endParaRPr>
          </a:p>
        </p:txBody>
      </p:sp>
      <p:sp>
        <p:nvSpPr>
          <p:cNvPr id="6" name="Rectangle 5">
            <a:extLst>
              <a:ext uri="{FF2B5EF4-FFF2-40B4-BE49-F238E27FC236}">
                <a16:creationId xmlns:a16="http://schemas.microsoft.com/office/drawing/2014/main" id="{DEAD3CBA-4B5A-417C-86F1-D2BB5E7C5105}"/>
              </a:ext>
            </a:extLst>
          </p:cNvPr>
          <p:cNvSpPr/>
          <p:nvPr/>
        </p:nvSpPr>
        <p:spPr>
          <a:xfrm>
            <a:off x="5257800" y="2209800"/>
            <a:ext cx="3810000" cy="3970318"/>
          </a:xfrm>
          <a:prstGeom prst="rect">
            <a:avLst/>
          </a:prstGeom>
          <a:ln>
            <a:solidFill>
              <a:srgbClr val="00B0F0"/>
            </a:solidFill>
          </a:ln>
        </p:spPr>
        <p:txBody>
          <a:bodyPr wrap="square">
            <a:spAutoFit/>
          </a:bodyPr>
          <a:lstStyle/>
          <a:p>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FarmController</a:t>
            </a:r>
            <a:r>
              <a:rPr lang="en-US" sz="14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irrigationCtrl</a:t>
            </a:r>
            <a:r>
              <a:rPr lang="en-US" sz="14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fertilizerCtrl</a:t>
            </a:r>
            <a:r>
              <a:rPr lang="en-US" sz="14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activateIrrigation</a:t>
            </a:r>
            <a:r>
              <a:rPr lang="en-US" sz="14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activateFertilizer</a:t>
            </a:r>
            <a:r>
              <a:rPr lang="en-US" sz="14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              </a:t>
            </a:r>
          </a:p>
          <a:p>
            <a:r>
              <a:rPr lang="en-US" sz="14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     |                    |</a:t>
            </a:r>
          </a:p>
          <a:p>
            <a:r>
              <a:rPr lang="en-US" sz="1400" dirty="0">
                <a:latin typeface="Times New Roman" panose="02020603050405020304" pitchFamily="18" charset="0"/>
                <a:cs typeface="Times New Roman" panose="02020603050405020304" pitchFamily="18" charset="0"/>
              </a:rPr>
              <a:t>     v                    </a:t>
            </a:r>
            <a:r>
              <a:rPr lang="en-US" sz="1400" dirty="0" err="1">
                <a:latin typeface="Times New Roman" panose="02020603050405020304" pitchFamily="18" charset="0"/>
                <a:cs typeface="Times New Roman" panose="02020603050405020304" pitchFamily="18" charset="0"/>
              </a:rPr>
              <a:t>v</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IrrigationCtrl</a:t>
            </a:r>
            <a:r>
              <a:rPr lang="en-US" sz="1400" dirty="0">
                <a:latin typeface="Times New Roman" panose="02020603050405020304" pitchFamily="18" charset="0"/>
                <a:cs typeface="Times New Roman" panose="02020603050405020304" pitchFamily="18" charset="0"/>
              </a:rPr>
              <a:t>   |   | </a:t>
            </a:r>
            <a:r>
              <a:rPr lang="en-US" sz="1400" dirty="0" err="1">
                <a:latin typeface="Times New Roman" panose="02020603050405020304" pitchFamily="18" charset="0"/>
                <a:cs typeface="Times New Roman" panose="02020603050405020304" pitchFamily="18" charset="0"/>
              </a:rPr>
              <a:t>FertilizerController</a:t>
            </a:r>
            <a:r>
              <a:rPr lang="en-US" sz="14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startIrrigation</a:t>
            </a:r>
            <a:r>
              <a:rPr lang="en-US" sz="1400" dirty="0">
                <a:latin typeface="Times New Roman" panose="02020603050405020304" pitchFamily="18" charset="0"/>
                <a:cs typeface="Times New Roman" panose="02020603050405020304" pitchFamily="18" charset="0"/>
              </a:rPr>
              <a:t>() | | + </a:t>
            </a:r>
            <a:r>
              <a:rPr lang="en-US" sz="1400" dirty="0" err="1">
                <a:latin typeface="Times New Roman" panose="02020603050405020304" pitchFamily="18" charset="0"/>
                <a:cs typeface="Times New Roman" panose="02020603050405020304" pitchFamily="18" charset="0"/>
              </a:rPr>
              <a:t>startDispensing</a:t>
            </a:r>
            <a:r>
              <a:rPr lang="en-US" sz="14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   +------------------------+</a:t>
            </a:r>
          </a:p>
        </p:txBody>
      </p:sp>
      <p:sp>
        <p:nvSpPr>
          <p:cNvPr id="7" name="Rectangle 6">
            <a:extLst>
              <a:ext uri="{FF2B5EF4-FFF2-40B4-BE49-F238E27FC236}">
                <a16:creationId xmlns:a16="http://schemas.microsoft.com/office/drawing/2014/main" id="{57DC0092-C332-49E8-B831-7886C20552A7}"/>
              </a:ext>
            </a:extLst>
          </p:cNvPr>
          <p:cNvSpPr/>
          <p:nvPr/>
        </p:nvSpPr>
        <p:spPr>
          <a:xfrm>
            <a:off x="5425777" y="6151499"/>
            <a:ext cx="3794629"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Figure: Improved UML-Style Diagram</a:t>
            </a:r>
          </a:p>
        </p:txBody>
      </p:sp>
    </p:spTree>
    <p:extLst>
      <p:ext uri="{BB962C8B-B14F-4D97-AF65-F5344CB8AC3E}">
        <p14:creationId xmlns:p14="http://schemas.microsoft.com/office/powerpoint/2010/main" val="316728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altLang="ja-JP" sz="4800" b="1" dirty="0">
                <a:latin typeface="Times New Roman" pitchFamily="18" charset="0"/>
                <a:cs typeface="Times New Roman" pitchFamily="18" charset="0"/>
              </a:rPr>
              <a:t>Coupling Cohesion </a:t>
            </a:r>
            <a:r>
              <a:rPr lang="en-US" altLang="ja-JP" sz="4800" b="1" dirty="0">
                <a:solidFill>
                  <a:srgbClr val="00B050"/>
                </a:solidFill>
                <a:latin typeface="Times New Roman" pitchFamily="18" charset="0"/>
                <a:cs typeface="Times New Roman" pitchFamily="18" charset="0"/>
              </a:rPr>
              <a:t>Example-1 </a:t>
            </a:r>
            <a:endParaRPr lang="en-US" altLang="ja-JP" sz="4800" b="1" dirty="0">
              <a:latin typeface="Times New Roman" pitchFamily="18" charset="0"/>
              <a:cs typeface="Times New Roman" pitchFamily="18" charset="0"/>
            </a:endParaRPr>
          </a:p>
        </p:txBody>
      </p:sp>
      <p:sp>
        <p:nvSpPr>
          <p:cNvPr id="4" name="Subtitle 3"/>
          <p:cNvSpPr>
            <a:spLocks noGrp="1"/>
          </p:cNvSpPr>
          <p:nvPr>
            <p:ph type="subTitle" idx="1"/>
          </p:nvPr>
        </p:nvSpPr>
        <p:spPr>
          <a:xfrm>
            <a:off x="76200" y="1222744"/>
            <a:ext cx="5867400" cy="5638800"/>
          </a:xfrm>
        </p:spPr>
        <p:txBody>
          <a:bodyPr>
            <a:noAutofit/>
          </a:bodyPr>
          <a:lstStyle/>
          <a:p>
            <a:pPr lvl="0" algn="l" eaLnBrk="0" fontAlgn="base" hangingPunct="0">
              <a:spcBef>
                <a:spcPct val="0"/>
              </a:spcBef>
              <a:spcAft>
                <a:spcPct val="0"/>
              </a:spcAft>
            </a:pPr>
            <a:r>
              <a:rPr lang="en-US" sz="2000" dirty="0">
                <a:solidFill>
                  <a:schemeClr val="tx1"/>
                </a:solidFill>
                <a:latin typeface="Times New Roman" panose="02020603050405020304" pitchFamily="18" charset="0"/>
                <a:cs typeface="Times New Roman" panose="02020603050405020304" pitchFamily="18" charset="0"/>
              </a:rPr>
              <a:t>Improved Code Example</a:t>
            </a:r>
            <a:endParaRPr lang="en-US" altLang="en-US" sz="20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14</a:t>
            </a:fld>
            <a:endParaRPr lang="en-US" dirty="0">
              <a:solidFill>
                <a:schemeClr val="tx1"/>
              </a:solidFill>
            </a:endParaRPr>
          </a:p>
        </p:txBody>
      </p:sp>
      <p:sp>
        <p:nvSpPr>
          <p:cNvPr id="6" name="Rectangle 5">
            <a:extLst>
              <a:ext uri="{FF2B5EF4-FFF2-40B4-BE49-F238E27FC236}">
                <a16:creationId xmlns:a16="http://schemas.microsoft.com/office/drawing/2014/main" id="{DEAD3CBA-4B5A-417C-86F1-D2BB5E7C5105}"/>
              </a:ext>
            </a:extLst>
          </p:cNvPr>
          <p:cNvSpPr/>
          <p:nvPr/>
        </p:nvSpPr>
        <p:spPr>
          <a:xfrm>
            <a:off x="609600" y="1676400"/>
            <a:ext cx="3810000" cy="4185761"/>
          </a:xfrm>
          <a:prstGeom prst="rect">
            <a:avLst/>
          </a:prstGeom>
          <a:ln>
            <a:solidFill>
              <a:srgbClr val="00B0F0"/>
            </a:solidFill>
          </a:ln>
        </p:spPr>
        <p:txBody>
          <a:bodyPr wrap="square">
            <a:spAutoFit/>
          </a:bodyPr>
          <a:lstStyle/>
          <a:p>
            <a:r>
              <a:rPr lang="en-US" sz="1400" dirty="0">
                <a:latin typeface="Times New Roman" panose="02020603050405020304" pitchFamily="18" charset="0"/>
                <a:cs typeface="Times New Roman" panose="02020603050405020304" pitchFamily="18" charset="0"/>
              </a:rPr>
              <a:t>public class </a:t>
            </a:r>
            <a:r>
              <a:rPr lang="en-US" sz="1400" dirty="0" err="1">
                <a:latin typeface="Times New Roman" panose="02020603050405020304" pitchFamily="18" charset="0"/>
                <a:cs typeface="Times New Roman" panose="02020603050405020304" pitchFamily="18" charset="0"/>
              </a:rPr>
              <a:t>FarmController</a:t>
            </a:r>
            <a:r>
              <a:rPr lang="en-US" sz="1400" dirty="0">
                <a:latin typeface="Times New Roman" panose="02020603050405020304" pitchFamily="18" charset="0"/>
                <a:cs typeface="Times New Roman" panose="02020603050405020304" pitchFamily="18" charset="0"/>
              </a:rPr>
              <a:t> {</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private </a:t>
            </a:r>
            <a:r>
              <a:rPr lang="en-US" sz="1400" dirty="0" err="1">
                <a:latin typeface="Times New Roman" panose="02020603050405020304" pitchFamily="18" charset="0"/>
                <a:cs typeface="Times New Roman" panose="02020603050405020304" pitchFamily="18" charset="0"/>
              </a:rPr>
              <a:t>IrrigationController</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irrigationCtrl</a:t>
            </a:r>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private </a:t>
            </a:r>
            <a:r>
              <a:rPr lang="en-US" sz="1400" dirty="0" err="1">
                <a:latin typeface="Times New Roman" panose="02020603050405020304" pitchFamily="18" charset="0"/>
                <a:cs typeface="Times New Roman" panose="02020603050405020304" pitchFamily="18" charset="0"/>
              </a:rPr>
              <a:t>FertilizerController</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fertilizerCtrl</a:t>
            </a:r>
            <a:r>
              <a:rPr lang="en-US" sz="1400" dirty="0">
                <a:latin typeface="Times New Roman" panose="02020603050405020304" pitchFamily="18" charset="0"/>
                <a:cs typeface="Times New Roman" panose="02020603050405020304" pitchFamily="18" charset="0"/>
              </a:rPr>
              <a:t>;</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public </a:t>
            </a:r>
            <a:r>
              <a:rPr lang="en-US" sz="1400" dirty="0" err="1">
                <a:latin typeface="Times New Roman" panose="02020603050405020304" pitchFamily="18" charset="0"/>
                <a:cs typeface="Times New Roman" panose="02020603050405020304" pitchFamily="18" charset="0"/>
              </a:rPr>
              <a:t>FarmController</a:t>
            </a:r>
            <a:r>
              <a:rPr lang="en-US" sz="14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this.irrigationCtrl</a:t>
            </a:r>
            <a:r>
              <a:rPr lang="en-US" sz="1400" dirty="0">
                <a:latin typeface="Times New Roman" panose="02020603050405020304" pitchFamily="18" charset="0"/>
                <a:cs typeface="Times New Roman" panose="02020603050405020304" pitchFamily="18" charset="0"/>
              </a:rPr>
              <a:t> = new </a:t>
            </a:r>
            <a:r>
              <a:rPr lang="en-US" sz="1400" dirty="0" err="1">
                <a:latin typeface="Times New Roman" panose="02020603050405020304" pitchFamily="18" charset="0"/>
                <a:cs typeface="Times New Roman" panose="02020603050405020304" pitchFamily="18" charset="0"/>
              </a:rPr>
              <a:t>IrrigationController</a:t>
            </a:r>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this.fertilizerCtrl</a:t>
            </a:r>
            <a:r>
              <a:rPr lang="en-US" sz="1400" dirty="0">
                <a:latin typeface="Times New Roman" panose="02020603050405020304" pitchFamily="18" charset="0"/>
                <a:cs typeface="Times New Roman" panose="02020603050405020304" pitchFamily="18" charset="0"/>
              </a:rPr>
              <a:t> = new </a:t>
            </a:r>
            <a:r>
              <a:rPr lang="en-US" sz="1400" dirty="0" err="1">
                <a:latin typeface="Times New Roman" panose="02020603050405020304" pitchFamily="18" charset="0"/>
                <a:cs typeface="Times New Roman" panose="02020603050405020304" pitchFamily="18" charset="0"/>
              </a:rPr>
              <a:t>FertilizerController</a:t>
            </a:r>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public void </a:t>
            </a:r>
            <a:r>
              <a:rPr lang="en-US" sz="1400" dirty="0" err="1">
                <a:latin typeface="Times New Roman" panose="02020603050405020304" pitchFamily="18" charset="0"/>
                <a:cs typeface="Times New Roman" panose="02020603050405020304" pitchFamily="18" charset="0"/>
              </a:rPr>
              <a:t>activateIrrigation</a:t>
            </a:r>
            <a:r>
              <a:rPr lang="en-US" sz="14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irrigationCtrl.startIrrigation</a:t>
            </a:r>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public void </a:t>
            </a:r>
            <a:r>
              <a:rPr lang="en-US" sz="1400" dirty="0" err="1">
                <a:latin typeface="Times New Roman" panose="02020603050405020304" pitchFamily="18" charset="0"/>
                <a:cs typeface="Times New Roman" panose="02020603050405020304" pitchFamily="18" charset="0"/>
              </a:rPr>
              <a:t>activateFertilizer</a:t>
            </a:r>
            <a:r>
              <a:rPr lang="en-US" sz="14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fertilizerCtrl.startDispensing</a:t>
            </a:r>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a:t>
            </a:r>
          </a:p>
        </p:txBody>
      </p:sp>
      <p:sp>
        <p:nvSpPr>
          <p:cNvPr id="7" name="Rectangle 6">
            <a:extLst>
              <a:ext uri="{FF2B5EF4-FFF2-40B4-BE49-F238E27FC236}">
                <a16:creationId xmlns:a16="http://schemas.microsoft.com/office/drawing/2014/main" id="{57DC0092-C332-49E8-B831-7886C20552A7}"/>
              </a:ext>
            </a:extLst>
          </p:cNvPr>
          <p:cNvSpPr/>
          <p:nvPr/>
        </p:nvSpPr>
        <p:spPr>
          <a:xfrm>
            <a:off x="853571" y="5862161"/>
            <a:ext cx="2351926"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Figure: Improved Code</a:t>
            </a:r>
          </a:p>
        </p:txBody>
      </p:sp>
      <p:sp>
        <p:nvSpPr>
          <p:cNvPr id="5" name="Rectangle 4">
            <a:extLst>
              <a:ext uri="{FF2B5EF4-FFF2-40B4-BE49-F238E27FC236}">
                <a16:creationId xmlns:a16="http://schemas.microsoft.com/office/drawing/2014/main" id="{C8A1C72F-06D6-4677-BF80-1395B955C778}"/>
              </a:ext>
            </a:extLst>
          </p:cNvPr>
          <p:cNvSpPr/>
          <p:nvPr/>
        </p:nvSpPr>
        <p:spPr>
          <a:xfrm>
            <a:off x="18180" y="6401671"/>
            <a:ext cx="8363820" cy="369332"/>
          </a:xfrm>
          <a:prstGeom prst="rect">
            <a:avLst/>
          </a:prstGeom>
        </p:spPr>
        <p:txBody>
          <a:bodyPr wrap="square">
            <a:spAutoFit/>
          </a:bodyPr>
          <a:lstStyle/>
          <a:p>
            <a:r>
              <a:rPr kumimoji="1" lang="en-US" altLang="ja-JP" b="1" dirty="0">
                <a:solidFill>
                  <a:srgbClr val="00B050"/>
                </a:solidFill>
              </a:rPr>
              <a:t>Advantage of the code: </a:t>
            </a:r>
            <a:r>
              <a:rPr lang="en-US" dirty="0"/>
              <a:t>No flags, No switch statements., Clear responsibilities.</a:t>
            </a:r>
            <a:endParaRPr kumimoji="1" lang="ja-JP" altLang="en-US" dirty="0"/>
          </a:p>
        </p:txBody>
      </p:sp>
      <p:sp>
        <p:nvSpPr>
          <p:cNvPr id="9" name="Rectangle 8">
            <a:extLst>
              <a:ext uri="{FF2B5EF4-FFF2-40B4-BE49-F238E27FC236}">
                <a16:creationId xmlns:a16="http://schemas.microsoft.com/office/drawing/2014/main" id="{EBE22EBC-4894-4A8F-B89A-ED5A3EF04E49}"/>
              </a:ext>
            </a:extLst>
          </p:cNvPr>
          <p:cNvSpPr/>
          <p:nvPr/>
        </p:nvSpPr>
        <p:spPr>
          <a:xfrm>
            <a:off x="4590465" y="1295400"/>
            <a:ext cx="4572000" cy="4524315"/>
          </a:xfrm>
          <a:prstGeom prst="rect">
            <a:avLst/>
          </a:prstGeom>
        </p:spPr>
        <p:txBody>
          <a:bodyPr>
            <a:spAutoFit/>
          </a:bodyPr>
          <a:lstStyle/>
          <a:p>
            <a:pPr lvl="0"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Why This Design Is Better</a:t>
            </a:r>
          </a:p>
          <a:p>
            <a:pPr marL="342900" lvl="0" indent="-342900" eaLnBrk="0" fontAlgn="base" hangingPunct="0">
              <a:spcBef>
                <a:spcPct val="0"/>
              </a:spcBef>
              <a:spcAft>
                <a:spcPct val="0"/>
              </a:spcAft>
              <a:buFont typeface="Wingdings" panose="05000000000000000000" pitchFamily="2" charset="2"/>
              <a:buChar char="v"/>
            </a:pPr>
            <a:r>
              <a:rPr lang="en-US" altLang="en-US" b="1" dirty="0">
                <a:latin typeface="Times New Roman" panose="02020603050405020304" pitchFamily="18" charset="0"/>
                <a:cs typeface="Times New Roman" panose="02020603050405020304" pitchFamily="18" charset="0"/>
              </a:rPr>
              <a:t>High Cohesion</a:t>
            </a:r>
          </a:p>
          <a:p>
            <a:pPr marL="800100" lvl="1" indent="-342900" eaLnBrk="0" fontAlgn="base" hangingPunct="0">
              <a:spcBef>
                <a:spcPct val="0"/>
              </a:spcBef>
              <a:spcAft>
                <a:spcPct val="0"/>
              </a:spcAft>
              <a:buFont typeface="Wingdings" panose="05000000000000000000" pitchFamily="2" charset="2"/>
              <a:buChar char="ü"/>
            </a:pPr>
            <a:r>
              <a:rPr lang="en-US" altLang="en-US" dirty="0">
                <a:latin typeface="Times New Roman" panose="02020603050405020304" pitchFamily="18" charset="0"/>
                <a:cs typeface="Times New Roman" panose="02020603050405020304" pitchFamily="18" charset="0"/>
              </a:rPr>
              <a:t>Each class has </a:t>
            </a:r>
            <a:r>
              <a:rPr lang="en-US" altLang="en-US" b="1" dirty="0">
                <a:latin typeface="Times New Roman" panose="02020603050405020304" pitchFamily="18" charset="0"/>
                <a:cs typeface="Times New Roman" panose="02020603050405020304" pitchFamily="18" charset="0"/>
              </a:rPr>
              <a:t>one dedicated purpose</a:t>
            </a:r>
            <a:r>
              <a:rPr lang="en-US" altLang="en-US" dirty="0">
                <a:latin typeface="Times New Roman" panose="02020603050405020304" pitchFamily="18" charset="0"/>
                <a:cs typeface="Times New Roman" panose="02020603050405020304" pitchFamily="18" charset="0"/>
              </a:rPr>
              <a:t>.</a:t>
            </a:r>
          </a:p>
          <a:p>
            <a:pPr marL="800100" lvl="1" indent="-342900" eaLnBrk="0" fontAlgn="base" hangingPunct="0">
              <a:spcBef>
                <a:spcPct val="0"/>
              </a:spcBef>
              <a:spcAft>
                <a:spcPct val="0"/>
              </a:spcAft>
              <a:buFont typeface="Wingdings" panose="05000000000000000000" pitchFamily="2" charset="2"/>
              <a:buChar char="ü"/>
            </a:pPr>
            <a:r>
              <a:rPr lang="en-US" altLang="en-US" dirty="0">
                <a:latin typeface="Times New Roman" panose="02020603050405020304" pitchFamily="18" charset="0"/>
                <a:cs typeface="Times New Roman" panose="02020603050405020304" pitchFamily="18" charset="0"/>
              </a:rPr>
              <a:t>Easier to update and test.</a:t>
            </a:r>
          </a:p>
          <a:p>
            <a:pPr marL="342900" lvl="0" indent="-342900" eaLnBrk="0" fontAlgn="base" hangingPunct="0">
              <a:spcBef>
                <a:spcPct val="0"/>
              </a:spcBef>
              <a:spcAft>
                <a:spcPct val="0"/>
              </a:spcAft>
              <a:buFont typeface="Wingdings" panose="05000000000000000000" pitchFamily="2" charset="2"/>
              <a:buChar char="v"/>
            </a:pPr>
            <a:r>
              <a:rPr lang="en-US" altLang="en-US" b="1" dirty="0">
                <a:latin typeface="Times New Roman" panose="02020603050405020304" pitchFamily="18" charset="0"/>
                <a:cs typeface="Times New Roman" panose="02020603050405020304" pitchFamily="18" charset="0"/>
              </a:rPr>
              <a:t>Low Coupling</a:t>
            </a:r>
          </a:p>
          <a:p>
            <a:pPr marL="800100" lvl="1" indent="-342900" eaLnBrk="0" fontAlgn="base" hangingPunct="0">
              <a:spcBef>
                <a:spcPct val="0"/>
              </a:spcBef>
              <a:spcAft>
                <a:spcPct val="0"/>
              </a:spcAft>
              <a:buFont typeface="Wingdings" panose="05000000000000000000" pitchFamily="2" charset="2"/>
              <a:buChar char="ü"/>
            </a:pPr>
            <a:r>
              <a:rPr lang="en-US" altLang="en-US" dirty="0" err="1">
                <a:latin typeface="Times New Roman" panose="02020603050405020304" pitchFamily="18" charset="0"/>
                <a:cs typeface="Times New Roman" panose="02020603050405020304" pitchFamily="18" charset="0"/>
              </a:rPr>
              <a:t>FarmController</a:t>
            </a:r>
            <a:r>
              <a:rPr lang="en-US" altLang="en-US" dirty="0">
                <a:latin typeface="Times New Roman" panose="02020603050405020304" pitchFamily="18" charset="0"/>
                <a:cs typeface="Times New Roman" panose="02020603050405020304" pitchFamily="18" charset="0"/>
              </a:rPr>
              <a:t> does not know internal details of each subsystem.</a:t>
            </a:r>
          </a:p>
          <a:p>
            <a:pPr marL="800100" lvl="1" indent="-342900" eaLnBrk="0" fontAlgn="base" hangingPunct="0">
              <a:spcBef>
                <a:spcPct val="0"/>
              </a:spcBef>
              <a:spcAft>
                <a:spcPct val="0"/>
              </a:spcAft>
              <a:buFont typeface="Wingdings" panose="05000000000000000000" pitchFamily="2" charset="2"/>
              <a:buChar char="ü"/>
            </a:pPr>
            <a:r>
              <a:rPr lang="en-US" altLang="en-US" dirty="0">
                <a:latin typeface="Times New Roman" panose="02020603050405020304" pitchFamily="18" charset="0"/>
                <a:cs typeface="Times New Roman" panose="02020603050405020304" pitchFamily="18" charset="0"/>
              </a:rPr>
              <a:t>New systems can be added (e.g., </a:t>
            </a:r>
            <a:r>
              <a:rPr lang="en-US" altLang="en-US" dirty="0" err="1">
                <a:latin typeface="Times New Roman" panose="02020603050405020304" pitchFamily="18" charset="0"/>
                <a:cs typeface="Times New Roman" panose="02020603050405020304" pitchFamily="18" charset="0"/>
              </a:rPr>
              <a:t>pestControl</a:t>
            </a:r>
            <a:r>
              <a:rPr lang="en-US" altLang="en-US" dirty="0">
                <a:latin typeface="Times New Roman" panose="02020603050405020304" pitchFamily="18" charset="0"/>
                <a:cs typeface="Times New Roman" panose="02020603050405020304" pitchFamily="18" charset="0"/>
              </a:rPr>
              <a:t>) by creating new classes without changing existing ones.</a:t>
            </a:r>
          </a:p>
          <a:p>
            <a:pPr marL="342900" lvl="0" indent="-342900" eaLnBrk="0" fontAlgn="base" hangingPunct="0">
              <a:spcBef>
                <a:spcPct val="0"/>
              </a:spcBef>
              <a:spcAft>
                <a:spcPct val="0"/>
              </a:spcAft>
              <a:buFont typeface="Wingdings" panose="05000000000000000000" pitchFamily="2" charset="2"/>
              <a:buChar char="v"/>
            </a:pPr>
            <a:r>
              <a:rPr lang="en-US" altLang="en-US" b="1" dirty="0">
                <a:latin typeface="Times New Roman" panose="02020603050405020304" pitchFamily="18" charset="0"/>
                <a:cs typeface="Times New Roman" panose="02020603050405020304" pitchFamily="18" charset="0"/>
              </a:rPr>
              <a:t>Readable and Maintainable</a:t>
            </a:r>
          </a:p>
          <a:p>
            <a:pPr marL="800100" lvl="1" indent="-342900" eaLnBrk="0" fontAlgn="base" hangingPunct="0">
              <a:spcBef>
                <a:spcPct val="0"/>
              </a:spcBef>
              <a:spcAft>
                <a:spcPct val="0"/>
              </a:spcAft>
              <a:buFont typeface="Wingdings" panose="05000000000000000000" pitchFamily="2" charset="2"/>
              <a:buChar char="ü"/>
            </a:pPr>
            <a:r>
              <a:rPr lang="en-US" altLang="en-US" dirty="0">
                <a:latin typeface="Times New Roman" panose="02020603050405020304" pitchFamily="18" charset="0"/>
                <a:cs typeface="Times New Roman" panose="02020603050405020304" pitchFamily="18" charset="0"/>
              </a:rPr>
              <a:t>Method names clearly describe actions.</a:t>
            </a:r>
          </a:p>
          <a:p>
            <a:pPr marL="800100" lvl="1" indent="-342900" eaLnBrk="0" fontAlgn="base" hangingPunct="0">
              <a:spcBef>
                <a:spcPct val="0"/>
              </a:spcBef>
              <a:spcAft>
                <a:spcPct val="0"/>
              </a:spcAft>
              <a:buFont typeface="Wingdings" panose="05000000000000000000" pitchFamily="2" charset="2"/>
              <a:buChar char="ü"/>
            </a:pPr>
            <a:r>
              <a:rPr lang="en-US" altLang="en-US" dirty="0">
                <a:latin typeface="Times New Roman" panose="02020603050405020304" pitchFamily="18" charset="0"/>
                <a:cs typeface="Times New Roman" panose="02020603050405020304" pitchFamily="18" charset="0"/>
              </a:rPr>
              <a:t>Eliminates confusing flag-based logic.</a:t>
            </a:r>
          </a:p>
          <a:p>
            <a:pPr lvl="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9243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altLang="ja-JP" sz="4800" b="1" dirty="0">
                <a:latin typeface="Times New Roman" pitchFamily="18" charset="0"/>
                <a:cs typeface="Times New Roman" pitchFamily="18" charset="0"/>
              </a:rPr>
              <a:t>Coupling Cohesion </a:t>
            </a:r>
            <a:r>
              <a:rPr lang="en-US" altLang="ja-JP" sz="4800" b="1" dirty="0">
                <a:solidFill>
                  <a:srgbClr val="00B050"/>
                </a:solidFill>
                <a:latin typeface="Times New Roman" pitchFamily="18" charset="0"/>
                <a:cs typeface="Times New Roman" pitchFamily="18" charset="0"/>
              </a:rPr>
              <a:t>Example-2 </a:t>
            </a:r>
            <a:endParaRPr lang="en-US" altLang="ja-JP" sz="4800" b="1" dirty="0">
              <a:latin typeface="Times New Roman" pitchFamily="18" charset="0"/>
              <a:cs typeface="Times New Roman" pitchFamily="18" charset="0"/>
            </a:endParaRPr>
          </a:p>
        </p:txBody>
      </p:sp>
      <p:sp>
        <p:nvSpPr>
          <p:cNvPr id="4" name="Subtitle 3"/>
          <p:cNvSpPr>
            <a:spLocks noGrp="1"/>
          </p:cNvSpPr>
          <p:nvPr>
            <p:ph type="subTitle" idx="1"/>
          </p:nvPr>
        </p:nvSpPr>
        <p:spPr>
          <a:xfrm>
            <a:off x="76200" y="1222744"/>
            <a:ext cx="8839200" cy="5638800"/>
          </a:xfrm>
        </p:spPr>
        <p:txBody>
          <a:bodyPr>
            <a:noAutofit/>
          </a:bodyPr>
          <a:lstStyle/>
          <a:p>
            <a:pPr lvl="0" algn="just" eaLnBrk="0" fontAlgn="base" hangingPunct="0">
              <a:spcBef>
                <a:spcPct val="0"/>
              </a:spcBef>
              <a:spcAft>
                <a:spcPct val="0"/>
              </a:spcAft>
            </a:pPr>
            <a:r>
              <a:rPr kumimoji="0" lang="en-US" altLang="ja-JP" sz="2000" b="1"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Scenario-2</a:t>
            </a:r>
            <a:r>
              <a:rPr lang="en-US" altLang="ja-JP" sz="2000" b="1" dirty="0">
                <a:solidFill>
                  <a:srgbClr val="00B050"/>
                </a:solidFill>
                <a:latin typeface="Times New Roman" panose="02020603050405020304" pitchFamily="18" charset="0"/>
                <a:cs typeface="Times New Roman" panose="02020603050405020304" pitchFamily="18" charset="0"/>
              </a:rPr>
              <a:t>: </a:t>
            </a:r>
            <a:r>
              <a:rPr lang="en-US" altLang="ja-JP" sz="2000" dirty="0">
                <a:solidFill>
                  <a:schemeClr val="tx1"/>
                </a:solidFill>
                <a:latin typeface="Times New Roman" panose="02020603050405020304" pitchFamily="18" charset="0"/>
                <a:cs typeface="Times New Roman" panose="02020603050405020304" pitchFamily="18" charset="0"/>
              </a:rPr>
              <a:t>Suppose we have a class called </a:t>
            </a:r>
            <a:r>
              <a:rPr lang="en-US" altLang="ja-JP" sz="2000" dirty="0" err="1">
                <a:solidFill>
                  <a:schemeClr val="tx1"/>
                </a:solidFill>
                <a:latin typeface="Times New Roman" panose="02020603050405020304" pitchFamily="18" charset="0"/>
                <a:cs typeface="Times New Roman" panose="02020603050405020304" pitchFamily="18" charset="0"/>
              </a:rPr>
              <a:t>ServiceManager</a:t>
            </a:r>
            <a:r>
              <a:rPr lang="en-US" altLang="ja-JP" sz="2000" dirty="0">
                <a:solidFill>
                  <a:schemeClr val="tx1"/>
                </a:solidFill>
                <a:latin typeface="Times New Roman" panose="02020603050405020304" pitchFamily="18" charset="0"/>
                <a:cs typeface="Times New Roman" panose="02020603050405020304" pitchFamily="18" charset="0"/>
              </a:rPr>
              <a:t> in the Dhaka Urban Management System that has two purposes: handling waste collection requests and road maintenance requests.</a:t>
            </a:r>
          </a:p>
          <a:p>
            <a:pPr lvl="0" algn="just" eaLnBrk="0" fontAlgn="base" hangingPunct="0">
              <a:spcBef>
                <a:spcPct val="0"/>
              </a:spcBef>
              <a:spcAft>
                <a:spcPct val="0"/>
              </a:spcAft>
            </a:pPr>
            <a:r>
              <a:rPr lang="en-US" altLang="ja-JP" sz="2000" dirty="0">
                <a:solidFill>
                  <a:schemeClr val="tx1"/>
                </a:solidFill>
                <a:latin typeface="Times New Roman" panose="02020603050405020304" pitchFamily="18" charset="0"/>
                <a:cs typeface="Times New Roman" panose="02020603050405020304" pitchFamily="18" charset="0"/>
              </a:rPr>
              <a:t>Here we have a </a:t>
            </a:r>
            <a:r>
              <a:rPr lang="en-US" altLang="ja-JP" sz="2000" dirty="0" err="1">
                <a:solidFill>
                  <a:schemeClr val="tx1"/>
                </a:solidFill>
                <a:latin typeface="Times New Roman" panose="02020603050405020304" pitchFamily="18" charset="0"/>
                <a:cs typeface="Times New Roman" panose="02020603050405020304" pitchFamily="18" charset="0"/>
              </a:rPr>
              <a:t>processRequest</a:t>
            </a:r>
            <a:r>
              <a:rPr lang="en-US" altLang="ja-JP" sz="2000" dirty="0">
                <a:solidFill>
                  <a:schemeClr val="tx1"/>
                </a:solidFill>
                <a:latin typeface="Times New Roman" panose="02020603050405020304" pitchFamily="18" charset="0"/>
                <a:cs typeface="Times New Roman" panose="02020603050405020304" pitchFamily="18" charset="0"/>
              </a:rPr>
              <a:t>() method that takes a zero (0) flag if we want to process a waste collection request, and takes the one (1) flag if we want to process a road maintenance request. The class diagram for the </a:t>
            </a:r>
            <a:r>
              <a:rPr lang="en-US" altLang="ja-JP" sz="2000" dirty="0" err="1">
                <a:solidFill>
                  <a:schemeClr val="tx1"/>
                </a:solidFill>
                <a:latin typeface="Times New Roman" panose="02020603050405020304" pitchFamily="18" charset="0"/>
                <a:cs typeface="Times New Roman" panose="02020603050405020304" pitchFamily="18" charset="0"/>
              </a:rPr>
              <a:t>ServiceManager</a:t>
            </a:r>
            <a:r>
              <a:rPr lang="en-US" altLang="ja-JP" sz="2000" dirty="0">
                <a:solidFill>
                  <a:schemeClr val="tx1"/>
                </a:solidFill>
                <a:latin typeface="Times New Roman" panose="02020603050405020304" pitchFamily="18" charset="0"/>
                <a:cs typeface="Times New Roman" panose="02020603050405020304" pitchFamily="18" charset="0"/>
              </a:rPr>
              <a:t> and implementation of its </a:t>
            </a:r>
            <a:r>
              <a:rPr lang="en-US" altLang="ja-JP" sz="2000" dirty="0" err="1">
                <a:solidFill>
                  <a:schemeClr val="tx1"/>
                </a:solidFill>
                <a:latin typeface="Times New Roman" panose="02020603050405020304" pitchFamily="18" charset="0"/>
                <a:cs typeface="Times New Roman" panose="02020603050405020304" pitchFamily="18" charset="0"/>
              </a:rPr>
              <a:t>processRequest</a:t>
            </a:r>
            <a:r>
              <a:rPr lang="en-US" altLang="ja-JP" sz="2000" dirty="0">
                <a:solidFill>
                  <a:schemeClr val="tx1"/>
                </a:solidFill>
                <a:latin typeface="Times New Roman" panose="02020603050405020304" pitchFamily="18" charset="0"/>
                <a:cs typeface="Times New Roman" panose="02020603050405020304" pitchFamily="18" charset="0"/>
              </a:rPr>
              <a:t>() method is as below:</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15</a:t>
            </a:fld>
            <a:endParaRPr lang="en-US" dirty="0">
              <a:solidFill>
                <a:schemeClr val="tx1"/>
              </a:solidFill>
            </a:endParaRPr>
          </a:p>
        </p:txBody>
      </p:sp>
      <p:graphicFrame>
        <p:nvGraphicFramePr>
          <p:cNvPr id="6" name="Table 5">
            <a:extLst>
              <a:ext uri="{FF2B5EF4-FFF2-40B4-BE49-F238E27FC236}">
                <a16:creationId xmlns:a16="http://schemas.microsoft.com/office/drawing/2014/main" id="{21F2B620-AEB0-433B-8266-CB148C685AA1}"/>
              </a:ext>
            </a:extLst>
          </p:cNvPr>
          <p:cNvGraphicFramePr>
            <a:graphicFrameLocks noGrp="1"/>
          </p:cNvGraphicFramePr>
          <p:nvPr>
            <p:extLst>
              <p:ext uri="{D42A27DB-BD31-4B8C-83A1-F6EECF244321}">
                <p14:modId xmlns:p14="http://schemas.microsoft.com/office/powerpoint/2010/main" val="1249707829"/>
              </p:ext>
            </p:extLst>
          </p:nvPr>
        </p:nvGraphicFramePr>
        <p:xfrm>
          <a:off x="228600" y="3581400"/>
          <a:ext cx="6248400" cy="1645920"/>
        </p:xfrm>
        <a:graphic>
          <a:graphicData uri="http://schemas.openxmlformats.org/drawingml/2006/table">
            <a:tbl>
              <a:tblPr firstRow="1" firstCol="1" bandRow="1">
                <a:tableStyleId>{5940675A-B579-460E-94D1-54222C63F5DA}</a:tableStyleId>
              </a:tblPr>
              <a:tblGrid>
                <a:gridCol w="3124200">
                  <a:extLst>
                    <a:ext uri="{9D8B030D-6E8A-4147-A177-3AD203B41FA5}">
                      <a16:colId xmlns:a16="http://schemas.microsoft.com/office/drawing/2014/main" val="4183779256"/>
                    </a:ext>
                  </a:extLst>
                </a:gridCol>
                <a:gridCol w="3124200">
                  <a:extLst>
                    <a:ext uri="{9D8B030D-6E8A-4147-A177-3AD203B41FA5}">
                      <a16:colId xmlns:a16="http://schemas.microsoft.com/office/drawing/2014/main" val="439865145"/>
                    </a:ext>
                  </a:extLst>
                </a:gridCol>
              </a:tblGrid>
              <a:tr h="0">
                <a:tc>
                  <a:txBody>
                    <a:bodyPr/>
                    <a:lstStyle/>
                    <a:p>
                      <a:pPr marL="0" marR="0">
                        <a:spcBef>
                          <a:spcPts val="0"/>
                        </a:spcBef>
                        <a:spcAft>
                          <a:spcPts val="0"/>
                        </a:spcAft>
                      </a:pPr>
                      <a:r>
                        <a:rPr lang="en-US" sz="1200" dirty="0" err="1">
                          <a:effectLst/>
                          <a:latin typeface="Times New Roman" panose="02020603050405020304" pitchFamily="18" charset="0"/>
                          <a:cs typeface="Times New Roman" panose="02020603050405020304" pitchFamily="18" charset="0"/>
                        </a:rPr>
                        <a:t>ServiceManager</a:t>
                      </a:r>
                      <a:endParaRPr lang="en-US" sz="1200" dirty="0">
                        <a:effectLst/>
                        <a:latin typeface="Times New Roman" panose="02020603050405020304" pitchFamily="18" charset="0"/>
                        <a:cs typeface="Times New Roman" panose="02020603050405020304" pitchFamily="18" charset="0"/>
                      </a:endParaRPr>
                    </a:p>
                    <a:p>
                      <a:pPr marL="0" marR="0">
                        <a:spcBef>
                          <a:spcPts val="0"/>
                        </a:spcBef>
                        <a:spcAft>
                          <a:spcPts val="0"/>
                        </a:spcAft>
                      </a:pPr>
                      <a:r>
                        <a:rPr lang="en-US" sz="1200" dirty="0">
                          <a:effectLst/>
                          <a:latin typeface="Times New Roman" panose="02020603050405020304" pitchFamily="18" charset="0"/>
                          <a:cs typeface="Times New Roman" panose="02020603050405020304" pitchFamily="18" charset="0"/>
                        </a:rPr>
                        <a:t>+ </a:t>
                      </a:r>
                      <a:r>
                        <a:rPr lang="en-US" sz="1200" dirty="0" err="1">
                          <a:effectLst/>
                          <a:latin typeface="Times New Roman" panose="02020603050405020304" pitchFamily="18" charset="0"/>
                          <a:cs typeface="Times New Roman" panose="02020603050405020304" pitchFamily="18" charset="0"/>
                        </a:rPr>
                        <a:t>processRequest</a:t>
                      </a:r>
                      <a:r>
                        <a:rPr lang="en-US" sz="1200" dirty="0">
                          <a:effectLst/>
                          <a:latin typeface="Times New Roman" panose="02020603050405020304" pitchFamily="18" charset="0"/>
                          <a:cs typeface="Times New Roman" panose="02020603050405020304" pitchFamily="18" charset="0"/>
                        </a:rPr>
                        <a:t>(</a:t>
                      </a:r>
                      <a:r>
                        <a:rPr lang="en-US" sz="1200" dirty="0" err="1">
                          <a:effectLst/>
                          <a:latin typeface="Times New Roman" panose="02020603050405020304" pitchFamily="18" charset="0"/>
                          <a:cs typeface="Times New Roman" panose="02020603050405020304" pitchFamily="18" charset="0"/>
                        </a:rPr>
                        <a:t>controlFlag</a:t>
                      </a:r>
                      <a:r>
                        <a:rPr lang="en-US" sz="1200" dirty="0">
                          <a:effectLst/>
                          <a:latin typeface="Times New Roman" panose="02020603050405020304" pitchFamily="18" charset="0"/>
                          <a:cs typeface="Times New Roman" panose="02020603050405020304" pitchFamily="18" charset="0"/>
                        </a:rPr>
                        <a:t>: int)</a:t>
                      </a:r>
                      <a:endParaRPr lang="en-US" sz="1200" dirty="0">
                        <a:effectLst/>
                        <a:latin typeface="Times New Roman" panose="02020603050405020304" pitchFamily="18" charset="0"/>
                        <a:ea typeface="MS PGothic" panose="020B0600070205080204" pitchFamily="34" charset="-128"/>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latin typeface="Times New Roman" panose="02020603050405020304" pitchFamily="18" charset="0"/>
                          <a:cs typeface="Times New Roman" panose="02020603050405020304" pitchFamily="18" charset="0"/>
                        </a:rPr>
                        <a:t>public void </a:t>
                      </a:r>
                      <a:r>
                        <a:rPr lang="en-US" sz="1200" dirty="0" err="1">
                          <a:effectLst/>
                          <a:latin typeface="Times New Roman" panose="02020603050405020304" pitchFamily="18" charset="0"/>
                          <a:cs typeface="Times New Roman" panose="02020603050405020304" pitchFamily="18" charset="0"/>
                        </a:rPr>
                        <a:t>processRequest</a:t>
                      </a:r>
                      <a:r>
                        <a:rPr lang="en-US" sz="1200" dirty="0">
                          <a:effectLst/>
                          <a:latin typeface="Times New Roman" panose="02020603050405020304" pitchFamily="18" charset="0"/>
                          <a:cs typeface="Times New Roman" panose="02020603050405020304" pitchFamily="18" charset="0"/>
                        </a:rPr>
                        <a:t>(int </a:t>
                      </a:r>
                      <a:r>
                        <a:rPr lang="en-US" sz="1200" dirty="0" err="1">
                          <a:effectLst/>
                          <a:latin typeface="Times New Roman" panose="02020603050405020304" pitchFamily="18" charset="0"/>
                          <a:cs typeface="Times New Roman" panose="02020603050405020304" pitchFamily="18" charset="0"/>
                        </a:rPr>
                        <a:t>controlFlag</a:t>
                      </a:r>
                      <a:r>
                        <a:rPr lang="en-US" sz="1200" dirty="0">
                          <a:effectLst/>
                          <a:latin typeface="Times New Roman" panose="02020603050405020304" pitchFamily="18" charset="0"/>
                          <a:cs typeface="Times New Roman" panose="02020603050405020304" pitchFamily="18" charset="0"/>
                        </a:rPr>
                        <a:t>) {</a:t>
                      </a:r>
                    </a:p>
                    <a:p>
                      <a:pPr marL="0" marR="0">
                        <a:spcBef>
                          <a:spcPts val="0"/>
                        </a:spcBef>
                        <a:spcAft>
                          <a:spcPts val="0"/>
                        </a:spcAft>
                      </a:pPr>
                      <a:r>
                        <a:rPr lang="en-US" sz="1200" dirty="0">
                          <a:effectLst/>
                          <a:latin typeface="Times New Roman" panose="02020603050405020304" pitchFamily="18" charset="0"/>
                          <a:cs typeface="Times New Roman" panose="02020603050405020304" pitchFamily="18" charset="0"/>
                        </a:rPr>
                        <a:t>    switch (</a:t>
                      </a:r>
                      <a:r>
                        <a:rPr lang="en-US" sz="1200" dirty="0" err="1">
                          <a:effectLst/>
                          <a:latin typeface="Times New Roman" panose="02020603050405020304" pitchFamily="18" charset="0"/>
                          <a:cs typeface="Times New Roman" panose="02020603050405020304" pitchFamily="18" charset="0"/>
                        </a:rPr>
                        <a:t>controlFlag</a:t>
                      </a:r>
                      <a:r>
                        <a:rPr lang="en-US" sz="1200" dirty="0">
                          <a:effectLst/>
                          <a:latin typeface="Times New Roman" panose="02020603050405020304" pitchFamily="18" charset="0"/>
                          <a:cs typeface="Times New Roman" panose="02020603050405020304" pitchFamily="18" charset="0"/>
                        </a:rPr>
                        <a:t>) {</a:t>
                      </a:r>
                    </a:p>
                    <a:p>
                      <a:pPr marL="0" marR="0">
                        <a:spcBef>
                          <a:spcPts val="0"/>
                        </a:spcBef>
                        <a:spcAft>
                          <a:spcPts val="0"/>
                        </a:spcAft>
                      </a:pPr>
                      <a:r>
                        <a:rPr lang="en-US" sz="1200" dirty="0">
                          <a:effectLst/>
                          <a:latin typeface="Times New Roman" panose="02020603050405020304" pitchFamily="18" charset="0"/>
                          <a:cs typeface="Times New Roman" panose="02020603050405020304" pitchFamily="18" charset="0"/>
                        </a:rPr>
                        <a:t>        case 0:</a:t>
                      </a:r>
                    </a:p>
                    <a:p>
                      <a:pPr marL="0" marR="0">
                        <a:spcBef>
                          <a:spcPts val="0"/>
                        </a:spcBef>
                        <a:spcAft>
                          <a:spcPts val="0"/>
                        </a:spcAft>
                      </a:pPr>
                      <a:r>
                        <a:rPr lang="en-US" sz="1200" dirty="0">
                          <a:effectLst/>
                          <a:latin typeface="Times New Roman" panose="02020603050405020304" pitchFamily="18" charset="0"/>
                          <a:cs typeface="Times New Roman" panose="02020603050405020304" pitchFamily="18" charset="0"/>
                        </a:rPr>
                        <a:t>            return </a:t>
                      </a:r>
                      <a:r>
                        <a:rPr lang="en-US" sz="1200" dirty="0" err="1">
                          <a:effectLst/>
                          <a:latin typeface="Times New Roman" panose="02020603050405020304" pitchFamily="18" charset="0"/>
                          <a:cs typeface="Times New Roman" panose="02020603050405020304" pitchFamily="18" charset="0"/>
                        </a:rPr>
                        <a:t>this.handleWasteCollection</a:t>
                      </a:r>
                      <a:r>
                        <a:rPr lang="en-US" sz="1200" dirty="0">
                          <a:effectLst/>
                          <a:latin typeface="Times New Roman" panose="02020603050405020304" pitchFamily="18" charset="0"/>
                          <a:cs typeface="Times New Roman" panose="02020603050405020304" pitchFamily="18" charset="0"/>
                        </a:rPr>
                        <a:t>();</a:t>
                      </a:r>
                    </a:p>
                    <a:p>
                      <a:pPr marL="0" marR="0">
                        <a:spcBef>
                          <a:spcPts val="0"/>
                        </a:spcBef>
                        <a:spcAft>
                          <a:spcPts val="0"/>
                        </a:spcAft>
                      </a:pPr>
                      <a:r>
                        <a:rPr lang="en-US" sz="1200" dirty="0">
                          <a:effectLst/>
                          <a:latin typeface="Times New Roman" panose="02020603050405020304" pitchFamily="18" charset="0"/>
                          <a:cs typeface="Times New Roman" panose="02020603050405020304" pitchFamily="18" charset="0"/>
                        </a:rPr>
                        <a:t>        case 1:            return </a:t>
                      </a:r>
                      <a:r>
                        <a:rPr lang="en-US" sz="1200" dirty="0" err="1">
                          <a:effectLst/>
                          <a:latin typeface="Times New Roman" panose="02020603050405020304" pitchFamily="18" charset="0"/>
                          <a:cs typeface="Times New Roman" panose="02020603050405020304" pitchFamily="18" charset="0"/>
                        </a:rPr>
                        <a:t>this.handleRoadMaintenance</a:t>
                      </a:r>
                      <a:r>
                        <a:rPr lang="en-US" sz="1200" dirty="0">
                          <a:effectLst/>
                          <a:latin typeface="Times New Roman" panose="02020603050405020304" pitchFamily="18" charset="0"/>
                          <a:cs typeface="Times New Roman" panose="02020603050405020304" pitchFamily="18" charset="0"/>
                        </a:rPr>
                        <a:t>();</a:t>
                      </a:r>
                    </a:p>
                    <a:p>
                      <a:pPr marL="0" marR="0">
                        <a:spcBef>
                          <a:spcPts val="0"/>
                        </a:spcBef>
                        <a:spcAft>
                          <a:spcPts val="0"/>
                        </a:spcAft>
                      </a:pPr>
                      <a:r>
                        <a:rPr lang="en-US" sz="1200" dirty="0">
                          <a:effectLst/>
                          <a:latin typeface="Times New Roman" panose="02020603050405020304" pitchFamily="18" charset="0"/>
                          <a:cs typeface="Times New Roman" panose="02020603050405020304" pitchFamily="18" charset="0"/>
                        </a:rPr>
                        <a:t>        default:</a:t>
                      </a:r>
                    </a:p>
                    <a:p>
                      <a:pPr marL="0" marR="0">
                        <a:spcBef>
                          <a:spcPts val="0"/>
                        </a:spcBef>
                        <a:spcAft>
                          <a:spcPts val="0"/>
                        </a:spcAft>
                      </a:pPr>
                      <a:r>
                        <a:rPr lang="en-US" sz="1200" dirty="0">
                          <a:effectLst/>
                          <a:latin typeface="Times New Roman" panose="02020603050405020304" pitchFamily="18" charset="0"/>
                          <a:cs typeface="Times New Roman" panose="02020603050405020304" pitchFamily="18" charset="0"/>
                        </a:rPr>
                        <a:t>            throw new </a:t>
                      </a:r>
                      <a:r>
                        <a:rPr lang="en-US" sz="1200" dirty="0" err="1">
                          <a:effectLst/>
                          <a:latin typeface="Times New Roman" panose="02020603050405020304" pitchFamily="18" charset="0"/>
                          <a:cs typeface="Times New Roman" panose="02020603050405020304" pitchFamily="18" charset="0"/>
                        </a:rPr>
                        <a:t>UnknownControlFlagException</a:t>
                      </a:r>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MS PGothic" panose="020B0600070205080204" pitchFamily="34" charset="-128"/>
                        <a:cs typeface="Times New Roman" panose="02020603050405020304" pitchFamily="18" charset="0"/>
                      </a:endParaRPr>
                    </a:p>
                  </a:txBody>
                  <a:tcPr marL="68580" marR="68580" marT="0" marB="0"/>
                </a:tc>
                <a:extLst>
                  <a:ext uri="{0D108BD9-81ED-4DB2-BD59-A6C34878D82A}">
                    <a16:rowId xmlns:a16="http://schemas.microsoft.com/office/drawing/2014/main" val="2638561952"/>
                  </a:ext>
                </a:extLst>
              </a:tr>
            </a:tbl>
          </a:graphicData>
        </a:graphic>
      </p:graphicFrame>
      <p:sp>
        <p:nvSpPr>
          <p:cNvPr id="7" name="Rectangle 6">
            <a:extLst>
              <a:ext uri="{FF2B5EF4-FFF2-40B4-BE49-F238E27FC236}">
                <a16:creationId xmlns:a16="http://schemas.microsoft.com/office/drawing/2014/main" id="{977E97C8-02E0-4103-B341-D51065D349E8}"/>
              </a:ext>
            </a:extLst>
          </p:cNvPr>
          <p:cNvSpPr/>
          <p:nvPr/>
        </p:nvSpPr>
        <p:spPr>
          <a:xfrm>
            <a:off x="228600" y="5486400"/>
            <a:ext cx="7467600" cy="1200329"/>
          </a:xfrm>
          <a:prstGeom prst="rect">
            <a:avLst/>
          </a:prstGeom>
        </p:spPr>
        <p:txBody>
          <a:bodyPr wrap="square">
            <a:spAutoFit/>
          </a:bodyPr>
          <a:lstStyle/>
          <a:p>
            <a:pPr marL="342900" marR="0" lvl="0" indent="-342900">
              <a:spcBef>
                <a:spcPts val="0"/>
              </a:spcBef>
              <a:spcAft>
                <a:spcPts val="0"/>
              </a:spcAft>
              <a:buFont typeface="+mj-lt"/>
              <a:buAutoNum type="alphaLcParenR"/>
            </a:pPr>
            <a:r>
              <a:rPr lang="en-US" dirty="0">
                <a:latin typeface="Times New Roman" panose="02020603050405020304" pitchFamily="18" charset="0"/>
                <a:ea typeface="MS PGothic" panose="020B0600070205080204" pitchFamily="34" charset="-128"/>
                <a:cs typeface="MS PGothic" panose="020B0600070205080204" pitchFamily="34" charset="-128"/>
              </a:rPr>
              <a:t>Evaluate the above design in terms of </a:t>
            </a:r>
            <a:r>
              <a:rPr lang="en-US" b="1" dirty="0">
                <a:latin typeface="Times New Roman" panose="02020603050405020304" pitchFamily="18" charset="0"/>
                <a:ea typeface="MS PGothic" panose="020B0600070205080204" pitchFamily="34" charset="-128"/>
                <a:cs typeface="MS PGothic" panose="020B0600070205080204" pitchFamily="34" charset="-128"/>
              </a:rPr>
              <a:t>coupling</a:t>
            </a:r>
            <a:r>
              <a:rPr lang="en-US" dirty="0">
                <a:latin typeface="Times New Roman" panose="02020603050405020304" pitchFamily="18" charset="0"/>
                <a:ea typeface="MS PGothic" panose="020B0600070205080204" pitchFamily="34" charset="-128"/>
                <a:cs typeface="MS PGothic" panose="020B0600070205080204" pitchFamily="34" charset="-128"/>
              </a:rPr>
              <a:t> and </a:t>
            </a:r>
            <a:r>
              <a:rPr lang="en-US" b="1" dirty="0">
                <a:latin typeface="Times New Roman" panose="02020603050405020304" pitchFamily="18" charset="0"/>
                <a:ea typeface="MS PGothic" panose="020B0600070205080204" pitchFamily="34" charset="-128"/>
                <a:cs typeface="MS PGothic" panose="020B0600070205080204" pitchFamily="34" charset="-128"/>
              </a:rPr>
              <a:t>cohesion</a:t>
            </a:r>
            <a:r>
              <a:rPr lang="en-US" dirty="0">
                <a:latin typeface="Times New Roman" panose="02020603050405020304" pitchFamily="18" charset="0"/>
                <a:ea typeface="MS PGothic" panose="020B0600070205080204" pitchFamily="34" charset="-128"/>
                <a:cs typeface="MS PGothic" panose="020B0600070205080204" pitchFamily="34" charset="-128"/>
              </a:rPr>
              <a:t>. Give justification in each case. </a:t>
            </a:r>
          </a:p>
          <a:p>
            <a:pPr marL="342900" marR="0" lvl="0" indent="-342900">
              <a:spcBef>
                <a:spcPts val="0"/>
              </a:spcBef>
              <a:spcAft>
                <a:spcPts val="0"/>
              </a:spcAft>
              <a:buFont typeface="+mj-lt"/>
              <a:buAutoNum type="alphaLcParenR"/>
            </a:pPr>
            <a:r>
              <a:rPr lang="en-US" dirty="0">
                <a:latin typeface="Times New Roman" panose="02020603050405020304" pitchFamily="18" charset="0"/>
                <a:ea typeface="MS PGothic" panose="020B0600070205080204" pitchFamily="34" charset="-128"/>
                <a:cs typeface="MS PGothic" panose="020B0600070205080204" pitchFamily="34" charset="-128"/>
              </a:rPr>
              <a:t>Suggest a </a:t>
            </a:r>
            <a:r>
              <a:rPr lang="en-US" b="1" dirty="0">
                <a:latin typeface="Times New Roman" panose="02020603050405020304" pitchFamily="18" charset="0"/>
                <a:ea typeface="MS PGothic" panose="020B0600070205080204" pitchFamily="34" charset="-128"/>
                <a:cs typeface="MS PGothic" panose="020B0600070205080204" pitchFamily="34" charset="-128"/>
              </a:rPr>
              <a:t>better design</a:t>
            </a:r>
            <a:r>
              <a:rPr lang="en-US" dirty="0">
                <a:latin typeface="Times New Roman" panose="02020603050405020304" pitchFamily="18" charset="0"/>
                <a:ea typeface="MS PGothic" panose="020B0600070205080204" pitchFamily="34" charset="-128"/>
                <a:cs typeface="MS PGothic" panose="020B0600070205080204" pitchFamily="34" charset="-128"/>
              </a:rPr>
              <a:t> for the above class that meets acceptable </a:t>
            </a:r>
            <a:r>
              <a:rPr lang="en-US" b="1" dirty="0">
                <a:latin typeface="Times New Roman" panose="02020603050405020304" pitchFamily="18" charset="0"/>
                <a:ea typeface="MS PGothic" panose="020B0600070205080204" pitchFamily="34" charset="-128"/>
                <a:cs typeface="MS PGothic" panose="020B0600070205080204" pitchFamily="34" charset="-128"/>
              </a:rPr>
              <a:t>coupling</a:t>
            </a:r>
            <a:r>
              <a:rPr lang="en-US" dirty="0">
                <a:latin typeface="Times New Roman" panose="02020603050405020304" pitchFamily="18" charset="0"/>
                <a:ea typeface="MS PGothic" panose="020B0600070205080204" pitchFamily="34" charset="-128"/>
                <a:cs typeface="MS PGothic" panose="020B0600070205080204" pitchFamily="34" charset="-128"/>
              </a:rPr>
              <a:t> and </a:t>
            </a:r>
            <a:r>
              <a:rPr lang="en-US" b="1" dirty="0">
                <a:latin typeface="Times New Roman" panose="02020603050405020304" pitchFamily="18" charset="0"/>
                <a:ea typeface="MS PGothic" panose="020B0600070205080204" pitchFamily="34" charset="-128"/>
                <a:cs typeface="MS PGothic" panose="020B0600070205080204" pitchFamily="34" charset="-128"/>
              </a:rPr>
              <a:t>cohesion</a:t>
            </a:r>
            <a:r>
              <a:rPr lang="en-US" dirty="0">
                <a:latin typeface="Times New Roman" panose="02020603050405020304" pitchFamily="18" charset="0"/>
                <a:ea typeface="MS PGothic" panose="020B0600070205080204" pitchFamily="34" charset="-128"/>
                <a:cs typeface="MS PGothic" panose="020B0600070205080204" pitchFamily="34" charset="-128"/>
              </a:rPr>
              <a:t> requirements. </a:t>
            </a:r>
            <a:endParaRPr lang="en-US" sz="2000" dirty="0">
              <a:effectLst/>
              <a:latin typeface="MS PGothic" panose="020B0600070205080204" pitchFamily="34" charset="-128"/>
              <a:ea typeface="MS PGothic" panose="020B0600070205080204" pitchFamily="34" charset="-128"/>
              <a:cs typeface="MS PGothic" panose="020B0600070205080204" pitchFamily="34" charset="-128"/>
            </a:endParaRPr>
          </a:p>
        </p:txBody>
      </p:sp>
    </p:spTree>
    <p:extLst>
      <p:ext uri="{BB962C8B-B14F-4D97-AF65-F5344CB8AC3E}">
        <p14:creationId xmlns:p14="http://schemas.microsoft.com/office/powerpoint/2010/main" val="3773106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altLang="ja-JP" sz="4800" b="1" dirty="0">
                <a:latin typeface="Times New Roman" pitchFamily="18" charset="0"/>
                <a:cs typeface="Times New Roman" pitchFamily="18" charset="0"/>
              </a:rPr>
              <a:t>Separation of Concerns (SoC)</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16</a:t>
            </a:fld>
            <a:endParaRPr lang="en-US" dirty="0">
              <a:solidFill>
                <a:schemeClr val="tx1"/>
              </a:solidFill>
            </a:endParaRPr>
          </a:p>
        </p:txBody>
      </p:sp>
      <p:sp>
        <p:nvSpPr>
          <p:cNvPr id="6" name="TextBox 5">
            <a:extLst>
              <a:ext uri="{FF2B5EF4-FFF2-40B4-BE49-F238E27FC236}">
                <a16:creationId xmlns:a16="http://schemas.microsoft.com/office/drawing/2014/main" id="{FF60008E-9839-7077-5188-E36FAD4BAF76}"/>
              </a:ext>
            </a:extLst>
          </p:cNvPr>
          <p:cNvSpPr txBox="1"/>
          <p:nvPr/>
        </p:nvSpPr>
        <p:spPr>
          <a:xfrm>
            <a:off x="244549" y="3113953"/>
            <a:ext cx="9372600" cy="2554545"/>
          </a:xfrm>
          <a:prstGeom prst="rect">
            <a:avLst/>
          </a:prstGeom>
          <a:noFill/>
        </p:spPr>
        <p:txBody>
          <a:bodyPr wrap="square">
            <a:spAutoFit/>
          </a:bodyPr>
          <a:lstStyle/>
          <a:p>
            <a:pPr marL="342900" indent="-342900">
              <a:buFont typeface="Wingdings" panose="05000000000000000000" pitchFamily="2" charset="2"/>
              <a:buChar char="u"/>
            </a:pPr>
            <a:r>
              <a:rPr lang="en-US" altLang="ja-JP" sz="2000" b="1" dirty="0">
                <a:latin typeface="Times New Roman" panose="02020603050405020304" pitchFamily="18" charset="0"/>
                <a:cs typeface="Times New Roman" panose="02020603050405020304" pitchFamily="18" charset="0"/>
              </a:rPr>
              <a:t>Separation of Concerns (SoC)</a:t>
            </a:r>
          </a:p>
          <a:p>
            <a:pPr marL="800100" lvl="1" indent="-342900"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Definition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Dividing a system into distinct parts, each addressing a separate concern</a:t>
            </a:r>
          </a:p>
          <a:p>
            <a:pPr marL="800100" lvl="1" indent="-342900"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Concern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Anything that matters in solving a problem (e.g., data, logic, presentation)</a:t>
            </a:r>
          </a:p>
          <a:p>
            <a:pPr marL="800100" lvl="1" indent="-342900"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Goal</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Keep concerns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separate and organized</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design and implementation</a:t>
            </a:r>
            <a:endParaRPr lang="en-US" altLang="ja-JP" sz="2000" dirty="0">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ü"/>
            </a:pP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ja-JP" altLang="en-US" sz="20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BAB5A24-45B9-C69B-AF4B-51322776D175}"/>
              </a:ext>
            </a:extLst>
          </p:cNvPr>
          <p:cNvSpPr txBox="1"/>
          <p:nvPr/>
        </p:nvSpPr>
        <p:spPr>
          <a:xfrm>
            <a:off x="95250" y="1407932"/>
            <a:ext cx="8953500" cy="1631216"/>
          </a:xfrm>
          <a:prstGeom prst="rect">
            <a:avLst/>
          </a:prstGeom>
          <a:noFill/>
        </p:spPr>
        <p:txBody>
          <a:bodyPr wrap="square">
            <a:spAutoFit/>
          </a:bodyPr>
          <a:lstStyle/>
          <a:p>
            <a:pPr marL="285750" indent="-285750" algn="just">
              <a:buFont typeface="Wingdings" panose="05000000000000000000" pitchFamily="2" charset="2"/>
              <a:buChar char="ü"/>
            </a:pPr>
            <a:r>
              <a:rPr lang="en-US" altLang="ja-JP" sz="2000" b="0" i="0" u="none" strike="noStrike" baseline="0" dirty="0">
                <a:latin typeface="Times New Roman" panose="02020603050405020304" pitchFamily="18" charset="0"/>
                <a:cs typeface="Times New Roman" panose="02020603050405020304" pitchFamily="18" charset="0"/>
              </a:rPr>
              <a:t>One of the design principles examined in the previous module was that of decomposition.</a:t>
            </a:r>
          </a:p>
          <a:p>
            <a:pPr marL="285750" indent="-285750" algn="just">
              <a:buFont typeface="Wingdings" panose="05000000000000000000" pitchFamily="2" charset="2"/>
              <a:buChar char="ü"/>
            </a:pPr>
            <a:r>
              <a:rPr lang="en-US" altLang="ja-JP" sz="2000" b="0" i="0" u="none" strike="noStrike" baseline="0" dirty="0">
                <a:latin typeface="Times New Roman" panose="02020603050405020304" pitchFamily="18" charset="0"/>
                <a:cs typeface="Times New Roman" panose="02020603050405020304" pitchFamily="18" charset="0"/>
              </a:rPr>
              <a:t> Decomposition divides a whole into different</a:t>
            </a:r>
            <a:r>
              <a:rPr lang="en-US" altLang="ja-JP" sz="2000" dirty="0">
                <a:latin typeface="Times New Roman" panose="02020603050405020304" pitchFamily="18" charset="0"/>
                <a:cs typeface="Times New Roman" panose="02020603050405020304" pitchFamily="18" charset="0"/>
              </a:rPr>
              <a:t> </a:t>
            </a:r>
            <a:r>
              <a:rPr lang="en-US" altLang="ja-JP" sz="2000" b="0" i="0" u="none" strike="noStrike" baseline="0" dirty="0">
                <a:latin typeface="Times New Roman" panose="02020603050405020304" pitchFamily="18" charset="0"/>
                <a:cs typeface="Times New Roman" panose="02020603050405020304" pitchFamily="18" charset="0"/>
              </a:rPr>
              <a:t>parts. To understand why decomposition is necessary in design, the principle of </a:t>
            </a:r>
            <a:r>
              <a:rPr lang="en-US" altLang="ja-JP" sz="2000" b="1" i="0" u="none" strike="noStrike" baseline="0" dirty="0">
                <a:latin typeface="Times New Roman" panose="02020603050405020304" pitchFamily="18" charset="0"/>
                <a:cs typeface="Times New Roman" panose="02020603050405020304" pitchFamily="18" charset="0"/>
              </a:rPr>
              <a:t>separation of concerns </a:t>
            </a:r>
            <a:r>
              <a:rPr lang="en-US" altLang="ja-JP" sz="2000" b="0" i="0" u="none" strike="noStrike" baseline="0" dirty="0">
                <a:latin typeface="Times New Roman" panose="02020603050405020304" pitchFamily="18" charset="0"/>
                <a:cs typeface="Times New Roman" panose="02020603050405020304" pitchFamily="18" charset="0"/>
              </a:rPr>
              <a:t>must be examined.</a:t>
            </a:r>
            <a:endParaRPr lang="ja-JP" altLang="en-US"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F54E349-8481-CB81-D81B-B5ED7C0914DC}"/>
              </a:ext>
            </a:extLst>
          </p:cNvPr>
          <p:cNvSpPr txBox="1"/>
          <p:nvPr/>
        </p:nvSpPr>
        <p:spPr>
          <a:xfrm>
            <a:off x="476693" y="5134709"/>
            <a:ext cx="8458200" cy="1631216"/>
          </a:xfrm>
          <a:prstGeom prst="rect">
            <a:avLst/>
          </a:prstGeom>
          <a:noFill/>
        </p:spPr>
        <p:txBody>
          <a:bodyPr wrap="square">
            <a:spAutoFit/>
          </a:bodyPr>
          <a:lstStyle/>
          <a:p>
            <a:pPr marL="285750" indent="-285750" algn="l">
              <a:buFont typeface="Wingdings" panose="05000000000000000000" pitchFamily="2" charset="2"/>
              <a:buChar char="ü"/>
            </a:pPr>
            <a:r>
              <a:rPr lang="en-US" altLang="ja-JP" sz="2000" b="0" i="0" u="none" strike="noStrike" baseline="0" dirty="0">
                <a:latin typeface="Times New Roman" panose="02020603050405020304" pitchFamily="18" charset="0"/>
                <a:cs typeface="Times New Roman" panose="02020603050405020304" pitchFamily="18" charset="0"/>
              </a:rPr>
              <a:t>A </a:t>
            </a:r>
            <a:r>
              <a:rPr lang="en-US" altLang="ja-JP" sz="2000" b="1" i="0" u="none" strike="noStrike" baseline="0" dirty="0">
                <a:latin typeface="Times New Roman" panose="02020603050405020304" pitchFamily="18" charset="0"/>
                <a:cs typeface="Times New Roman" panose="02020603050405020304" pitchFamily="18" charset="0"/>
              </a:rPr>
              <a:t>concern </a:t>
            </a:r>
            <a:r>
              <a:rPr lang="en-US" altLang="ja-JP" sz="2000" b="0" i="0" u="none" strike="noStrike" baseline="0" dirty="0">
                <a:latin typeface="Times New Roman" panose="02020603050405020304" pitchFamily="18" charset="0"/>
                <a:cs typeface="Times New Roman" panose="02020603050405020304" pitchFamily="18" charset="0"/>
              </a:rPr>
              <a:t>is a very general notion: it is anything that matters in providing a solution to a problem. Separation of concerns is about keeping the different concerns in your design separate. </a:t>
            </a:r>
          </a:p>
          <a:p>
            <a:pPr marL="285750" indent="-285750" algn="l">
              <a:buFont typeface="Wingdings" panose="05000000000000000000" pitchFamily="2" charset="2"/>
              <a:buChar char="ü"/>
            </a:pPr>
            <a:r>
              <a:rPr lang="en-US" altLang="ja-JP" sz="2000" b="0" i="0" u="none" strike="noStrike" baseline="0" dirty="0">
                <a:latin typeface="Times New Roman" panose="02020603050405020304" pitchFamily="18" charset="0"/>
                <a:cs typeface="Times New Roman" panose="02020603050405020304" pitchFamily="18" charset="0"/>
              </a:rPr>
              <a:t>When software is designed, different concerns should be addressed in different portions of the software.</a:t>
            </a:r>
            <a:endParaRPr lang="ja-JP"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5732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altLang="ja-JP" sz="4800" b="1" dirty="0">
                <a:latin typeface="Times New Roman" pitchFamily="18" charset="0"/>
                <a:cs typeface="Times New Roman" pitchFamily="18" charset="0"/>
              </a:rPr>
              <a:t>Separation of Concerns (SoC)</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17</a:t>
            </a:fld>
            <a:endParaRPr lang="en-US" dirty="0">
              <a:solidFill>
                <a:schemeClr val="tx1"/>
              </a:solidFill>
            </a:endParaRPr>
          </a:p>
        </p:txBody>
      </p:sp>
      <p:sp>
        <p:nvSpPr>
          <p:cNvPr id="6" name="TextBox 5">
            <a:extLst>
              <a:ext uri="{FF2B5EF4-FFF2-40B4-BE49-F238E27FC236}">
                <a16:creationId xmlns:a16="http://schemas.microsoft.com/office/drawing/2014/main" id="{FF60008E-9839-7077-5188-E36FAD4BAF76}"/>
              </a:ext>
            </a:extLst>
          </p:cNvPr>
          <p:cNvSpPr txBox="1"/>
          <p:nvPr/>
        </p:nvSpPr>
        <p:spPr>
          <a:xfrm>
            <a:off x="244549" y="3113953"/>
            <a:ext cx="9372600" cy="2554545"/>
          </a:xfrm>
          <a:prstGeom prst="rect">
            <a:avLst/>
          </a:prstGeom>
          <a:noFill/>
        </p:spPr>
        <p:txBody>
          <a:bodyPr wrap="square">
            <a:spAutoFit/>
          </a:bodyPr>
          <a:lstStyle/>
          <a:p>
            <a:pPr marL="342900" indent="-342900">
              <a:buFont typeface="Wingdings" panose="05000000000000000000" pitchFamily="2" charset="2"/>
              <a:buChar char="u"/>
            </a:pPr>
            <a:r>
              <a:rPr lang="en-US" altLang="ja-JP" sz="2000" b="1" dirty="0">
                <a:latin typeface="Times New Roman" panose="02020603050405020304" pitchFamily="18" charset="0"/>
                <a:cs typeface="Times New Roman" panose="02020603050405020304" pitchFamily="18" charset="0"/>
              </a:rPr>
              <a:t>Separation of Concerns (SoC)</a:t>
            </a:r>
          </a:p>
          <a:p>
            <a:pPr marL="800100" lvl="1" indent="-342900"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Definition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Dividing a system into distinct parts, each addressing a separate concern</a:t>
            </a:r>
          </a:p>
          <a:p>
            <a:pPr marL="800100" lvl="1" indent="-342900"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Concern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Anything that matters in solving a problem (e.g., data, logic, presentation)</a:t>
            </a:r>
          </a:p>
          <a:p>
            <a:pPr marL="800100" lvl="1" indent="-342900"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Goal</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Keep concerns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separate and organized</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design and implementation</a:t>
            </a:r>
            <a:endParaRPr lang="en-US" altLang="ja-JP" sz="2000" dirty="0">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ü"/>
            </a:pP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ja-JP" altLang="en-US" sz="20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BAB5A24-45B9-C69B-AF4B-51322776D175}"/>
              </a:ext>
            </a:extLst>
          </p:cNvPr>
          <p:cNvSpPr txBox="1"/>
          <p:nvPr/>
        </p:nvSpPr>
        <p:spPr>
          <a:xfrm>
            <a:off x="95250" y="1407932"/>
            <a:ext cx="8953500" cy="1631216"/>
          </a:xfrm>
          <a:prstGeom prst="rect">
            <a:avLst/>
          </a:prstGeom>
          <a:noFill/>
        </p:spPr>
        <p:txBody>
          <a:bodyPr wrap="square">
            <a:spAutoFit/>
          </a:bodyPr>
          <a:lstStyle/>
          <a:p>
            <a:pPr marL="285750" indent="-285750" algn="just">
              <a:buFont typeface="Wingdings" panose="05000000000000000000" pitchFamily="2" charset="2"/>
              <a:buChar char="ü"/>
            </a:pPr>
            <a:r>
              <a:rPr lang="en-US" altLang="ja-JP" sz="2000" b="0" i="0" u="none" strike="noStrike" baseline="0" dirty="0">
                <a:latin typeface="Times New Roman" panose="02020603050405020304" pitchFamily="18" charset="0"/>
                <a:cs typeface="Times New Roman" panose="02020603050405020304" pitchFamily="18" charset="0"/>
              </a:rPr>
              <a:t>One of the design principles examined in the previous module was that of decomposition.</a:t>
            </a:r>
          </a:p>
          <a:p>
            <a:pPr marL="285750" indent="-285750" algn="just">
              <a:buFont typeface="Wingdings" panose="05000000000000000000" pitchFamily="2" charset="2"/>
              <a:buChar char="ü"/>
            </a:pPr>
            <a:r>
              <a:rPr lang="en-US" altLang="ja-JP" sz="2000" b="0" i="0" u="none" strike="noStrike" baseline="0" dirty="0">
                <a:latin typeface="Times New Roman" panose="02020603050405020304" pitchFamily="18" charset="0"/>
                <a:cs typeface="Times New Roman" panose="02020603050405020304" pitchFamily="18" charset="0"/>
              </a:rPr>
              <a:t> Decomposition divides a whole into different</a:t>
            </a:r>
            <a:r>
              <a:rPr lang="en-US" altLang="ja-JP" sz="2000" dirty="0">
                <a:latin typeface="Times New Roman" panose="02020603050405020304" pitchFamily="18" charset="0"/>
                <a:cs typeface="Times New Roman" panose="02020603050405020304" pitchFamily="18" charset="0"/>
              </a:rPr>
              <a:t> </a:t>
            </a:r>
            <a:r>
              <a:rPr lang="en-US" altLang="ja-JP" sz="2000" b="0" i="0" u="none" strike="noStrike" baseline="0" dirty="0">
                <a:latin typeface="Times New Roman" panose="02020603050405020304" pitchFamily="18" charset="0"/>
                <a:cs typeface="Times New Roman" panose="02020603050405020304" pitchFamily="18" charset="0"/>
              </a:rPr>
              <a:t>parts. To understand why decomposition is necessary in design, the principle of </a:t>
            </a:r>
            <a:r>
              <a:rPr lang="en-US" altLang="ja-JP" sz="2000" b="1" i="0" u="none" strike="noStrike" baseline="0" dirty="0">
                <a:latin typeface="Times New Roman" panose="02020603050405020304" pitchFamily="18" charset="0"/>
                <a:cs typeface="Times New Roman" panose="02020603050405020304" pitchFamily="18" charset="0"/>
              </a:rPr>
              <a:t>separation of concerns </a:t>
            </a:r>
            <a:r>
              <a:rPr lang="en-US" altLang="ja-JP" sz="2000" b="0" i="0" u="none" strike="noStrike" baseline="0" dirty="0">
                <a:latin typeface="Times New Roman" panose="02020603050405020304" pitchFamily="18" charset="0"/>
                <a:cs typeface="Times New Roman" panose="02020603050405020304" pitchFamily="18" charset="0"/>
              </a:rPr>
              <a:t>must be examined.</a:t>
            </a:r>
            <a:endParaRPr lang="ja-JP" altLang="en-US"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F54E349-8481-CB81-D81B-B5ED7C0914DC}"/>
              </a:ext>
            </a:extLst>
          </p:cNvPr>
          <p:cNvSpPr txBox="1"/>
          <p:nvPr/>
        </p:nvSpPr>
        <p:spPr>
          <a:xfrm>
            <a:off x="476693" y="5134709"/>
            <a:ext cx="8458200" cy="1631216"/>
          </a:xfrm>
          <a:prstGeom prst="rect">
            <a:avLst/>
          </a:prstGeom>
          <a:noFill/>
        </p:spPr>
        <p:txBody>
          <a:bodyPr wrap="square">
            <a:spAutoFit/>
          </a:bodyPr>
          <a:lstStyle/>
          <a:p>
            <a:pPr marL="285750" indent="-285750" algn="l">
              <a:buFont typeface="Wingdings" panose="05000000000000000000" pitchFamily="2" charset="2"/>
              <a:buChar char="ü"/>
            </a:pPr>
            <a:r>
              <a:rPr lang="en-US" altLang="ja-JP" sz="2000" b="0" i="0" u="none" strike="noStrike" baseline="0" dirty="0">
                <a:latin typeface="Times New Roman" panose="02020603050405020304" pitchFamily="18" charset="0"/>
                <a:cs typeface="Times New Roman" panose="02020603050405020304" pitchFamily="18" charset="0"/>
              </a:rPr>
              <a:t>A </a:t>
            </a:r>
            <a:r>
              <a:rPr lang="en-US" altLang="ja-JP" sz="2000" b="1" i="0" u="none" strike="noStrike" baseline="0" dirty="0">
                <a:latin typeface="Times New Roman" panose="02020603050405020304" pitchFamily="18" charset="0"/>
                <a:cs typeface="Times New Roman" panose="02020603050405020304" pitchFamily="18" charset="0"/>
              </a:rPr>
              <a:t>concern </a:t>
            </a:r>
            <a:r>
              <a:rPr lang="en-US" altLang="ja-JP" sz="2000" b="0" i="0" u="none" strike="noStrike" baseline="0" dirty="0">
                <a:latin typeface="Times New Roman" panose="02020603050405020304" pitchFamily="18" charset="0"/>
                <a:cs typeface="Times New Roman" panose="02020603050405020304" pitchFamily="18" charset="0"/>
              </a:rPr>
              <a:t>is a very general notion: it is anything that matters in providing a solution to a problem. Separation of concerns is about keeping the different concerns in your design separate. </a:t>
            </a:r>
          </a:p>
          <a:p>
            <a:pPr marL="285750" indent="-285750" algn="l">
              <a:buFont typeface="Wingdings" panose="05000000000000000000" pitchFamily="2" charset="2"/>
              <a:buChar char="ü"/>
            </a:pPr>
            <a:r>
              <a:rPr lang="en-US" altLang="ja-JP" sz="2000" b="0" i="0" u="none" strike="noStrike" baseline="0" dirty="0">
                <a:latin typeface="Times New Roman" panose="02020603050405020304" pitchFamily="18" charset="0"/>
                <a:cs typeface="Times New Roman" panose="02020603050405020304" pitchFamily="18" charset="0"/>
              </a:rPr>
              <a:t>When software is designed, different concerns should be addressed in different portions of the software.</a:t>
            </a:r>
            <a:endParaRPr lang="ja-JP" altLang="en-US"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FA94C996-99C6-27DD-2FE9-EBC390C647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2032"/>
            <a:ext cx="8569444" cy="6858000"/>
          </a:xfrm>
          <a:prstGeom prst="rect">
            <a:avLst/>
          </a:prstGeom>
        </p:spPr>
      </p:pic>
    </p:spTree>
    <p:extLst>
      <p:ext uri="{BB962C8B-B14F-4D97-AF65-F5344CB8AC3E}">
        <p14:creationId xmlns:p14="http://schemas.microsoft.com/office/powerpoint/2010/main" val="2325699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altLang="ja-JP" sz="4800" b="1" dirty="0">
                <a:latin typeface="Times New Roman" pitchFamily="18" charset="0"/>
                <a:cs typeface="Times New Roman" pitchFamily="18" charset="0"/>
              </a:rPr>
              <a:t>Separation of Concerns (SoC)</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18</a:t>
            </a:fld>
            <a:endParaRPr lang="en-US" dirty="0">
              <a:solidFill>
                <a:schemeClr val="tx1"/>
              </a:solidFill>
            </a:endParaRPr>
          </a:p>
        </p:txBody>
      </p:sp>
      <p:sp>
        <p:nvSpPr>
          <p:cNvPr id="7" name="TextBox 6">
            <a:extLst>
              <a:ext uri="{FF2B5EF4-FFF2-40B4-BE49-F238E27FC236}">
                <a16:creationId xmlns:a16="http://schemas.microsoft.com/office/drawing/2014/main" id="{3AE1B925-9CDA-AC5C-7C37-BABAE7102B14}"/>
              </a:ext>
            </a:extLst>
          </p:cNvPr>
          <p:cNvSpPr txBox="1"/>
          <p:nvPr/>
        </p:nvSpPr>
        <p:spPr>
          <a:xfrm>
            <a:off x="114300" y="4400352"/>
            <a:ext cx="8915400" cy="2246769"/>
          </a:xfrm>
          <a:prstGeom prst="rect">
            <a:avLst/>
          </a:prstGeom>
          <a:noFill/>
        </p:spPr>
        <p:txBody>
          <a:bodyPr wrap="square">
            <a:spAutoFit/>
          </a:bodyPr>
          <a:lstStyle/>
          <a:p>
            <a:r>
              <a:rPr lang="en-US" altLang="ja-JP" sz="2000" b="1" dirty="0">
                <a:latin typeface="Times New Roman" panose="02020603050405020304" pitchFamily="18" charset="0"/>
                <a:cs typeface="Times New Roman" panose="02020603050405020304" pitchFamily="18" charset="0"/>
              </a:rPr>
              <a:t>Advantages of SoC</a:t>
            </a:r>
          </a:p>
          <a:p>
            <a:pPr marL="285750" indent="-285750" algn="l">
              <a:buFont typeface="Wingdings" panose="05000000000000000000" pitchFamily="2" charset="2"/>
              <a:buChar char="ü"/>
            </a:pPr>
            <a:r>
              <a:rPr lang="en-US" altLang="ja-JP" sz="2000" b="1" i="0" u="none" strike="noStrike" baseline="0" dirty="0">
                <a:solidFill>
                  <a:srgbClr val="00B050"/>
                </a:solidFill>
                <a:latin typeface="Times New Roman" panose="02020603050405020304" pitchFamily="18" charset="0"/>
                <a:cs typeface="Times New Roman" panose="02020603050405020304" pitchFamily="18" charset="0"/>
              </a:rPr>
              <a:t>Abstraction occurs as each concept in the problem </a:t>
            </a:r>
            <a:r>
              <a:rPr lang="en-US" altLang="ja-JP" sz="2000" b="0" i="0" u="none" strike="noStrike" baseline="0" dirty="0">
                <a:latin typeface="Times New Roman" panose="02020603050405020304" pitchFamily="18" charset="0"/>
                <a:cs typeface="Times New Roman" panose="02020603050405020304" pitchFamily="18" charset="0"/>
              </a:rPr>
              <a:t>space is separated with its own relevant attributes and behaviors.</a:t>
            </a:r>
          </a:p>
          <a:p>
            <a:pPr marL="285750" indent="-285750" algn="l">
              <a:buFont typeface="Wingdings" panose="05000000000000000000" pitchFamily="2" charset="2"/>
              <a:buChar char="ü"/>
            </a:pPr>
            <a:r>
              <a:rPr lang="en-US" altLang="ja-JP" sz="2000" b="1" i="0" u="none" strike="noStrike" baseline="0" dirty="0">
                <a:solidFill>
                  <a:srgbClr val="00B050"/>
                </a:solidFill>
                <a:latin typeface="Times New Roman" panose="02020603050405020304" pitchFamily="18" charset="0"/>
                <a:cs typeface="Times New Roman" panose="02020603050405020304" pitchFamily="18" charset="0"/>
              </a:rPr>
              <a:t>Encapsulation occurs as the attributes </a:t>
            </a:r>
            <a:r>
              <a:rPr lang="en-US" altLang="ja-JP" sz="2000" b="0" i="0" u="none" strike="noStrike" baseline="0" dirty="0">
                <a:latin typeface="Times New Roman" panose="02020603050405020304" pitchFamily="18" charset="0"/>
                <a:cs typeface="Times New Roman" panose="02020603050405020304" pitchFamily="18" charset="0"/>
              </a:rPr>
              <a:t>and behaviors are gathered into their own section of code called a class. Access to the class from the rest of the system and its implementation are separated, so details of implementation can change while the view through an interface can stay the same.</a:t>
            </a:r>
            <a:endParaRPr lang="en-US" altLang="ja-JP"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FCC4775-D9D8-5336-CD51-AC8A81820E55}"/>
              </a:ext>
            </a:extLst>
          </p:cNvPr>
          <p:cNvSpPr txBox="1"/>
          <p:nvPr/>
        </p:nvSpPr>
        <p:spPr>
          <a:xfrm>
            <a:off x="304800" y="1376621"/>
            <a:ext cx="8839200" cy="2862322"/>
          </a:xfrm>
          <a:prstGeom prst="rect">
            <a:avLst/>
          </a:prstGeom>
          <a:noFill/>
        </p:spPr>
        <p:txBody>
          <a:bodyPr wrap="square">
            <a:spAutoFit/>
          </a:bodyPr>
          <a:lstStyle/>
          <a:p>
            <a:pPr marL="342900" indent="-342900" algn="just">
              <a:buFont typeface="Wingdings" panose="05000000000000000000" pitchFamily="2" charset="2"/>
              <a:buChar char="ü"/>
            </a:pPr>
            <a:r>
              <a:rPr lang="en-US" altLang="ja-JP" sz="2000" b="1" i="0" u="none" strike="noStrike" baseline="0" dirty="0">
                <a:solidFill>
                  <a:srgbClr val="00B050"/>
                </a:solidFill>
                <a:latin typeface="Times New Roman" panose="02020603050405020304" pitchFamily="18" charset="0"/>
                <a:cs typeface="Times New Roman" panose="02020603050405020304" pitchFamily="18" charset="0"/>
              </a:rPr>
              <a:t>Separation of concerns provides many advantages</a:t>
            </a:r>
            <a:r>
              <a:rPr lang="en-US" altLang="ja-JP" sz="2000" b="0" i="0" u="none" strike="noStrike" baseline="0" dirty="0">
                <a:latin typeface="Times New Roman" panose="02020603050405020304" pitchFamily="18" charset="0"/>
                <a:cs typeface="Times New Roman" panose="02020603050405020304" pitchFamily="18" charset="0"/>
              </a:rPr>
              <a:t>. They allow us to develop and update sections of the software independently. </a:t>
            </a:r>
          </a:p>
          <a:p>
            <a:pPr marL="342900" indent="-342900" algn="just">
              <a:buFont typeface="Wingdings" panose="05000000000000000000" pitchFamily="2" charset="2"/>
              <a:buChar char="ü"/>
            </a:pPr>
            <a:r>
              <a:rPr lang="en-US" altLang="ja-JP" sz="2000" b="0" i="0" u="none" strike="noStrike" baseline="0" dirty="0">
                <a:latin typeface="Times New Roman" panose="02020603050405020304" pitchFamily="18" charset="0"/>
                <a:cs typeface="Times New Roman" panose="02020603050405020304" pitchFamily="18" charset="0"/>
              </a:rPr>
              <a:t>Using separation of concerns also means that </a:t>
            </a:r>
            <a:r>
              <a:rPr lang="en-US" altLang="ja-JP" sz="2000" b="1" i="0" u="none" strike="noStrike" baseline="0" dirty="0">
                <a:solidFill>
                  <a:srgbClr val="00B050"/>
                </a:solidFill>
                <a:latin typeface="Times New Roman" panose="02020603050405020304" pitchFamily="18" charset="0"/>
                <a:cs typeface="Times New Roman" panose="02020603050405020304" pitchFamily="18" charset="0"/>
              </a:rPr>
              <a:t>we do not need to know how all sections of code work in order to update a section.</a:t>
            </a:r>
          </a:p>
          <a:p>
            <a:pPr marL="342900" indent="-342900" algn="just">
              <a:buFont typeface="Wingdings" panose="05000000000000000000" pitchFamily="2" charset="2"/>
              <a:buChar char="ü"/>
            </a:pPr>
            <a:r>
              <a:rPr lang="en-US" altLang="ja-JP" sz="2000" b="0" i="0" u="none" strike="noStrike" baseline="0" dirty="0">
                <a:latin typeface="Times New Roman" panose="02020603050405020304" pitchFamily="18" charset="0"/>
                <a:cs typeface="Times New Roman" panose="02020603050405020304" pitchFamily="18" charset="0"/>
              </a:rPr>
              <a:t>Finally, separation of concerns allows changes to be made to one component without requiring a change in another. </a:t>
            </a:r>
          </a:p>
          <a:p>
            <a:pPr marL="342900" indent="-342900" algn="just">
              <a:buFont typeface="Wingdings" panose="05000000000000000000" pitchFamily="2" charset="2"/>
              <a:buChar char="ü"/>
            </a:pPr>
            <a:r>
              <a:rPr lang="en-US" altLang="ja-JP" sz="2000" b="0" i="0" u="none" strike="noStrike" baseline="0" dirty="0">
                <a:latin typeface="Times New Roman" panose="02020603050405020304" pitchFamily="18" charset="0"/>
                <a:cs typeface="Times New Roman" panose="02020603050405020304" pitchFamily="18" charset="0"/>
              </a:rPr>
              <a:t>When addressing concerns separately, more cohesive classes are created and the design principles of abstraction, encapsulation, decomposition, and generalization are enforced</a:t>
            </a:r>
            <a:endParaRPr lang="ja-JP"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9330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altLang="ja-JP" sz="4800" b="1" dirty="0">
                <a:latin typeface="Times New Roman" pitchFamily="18" charset="0"/>
                <a:cs typeface="Times New Roman" pitchFamily="18" charset="0"/>
              </a:rPr>
              <a:t>Separation of Concerns (SoC)</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19</a:t>
            </a:fld>
            <a:endParaRPr lang="en-US" dirty="0">
              <a:solidFill>
                <a:schemeClr val="tx1"/>
              </a:solidFill>
            </a:endParaRPr>
          </a:p>
        </p:txBody>
      </p:sp>
      <p:sp>
        <p:nvSpPr>
          <p:cNvPr id="7" name="TextBox 6">
            <a:extLst>
              <a:ext uri="{FF2B5EF4-FFF2-40B4-BE49-F238E27FC236}">
                <a16:creationId xmlns:a16="http://schemas.microsoft.com/office/drawing/2014/main" id="{3AE1B925-9CDA-AC5C-7C37-BABAE7102B14}"/>
              </a:ext>
            </a:extLst>
          </p:cNvPr>
          <p:cNvSpPr txBox="1"/>
          <p:nvPr/>
        </p:nvSpPr>
        <p:spPr>
          <a:xfrm>
            <a:off x="114300" y="1447800"/>
            <a:ext cx="8915400" cy="2862322"/>
          </a:xfrm>
          <a:prstGeom prst="rect">
            <a:avLst/>
          </a:prstGeom>
          <a:noFill/>
        </p:spPr>
        <p:txBody>
          <a:bodyPr wrap="square">
            <a:spAutoFit/>
          </a:bodyPr>
          <a:lstStyle/>
          <a:p>
            <a:r>
              <a:rPr lang="en-US" altLang="ja-JP" sz="2000" b="1" dirty="0">
                <a:latin typeface="Times New Roman" panose="02020603050405020304" pitchFamily="18" charset="0"/>
                <a:cs typeface="Times New Roman" panose="02020603050405020304" pitchFamily="18" charset="0"/>
              </a:rPr>
              <a:t>Advantages of SoC</a:t>
            </a:r>
          </a:p>
          <a:p>
            <a:pPr marL="742950" lvl="1" indent="-285750">
              <a:buFont typeface="Wingdings" panose="05000000000000000000" pitchFamily="2" charset="2"/>
              <a:buChar char="ü"/>
            </a:pPr>
            <a:r>
              <a:rPr lang="en-US" altLang="ja-JP" sz="2000" b="1" i="0" u="none" strike="noStrike" baseline="0" dirty="0">
                <a:solidFill>
                  <a:srgbClr val="00B050"/>
                </a:solidFill>
                <a:latin typeface="Times New Roman" panose="02020603050405020304" pitchFamily="18" charset="0"/>
                <a:cs typeface="Times New Roman" panose="02020603050405020304" pitchFamily="18" charset="0"/>
              </a:rPr>
              <a:t>Decomposition occurs </a:t>
            </a:r>
            <a:r>
              <a:rPr lang="en-US" altLang="ja-JP" sz="2000" b="0" i="0" u="none" strike="noStrike" baseline="0" dirty="0">
                <a:latin typeface="Times New Roman" panose="02020603050405020304" pitchFamily="18" charset="0"/>
                <a:cs typeface="Times New Roman" panose="02020603050405020304" pitchFamily="18" charset="0"/>
              </a:rPr>
              <a:t>as a whole class can be separated into multiple classes.</a:t>
            </a:r>
          </a:p>
          <a:p>
            <a:pPr marL="742950" lvl="1" indent="-285750">
              <a:buFont typeface="Wingdings" panose="05000000000000000000" pitchFamily="2" charset="2"/>
              <a:buChar char="ü"/>
            </a:pPr>
            <a:r>
              <a:rPr lang="en-US" altLang="ja-JP" sz="2000" b="1" i="0" u="none" strike="noStrike" baseline="0" dirty="0">
                <a:solidFill>
                  <a:srgbClr val="00B050"/>
                </a:solidFill>
                <a:latin typeface="Times New Roman" panose="02020603050405020304" pitchFamily="18" charset="0"/>
                <a:cs typeface="Times New Roman" panose="02020603050405020304" pitchFamily="18" charset="0"/>
              </a:rPr>
              <a:t>Generalization occurs </a:t>
            </a:r>
            <a:r>
              <a:rPr lang="en-US" altLang="ja-JP" sz="2000" b="0" i="0" u="none" strike="noStrike" baseline="0" dirty="0">
                <a:latin typeface="Times New Roman" panose="02020603050405020304" pitchFamily="18" charset="0"/>
                <a:cs typeface="Times New Roman" panose="02020603050405020304" pitchFamily="18" charset="0"/>
              </a:rPr>
              <a:t>as commonalities are recognized and subsequently separated and generalized into a superclass.</a:t>
            </a:r>
          </a:p>
          <a:p>
            <a:pPr marL="800100" lvl="1" indent="-342900">
              <a:buFont typeface="Wingdings" panose="05000000000000000000" pitchFamily="2" charset="2"/>
              <a:buChar char="ü"/>
            </a:pPr>
            <a:r>
              <a:rPr lang="en-US" altLang="ja-JP" sz="2000" dirty="0">
                <a:latin typeface="Times New Roman" panose="02020603050405020304" pitchFamily="18" charset="0"/>
                <a:cs typeface="Times New Roman" panose="02020603050405020304" pitchFamily="18" charset="0"/>
              </a:rPr>
              <a:t>Independent </a:t>
            </a:r>
            <a:r>
              <a:rPr lang="en-US" altLang="ja-JP" sz="2000" b="1" dirty="0">
                <a:latin typeface="Times New Roman" panose="02020603050405020304" pitchFamily="18" charset="0"/>
                <a:cs typeface="Times New Roman" panose="02020603050405020304" pitchFamily="18" charset="0"/>
              </a:rPr>
              <a:t>development and updates</a:t>
            </a:r>
            <a:r>
              <a:rPr lang="en-US" altLang="ja-JP" sz="2000" dirty="0">
                <a:latin typeface="Times New Roman" panose="02020603050405020304" pitchFamily="18" charset="0"/>
                <a:cs typeface="Times New Roman" panose="02020603050405020304" pitchFamily="18" charset="0"/>
              </a:rPr>
              <a:t> of software sections</a:t>
            </a:r>
          </a:p>
          <a:p>
            <a:pPr marL="800100" lvl="1" indent="-342900">
              <a:buFont typeface="Wingdings" panose="05000000000000000000" pitchFamily="2" charset="2"/>
              <a:buChar char="ü"/>
            </a:pPr>
            <a:r>
              <a:rPr lang="en-US" altLang="ja-JP" sz="2000" dirty="0">
                <a:latin typeface="Times New Roman" panose="02020603050405020304" pitchFamily="18" charset="0"/>
                <a:cs typeface="Times New Roman" panose="02020603050405020304" pitchFamily="18" charset="0"/>
              </a:rPr>
              <a:t>No need-to-know entire system to update one section</a:t>
            </a:r>
          </a:p>
          <a:p>
            <a:pPr marL="800100" lvl="1" indent="-342900">
              <a:buFont typeface="Wingdings" panose="05000000000000000000" pitchFamily="2" charset="2"/>
              <a:buChar char="ü"/>
            </a:pPr>
            <a:r>
              <a:rPr lang="en-US" altLang="ja-JP" sz="2000" b="1" dirty="0">
                <a:latin typeface="Times New Roman" panose="02020603050405020304" pitchFamily="18" charset="0"/>
                <a:cs typeface="Times New Roman" panose="02020603050405020304" pitchFamily="18" charset="0"/>
              </a:rPr>
              <a:t>Changes in one component</a:t>
            </a:r>
            <a:r>
              <a:rPr lang="en-US" altLang="ja-JP" sz="2000" dirty="0">
                <a:latin typeface="Times New Roman" panose="02020603050405020304" pitchFamily="18" charset="0"/>
                <a:cs typeface="Times New Roman" panose="02020603050405020304" pitchFamily="18" charset="0"/>
              </a:rPr>
              <a:t> do not force changes in others</a:t>
            </a:r>
          </a:p>
          <a:p>
            <a:pPr marL="800100" lvl="1" indent="-342900">
              <a:buFont typeface="Wingdings" panose="05000000000000000000" pitchFamily="2" charset="2"/>
              <a:buChar char="ü"/>
            </a:pPr>
            <a:r>
              <a:rPr lang="en-US" altLang="ja-JP" sz="2000" dirty="0">
                <a:latin typeface="Times New Roman" panose="02020603050405020304" pitchFamily="18" charset="0"/>
                <a:cs typeface="Times New Roman" panose="02020603050405020304" pitchFamily="18" charset="0"/>
              </a:rPr>
              <a:t>Improves </a:t>
            </a:r>
            <a:r>
              <a:rPr lang="en-US" altLang="ja-JP" sz="2000" b="1" dirty="0">
                <a:latin typeface="Times New Roman" panose="02020603050405020304" pitchFamily="18" charset="0"/>
                <a:cs typeface="Times New Roman" panose="02020603050405020304" pitchFamily="18" charset="0"/>
              </a:rPr>
              <a:t>maintainability, modularity, and reusability</a:t>
            </a:r>
            <a:endParaRPr lang="en-US" altLang="ja-JP" sz="20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endParaRPr lang="en-US" altLang="ja-JP"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27709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fontScale="90000"/>
          </a:bodyPr>
          <a:lstStyle/>
          <a:p>
            <a:r>
              <a:rPr lang="en-US" altLang="ja-JP" sz="4800" b="1" dirty="0">
                <a:latin typeface="Times New Roman" pitchFamily="18" charset="0"/>
                <a:cs typeface="Times New Roman" pitchFamily="18" charset="0"/>
              </a:rPr>
              <a:t>Separation of Concerns Example</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20</a:t>
            </a:fld>
            <a:endParaRPr lang="en-US" dirty="0">
              <a:solidFill>
                <a:schemeClr val="tx1"/>
              </a:solidFill>
            </a:endParaRPr>
          </a:p>
        </p:txBody>
      </p:sp>
      <p:sp>
        <p:nvSpPr>
          <p:cNvPr id="6" name="TextBox 5">
            <a:extLst>
              <a:ext uri="{FF2B5EF4-FFF2-40B4-BE49-F238E27FC236}">
                <a16:creationId xmlns:a16="http://schemas.microsoft.com/office/drawing/2014/main" id="{FF60008E-9839-7077-5188-E36FAD4BAF76}"/>
              </a:ext>
            </a:extLst>
          </p:cNvPr>
          <p:cNvSpPr txBox="1"/>
          <p:nvPr/>
        </p:nvSpPr>
        <p:spPr>
          <a:xfrm>
            <a:off x="30126" y="1382286"/>
            <a:ext cx="9266274" cy="2862322"/>
          </a:xfrm>
          <a:prstGeom prst="rect">
            <a:avLst/>
          </a:prstGeom>
          <a:noFill/>
        </p:spPr>
        <p:txBody>
          <a:bodyPr wrap="square">
            <a:spAutoFit/>
          </a:bodyPr>
          <a:lstStyle/>
          <a:p>
            <a:pPr marL="342900" indent="-342900">
              <a:buFont typeface="Wingdings" panose="05000000000000000000" pitchFamily="2" charset="2"/>
              <a:buChar char="ü"/>
            </a:pPr>
            <a:r>
              <a:rPr lang="en-US" altLang="ja-JP" sz="2000" b="1" dirty="0">
                <a:solidFill>
                  <a:srgbClr val="00B050"/>
                </a:solidFill>
                <a:latin typeface="Times New Roman" panose="02020603050405020304" pitchFamily="18" charset="0"/>
                <a:cs typeface="Times New Roman" panose="02020603050405020304" pitchFamily="18" charset="0"/>
              </a:rPr>
              <a:t>Consider a smartphone capable of many behaviors:</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 taking photos, </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scheduling meetings, </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sending and receiving email, </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browsing the Internet, </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sending texts, and </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making phone calls.</a:t>
            </a:r>
          </a:p>
          <a:p>
            <a:pPr marL="285750" indent="-285750">
              <a:buFont typeface="Wingdings" panose="05000000000000000000" pitchFamily="2" charset="2"/>
              <a:buChar char="ü"/>
            </a:pPr>
            <a:r>
              <a:rPr lang="en-US" altLang="ja-JP" sz="2000" b="0" i="0" u="none" strike="noStrike" baseline="0" dirty="0">
                <a:latin typeface="Times New Roman" panose="02020603050405020304" pitchFamily="18" charset="0"/>
                <a:cs typeface="Times New Roman" panose="02020603050405020304" pitchFamily="18" charset="0"/>
              </a:rPr>
              <a:t>This example will only focus on two functions  </a:t>
            </a:r>
            <a:r>
              <a:rPr lang="en-US" altLang="ja-JP" sz="2000" b="1" i="0" u="none" strike="noStrike" baseline="0" dirty="0">
                <a:solidFill>
                  <a:srgbClr val="FF0000"/>
                </a:solidFill>
                <a:latin typeface="Times New Roman" panose="02020603050405020304" pitchFamily="18" charset="0"/>
                <a:cs typeface="Times New Roman" panose="02020603050405020304" pitchFamily="18" charset="0"/>
              </a:rPr>
              <a:t>camera and traditional phone </a:t>
            </a:r>
            <a:r>
              <a:rPr lang="en-US" altLang="ja-JP" sz="2000" b="0" i="0" u="none" strike="noStrike" baseline="0" dirty="0">
                <a:latin typeface="Times New Roman" panose="02020603050405020304" pitchFamily="18" charset="0"/>
                <a:cs typeface="Times New Roman" panose="02020603050405020304" pitchFamily="18" charset="0"/>
              </a:rPr>
              <a:t>functions.</a:t>
            </a:r>
            <a:endParaRPr lang="ja-JP"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80171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fontScale="90000"/>
          </a:bodyPr>
          <a:lstStyle/>
          <a:p>
            <a:r>
              <a:rPr lang="en-US" altLang="ja-JP" sz="4800" b="1" dirty="0">
                <a:latin typeface="Times New Roman" pitchFamily="18" charset="0"/>
                <a:cs typeface="Times New Roman" pitchFamily="18" charset="0"/>
              </a:rPr>
              <a:t>Separation of Concerns Example</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21</a:t>
            </a:fld>
            <a:endParaRPr lang="en-US" dirty="0">
              <a:solidFill>
                <a:schemeClr val="tx1"/>
              </a:solidFill>
            </a:endParaRPr>
          </a:p>
        </p:txBody>
      </p:sp>
      <p:sp>
        <p:nvSpPr>
          <p:cNvPr id="6" name="TextBox 5">
            <a:extLst>
              <a:ext uri="{FF2B5EF4-FFF2-40B4-BE49-F238E27FC236}">
                <a16:creationId xmlns:a16="http://schemas.microsoft.com/office/drawing/2014/main" id="{FF60008E-9839-7077-5188-E36FAD4BAF76}"/>
              </a:ext>
            </a:extLst>
          </p:cNvPr>
          <p:cNvSpPr txBox="1"/>
          <p:nvPr/>
        </p:nvSpPr>
        <p:spPr>
          <a:xfrm>
            <a:off x="30126" y="1382286"/>
            <a:ext cx="9266274" cy="707886"/>
          </a:xfrm>
          <a:prstGeom prst="rect">
            <a:avLst/>
          </a:prstGeom>
          <a:noFill/>
        </p:spPr>
        <p:txBody>
          <a:bodyPr wrap="square">
            <a:spAutoFit/>
          </a:bodyPr>
          <a:lstStyle/>
          <a:p>
            <a:pPr marL="285750" indent="-285750">
              <a:buFont typeface="Wingdings" panose="05000000000000000000" pitchFamily="2" charset="2"/>
              <a:buChar char="ü"/>
            </a:pPr>
            <a:r>
              <a:rPr lang="en-US" altLang="ja-JP" sz="2000" b="0" i="0" u="none" strike="noStrike" baseline="0" dirty="0">
                <a:latin typeface="Times New Roman" panose="02020603050405020304" pitchFamily="18" charset="0"/>
                <a:cs typeface="Times New Roman" panose="02020603050405020304" pitchFamily="18" charset="0"/>
              </a:rPr>
              <a:t>This example will only focus on two functions  camera and traditional phone functions.</a:t>
            </a:r>
            <a:endParaRPr lang="ja-JP" alt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7DE36DE-F9B3-7F8C-A947-03AEE7744193}"/>
              </a:ext>
            </a:extLst>
          </p:cNvPr>
          <p:cNvSpPr txBox="1"/>
          <p:nvPr/>
        </p:nvSpPr>
        <p:spPr>
          <a:xfrm>
            <a:off x="304800" y="2090172"/>
            <a:ext cx="8024036" cy="2862322"/>
          </a:xfrm>
          <a:prstGeom prst="rect">
            <a:avLst/>
          </a:prstGeom>
          <a:noFill/>
        </p:spPr>
        <p:txBody>
          <a:bodyPr wrap="square">
            <a:spAutoFit/>
          </a:bodyPr>
          <a:lstStyle/>
          <a:p>
            <a:pPr algn="l"/>
            <a:r>
              <a:rPr lang="en-US" altLang="ja-JP" sz="1800" b="0" i="0" u="none" strike="noStrike" baseline="0" dirty="0">
                <a:latin typeface="Times New Roman" panose="02020603050405020304" pitchFamily="18" charset="0"/>
                <a:cs typeface="Times New Roman" panose="02020603050405020304" pitchFamily="18" charset="0"/>
              </a:rPr>
              <a:t>public class </a:t>
            </a:r>
            <a:r>
              <a:rPr lang="en-US" altLang="ja-JP" sz="1800" b="0" i="0" u="none" strike="noStrike" baseline="0" dirty="0" err="1">
                <a:latin typeface="Times New Roman" panose="02020603050405020304" pitchFamily="18" charset="0"/>
                <a:cs typeface="Times New Roman" panose="02020603050405020304" pitchFamily="18" charset="0"/>
              </a:rPr>
              <a:t>SmartPhone</a:t>
            </a:r>
            <a:r>
              <a:rPr lang="en-US" altLang="ja-JP" sz="1800" b="0" i="0" u="none" strike="noStrike" baseline="0" dirty="0">
                <a:latin typeface="Times New Roman" panose="02020603050405020304" pitchFamily="18" charset="0"/>
                <a:cs typeface="Times New Roman" panose="02020603050405020304" pitchFamily="18" charset="0"/>
              </a:rPr>
              <a:t> {</a:t>
            </a:r>
          </a:p>
          <a:p>
            <a:pPr algn="l"/>
            <a:r>
              <a:rPr lang="en-US" altLang="ja-JP" sz="1800" b="0" i="0" u="none" strike="noStrike" baseline="0" dirty="0">
                <a:latin typeface="Times New Roman" panose="02020603050405020304" pitchFamily="18" charset="0"/>
                <a:cs typeface="Times New Roman" panose="02020603050405020304" pitchFamily="18" charset="0"/>
              </a:rPr>
              <a:t>private byte camera;</a:t>
            </a:r>
          </a:p>
          <a:p>
            <a:pPr algn="l"/>
            <a:r>
              <a:rPr lang="en-US" altLang="ja-JP" sz="1800" b="0" i="0" u="none" strike="noStrike" baseline="0" dirty="0">
                <a:latin typeface="Times New Roman" panose="02020603050405020304" pitchFamily="18" charset="0"/>
                <a:cs typeface="Times New Roman" panose="02020603050405020304" pitchFamily="18" charset="0"/>
              </a:rPr>
              <a:t>private byte phone;</a:t>
            </a:r>
          </a:p>
          <a:p>
            <a:pPr algn="l"/>
            <a:r>
              <a:rPr lang="en-US" altLang="ja-JP" sz="1800" b="0" i="0" u="none" strike="noStrike" baseline="0" dirty="0">
                <a:latin typeface="Times New Roman" panose="02020603050405020304" pitchFamily="18" charset="0"/>
                <a:cs typeface="Times New Roman" panose="02020603050405020304" pitchFamily="18" charset="0"/>
              </a:rPr>
              <a:t>public </a:t>
            </a:r>
            <a:r>
              <a:rPr lang="en-US" altLang="ja-JP" sz="1800" b="0" i="0" u="none" strike="noStrike" baseline="0" dirty="0" err="1">
                <a:latin typeface="Times New Roman" panose="02020603050405020304" pitchFamily="18" charset="0"/>
                <a:cs typeface="Times New Roman" panose="02020603050405020304" pitchFamily="18" charset="0"/>
              </a:rPr>
              <a:t>SmartPhone</a:t>
            </a:r>
            <a:r>
              <a:rPr lang="en-US" altLang="ja-JP" sz="1800" b="0" i="0" u="none" strike="noStrike" baseline="0" dirty="0">
                <a:latin typeface="Times New Roman" panose="02020603050405020304" pitchFamily="18" charset="0"/>
                <a:cs typeface="Times New Roman" panose="02020603050405020304" pitchFamily="18" charset="0"/>
              </a:rPr>
              <a:t>() { … }</a:t>
            </a:r>
          </a:p>
          <a:p>
            <a:pPr algn="l"/>
            <a:r>
              <a:rPr lang="en-US" altLang="ja-JP" sz="1800" b="1" i="0" u="none" strike="noStrike" baseline="0" dirty="0">
                <a:solidFill>
                  <a:srgbClr val="00B0F0"/>
                </a:solidFill>
                <a:latin typeface="Times New Roman" panose="02020603050405020304" pitchFamily="18" charset="0"/>
                <a:cs typeface="Times New Roman" panose="02020603050405020304" pitchFamily="18" charset="0"/>
              </a:rPr>
              <a:t>public void </a:t>
            </a:r>
            <a:r>
              <a:rPr lang="en-US" altLang="ja-JP" sz="1800" b="1" i="0" u="none" strike="noStrike" baseline="0" dirty="0" err="1">
                <a:solidFill>
                  <a:srgbClr val="00B0F0"/>
                </a:solidFill>
                <a:latin typeface="Times New Roman" panose="02020603050405020304" pitchFamily="18" charset="0"/>
                <a:cs typeface="Times New Roman" panose="02020603050405020304" pitchFamily="18" charset="0"/>
              </a:rPr>
              <a:t>takePhoto</a:t>
            </a:r>
            <a:r>
              <a:rPr lang="en-US" altLang="ja-JP" sz="1800" b="1" i="0" u="none" strike="noStrike" baseline="0" dirty="0">
                <a:solidFill>
                  <a:srgbClr val="00B0F0"/>
                </a:solidFill>
                <a:latin typeface="Times New Roman" panose="02020603050405020304" pitchFamily="18" charset="0"/>
                <a:cs typeface="Times New Roman" panose="02020603050405020304" pitchFamily="18" charset="0"/>
              </a:rPr>
              <a:t>() </a:t>
            </a:r>
            <a:r>
              <a:rPr lang="en-US" altLang="ja-JP" sz="1800" b="0" i="0" u="none" strike="noStrike" baseline="0" dirty="0">
                <a:latin typeface="Times New Roman" panose="02020603050405020304" pitchFamily="18" charset="0"/>
                <a:cs typeface="Times New Roman" panose="02020603050405020304" pitchFamily="18" charset="0"/>
              </a:rPr>
              <a:t>{ … }</a:t>
            </a:r>
          </a:p>
          <a:p>
            <a:pPr algn="l"/>
            <a:r>
              <a:rPr lang="en-US" altLang="ja-JP" sz="1800" b="0" i="0" u="none" strike="noStrike" baseline="0" dirty="0">
                <a:latin typeface="Times New Roman" panose="02020603050405020304" pitchFamily="18" charset="0"/>
                <a:cs typeface="Times New Roman" panose="02020603050405020304" pitchFamily="18" charset="0"/>
              </a:rPr>
              <a:t>public void </a:t>
            </a:r>
            <a:r>
              <a:rPr lang="en-US" altLang="ja-JP" sz="1800" b="0" i="0" u="none" strike="noStrike" baseline="0" dirty="0" err="1">
                <a:latin typeface="Times New Roman" panose="02020603050405020304" pitchFamily="18" charset="0"/>
                <a:cs typeface="Times New Roman" panose="02020603050405020304" pitchFamily="18" charset="0"/>
              </a:rPr>
              <a:t>savePhoto</a:t>
            </a:r>
            <a:r>
              <a:rPr lang="en-US" altLang="ja-JP" sz="1800" b="0" i="0" u="none" strike="noStrike" baseline="0" dirty="0">
                <a:latin typeface="Times New Roman" panose="02020603050405020304" pitchFamily="18" charset="0"/>
                <a:cs typeface="Times New Roman" panose="02020603050405020304" pitchFamily="18" charset="0"/>
              </a:rPr>
              <a:t>() { … }</a:t>
            </a:r>
          </a:p>
          <a:p>
            <a:pPr algn="l"/>
            <a:r>
              <a:rPr lang="en-US" altLang="ja-JP" sz="1800" b="0" i="0" u="none" strike="noStrike" baseline="0" dirty="0">
                <a:latin typeface="Times New Roman" panose="02020603050405020304" pitchFamily="18" charset="0"/>
                <a:cs typeface="Times New Roman" panose="02020603050405020304" pitchFamily="18" charset="0"/>
              </a:rPr>
              <a:t>public void </a:t>
            </a:r>
            <a:r>
              <a:rPr lang="en-US" altLang="ja-JP" sz="1800" b="0" i="0" u="none" strike="noStrike" baseline="0" dirty="0" err="1">
                <a:latin typeface="Times New Roman" panose="02020603050405020304" pitchFamily="18" charset="0"/>
                <a:cs typeface="Times New Roman" panose="02020603050405020304" pitchFamily="18" charset="0"/>
              </a:rPr>
              <a:t>cameraFlash</a:t>
            </a:r>
            <a:r>
              <a:rPr lang="en-US" altLang="ja-JP" sz="1800" b="0" i="0" u="none" strike="noStrike" baseline="0" dirty="0">
                <a:latin typeface="Times New Roman" panose="02020603050405020304" pitchFamily="18" charset="0"/>
                <a:cs typeface="Times New Roman" panose="02020603050405020304" pitchFamily="18" charset="0"/>
              </a:rPr>
              <a:t>() { … }</a:t>
            </a:r>
          </a:p>
          <a:p>
            <a:pPr algn="l"/>
            <a:r>
              <a:rPr lang="en-US" altLang="ja-JP" sz="1800" b="0" i="0" u="none" strike="noStrike" baseline="0" dirty="0">
                <a:latin typeface="Times New Roman" panose="02020603050405020304" pitchFamily="18" charset="0"/>
                <a:cs typeface="Times New Roman" panose="02020603050405020304" pitchFamily="18" charset="0"/>
              </a:rPr>
              <a:t>public void </a:t>
            </a:r>
            <a:r>
              <a:rPr lang="en-US" altLang="ja-JP" sz="1800" b="0" i="0" u="none" strike="noStrike" baseline="0" dirty="0" err="1">
                <a:latin typeface="Times New Roman" panose="02020603050405020304" pitchFamily="18" charset="0"/>
                <a:cs typeface="Times New Roman" panose="02020603050405020304" pitchFamily="18" charset="0"/>
              </a:rPr>
              <a:t>makePhoneCall</a:t>
            </a:r>
            <a:r>
              <a:rPr lang="en-US" altLang="ja-JP" sz="1800" b="0" i="0" u="none" strike="noStrike" baseline="0" dirty="0">
                <a:latin typeface="Times New Roman" panose="02020603050405020304" pitchFamily="18" charset="0"/>
                <a:cs typeface="Times New Roman" panose="02020603050405020304" pitchFamily="18" charset="0"/>
              </a:rPr>
              <a:t>() { … }</a:t>
            </a:r>
          </a:p>
          <a:p>
            <a:pPr algn="l"/>
            <a:r>
              <a:rPr lang="en-US" altLang="ja-JP" sz="1800" b="0" i="0" u="none" strike="noStrike" baseline="0" dirty="0">
                <a:latin typeface="Times New Roman" panose="02020603050405020304" pitchFamily="18" charset="0"/>
                <a:cs typeface="Times New Roman" panose="02020603050405020304" pitchFamily="18" charset="0"/>
              </a:rPr>
              <a:t>public void </a:t>
            </a:r>
            <a:r>
              <a:rPr lang="en-US" altLang="ja-JP" sz="1800" b="0" i="0" u="none" strike="noStrike" baseline="0" dirty="0" err="1">
                <a:latin typeface="Times New Roman" panose="02020603050405020304" pitchFamily="18" charset="0"/>
                <a:cs typeface="Times New Roman" panose="02020603050405020304" pitchFamily="18" charset="0"/>
              </a:rPr>
              <a:t>encryptOutgoingSound</a:t>
            </a:r>
            <a:r>
              <a:rPr lang="en-US" altLang="ja-JP" sz="1800" b="0" i="0" u="none" strike="noStrike" baseline="0" dirty="0">
                <a:latin typeface="Times New Roman" panose="02020603050405020304" pitchFamily="18" charset="0"/>
                <a:cs typeface="Times New Roman" panose="02020603050405020304" pitchFamily="18" charset="0"/>
              </a:rPr>
              <a:t>() { … }</a:t>
            </a:r>
          </a:p>
          <a:p>
            <a:pPr algn="l"/>
            <a:r>
              <a:rPr lang="en-US" altLang="ja-JP" sz="1800" b="0" i="0" u="none" strike="noStrike" baseline="0" dirty="0">
                <a:latin typeface="Times New Roman" panose="02020603050405020304" pitchFamily="18" charset="0"/>
                <a:cs typeface="Times New Roman" panose="02020603050405020304" pitchFamily="18" charset="0"/>
              </a:rPr>
              <a:t>public void </a:t>
            </a:r>
            <a:r>
              <a:rPr lang="en-US" altLang="ja-JP" sz="1800" b="0" i="0" u="none" strike="noStrike" baseline="0" dirty="0" err="1">
                <a:latin typeface="Times New Roman" panose="02020603050405020304" pitchFamily="18" charset="0"/>
                <a:cs typeface="Times New Roman" panose="02020603050405020304" pitchFamily="18" charset="0"/>
              </a:rPr>
              <a:t>decipherIncomingSound</a:t>
            </a:r>
            <a:r>
              <a:rPr lang="en-US" altLang="ja-JP" sz="1800" b="0" i="0" u="none" strike="noStrike" baseline="0" dirty="0">
                <a:latin typeface="Times New Roman" panose="02020603050405020304" pitchFamily="18" charset="0"/>
                <a:cs typeface="Times New Roman" panose="02020603050405020304" pitchFamily="18" charset="0"/>
              </a:rPr>
              <a:t>() { … } }</a:t>
            </a:r>
            <a:endParaRPr lang="ja-JP" alt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A49C41B-3E37-1BB8-93AA-3E7504130C5F}"/>
              </a:ext>
            </a:extLst>
          </p:cNvPr>
          <p:cNvSpPr txBox="1"/>
          <p:nvPr/>
        </p:nvSpPr>
        <p:spPr>
          <a:xfrm>
            <a:off x="152400" y="5188401"/>
            <a:ext cx="8991600" cy="1754326"/>
          </a:xfrm>
          <a:prstGeom prst="rect">
            <a:avLst/>
          </a:prstGeom>
          <a:noFill/>
        </p:spPr>
        <p:txBody>
          <a:bodyPr wrap="square">
            <a:spAutoFit/>
          </a:bodyPr>
          <a:lstStyle/>
          <a:p>
            <a:pPr marL="285750" indent="-285750" algn="l">
              <a:buFont typeface="Wingdings" panose="05000000000000000000" pitchFamily="2" charset="2"/>
              <a:buChar char="ü"/>
            </a:pPr>
            <a:r>
              <a:rPr lang="en-US" altLang="ja-JP" sz="1800" b="0" i="0" u="none" strike="noStrike" baseline="0" dirty="0">
                <a:latin typeface="Times New Roman" panose="02020603050405020304" pitchFamily="18" charset="0"/>
                <a:cs typeface="Times New Roman" panose="02020603050405020304" pitchFamily="18" charset="0"/>
              </a:rPr>
              <a:t>This code has a </a:t>
            </a:r>
            <a:r>
              <a:rPr lang="en-US" altLang="ja-JP" sz="1800" b="1" i="0" u="none" strike="noStrike" baseline="0" dirty="0" err="1">
                <a:solidFill>
                  <a:srgbClr val="00B0F0"/>
                </a:solidFill>
                <a:latin typeface="Times New Roman" panose="02020603050405020304" pitchFamily="18" charset="0"/>
                <a:cs typeface="Times New Roman" panose="02020603050405020304" pitchFamily="18" charset="0"/>
              </a:rPr>
              <a:t>SmartPhone</a:t>
            </a:r>
            <a:r>
              <a:rPr lang="en-US" altLang="ja-JP" sz="1800" b="1" i="0" u="none" strike="noStrike" baseline="0" dirty="0">
                <a:solidFill>
                  <a:srgbClr val="00B0F0"/>
                </a:solidFill>
                <a:latin typeface="Times New Roman" panose="02020603050405020304" pitchFamily="18" charset="0"/>
                <a:cs typeface="Times New Roman" panose="02020603050405020304" pitchFamily="18" charset="0"/>
              </a:rPr>
              <a:t> class with attributes called camera and phone</a:t>
            </a:r>
            <a:r>
              <a:rPr lang="en-US" altLang="ja-JP" sz="1800" b="0" i="0" u="none" strike="noStrike" baseline="0" dirty="0">
                <a:latin typeface="Times New Roman" panose="02020603050405020304" pitchFamily="18" charset="0"/>
                <a:cs typeface="Times New Roman" panose="02020603050405020304" pitchFamily="18" charset="0"/>
              </a:rPr>
              <a:t>, and associated behaviors.</a:t>
            </a:r>
          </a:p>
          <a:p>
            <a:pPr marL="285750" indent="-285750" algn="l">
              <a:buFont typeface="Wingdings" panose="05000000000000000000" pitchFamily="2" charset="2"/>
              <a:buChar char="ü"/>
            </a:pPr>
            <a:r>
              <a:rPr lang="en-US" altLang="ja-JP" sz="1800" b="0" i="0" u="none" strike="noStrike" baseline="0" dirty="0">
                <a:latin typeface="Times New Roman" panose="02020603050405020304" pitchFamily="18" charset="0"/>
                <a:cs typeface="Times New Roman" panose="02020603050405020304" pitchFamily="18" charset="0"/>
              </a:rPr>
              <a:t>This system has </a:t>
            </a:r>
            <a:r>
              <a:rPr lang="en-US" altLang="ja-JP" sz="1800" b="1" i="0" u="none" strike="noStrike" baseline="0" dirty="0">
                <a:solidFill>
                  <a:srgbClr val="00B050"/>
                </a:solidFill>
                <a:latin typeface="Times New Roman" panose="02020603050405020304" pitchFamily="18" charset="0"/>
                <a:cs typeface="Times New Roman" panose="02020603050405020304" pitchFamily="18" charset="0"/>
              </a:rPr>
              <a:t>low cohesion, as there are behaviors that are not related to each other</a:t>
            </a:r>
            <a:r>
              <a:rPr lang="en-US" altLang="ja-JP" sz="1800" b="0" i="0" u="none" strike="noStrike" baseline="0" dirty="0">
                <a:latin typeface="Times New Roman" panose="02020603050405020304" pitchFamily="18" charset="0"/>
                <a:cs typeface="Times New Roman" panose="02020603050405020304" pitchFamily="18" charset="0"/>
              </a:rPr>
              <a:t>.</a:t>
            </a:r>
          </a:p>
          <a:p>
            <a:pPr marL="285750" indent="-285750" algn="l">
              <a:buFont typeface="Wingdings" panose="05000000000000000000" pitchFamily="2" charset="2"/>
              <a:buChar char="ü"/>
            </a:pPr>
            <a:r>
              <a:rPr lang="en-US" altLang="ja-JP" sz="1800" b="0" i="0" u="none" strike="noStrike" baseline="0" dirty="0">
                <a:latin typeface="Times New Roman" panose="02020603050405020304" pitchFamily="18" charset="0"/>
                <a:cs typeface="Times New Roman" panose="02020603050405020304" pitchFamily="18" charset="0"/>
              </a:rPr>
              <a:t>The camera behaviors do not need to be encapsulated with the behaviors of the phone in order for the camera to do its job. </a:t>
            </a:r>
          </a:p>
          <a:p>
            <a:pPr marL="285750" indent="-285750" algn="l">
              <a:buFont typeface="Wingdings" panose="05000000000000000000" pitchFamily="2" charset="2"/>
              <a:buChar char="ü"/>
            </a:pPr>
            <a:r>
              <a:rPr lang="en-US" altLang="ja-JP" sz="1800" b="0" i="0" u="none" strike="noStrike" baseline="0" dirty="0">
                <a:latin typeface="Times New Roman" panose="02020603050405020304" pitchFamily="18" charset="0"/>
                <a:cs typeface="Times New Roman" panose="02020603050405020304" pitchFamily="18" charset="0"/>
              </a:rPr>
              <a:t>The components also do not offer modularity.</a:t>
            </a:r>
            <a:endParaRPr lang="ja-JP"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66024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fontScale="90000"/>
          </a:bodyPr>
          <a:lstStyle/>
          <a:p>
            <a:r>
              <a:rPr lang="en-US" altLang="ja-JP" sz="4800" b="1" dirty="0">
                <a:latin typeface="Times New Roman" pitchFamily="18" charset="0"/>
                <a:cs typeface="Times New Roman" pitchFamily="18" charset="0"/>
              </a:rPr>
              <a:t>Separation of Concerns Example</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22</a:t>
            </a:fld>
            <a:endParaRPr lang="en-US" dirty="0">
              <a:solidFill>
                <a:schemeClr val="tx1"/>
              </a:solidFill>
            </a:endParaRPr>
          </a:p>
        </p:txBody>
      </p:sp>
      <p:sp>
        <p:nvSpPr>
          <p:cNvPr id="6" name="TextBox 5">
            <a:extLst>
              <a:ext uri="{FF2B5EF4-FFF2-40B4-BE49-F238E27FC236}">
                <a16:creationId xmlns:a16="http://schemas.microsoft.com/office/drawing/2014/main" id="{FF60008E-9839-7077-5188-E36FAD4BAF76}"/>
              </a:ext>
            </a:extLst>
          </p:cNvPr>
          <p:cNvSpPr txBox="1"/>
          <p:nvPr/>
        </p:nvSpPr>
        <p:spPr>
          <a:xfrm>
            <a:off x="30126" y="1382286"/>
            <a:ext cx="9266274" cy="3939540"/>
          </a:xfrm>
          <a:prstGeom prst="rect">
            <a:avLst/>
          </a:prstGeom>
          <a:noFill/>
        </p:spPr>
        <p:txBody>
          <a:bodyPr wrap="square">
            <a:spAutoFit/>
          </a:bodyPr>
          <a:lstStyle/>
          <a:p>
            <a:pPr marL="285750" indent="-285750" algn="l">
              <a:spcAft>
                <a:spcPts val="1200"/>
              </a:spcAft>
              <a:buFont typeface="Wingdings" panose="05000000000000000000" pitchFamily="2" charset="2"/>
              <a:buChar char="ü"/>
            </a:pPr>
            <a:r>
              <a:rPr lang="en-US" altLang="ja-JP" sz="2000" b="0" i="0" u="none" strike="noStrike" baseline="0" dirty="0">
                <a:latin typeface="Times New Roman" panose="02020603050405020304" pitchFamily="18" charset="0"/>
                <a:cs typeface="Times New Roman" panose="02020603050405020304" pitchFamily="18" charset="0"/>
              </a:rPr>
              <a:t>For example, it is not possible to access the camera or the phone separately if another system is built that requires only one or the other. </a:t>
            </a:r>
          </a:p>
          <a:p>
            <a:pPr marL="285750" indent="-285750" algn="l">
              <a:spcAft>
                <a:spcPts val="1200"/>
              </a:spcAft>
              <a:buFont typeface="Wingdings" panose="05000000000000000000" pitchFamily="2" charset="2"/>
              <a:buChar char="ü"/>
            </a:pPr>
            <a:r>
              <a:rPr lang="en-US" altLang="ja-JP" sz="2000" b="0" i="0" u="none" strike="noStrike" baseline="0" dirty="0">
                <a:latin typeface="Times New Roman" panose="02020603050405020304" pitchFamily="18" charset="0"/>
                <a:cs typeface="Times New Roman" panose="02020603050405020304" pitchFamily="18" charset="0"/>
              </a:rPr>
              <a:t>The camera also would not be able to be replaced with a different camera, or even a different object, without removing the code for the camera completely from this class.</a:t>
            </a:r>
          </a:p>
          <a:p>
            <a:pPr marL="342900" indent="-342900" algn="l">
              <a:spcAft>
                <a:spcPts val="1200"/>
              </a:spcAft>
              <a:buFont typeface="Wingdings" panose="05000000000000000000" pitchFamily="2" charset="2"/>
              <a:buChar char="ü"/>
            </a:pPr>
            <a:r>
              <a:rPr lang="en-US" altLang="ja-JP" sz="2000" b="0" i="0" u="none" strike="noStrike" baseline="0" dirty="0">
                <a:latin typeface="Times New Roman" panose="02020603050405020304" pitchFamily="18" charset="0"/>
                <a:cs typeface="Times New Roman" panose="02020603050405020304" pitchFamily="18" charset="0"/>
              </a:rPr>
              <a:t>The </a:t>
            </a:r>
            <a:r>
              <a:rPr lang="en-US" altLang="ja-JP" sz="2000" b="0" i="0" u="none" strike="noStrike" baseline="0" dirty="0" err="1">
                <a:latin typeface="Times New Roman" panose="02020603050405020304" pitchFamily="18" charset="0"/>
                <a:cs typeface="Times New Roman" panose="02020603050405020304" pitchFamily="18" charset="0"/>
              </a:rPr>
              <a:t>SmartPhone</a:t>
            </a:r>
            <a:r>
              <a:rPr lang="en-US" altLang="ja-JP" sz="2000" b="0" i="0" u="none" strike="noStrike" baseline="0" dirty="0">
                <a:latin typeface="Times New Roman" panose="02020603050405020304" pitchFamily="18" charset="0"/>
                <a:cs typeface="Times New Roman" panose="02020603050405020304" pitchFamily="18" charset="0"/>
              </a:rPr>
              <a:t> class needs to be more cohesive, and each component of the smartphone should have distinctive functionality.</a:t>
            </a:r>
          </a:p>
          <a:p>
            <a:pPr marL="342900" indent="-342900" algn="l">
              <a:spcAft>
                <a:spcPts val="1200"/>
              </a:spcAft>
              <a:buFont typeface="Wingdings" panose="05000000000000000000" pitchFamily="2" charset="2"/>
              <a:buChar char="ü"/>
            </a:pPr>
            <a:r>
              <a:rPr lang="en-US" altLang="ja-JP" sz="2000" b="1" i="0" u="none" strike="noStrike" baseline="0" dirty="0">
                <a:solidFill>
                  <a:srgbClr val="00B050"/>
                </a:solidFill>
                <a:latin typeface="Times New Roman" panose="02020603050405020304" pitchFamily="18" charset="0"/>
                <a:cs typeface="Times New Roman" panose="02020603050405020304" pitchFamily="18" charset="0"/>
              </a:rPr>
              <a:t>Using the separation of concerns, we can identify that the  </a:t>
            </a:r>
            <a:r>
              <a:rPr lang="en-US" altLang="ja-JP" sz="2000" b="1" i="0" u="none" strike="noStrike" baseline="0" dirty="0" err="1">
                <a:solidFill>
                  <a:srgbClr val="00B050"/>
                </a:solidFill>
                <a:latin typeface="Times New Roman" panose="02020603050405020304" pitchFamily="18" charset="0"/>
                <a:cs typeface="Times New Roman" panose="02020603050405020304" pitchFamily="18" charset="0"/>
              </a:rPr>
              <a:t>SmartPhone</a:t>
            </a:r>
            <a:r>
              <a:rPr lang="en-US" altLang="ja-JP" sz="2000" b="1" i="0" u="none" strike="noStrike" baseline="0" dirty="0">
                <a:solidFill>
                  <a:srgbClr val="00B050"/>
                </a:solidFill>
                <a:latin typeface="Times New Roman" panose="02020603050405020304" pitchFamily="18" charset="0"/>
                <a:cs typeface="Times New Roman" panose="02020603050405020304" pitchFamily="18" charset="0"/>
              </a:rPr>
              <a:t> class has two concerns:</a:t>
            </a:r>
          </a:p>
          <a:p>
            <a:pPr marL="800100" lvl="1" indent="-342900">
              <a:spcAft>
                <a:spcPts val="1200"/>
              </a:spcAft>
              <a:buFont typeface="Wingdings" panose="05000000000000000000" pitchFamily="2" charset="2"/>
              <a:buChar char="Ø"/>
            </a:pPr>
            <a:r>
              <a:rPr lang="en-US" altLang="ja-JP" sz="2000" b="0" i="0" u="none" strike="noStrike" baseline="0" dirty="0">
                <a:latin typeface="Times New Roman" panose="02020603050405020304" pitchFamily="18" charset="0"/>
                <a:cs typeface="Times New Roman" panose="02020603050405020304" pitchFamily="18" charset="0"/>
              </a:rPr>
              <a:t>To act as a traditional telephone.</a:t>
            </a:r>
          </a:p>
          <a:p>
            <a:pPr marL="800100" lvl="1" indent="-342900">
              <a:spcAft>
                <a:spcPts val="1200"/>
              </a:spcAft>
              <a:buFont typeface="Wingdings" panose="05000000000000000000" pitchFamily="2" charset="2"/>
              <a:buChar char="Ø"/>
            </a:pPr>
            <a:r>
              <a:rPr lang="en-US" altLang="ja-JP" sz="2000" b="0" i="0" u="none" strike="noStrike" baseline="0" dirty="0">
                <a:latin typeface="Times New Roman" panose="02020603050405020304" pitchFamily="18" charset="0"/>
                <a:cs typeface="Times New Roman" panose="02020603050405020304" pitchFamily="18" charset="0"/>
              </a:rPr>
              <a:t>To take pictures using the built-in camera.</a:t>
            </a:r>
            <a:endParaRPr lang="ja-JP" altLang="en-US"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E82066D-E6DF-5973-929F-8827C243B442}"/>
              </a:ext>
            </a:extLst>
          </p:cNvPr>
          <p:cNvSpPr txBox="1"/>
          <p:nvPr/>
        </p:nvSpPr>
        <p:spPr>
          <a:xfrm>
            <a:off x="26582" y="5475714"/>
            <a:ext cx="8961474" cy="1015663"/>
          </a:xfrm>
          <a:prstGeom prst="rect">
            <a:avLst/>
          </a:prstGeom>
          <a:noFill/>
        </p:spPr>
        <p:txBody>
          <a:bodyPr wrap="square">
            <a:spAutoFit/>
          </a:bodyPr>
          <a:lstStyle/>
          <a:p>
            <a:pPr marL="342900" indent="-342900" algn="l">
              <a:buFont typeface="Wingdings" panose="05000000000000000000" pitchFamily="2" charset="2"/>
              <a:buChar char="ü"/>
            </a:pPr>
            <a:r>
              <a:rPr lang="en-US" altLang="ja-JP" sz="2000" b="0" i="0" u="none" strike="noStrike" baseline="0" dirty="0">
                <a:latin typeface="Times New Roman" panose="02020603050405020304" pitchFamily="18" charset="0"/>
                <a:cs typeface="Times New Roman" panose="02020603050405020304" pitchFamily="18" charset="0"/>
              </a:rPr>
              <a:t>With the concerns identified, it is possible to separate them into their own more cohesive classes and encapsulate all the details about each concern into functionally distinct and independent classes.</a:t>
            </a:r>
            <a:endParaRPr lang="ja-JP"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0760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fontScale="90000"/>
          </a:bodyPr>
          <a:lstStyle/>
          <a:p>
            <a:r>
              <a:rPr lang="en-US" altLang="ja-JP" sz="4800" b="1" dirty="0">
                <a:latin typeface="Times New Roman" pitchFamily="18" charset="0"/>
                <a:cs typeface="Times New Roman" pitchFamily="18" charset="0"/>
              </a:rPr>
              <a:t>Separation of Concerns Example</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23</a:t>
            </a:fld>
            <a:endParaRPr lang="en-US" dirty="0">
              <a:solidFill>
                <a:schemeClr val="tx1"/>
              </a:solidFill>
            </a:endParaRPr>
          </a:p>
        </p:txBody>
      </p:sp>
      <p:sp>
        <p:nvSpPr>
          <p:cNvPr id="6" name="TextBox 5">
            <a:extLst>
              <a:ext uri="{FF2B5EF4-FFF2-40B4-BE49-F238E27FC236}">
                <a16:creationId xmlns:a16="http://schemas.microsoft.com/office/drawing/2014/main" id="{FF60008E-9839-7077-5188-E36FAD4BAF76}"/>
              </a:ext>
            </a:extLst>
          </p:cNvPr>
          <p:cNvSpPr txBox="1"/>
          <p:nvPr/>
        </p:nvSpPr>
        <p:spPr>
          <a:xfrm>
            <a:off x="35442" y="1405795"/>
            <a:ext cx="9266274" cy="5293757"/>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Problem: Low Cohesion in SmartPhone Class</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SmartPhone class mixes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camera</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phone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functions</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 cohesion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unrelated behaviors grouped together</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modularity</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cannot reuse/replace camera or phone independently</a:t>
            </a:r>
            <a:endParaRPr kumimoji="0" lang="en-US"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Ø"/>
            </a:pPr>
            <a:endParaRPr lang="en-US" altLang="ja-JP" sz="2000" dirty="0">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Solution: Separation of Concerns</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two distinct concerns:</a:t>
            </a:r>
          </a:p>
          <a:p>
            <a:pPr marL="1257300" lvl="2" indent="-342900"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Phone functionality</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257300" lvl="2" indent="-342900"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Camera functionality</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separate cohesive classes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Phone and Camera</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SmartPhone acts as a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coordinator</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referencing both</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Improves:</a:t>
            </a:r>
          </a:p>
          <a:p>
            <a:pPr marL="1257300" lvl="2" indent="-342900"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Cohesion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(focused responsibilities)</a:t>
            </a:r>
          </a:p>
          <a:p>
            <a:pPr marL="1257300" lvl="2" indent="-342900"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Modularity</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(components can be reused/replaced)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dirty="0">
              <a:ln>
                <a:noFill/>
              </a:ln>
              <a:solidFill>
                <a:schemeClr val="tx1"/>
              </a:solidFill>
              <a:effectLst/>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Ø"/>
            </a:pP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010242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fontScale="90000"/>
          </a:bodyPr>
          <a:lstStyle/>
          <a:p>
            <a:r>
              <a:rPr lang="en-US" altLang="ja-JP" sz="4800" b="1" dirty="0">
                <a:latin typeface="Times New Roman" pitchFamily="18" charset="0"/>
                <a:cs typeface="Times New Roman" pitchFamily="18" charset="0"/>
              </a:rPr>
              <a:t>Separation of Concerns Example</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24</a:t>
            </a:fld>
            <a:endParaRPr lang="en-US" dirty="0">
              <a:solidFill>
                <a:schemeClr val="tx1"/>
              </a:solidFill>
            </a:endParaRPr>
          </a:p>
        </p:txBody>
      </p:sp>
      <p:sp>
        <p:nvSpPr>
          <p:cNvPr id="6" name="TextBox 5">
            <a:extLst>
              <a:ext uri="{FF2B5EF4-FFF2-40B4-BE49-F238E27FC236}">
                <a16:creationId xmlns:a16="http://schemas.microsoft.com/office/drawing/2014/main" id="{FF60008E-9839-7077-5188-E36FAD4BAF76}"/>
              </a:ext>
            </a:extLst>
          </p:cNvPr>
          <p:cNvSpPr txBox="1"/>
          <p:nvPr/>
        </p:nvSpPr>
        <p:spPr>
          <a:xfrm>
            <a:off x="30126" y="1382286"/>
            <a:ext cx="9266274" cy="1938992"/>
          </a:xfrm>
          <a:prstGeom prst="rect">
            <a:avLst/>
          </a:prstGeom>
          <a:noFill/>
        </p:spPr>
        <p:txBody>
          <a:bodyPr wrap="square">
            <a:spAutoFit/>
          </a:bodyPr>
          <a:lstStyle/>
          <a:p>
            <a:pPr marL="285750" indent="-285750" algn="l">
              <a:buFont typeface="Wingdings" panose="05000000000000000000" pitchFamily="2" charset="2"/>
              <a:buChar char="ü"/>
            </a:pPr>
            <a:r>
              <a:rPr lang="en-US" altLang="ja-JP" sz="2000" b="0" i="0" u="none" strike="noStrike" baseline="0" dirty="0">
                <a:latin typeface="Times New Roman" panose="02020603050405020304" pitchFamily="18" charset="0"/>
                <a:cs typeface="Times New Roman" panose="02020603050405020304" pitchFamily="18" charset="0"/>
              </a:rPr>
              <a:t>The </a:t>
            </a:r>
            <a:r>
              <a:rPr lang="en-US" altLang="ja-JP" sz="2000" b="0" i="0" u="none" strike="noStrike" baseline="0" dirty="0" err="1">
                <a:latin typeface="Times New Roman" panose="02020603050405020304" pitchFamily="18" charset="0"/>
                <a:cs typeface="Times New Roman" panose="02020603050405020304" pitchFamily="18" charset="0"/>
              </a:rPr>
              <a:t>SmartPhone</a:t>
            </a:r>
            <a:r>
              <a:rPr lang="en-US" altLang="ja-JP" sz="2000" b="0" i="0" u="none" strike="noStrike" baseline="0" dirty="0">
                <a:latin typeface="Times New Roman" panose="02020603050405020304" pitchFamily="18" charset="0"/>
                <a:cs typeface="Times New Roman" panose="02020603050405020304" pitchFamily="18" charset="0"/>
              </a:rPr>
              <a:t> class will reference instances of the new classes so  that the smartphone can act as a coordinator of the camera and the phone. </a:t>
            </a:r>
          </a:p>
          <a:p>
            <a:pPr marL="285750" indent="-285750" algn="l">
              <a:buFont typeface="Wingdings" panose="05000000000000000000" pitchFamily="2" charset="2"/>
              <a:buChar char="ü"/>
            </a:pPr>
            <a:r>
              <a:rPr lang="en-US" altLang="ja-JP" sz="2000" b="0" i="0" u="none" strike="noStrike" baseline="0" dirty="0">
                <a:latin typeface="Times New Roman" panose="02020603050405020304" pitchFamily="18" charset="0"/>
                <a:cs typeface="Times New Roman" panose="02020603050405020304" pitchFamily="18" charset="0"/>
              </a:rPr>
              <a:t>This will let our smartphone provide access to all the </a:t>
            </a:r>
            <a:r>
              <a:rPr lang="en-US" altLang="ja-JP" sz="2000" b="0" i="0" u="none" strike="noStrike" baseline="0" dirty="0" err="1">
                <a:latin typeface="Times New Roman" panose="02020603050405020304" pitchFamily="18" charset="0"/>
                <a:cs typeface="Times New Roman" panose="02020603050405020304" pitchFamily="18" charset="0"/>
              </a:rPr>
              <a:t>behaviours</a:t>
            </a:r>
            <a:r>
              <a:rPr lang="en-US" altLang="ja-JP" sz="2000" b="0" i="0" u="none" strike="noStrike" baseline="0" dirty="0">
                <a:latin typeface="Times New Roman" panose="02020603050405020304" pitchFamily="18" charset="0"/>
                <a:cs typeface="Times New Roman" panose="02020603050405020304" pitchFamily="18" charset="0"/>
              </a:rPr>
              <a:t> of the camera and the phone, without having to know how each component behaves.</a:t>
            </a:r>
          </a:p>
          <a:p>
            <a:pPr marL="285750" indent="-285750" algn="l">
              <a:buFont typeface="Wingdings" panose="05000000000000000000" pitchFamily="2" charset="2"/>
              <a:buChar char="ü"/>
            </a:pPr>
            <a:r>
              <a:rPr lang="en-US" altLang="ja-JP" sz="2000" b="0" i="0" u="none" strike="noStrike" baseline="0" dirty="0">
                <a:latin typeface="Times New Roman" panose="02020603050405020304" pitchFamily="18" charset="0"/>
                <a:cs typeface="Times New Roman" panose="02020603050405020304" pitchFamily="18" charset="0"/>
              </a:rPr>
              <a:t>Using a UML Class diagram, this is how the new design for the </a:t>
            </a:r>
            <a:r>
              <a:rPr lang="en-US" altLang="ja-JP" sz="2000" b="0" i="0" u="none" strike="noStrike" baseline="0" dirty="0" err="1">
                <a:latin typeface="Times New Roman" panose="02020603050405020304" pitchFamily="18" charset="0"/>
                <a:cs typeface="Times New Roman" panose="02020603050405020304" pitchFamily="18" charset="0"/>
              </a:rPr>
              <a:t>SmartPhone</a:t>
            </a:r>
            <a:r>
              <a:rPr lang="en-US" altLang="ja-JP" sz="2000" b="0" i="0" u="none" strike="noStrike" baseline="0" dirty="0">
                <a:latin typeface="Times New Roman" panose="02020603050405020304" pitchFamily="18" charset="0"/>
                <a:cs typeface="Times New Roman" panose="02020603050405020304" pitchFamily="18" charset="0"/>
              </a:rPr>
              <a:t> system might look:</a:t>
            </a:r>
            <a:endParaRPr lang="ja-JP"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71452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0001"/>
            <a:ext cx="8534400" cy="691116"/>
          </a:xfrm>
        </p:spPr>
        <p:style>
          <a:lnRef idx="2">
            <a:schemeClr val="accent6"/>
          </a:lnRef>
          <a:fillRef idx="1">
            <a:schemeClr val="lt1"/>
          </a:fillRef>
          <a:effectRef idx="0">
            <a:schemeClr val="accent6"/>
          </a:effectRef>
          <a:fontRef idx="minor">
            <a:schemeClr val="dk1"/>
          </a:fontRef>
        </p:style>
        <p:txBody>
          <a:bodyPr>
            <a:normAutofit fontScale="90000"/>
          </a:bodyPr>
          <a:lstStyle/>
          <a:p>
            <a:r>
              <a:rPr lang="en-US" altLang="ja-JP" sz="4800" b="1" dirty="0">
                <a:latin typeface="Times New Roman" pitchFamily="18" charset="0"/>
                <a:cs typeface="Times New Roman" pitchFamily="18" charset="0"/>
              </a:rPr>
              <a:t>Example: Smartphone System</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25</a:t>
            </a:fld>
            <a:endParaRPr lang="en-US" dirty="0">
              <a:solidFill>
                <a:schemeClr val="tx1"/>
              </a:solidFill>
            </a:endParaRPr>
          </a:p>
        </p:txBody>
      </p:sp>
      <p:pic>
        <p:nvPicPr>
          <p:cNvPr id="8" name="Picture 7">
            <a:extLst>
              <a:ext uri="{FF2B5EF4-FFF2-40B4-BE49-F238E27FC236}">
                <a16:creationId xmlns:a16="http://schemas.microsoft.com/office/drawing/2014/main" id="{17B05532-E034-ED15-6DFF-C9EAD60F5508}"/>
              </a:ext>
            </a:extLst>
          </p:cNvPr>
          <p:cNvPicPr>
            <a:picLocks noChangeAspect="1"/>
          </p:cNvPicPr>
          <p:nvPr/>
        </p:nvPicPr>
        <p:blipFill>
          <a:blip r:embed="rId3"/>
          <a:stretch>
            <a:fillRect/>
          </a:stretch>
        </p:blipFill>
        <p:spPr>
          <a:xfrm>
            <a:off x="-15949" y="868513"/>
            <a:ext cx="4973742" cy="4137869"/>
          </a:xfrm>
          <a:prstGeom prst="rect">
            <a:avLst/>
          </a:prstGeom>
        </p:spPr>
      </p:pic>
      <p:sp>
        <p:nvSpPr>
          <p:cNvPr id="10" name="TextBox 9">
            <a:extLst>
              <a:ext uri="{FF2B5EF4-FFF2-40B4-BE49-F238E27FC236}">
                <a16:creationId xmlns:a16="http://schemas.microsoft.com/office/drawing/2014/main" id="{B2B559EF-956A-245F-6F31-ED3E3EB91167}"/>
              </a:ext>
            </a:extLst>
          </p:cNvPr>
          <p:cNvSpPr txBox="1"/>
          <p:nvPr/>
        </p:nvSpPr>
        <p:spPr>
          <a:xfrm>
            <a:off x="4959565" y="711117"/>
            <a:ext cx="4572000" cy="4770537"/>
          </a:xfrm>
          <a:prstGeom prst="rect">
            <a:avLst/>
          </a:prstGeom>
          <a:noFill/>
        </p:spPr>
        <p:txBody>
          <a:bodyPr wrap="square">
            <a:spAutoFit/>
          </a:bodyPr>
          <a:lstStyle/>
          <a:p>
            <a:pPr algn="l"/>
            <a:r>
              <a:rPr lang="en-US" altLang="ja-JP" sz="1600" b="1" i="0" u="none" strike="noStrike" baseline="0" dirty="0">
                <a:latin typeface="Times New Roman" panose="02020603050405020304" pitchFamily="18" charset="0"/>
                <a:cs typeface="Times New Roman" panose="02020603050405020304" pitchFamily="18" charset="0"/>
              </a:rPr>
              <a:t>The code would translate as below:</a:t>
            </a:r>
          </a:p>
          <a:p>
            <a:pPr algn="l"/>
            <a:r>
              <a:rPr lang="en-US" altLang="ja-JP" sz="1600" b="1" i="0" u="none" strike="noStrike" baseline="0" dirty="0">
                <a:solidFill>
                  <a:srgbClr val="00B050"/>
                </a:solidFill>
                <a:latin typeface="CourierNewPSMT"/>
              </a:rPr>
              <a:t>public interface </a:t>
            </a:r>
            <a:r>
              <a:rPr lang="en-US" altLang="ja-JP" sz="1600" b="1" i="0" u="none" strike="noStrike" baseline="0" dirty="0" err="1">
                <a:solidFill>
                  <a:srgbClr val="00B050"/>
                </a:solidFill>
                <a:latin typeface="CourierNewPSMT"/>
              </a:rPr>
              <a:t>ICamera</a:t>
            </a:r>
            <a:r>
              <a:rPr lang="en-US" altLang="ja-JP" sz="1600" b="1" i="0" u="none" strike="noStrike" baseline="0" dirty="0">
                <a:solidFill>
                  <a:srgbClr val="00B050"/>
                </a:solidFill>
                <a:latin typeface="CourierNewPSMT"/>
              </a:rPr>
              <a:t> {</a:t>
            </a:r>
          </a:p>
          <a:p>
            <a:pPr algn="l"/>
            <a:r>
              <a:rPr lang="en-US" altLang="ja-JP" sz="1600" b="1" i="0" u="none" strike="noStrike" baseline="0" dirty="0">
                <a:solidFill>
                  <a:srgbClr val="00B050"/>
                </a:solidFill>
                <a:latin typeface="CourierNewPSMT"/>
              </a:rPr>
              <a:t>public void </a:t>
            </a:r>
            <a:r>
              <a:rPr lang="en-US" altLang="ja-JP" sz="1600" b="1" i="0" u="none" strike="noStrike" baseline="0" dirty="0" err="1">
                <a:solidFill>
                  <a:srgbClr val="00B050"/>
                </a:solidFill>
                <a:latin typeface="CourierNewPSMT"/>
              </a:rPr>
              <a:t>takePhoto</a:t>
            </a:r>
            <a:r>
              <a:rPr lang="en-US" altLang="ja-JP" sz="1600" b="1" i="0" u="none" strike="noStrike" baseline="0" dirty="0">
                <a:solidFill>
                  <a:srgbClr val="00B050"/>
                </a:solidFill>
                <a:latin typeface="CourierNewPSMT"/>
              </a:rPr>
              <a:t>();</a:t>
            </a:r>
          </a:p>
          <a:p>
            <a:pPr algn="l"/>
            <a:r>
              <a:rPr lang="en-US" altLang="ja-JP" sz="1600" b="1" i="0" u="none" strike="noStrike" baseline="0" dirty="0">
                <a:solidFill>
                  <a:srgbClr val="00B050"/>
                </a:solidFill>
                <a:latin typeface="CourierNewPSMT"/>
              </a:rPr>
              <a:t>public void </a:t>
            </a:r>
            <a:r>
              <a:rPr lang="en-US" altLang="ja-JP" sz="1600" b="1" i="0" u="none" strike="noStrike" baseline="0" dirty="0" err="1">
                <a:solidFill>
                  <a:srgbClr val="00B050"/>
                </a:solidFill>
                <a:latin typeface="CourierNewPSMT"/>
              </a:rPr>
              <a:t>savePhoto</a:t>
            </a:r>
            <a:r>
              <a:rPr lang="en-US" altLang="ja-JP" sz="1600" b="1" i="0" u="none" strike="noStrike" baseline="0" dirty="0">
                <a:solidFill>
                  <a:srgbClr val="00B050"/>
                </a:solidFill>
                <a:latin typeface="CourierNewPSMT"/>
              </a:rPr>
              <a:t>();</a:t>
            </a:r>
          </a:p>
          <a:p>
            <a:pPr algn="l"/>
            <a:r>
              <a:rPr lang="en-US" altLang="ja-JP" sz="1600" b="1" i="0" u="none" strike="noStrike" baseline="0" dirty="0">
                <a:solidFill>
                  <a:srgbClr val="00B050"/>
                </a:solidFill>
                <a:latin typeface="CourierNewPSMT"/>
              </a:rPr>
              <a:t>public void </a:t>
            </a:r>
            <a:r>
              <a:rPr lang="en-US" altLang="ja-JP" sz="1600" b="1" i="0" u="none" strike="noStrike" baseline="0" dirty="0" err="1">
                <a:solidFill>
                  <a:srgbClr val="00B050"/>
                </a:solidFill>
                <a:latin typeface="CourierNewPSMT"/>
              </a:rPr>
              <a:t>cameraFlash</a:t>
            </a:r>
            <a:r>
              <a:rPr lang="en-US" altLang="ja-JP" sz="1600" b="1" i="0" u="none" strike="noStrike" baseline="0" dirty="0">
                <a:solidFill>
                  <a:srgbClr val="00B050"/>
                </a:solidFill>
                <a:latin typeface="CourierNewPSMT"/>
              </a:rPr>
              <a:t>();</a:t>
            </a:r>
          </a:p>
          <a:p>
            <a:pPr algn="l"/>
            <a:r>
              <a:rPr lang="en-US" altLang="ja-JP" sz="1600" b="1" i="0" u="none" strike="noStrike" baseline="0" dirty="0">
                <a:solidFill>
                  <a:srgbClr val="00B050"/>
                </a:solidFill>
                <a:latin typeface="CourierNewPSMT"/>
              </a:rPr>
              <a:t>}</a:t>
            </a:r>
          </a:p>
          <a:p>
            <a:pPr algn="l"/>
            <a:r>
              <a:rPr lang="en-US" altLang="ja-JP" sz="1600" b="1" i="0" u="none" strike="noStrike" baseline="0" dirty="0">
                <a:solidFill>
                  <a:srgbClr val="00B0F0"/>
                </a:solidFill>
                <a:latin typeface="CourierNewPSMT"/>
              </a:rPr>
              <a:t>public interface </a:t>
            </a:r>
            <a:r>
              <a:rPr lang="en-US" altLang="ja-JP" sz="1600" b="1" i="0" u="none" strike="noStrike" baseline="0" dirty="0" err="1">
                <a:solidFill>
                  <a:srgbClr val="00B0F0"/>
                </a:solidFill>
                <a:latin typeface="CourierNewPSMT"/>
              </a:rPr>
              <a:t>IPhone</a:t>
            </a:r>
            <a:r>
              <a:rPr lang="en-US" altLang="ja-JP" sz="1600" b="1" i="0" u="none" strike="noStrike" baseline="0" dirty="0">
                <a:solidFill>
                  <a:srgbClr val="00B0F0"/>
                </a:solidFill>
                <a:latin typeface="CourierNewPSMT"/>
              </a:rPr>
              <a:t> {</a:t>
            </a:r>
          </a:p>
          <a:p>
            <a:pPr algn="l"/>
            <a:r>
              <a:rPr lang="en-US" altLang="ja-JP" sz="1600" b="1" i="0" u="none" strike="noStrike" baseline="0" dirty="0">
                <a:solidFill>
                  <a:srgbClr val="00B0F0"/>
                </a:solidFill>
                <a:latin typeface="CourierNewPSMT"/>
              </a:rPr>
              <a:t>public void </a:t>
            </a:r>
            <a:r>
              <a:rPr lang="en-US" altLang="ja-JP" sz="1600" b="1" i="0" u="none" strike="noStrike" baseline="0" dirty="0" err="1">
                <a:solidFill>
                  <a:srgbClr val="00B0F0"/>
                </a:solidFill>
                <a:latin typeface="CourierNewPSMT"/>
              </a:rPr>
              <a:t>makePhoneCall</a:t>
            </a:r>
            <a:r>
              <a:rPr lang="en-US" altLang="ja-JP" sz="1600" b="1" i="0" u="none" strike="noStrike" baseline="0" dirty="0">
                <a:solidFill>
                  <a:srgbClr val="00B0F0"/>
                </a:solidFill>
                <a:latin typeface="CourierNewPSMT"/>
              </a:rPr>
              <a:t>();</a:t>
            </a:r>
          </a:p>
          <a:p>
            <a:pPr algn="l"/>
            <a:r>
              <a:rPr lang="en-US" altLang="ja-JP" sz="1600" b="1" i="0" u="none" strike="noStrike" baseline="0" dirty="0">
                <a:solidFill>
                  <a:srgbClr val="00B0F0"/>
                </a:solidFill>
                <a:latin typeface="CourierNewPSMT"/>
              </a:rPr>
              <a:t>public void </a:t>
            </a:r>
            <a:r>
              <a:rPr lang="en-US" altLang="ja-JP" sz="1600" b="1" i="0" u="none" strike="noStrike" baseline="0" dirty="0" err="1">
                <a:solidFill>
                  <a:srgbClr val="00B0F0"/>
                </a:solidFill>
                <a:latin typeface="CourierNewPSMT"/>
              </a:rPr>
              <a:t>encryptOutgoingSound</a:t>
            </a:r>
            <a:r>
              <a:rPr lang="en-US" altLang="ja-JP" sz="1600" b="1" i="0" u="none" strike="noStrike" baseline="0" dirty="0">
                <a:solidFill>
                  <a:srgbClr val="00B0F0"/>
                </a:solidFill>
                <a:latin typeface="CourierNewPSMT"/>
              </a:rPr>
              <a:t>();</a:t>
            </a:r>
          </a:p>
          <a:p>
            <a:pPr algn="l"/>
            <a:r>
              <a:rPr lang="en-US" altLang="ja-JP" sz="1600" b="1" i="0" u="none" strike="noStrike" baseline="0" dirty="0">
                <a:solidFill>
                  <a:srgbClr val="00B0F0"/>
                </a:solidFill>
                <a:latin typeface="CourierNewPSMT"/>
              </a:rPr>
              <a:t>public void </a:t>
            </a:r>
            <a:r>
              <a:rPr lang="en-US" altLang="ja-JP" sz="1600" b="1" i="0" u="none" strike="noStrike" baseline="0" dirty="0" err="1">
                <a:solidFill>
                  <a:srgbClr val="00B0F0"/>
                </a:solidFill>
                <a:latin typeface="CourierNewPSMT"/>
              </a:rPr>
              <a:t>deciphereIncomingSound</a:t>
            </a:r>
            <a:r>
              <a:rPr lang="en-US" altLang="ja-JP" sz="1600" b="1" i="0" u="none" strike="noStrike" baseline="0" dirty="0">
                <a:solidFill>
                  <a:srgbClr val="00B0F0"/>
                </a:solidFill>
                <a:latin typeface="CourierNewPSMT"/>
              </a:rPr>
              <a:t>();</a:t>
            </a:r>
          </a:p>
          <a:p>
            <a:pPr algn="l"/>
            <a:r>
              <a:rPr lang="en-US" altLang="ja-JP" sz="1600" b="1" i="0" u="none" strike="noStrike" baseline="0" dirty="0">
                <a:solidFill>
                  <a:srgbClr val="00B0F0"/>
                </a:solidFill>
                <a:latin typeface="CourierNewPSMT"/>
              </a:rPr>
              <a:t>}</a:t>
            </a:r>
          </a:p>
          <a:p>
            <a:pPr algn="l"/>
            <a:r>
              <a:rPr lang="en-US" altLang="ja-JP" sz="1600" b="1" i="0" u="none" strike="noStrike" baseline="0" dirty="0">
                <a:solidFill>
                  <a:srgbClr val="00B050"/>
                </a:solidFill>
                <a:latin typeface="CourierNewPSMT"/>
              </a:rPr>
              <a:t>public class </a:t>
            </a:r>
            <a:r>
              <a:rPr lang="en-US" altLang="ja-JP" sz="1600" b="1" i="0" u="none" strike="noStrike" baseline="0" dirty="0" err="1">
                <a:solidFill>
                  <a:srgbClr val="00B050"/>
                </a:solidFill>
                <a:latin typeface="CourierNewPSMT"/>
              </a:rPr>
              <a:t>FirstGenCamera</a:t>
            </a:r>
            <a:r>
              <a:rPr lang="en-US" altLang="ja-JP" sz="1600" b="1" i="0" u="none" strike="noStrike" baseline="0" dirty="0">
                <a:solidFill>
                  <a:srgbClr val="00B050"/>
                </a:solidFill>
                <a:latin typeface="CourierNewPSMT"/>
              </a:rPr>
              <a:t> implements </a:t>
            </a:r>
            <a:r>
              <a:rPr lang="en-US" altLang="ja-JP" sz="1600" b="1" i="0" u="none" strike="noStrike" baseline="0" dirty="0" err="1">
                <a:solidFill>
                  <a:srgbClr val="00B050"/>
                </a:solidFill>
                <a:latin typeface="CourierNewPSMT"/>
              </a:rPr>
              <a:t>ICamera</a:t>
            </a:r>
            <a:r>
              <a:rPr lang="en-US" altLang="ja-JP" sz="1600" b="1" i="0" u="none" strike="noStrike" baseline="0" dirty="0">
                <a:solidFill>
                  <a:srgbClr val="00B050"/>
                </a:solidFill>
                <a:latin typeface="CourierNewPSMT"/>
              </a:rPr>
              <a:t> {</a:t>
            </a:r>
          </a:p>
          <a:p>
            <a:pPr algn="l"/>
            <a:r>
              <a:rPr lang="en-US" altLang="ja-JP" sz="1600" b="0" i="0" u="none" strike="noStrike" baseline="0" dirty="0">
                <a:latin typeface="CourierNewPSMT"/>
              </a:rPr>
              <a:t>/* Abstracted camera attributes */</a:t>
            </a:r>
          </a:p>
          <a:p>
            <a:pPr algn="l"/>
            <a:r>
              <a:rPr lang="en-US" altLang="ja-JP" sz="1600" b="1" i="0" u="none" strike="noStrike" baseline="0" dirty="0">
                <a:solidFill>
                  <a:srgbClr val="00B0F0"/>
                </a:solidFill>
                <a:latin typeface="CourierNewPSMT"/>
              </a:rPr>
              <a:t>public class </a:t>
            </a:r>
            <a:r>
              <a:rPr lang="en-US" altLang="ja-JP" sz="1600" b="1" i="0" u="none" strike="noStrike" baseline="0" dirty="0" err="1">
                <a:solidFill>
                  <a:srgbClr val="00B0F0"/>
                </a:solidFill>
                <a:latin typeface="CourierNewPSMT"/>
              </a:rPr>
              <a:t>TraditionalPhone</a:t>
            </a:r>
            <a:r>
              <a:rPr lang="en-US" altLang="ja-JP" sz="1600" b="1" i="0" u="none" strike="noStrike" baseline="0" dirty="0">
                <a:solidFill>
                  <a:srgbClr val="00B0F0"/>
                </a:solidFill>
                <a:latin typeface="CourierNewPSMT"/>
              </a:rPr>
              <a:t> implements </a:t>
            </a:r>
            <a:r>
              <a:rPr lang="en-US" altLang="ja-JP" sz="1600" b="1" i="0" u="none" strike="noStrike" baseline="0" dirty="0" err="1">
                <a:solidFill>
                  <a:srgbClr val="00B0F0"/>
                </a:solidFill>
                <a:latin typeface="CourierNewPSMT"/>
              </a:rPr>
              <a:t>IPhone</a:t>
            </a:r>
            <a:r>
              <a:rPr lang="en-US" altLang="ja-JP" sz="1600" b="1" i="0" u="none" strike="noStrike" baseline="0" dirty="0">
                <a:solidFill>
                  <a:srgbClr val="00B0F0"/>
                </a:solidFill>
                <a:latin typeface="CourierNewPSMT"/>
              </a:rPr>
              <a:t> {</a:t>
            </a:r>
          </a:p>
          <a:p>
            <a:pPr algn="l"/>
            <a:r>
              <a:rPr lang="en-US" altLang="ja-JP" sz="1600" b="1" i="0" u="none" strike="noStrike" baseline="0" dirty="0">
                <a:solidFill>
                  <a:srgbClr val="00B0F0"/>
                </a:solidFill>
                <a:latin typeface="CourierNewPSMT"/>
              </a:rPr>
              <a:t>/* Abstracted phone attributes */</a:t>
            </a:r>
          </a:p>
          <a:p>
            <a:pPr algn="l"/>
            <a:r>
              <a:rPr lang="en-US" altLang="ja-JP" sz="1600" b="1" i="0" u="none" strike="noStrike" baseline="0" dirty="0">
                <a:solidFill>
                  <a:srgbClr val="00B0F0"/>
                </a:solidFill>
                <a:latin typeface="CourierNewPSMT"/>
              </a:rPr>
              <a:t>}</a:t>
            </a:r>
            <a:endParaRPr lang="ja-JP" altLang="en-US" sz="1600" b="1" dirty="0">
              <a:solidFill>
                <a:srgbClr val="00B0F0"/>
              </a:solidFill>
            </a:endParaRPr>
          </a:p>
        </p:txBody>
      </p:sp>
      <p:sp>
        <p:nvSpPr>
          <p:cNvPr id="5" name="TextBox 4">
            <a:extLst>
              <a:ext uri="{FF2B5EF4-FFF2-40B4-BE49-F238E27FC236}">
                <a16:creationId xmlns:a16="http://schemas.microsoft.com/office/drawing/2014/main" id="{37762FD9-7F08-C0FD-B6FA-C3798BE3B6AE}"/>
              </a:ext>
            </a:extLst>
          </p:cNvPr>
          <p:cNvSpPr txBox="1"/>
          <p:nvPr/>
        </p:nvSpPr>
        <p:spPr>
          <a:xfrm>
            <a:off x="10633" y="5544662"/>
            <a:ext cx="9175898" cy="1015663"/>
          </a:xfrm>
          <a:prstGeom prst="rect">
            <a:avLst/>
          </a:prstGeom>
          <a:noFill/>
        </p:spPr>
        <p:txBody>
          <a:bodyPr wrap="square">
            <a:spAutoFit/>
          </a:bodyPr>
          <a:lstStyle/>
          <a:p>
            <a:pPr marL="342900" indent="-342900" algn="l">
              <a:buFont typeface="Wingdings" panose="05000000000000000000" pitchFamily="2" charset="2"/>
              <a:buChar char="ü"/>
            </a:pPr>
            <a:r>
              <a:rPr lang="en-US" altLang="ja-JP" sz="2000" b="0" i="0" u="none" strike="noStrike" baseline="0" dirty="0">
                <a:latin typeface="Times New Roman" panose="02020603050405020304" pitchFamily="18" charset="0"/>
                <a:cs typeface="Times New Roman" panose="02020603050405020304" pitchFamily="18" charset="0"/>
              </a:rPr>
              <a:t>The attributes and behaviors for the phone and camera have been separated into two distinct interfaces.  These are each implemented with a corresponding class. The code would translate as below:</a:t>
            </a:r>
            <a:endParaRPr lang="ja-JP"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4601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altLang="ja-JP" sz="4800" b="1" dirty="0">
                <a:latin typeface="Times New Roman" pitchFamily="18" charset="0"/>
                <a:cs typeface="Times New Roman" pitchFamily="18" charset="0"/>
              </a:rPr>
              <a:t>Example: Smartphone System</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26</a:t>
            </a:fld>
            <a:endParaRPr lang="en-US" dirty="0">
              <a:solidFill>
                <a:schemeClr val="tx1"/>
              </a:solidFill>
            </a:endParaRPr>
          </a:p>
        </p:txBody>
      </p:sp>
      <p:sp>
        <p:nvSpPr>
          <p:cNvPr id="10" name="TextBox 9">
            <a:extLst>
              <a:ext uri="{FF2B5EF4-FFF2-40B4-BE49-F238E27FC236}">
                <a16:creationId xmlns:a16="http://schemas.microsoft.com/office/drawing/2014/main" id="{B2B559EF-956A-245F-6F31-ED3E3EB91167}"/>
              </a:ext>
            </a:extLst>
          </p:cNvPr>
          <p:cNvSpPr txBox="1"/>
          <p:nvPr/>
        </p:nvSpPr>
        <p:spPr>
          <a:xfrm>
            <a:off x="304800" y="1414098"/>
            <a:ext cx="8534400" cy="4801314"/>
          </a:xfrm>
          <a:prstGeom prst="rect">
            <a:avLst/>
          </a:prstGeom>
          <a:noFill/>
        </p:spPr>
        <p:txBody>
          <a:bodyPr wrap="square">
            <a:spAutoFit/>
          </a:bodyPr>
          <a:lstStyle/>
          <a:p>
            <a:pPr algn="l"/>
            <a:r>
              <a:rPr lang="en-US" altLang="ja-JP" sz="2000" b="1" i="0" u="none" strike="noStrike" baseline="0" dirty="0">
                <a:latin typeface="Times New Roman" panose="02020603050405020304" pitchFamily="18" charset="0"/>
                <a:cs typeface="Times New Roman" panose="02020603050405020304" pitchFamily="18" charset="0"/>
              </a:rPr>
              <a:t>The </a:t>
            </a:r>
            <a:r>
              <a:rPr lang="en-US" altLang="ja-JP" sz="2000" b="1" i="0" u="none" strike="noStrike" baseline="0" dirty="0" err="1">
                <a:latin typeface="Times New Roman" panose="02020603050405020304" pitchFamily="18" charset="0"/>
                <a:cs typeface="Times New Roman" panose="02020603050405020304" pitchFamily="18" charset="0"/>
              </a:rPr>
              <a:t>SmartPhone</a:t>
            </a:r>
            <a:r>
              <a:rPr lang="en-US" altLang="ja-JP" sz="2000" b="1" i="0" u="none" strike="noStrike" baseline="0" dirty="0">
                <a:latin typeface="Times New Roman" panose="02020603050405020304" pitchFamily="18" charset="0"/>
                <a:cs typeface="Times New Roman" panose="02020603050405020304" pitchFamily="18" charset="0"/>
              </a:rPr>
              <a:t> class also need to be redesigned for two separate classes:</a:t>
            </a:r>
          </a:p>
          <a:p>
            <a:pPr algn="l"/>
            <a:endParaRPr lang="en-US" altLang="ja-JP" sz="1600" b="1" i="0" u="none" strike="noStrike" baseline="0" dirty="0">
              <a:latin typeface="Times New Roman" panose="02020603050405020304" pitchFamily="18" charset="0"/>
              <a:cs typeface="Times New Roman" panose="02020603050405020304" pitchFamily="18" charset="0"/>
            </a:endParaRPr>
          </a:p>
          <a:p>
            <a:pPr algn="l"/>
            <a:r>
              <a:rPr lang="en-US" altLang="ja-JP" sz="1800" b="1" i="0" u="none" strike="noStrike" baseline="0" dirty="0">
                <a:solidFill>
                  <a:srgbClr val="00B050"/>
                </a:solidFill>
                <a:latin typeface="CourierNewPSMT"/>
              </a:rPr>
              <a:t>public class </a:t>
            </a:r>
            <a:r>
              <a:rPr lang="en-US" altLang="ja-JP" sz="1800" b="1" i="0" u="none" strike="noStrike" baseline="0" dirty="0" err="1">
                <a:solidFill>
                  <a:srgbClr val="00B050"/>
                </a:solidFill>
                <a:latin typeface="CourierNewPSMT"/>
              </a:rPr>
              <a:t>SmartPhone</a:t>
            </a:r>
            <a:r>
              <a:rPr lang="en-US" altLang="ja-JP" sz="1800" b="1" i="0" u="none" strike="noStrike" baseline="0" dirty="0">
                <a:solidFill>
                  <a:srgbClr val="00B050"/>
                </a:solidFill>
                <a:latin typeface="CourierNewPSMT"/>
              </a:rPr>
              <a:t> {</a:t>
            </a:r>
          </a:p>
          <a:p>
            <a:pPr algn="l"/>
            <a:r>
              <a:rPr lang="en-US" altLang="ja-JP" sz="1800" b="0" i="0" u="none" strike="noStrike" baseline="0" dirty="0">
                <a:solidFill>
                  <a:srgbClr val="FF0000"/>
                </a:solidFill>
                <a:latin typeface="CourierNewPSMT"/>
              </a:rPr>
              <a:t>private </a:t>
            </a:r>
            <a:r>
              <a:rPr lang="en-US" altLang="ja-JP" sz="1800" b="0" i="0" u="none" strike="noStrike" baseline="0" dirty="0" err="1">
                <a:solidFill>
                  <a:srgbClr val="FF0000"/>
                </a:solidFill>
                <a:latin typeface="CourierNewPSMT"/>
              </a:rPr>
              <a:t>ICamera</a:t>
            </a:r>
            <a:r>
              <a:rPr lang="en-US" altLang="ja-JP" sz="1800" b="0" i="0" u="none" strike="noStrike" baseline="0" dirty="0">
                <a:solidFill>
                  <a:srgbClr val="FF0000"/>
                </a:solidFill>
                <a:latin typeface="CourierNewPSMT"/>
              </a:rPr>
              <a:t> </a:t>
            </a:r>
            <a:r>
              <a:rPr lang="en-US" altLang="ja-JP" sz="1800" b="0" i="0" u="none" strike="noStrike" baseline="0" dirty="0" err="1">
                <a:solidFill>
                  <a:srgbClr val="FF0000"/>
                </a:solidFill>
                <a:latin typeface="CourierNewPSMT"/>
              </a:rPr>
              <a:t>myCamera</a:t>
            </a:r>
            <a:r>
              <a:rPr lang="en-US" altLang="ja-JP" sz="1800" b="0" i="0" u="none" strike="noStrike" baseline="0" dirty="0">
                <a:solidFill>
                  <a:srgbClr val="FF0000"/>
                </a:solidFill>
                <a:latin typeface="CourierNewPSMT"/>
              </a:rPr>
              <a:t>;</a:t>
            </a:r>
          </a:p>
          <a:p>
            <a:pPr algn="l"/>
            <a:r>
              <a:rPr lang="en-US" altLang="ja-JP" sz="1800" b="0" i="0" u="none" strike="noStrike" baseline="0" dirty="0">
                <a:solidFill>
                  <a:srgbClr val="FF0000"/>
                </a:solidFill>
                <a:latin typeface="CourierNewPSMT"/>
              </a:rPr>
              <a:t>private </a:t>
            </a:r>
            <a:r>
              <a:rPr lang="en-US" altLang="ja-JP" sz="1800" b="0" i="0" u="none" strike="noStrike" baseline="0" dirty="0" err="1">
                <a:solidFill>
                  <a:srgbClr val="FF0000"/>
                </a:solidFill>
                <a:latin typeface="CourierNewPSMT"/>
              </a:rPr>
              <a:t>IPhone</a:t>
            </a:r>
            <a:r>
              <a:rPr lang="en-US" altLang="ja-JP" sz="1800" b="0" i="0" u="none" strike="noStrike" baseline="0" dirty="0">
                <a:solidFill>
                  <a:srgbClr val="FF0000"/>
                </a:solidFill>
                <a:latin typeface="CourierNewPSMT"/>
              </a:rPr>
              <a:t> </a:t>
            </a:r>
            <a:r>
              <a:rPr lang="en-US" altLang="ja-JP" sz="1800" b="0" i="0" u="none" strike="noStrike" baseline="0" dirty="0" err="1">
                <a:solidFill>
                  <a:srgbClr val="FF0000"/>
                </a:solidFill>
                <a:latin typeface="CourierNewPSMT"/>
              </a:rPr>
              <a:t>myPhone</a:t>
            </a:r>
            <a:r>
              <a:rPr lang="en-US" altLang="ja-JP" sz="1800" b="0" i="0" u="none" strike="noStrike" baseline="0" dirty="0">
                <a:solidFill>
                  <a:srgbClr val="FF0000"/>
                </a:solidFill>
                <a:latin typeface="CourierNewPSMT"/>
              </a:rPr>
              <a:t>;</a:t>
            </a:r>
          </a:p>
          <a:p>
            <a:pPr algn="l"/>
            <a:r>
              <a:rPr lang="en-US" altLang="ja-JP" sz="1800" b="1" i="0" u="none" strike="noStrike" baseline="0" dirty="0">
                <a:solidFill>
                  <a:srgbClr val="00B0F0"/>
                </a:solidFill>
                <a:latin typeface="CourierNewPSMT"/>
              </a:rPr>
              <a:t>public </a:t>
            </a:r>
            <a:r>
              <a:rPr lang="en-US" altLang="ja-JP" sz="1800" b="1" i="0" u="none" strike="noStrike" baseline="0" dirty="0" err="1">
                <a:solidFill>
                  <a:srgbClr val="00B0F0"/>
                </a:solidFill>
                <a:latin typeface="CourierNewPSMT"/>
              </a:rPr>
              <a:t>SmartPhone</a:t>
            </a:r>
            <a:r>
              <a:rPr lang="en-US" altLang="ja-JP" sz="1800" b="1" i="0" u="none" strike="noStrike" baseline="0" dirty="0">
                <a:solidFill>
                  <a:srgbClr val="00B0F0"/>
                </a:solidFill>
                <a:latin typeface="CourierNewPSMT"/>
              </a:rPr>
              <a:t>( </a:t>
            </a:r>
            <a:r>
              <a:rPr lang="en-US" altLang="ja-JP" sz="1800" b="1" i="0" u="none" strike="noStrike" baseline="0" dirty="0" err="1">
                <a:solidFill>
                  <a:srgbClr val="00B0F0"/>
                </a:solidFill>
                <a:latin typeface="CourierNewPSMT"/>
              </a:rPr>
              <a:t>ICamera</a:t>
            </a:r>
            <a:r>
              <a:rPr lang="en-US" altLang="ja-JP" sz="1800" b="1" i="0" u="none" strike="noStrike" baseline="0" dirty="0">
                <a:solidFill>
                  <a:srgbClr val="00B0F0"/>
                </a:solidFill>
                <a:latin typeface="CourierNewPSMT"/>
              </a:rPr>
              <a:t> </a:t>
            </a:r>
            <a:r>
              <a:rPr lang="en-US" altLang="ja-JP" sz="1800" b="1" i="0" u="none" strike="noStrike" baseline="0" dirty="0" err="1">
                <a:solidFill>
                  <a:srgbClr val="00B0F0"/>
                </a:solidFill>
                <a:latin typeface="CourierNewPSMT"/>
              </a:rPr>
              <a:t>aCamera</a:t>
            </a:r>
            <a:r>
              <a:rPr lang="en-US" altLang="ja-JP" sz="1800" b="1" i="0" u="none" strike="noStrike" baseline="0" dirty="0">
                <a:solidFill>
                  <a:srgbClr val="00B0F0"/>
                </a:solidFill>
                <a:latin typeface="CourierNewPSMT"/>
              </a:rPr>
              <a:t>, </a:t>
            </a:r>
            <a:r>
              <a:rPr lang="en-US" altLang="ja-JP" sz="1800" b="1" i="0" u="none" strike="noStrike" baseline="0" dirty="0" err="1">
                <a:solidFill>
                  <a:srgbClr val="00B0F0"/>
                </a:solidFill>
                <a:latin typeface="CourierNewPSMT"/>
              </a:rPr>
              <a:t>IPhone</a:t>
            </a:r>
            <a:endParaRPr lang="en-US" altLang="ja-JP" sz="1800" b="1" i="0" u="none" strike="noStrike" baseline="0" dirty="0">
              <a:solidFill>
                <a:srgbClr val="00B0F0"/>
              </a:solidFill>
              <a:latin typeface="CourierNewPSMT"/>
            </a:endParaRPr>
          </a:p>
          <a:p>
            <a:pPr lvl="5"/>
            <a:r>
              <a:rPr lang="en-US" altLang="ja-JP" b="0" i="0" u="none" strike="noStrike" baseline="0" dirty="0" err="1">
                <a:latin typeface="CourierNewPSMT"/>
              </a:rPr>
              <a:t>aPhone</a:t>
            </a:r>
            <a:r>
              <a:rPr lang="en-US" altLang="ja-JP" b="0" i="0" u="none" strike="noStrike" baseline="0" dirty="0">
                <a:latin typeface="CourierNewPSMT"/>
              </a:rPr>
              <a:t> ) {</a:t>
            </a:r>
          </a:p>
          <a:p>
            <a:pPr lvl="5"/>
            <a:r>
              <a:rPr lang="en-US" altLang="ja-JP" b="0" i="0" u="none" strike="noStrike" baseline="0" dirty="0" err="1">
                <a:latin typeface="CourierNewPSMT"/>
              </a:rPr>
              <a:t>this.myCamera</a:t>
            </a:r>
            <a:r>
              <a:rPr lang="en-US" altLang="ja-JP" b="0" i="0" u="none" strike="noStrike" baseline="0" dirty="0">
                <a:latin typeface="CourierNewPSMT"/>
              </a:rPr>
              <a:t> = </a:t>
            </a:r>
            <a:r>
              <a:rPr lang="en-US" altLang="ja-JP" b="0" i="0" u="none" strike="noStrike" baseline="0" dirty="0" err="1">
                <a:latin typeface="CourierNewPSMT"/>
              </a:rPr>
              <a:t>aCamera</a:t>
            </a:r>
            <a:r>
              <a:rPr lang="en-US" altLang="ja-JP" b="0" i="0" u="none" strike="noStrike" baseline="0" dirty="0">
                <a:latin typeface="CourierNewPSMT"/>
              </a:rPr>
              <a:t>;</a:t>
            </a:r>
          </a:p>
          <a:p>
            <a:pPr lvl="5"/>
            <a:r>
              <a:rPr lang="en-US" altLang="ja-JP" b="0" i="0" u="none" strike="noStrike" baseline="0" dirty="0" err="1">
                <a:latin typeface="CourierNewPSMT"/>
              </a:rPr>
              <a:t>this.myPhone</a:t>
            </a:r>
            <a:r>
              <a:rPr lang="en-US" altLang="ja-JP" b="0" i="0" u="none" strike="noStrike" baseline="0" dirty="0">
                <a:latin typeface="CourierNewPSMT"/>
              </a:rPr>
              <a:t> = </a:t>
            </a:r>
            <a:r>
              <a:rPr lang="en-US" altLang="ja-JP" b="0" i="0" u="none" strike="noStrike" baseline="0" dirty="0" err="1">
                <a:latin typeface="CourierNewPSMT"/>
              </a:rPr>
              <a:t>aPhone</a:t>
            </a:r>
            <a:r>
              <a:rPr lang="en-US" altLang="ja-JP" b="0" i="0" u="none" strike="noStrike" baseline="0" dirty="0">
                <a:latin typeface="CourierNewPSMT"/>
              </a:rPr>
              <a:t>;</a:t>
            </a:r>
          </a:p>
          <a:p>
            <a:pPr lvl="5"/>
            <a:r>
              <a:rPr lang="en-US" altLang="ja-JP" b="0" i="0" u="none" strike="noStrike" baseline="0" dirty="0">
                <a:latin typeface="CourierNewPSMT"/>
              </a:rPr>
              <a:t>}</a:t>
            </a:r>
          </a:p>
          <a:p>
            <a:pPr algn="l"/>
            <a:r>
              <a:rPr lang="en-US" altLang="ja-JP" sz="1800" b="1" i="0" u="none" strike="noStrike" baseline="0" dirty="0">
                <a:solidFill>
                  <a:srgbClr val="00B050"/>
                </a:solidFill>
                <a:latin typeface="CourierNewPSMT"/>
              </a:rPr>
              <a:t>public void </a:t>
            </a:r>
            <a:r>
              <a:rPr lang="en-US" altLang="ja-JP" sz="1800" b="1" i="0" u="none" strike="noStrike" baseline="0" dirty="0" err="1">
                <a:solidFill>
                  <a:srgbClr val="00B050"/>
                </a:solidFill>
                <a:latin typeface="CourierNewPSMT"/>
              </a:rPr>
              <a:t>useCamera</a:t>
            </a:r>
            <a:r>
              <a:rPr lang="en-US" altLang="ja-JP" sz="1800" b="1" i="0" u="none" strike="noStrike" baseline="0" dirty="0">
                <a:solidFill>
                  <a:srgbClr val="00B050"/>
                </a:solidFill>
                <a:latin typeface="CourierNewPSMT"/>
              </a:rPr>
              <a:t>() {</a:t>
            </a:r>
          </a:p>
          <a:p>
            <a:pPr algn="l"/>
            <a:r>
              <a:rPr lang="en-US" altLang="ja-JP" sz="1800" b="1" i="0" u="none" strike="noStrike" baseline="0" dirty="0">
                <a:solidFill>
                  <a:srgbClr val="00B050"/>
                </a:solidFill>
                <a:latin typeface="CourierNewPSMT"/>
              </a:rPr>
              <a:t>return </a:t>
            </a:r>
            <a:r>
              <a:rPr lang="en-US" altLang="ja-JP" sz="1800" b="1" i="0" u="none" strike="noStrike" baseline="0" dirty="0" err="1">
                <a:solidFill>
                  <a:srgbClr val="00B050"/>
                </a:solidFill>
                <a:latin typeface="CourierNewPSMT"/>
              </a:rPr>
              <a:t>this.myCamera.takePhoto</a:t>
            </a:r>
            <a:r>
              <a:rPr lang="en-US" altLang="ja-JP" sz="1800" b="1" i="0" u="none" strike="noStrike" baseline="0" dirty="0">
                <a:solidFill>
                  <a:srgbClr val="00B050"/>
                </a:solidFill>
                <a:latin typeface="CourierNewPSMT"/>
              </a:rPr>
              <a:t>();</a:t>
            </a:r>
          </a:p>
          <a:p>
            <a:pPr algn="l"/>
            <a:r>
              <a:rPr lang="en-US" altLang="ja-JP" sz="1800" b="0" i="0" u="none" strike="noStrike" baseline="0" dirty="0">
                <a:latin typeface="CourierNewPSMT"/>
              </a:rPr>
              <a:t>}</a:t>
            </a:r>
          </a:p>
          <a:p>
            <a:pPr algn="l"/>
            <a:r>
              <a:rPr lang="en-US" altLang="ja-JP" sz="1800" b="1" i="0" u="none" strike="noStrike" baseline="0" dirty="0">
                <a:solidFill>
                  <a:srgbClr val="00B0F0"/>
                </a:solidFill>
                <a:latin typeface="CourierNewPSMT"/>
              </a:rPr>
              <a:t>public void </a:t>
            </a:r>
            <a:r>
              <a:rPr lang="en-US" altLang="ja-JP" sz="1800" b="1" i="0" u="none" strike="noStrike" baseline="0" dirty="0" err="1">
                <a:solidFill>
                  <a:srgbClr val="00B0F0"/>
                </a:solidFill>
                <a:latin typeface="CourierNewPSMT"/>
              </a:rPr>
              <a:t>usePhone</a:t>
            </a:r>
            <a:r>
              <a:rPr lang="en-US" altLang="ja-JP" sz="1800" b="1" i="0" u="none" strike="noStrike" baseline="0" dirty="0">
                <a:solidFill>
                  <a:srgbClr val="00B0F0"/>
                </a:solidFill>
                <a:latin typeface="CourierNewPSMT"/>
              </a:rPr>
              <a:t>() {</a:t>
            </a:r>
          </a:p>
          <a:p>
            <a:pPr algn="l"/>
            <a:r>
              <a:rPr lang="en-US" altLang="ja-JP" sz="1800" b="1" i="0" u="none" strike="noStrike" baseline="0" dirty="0">
                <a:solidFill>
                  <a:srgbClr val="00B0F0"/>
                </a:solidFill>
                <a:latin typeface="CourierNewPSMT"/>
              </a:rPr>
              <a:t>return </a:t>
            </a:r>
            <a:r>
              <a:rPr lang="en-US" altLang="ja-JP" sz="1800" b="1" i="0" u="none" strike="noStrike" baseline="0" dirty="0" err="1">
                <a:solidFill>
                  <a:srgbClr val="00B0F0"/>
                </a:solidFill>
                <a:latin typeface="CourierNewPSMT"/>
              </a:rPr>
              <a:t>this.myPhone.makePhoneCall</a:t>
            </a:r>
            <a:r>
              <a:rPr lang="en-US" altLang="ja-JP" sz="1800" b="1" i="0" u="none" strike="noStrike" baseline="0" dirty="0">
                <a:solidFill>
                  <a:srgbClr val="00B0F0"/>
                </a:solidFill>
                <a:latin typeface="CourierNewPSMT"/>
              </a:rPr>
              <a:t>();</a:t>
            </a:r>
          </a:p>
          <a:p>
            <a:pPr algn="l"/>
            <a:r>
              <a:rPr lang="en-US" altLang="ja-JP" sz="1800" b="1" i="0" u="none" strike="noStrike" baseline="0" dirty="0">
                <a:solidFill>
                  <a:srgbClr val="00B0F0"/>
                </a:solidFill>
                <a:latin typeface="CourierNewPSMT"/>
              </a:rPr>
              <a:t>}</a:t>
            </a:r>
          </a:p>
          <a:p>
            <a:pPr algn="l"/>
            <a:r>
              <a:rPr lang="en-US" altLang="ja-JP" sz="1800" b="0" i="0" u="none" strike="noStrike" baseline="0" dirty="0">
                <a:latin typeface="CourierNewPSMT"/>
              </a:rPr>
              <a:t>}</a:t>
            </a:r>
            <a:endParaRPr lang="ja-JP" altLang="en-US" sz="1600" dirty="0"/>
          </a:p>
        </p:txBody>
      </p:sp>
    </p:spTree>
    <p:extLst>
      <p:ext uri="{BB962C8B-B14F-4D97-AF65-F5344CB8AC3E}">
        <p14:creationId xmlns:p14="http://schemas.microsoft.com/office/powerpoint/2010/main" val="608477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altLang="ja-JP" sz="4800" b="1" dirty="0">
                <a:latin typeface="Times New Roman" pitchFamily="18" charset="0"/>
                <a:cs typeface="Times New Roman" pitchFamily="18" charset="0"/>
              </a:rPr>
              <a:t>Example: Smartphone System</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27</a:t>
            </a:fld>
            <a:endParaRPr lang="en-US" dirty="0">
              <a:solidFill>
                <a:schemeClr val="tx1"/>
              </a:solidFill>
            </a:endParaRPr>
          </a:p>
        </p:txBody>
      </p:sp>
      <p:sp>
        <p:nvSpPr>
          <p:cNvPr id="10" name="TextBox 9">
            <a:extLst>
              <a:ext uri="{FF2B5EF4-FFF2-40B4-BE49-F238E27FC236}">
                <a16:creationId xmlns:a16="http://schemas.microsoft.com/office/drawing/2014/main" id="{B2B559EF-956A-245F-6F31-ED3E3EB91167}"/>
              </a:ext>
            </a:extLst>
          </p:cNvPr>
          <p:cNvSpPr txBox="1"/>
          <p:nvPr/>
        </p:nvSpPr>
        <p:spPr>
          <a:xfrm>
            <a:off x="8860" y="1240465"/>
            <a:ext cx="9058940" cy="5324535"/>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Redesigned SmartPhone System</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SmartPhone aggregates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Phone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Camera</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classes</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Constructor</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takes IPhone and ICamera objects as parameters</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SmartPhone forwards responsibilities to these objects</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Who creates the Phone/Camera objects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separate responsibility</a:t>
            </a:r>
            <a:endParaRPr lang="en-US" altLang="ja-JP" sz="2000" dirty="0">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Benefits of Redesign</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Modular design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phone/camera can be swapped without changing SmartPhone code</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cohesion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Phone and Camera have clear, independent functionality</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Flexibility</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supports future upgrades (e.g., new camera type)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Trade-off</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Increased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coupling</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SmartPhone depends on IPhone and ICamera interfaces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of Separation of Concerns</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Generalization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define IPhone and ICamera interfaces</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Abstraction &amp; Encapsulation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implement separate Phone and Camera classes</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Decomposition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split smartphone into distinct, reusable parts</a:t>
            </a:r>
          </a:p>
        </p:txBody>
      </p:sp>
    </p:spTree>
    <p:extLst>
      <p:ext uri="{BB962C8B-B14F-4D97-AF65-F5344CB8AC3E}">
        <p14:creationId xmlns:p14="http://schemas.microsoft.com/office/powerpoint/2010/main" val="34145420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altLang="ja-JP" sz="4800" b="1" dirty="0">
                <a:latin typeface="Times New Roman" pitchFamily="18" charset="0"/>
                <a:cs typeface="Times New Roman" pitchFamily="18" charset="0"/>
              </a:rPr>
              <a:t>Example: Smartphone System</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28</a:t>
            </a:fld>
            <a:endParaRPr lang="en-US" dirty="0">
              <a:solidFill>
                <a:schemeClr val="tx1"/>
              </a:solidFill>
            </a:endParaRPr>
          </a:p>
        </p:txBody>
      </p:sp>
      <p:sp>
        <p:nvSpPr>
          <p:cNvPr id="6" name="TextBox 5">
            <a:extLst>
              <a:ext uri="{FF2B5EF4-FFF2-40B4-BE49-F238E27FC236}">
                <a16:creationId xmlns:a16="http://schemas.microsoft.com/office/drawing/2014/main" id="{13C23E5F-CD5B-CCB6-0D2F-49B4EAD58BD2}"/>
              </a:ext>
            </a:extLst>
          </p:cNvPr>
          <p:cNvSpPr txBox="1"/>
          <p:nvPr/>
        </p:nvSpPr>
        <p:spPr>
          <a:xfrm>
            <a:off x="190500" y="1371600"/>
            <a:ext cx="8763000" cy="4524315"/>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SmartPhone Class Redesign</a:t>
            </a:r>
            <a:endParaRPr kumimoji="0" lang="ja-JP" altLang="ja-JP"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Wingdings" panose="05000000000000000000" pitchFamily="2" charset="2"/>
              <a:buChar char="Ø"/>
            </a:pPr>
            <a:r>
              <a:rPr kumimoji="0" lang="ja-JP" altLang="ja-JP"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Constructor</a:t>
            </a:r>
            <a:r>
              <a:rPr lang="ja-JP" altLang="ja-JP" dirty="0">
                <a:latin typeface="Times New Roman" panose="02020603050405020304" pitchFamily="18" charset="0"/>
                <a:cs typeface="Times New Roman" panose="02020603050405020304" pitchFamily="18" charset="0"/>
              </a:rPr>
              <a:t>Integrates </a:t>
            </a:r>
            <a:r>
              <a:rPr lang="ja-JP" altLang="ja-JP" b="1" dirty="0">
                <a:latin typeface="Times New Roman" panose="02020603050405020304" pitchFamily="18" charset="0"/>
                <a:cs typeface="Times New Roman" panose="02020603050405020304" pitchFamily="18" charset="0"/>
              </a:rPr>
              <a:t>camera</a:t>
            </a:r>
            <a:r>
              <a:rPr lang="ja-JP" altLang="ja-JP" dirty="0">
                <a:latin typeface="Times New Roman" panose="02020603050405020304" pitchFamily="18" charset="0"/>
                <a:cs typeface="Times New Roman" panose="02020603050405020304" pitchFamily="18" charset="0"/>
              </a:rPr>
              <a:t> and </a:t>
            </a:r>
            <a:r>
              <a:rPr lang="ja-JP" altLang="ja-JP" b="1" dirty="0">
                <a:latin typeface="Times New Roman" panose="02020603050405020304" pitchFamily="18" charset="0"/>
                <a:cs typeface="Times New Roman" panose="02020603050405020304" pitchFamily="18" charset="0"/>
              </a:rPr>
              <a:t>phone</a:t>
            </a:r>
            <a:r>
              <a:rPr lang="ja-JP" altLang="ja-JP" dirty="0">
                <a:latin typeface="Times New Roman" panose="02020603050405020304" pitchFamily="18" charset="0"/>
                <a:cs typeface="Times New Roman" panose="02020603050405020304" pitchFamily="18" charset="0"/>
              </a:rPr>
              <a:t> functionalities.</a:t>
            </a:r>
          </a:p>
          <a:p>
            <a:pPr marL="742950" lvl="1" indent="-285750" eaLnBrk="0" fontAlgn="base" hangingPunct="0">
              <a:spcBef>
                <a:spcPct val="0"/>
              </a:spcBef>
              <a:spcAft>
                <a:spcPct val="0"/>
              </a:spcAft>
              <a:buFont typeface="Wingdings" panose="05000000000000000000" pitchFamily="2" charset="2"/>
              <a:buChar char="Ø"/>
            </a:pPr>
            <a:r>
              <a:rPr lang="ja-JP" altLang="ja-JP" dirty="0">
                <a:latin typeface="Times New Roman" panose="02020603050405020304" pitchFamily="18" charset="0"/>
                <a:cs typeface="Times New Roman" panose="02020603050405020304" pitchFamily="18" charset="0"/>
              </a:rPr>
              <a:t>Keeps </a:t>
            </a:r>
            <a:r>
              <a:rPr lang="ja-JP" altLang="ja-JP" b="1" dirty="0">
                <a:latin typeface="Times New Roman" panose="02020603050405020304" pitchFamily="18" charset="0"/>
                <a:cs typeface="Times New Roman" panose="02020603050405020304" pitchFamily="18" charset="0"/>
              </a:rPr>
              <a:t>Camera</a:t>
            </a:r>
            <a:r>
              <a:rPr lang="ja-JP" altLang="ja-JP" dirty="0">
                <a:latin typeface="Times New Roman" panose="02020603050405020304" pitchFamily="18" charset="0"/>
                <a:cs typeface="Times New Roman" panose="02020603050405020304" pitchFamily="18" charset="0"/>
              </a:rPr>
              <a:t> and </a:t>
            </a:r>
            <a:r>
              <a:rPr lang="ja-JP" altLang="ja-JP" b="1" dirty="0">
                <a:latin typeface="Times New Roman" panose="02020603050405020304" pitchFamily="18" charset="0"/>
                <a:cs typeface="Times New Roman" panose="02020603050405020304" pitchFamily="18" charset="0"/>
              </a:rPr>
              <a:t>Phone</a:t>
            </a:r>
            <a:r>
              <a:rPr lang="ja-JP" altLang="ja-JP" dirty="0">
                <a:latin typeface="Times New Roman" panose="02020603050405020304" pitchFamily="18" charset="0"/>
                <a:cs typeface="Times New Roman" panose="02020603050405020304" pitchFamily="18" charset="0"/>
              </a:rPr>
              <a:t> classes separated (hidden from each other).</a:t>
            </a:r>
          </a:p>
          <a:p>
            <a:pPr marL="742950" lvl="1" indent="-285750" eaLnBrk="0" fontAlgn="base" hangingPunct="0">
              <a:spcBef>
                <a:spcPct val="0"/>
              </a:spcBef>
              <a:spcAft>
                <a:spcPct val="0"/>
              </a:spcAft>
              <a:buFont typeface="Wingdings" panose="05000000000000000000" pitchFamily="2" charset="2"/>
              <a:buChar char="Ø"/>
            </a:pPr>
            <a:r>
              <a:rPr lang="ja-JP" altLang="ja-JP" dirty="0">
                <a:latin typeface="Times New Roman" panose="02020603050405020304" pitchFamily="18" charset="0"/>
                <a:cs typeface="Times New Roman" panose="02020603050405020304" pitchFamily="18" charset="0"/>
              </a:rPr>
              <a:t>Both are aggregated under the </a:t>
            </a:r>
            <a:r>
              <a:rPr lang="ja-JP" altLang="ja-JP" b="1" dirty="0">
                <a:latin typeface="Times New Roman" panose="02020603050405020304" pitchFamily="18" charset="0"/>
                <a:cs typeface="Times New Roman" panose="02020603050405020304" pitchFamily="18" charset="0"/>
              </a:rPr>
              <a:t>SmartPhone</a:t>
            </a:r>
            <a:r>
              <a:rPr lang="ja-JP" altLang="ja-JP" dirty="0">
                <a:latin typeface="Times New Roman" panose="02020603050405020304" pitchFamily="18" charset="0"/>
                <a:cs typeface="Times New Roman" panose="02020603050405020304" pitchFamily="18" charset="0"/>
              </a:rPr>
              <a:t> class.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Design</a:t>
            </a:r>
            <a:endParaRPr kumimoji="0" lang="ja-JP" altLang="ja-JP"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Wingdings" panose="05000000000000000000" pitchFamily="2" charset="2"/>
              <a:buChar char="Ø"/>
            </a:pPr>
            <a:r>
              <a:rPr kumimoji="0" lang="ja-JP" altLang="ja-JP"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SmartPhone constructor accepts a </a:t>
            </a:r>
            <a:r>
              <a:rPr kumimoji="0" lang="ja-JP" altLang="ja-JP"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Camera</a:t>
            </a:r>
            <a:r>
              <a:rPr kumimoji="0" lang="ja-JP" altLang="ja-JP"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 </a:t>
            </a:r>
            <a:r>
              <a:rPr kumimoji="0" lang="ja-JP" altLang="ja-JP"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Phone</a:t>
            </a:r>
            <a:r>
              <a:rPr kumimoji="0" lang="ja-JP" altLang="ja-JP"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parameters.</a:t>
            </a:r>
          </a:p>
          <a:p>
            <a:pPr marL="742950" lvl="1" indent="-285750" eaLnBrk="0" fontAlgn="base" hangingPunct="0">
              <a:spcBef>
                <a:spcPct val="0"/>
              </a:spcBef>
              <a:spcAft>
                <a:spcPct val="0"/>
              </a:spcAft>
              <a:buFont typeface="Wingdings" panose="05000000000000000000" pitchFamily="2" charset="2"/>
              <a:buChar char="Ø"/>
            </a:pPr>
            <a:r>
              <a:rPr kumimoji="0" lang="ja-JP" altLang="ja-JP"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New SmartPhone instances can be created by passing in objects implementing </a:t>
            </a:r>
            <a:r>
              <a:rPr kumimoji="0" lang="ja-JP" altLang="ja-JP"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ICamera</a:t>
            </a:r>
            <a:r>
              <a:rPr kumimoji="0" lang="ja-JP" altLang="ja-JP"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ja-JP" altLang="ja-JP"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IPhone</a:t>
            </a:r>
            <a:r>
              <a:rPr kumimoji="0" lang="ja-JP" altLang="ja-JP"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interfaces.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Responsibility Separation</a:t>
            </a:r>
            <a:endParaRPr kumimoji="0" lang="ja-JP" altLang="ja-JP"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Wingdings" panose="05000000000000000000" pitchFamily="2" charset="2"/>
              <a:buChar char="Ø"/>
            </a:pPr>
            <a:r>
              <a:rPr kumimoji="0" lang="ja-JP" altLang="ja-JP"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Creation of appropriate </a:t>
            </a:r>
            <a:r>
              <a:rPr kumimoji="0" lang="ja-JP" altLang="ja-JP"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Camera</a:t>
            </a:r>
            <a:r>
              <a:rPr kumimoji="0" lang="ja-JP" altLang="ja-JP"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ja-JP" altLang="ja-JP"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Phone</a:t>
            </a:r>
            <a:r>
              <a:rPr kumimoji="0" lang="ja-JP" altLang="ja-JP"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objects is handled outside the SmartPhone class.</a:t>
            </a:r>
          </a:p>
          <a:p>
            <a:pPr marL="742950" lvl="1" indent="-285750" eaLnBrk="0" fontAlgn="base" hangingPunct="0">
              <a:spcBef>
                <a:spcPct val="0"/>
              </a:spcBef>
              <a:spcAft>
                <a:spcPct val="0"/>
              </a:spcAft>
              <a:buFont typeface="Wingdings" panose="05000000000000000000" pitchFamily="2" charset="2"/>
              <a:buChar char="Ø"/>
            </a:pPr>
            <a:r>
              <a:rPr kumimoji="0" lang="ja-JP" altLang="ja-JP"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SmartPhone does not need to know </a:t>
            </a:r>
            <a:r>
              <a:rPr kumimoji="0" lang="ja-JP" altLang="ja-JP"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a:t>
            </a:r>
            <a:r>
              <a:rPr kumimoji="0" lang="ja-JP" altLang="ja-JP"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these objects are created.</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Method Delegation</a:t>
            </a:r>
            <a:endParaRPr kumimoji="0" lang="ja-JP" altLang="ja-JP"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Wingdings" panose="05000000000000000000" pitchFamily="2" charset="2"/>
              <a:buChar char="Ø"/>
            </a:pPr>
            <a:r>
              <a:rPr kumimoji="0" lang="ja-JP" altLang="ja-JP"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SmartPhone methods </a:t>
            </a:r>
            <a:r>
              <a:rPr kumimoji="0" lang="ja-JP" altLang="ja-JP"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forward responsibilities</a:t>
            </a:r>
            <a:r>
              <a:rPr kumimoji="0" lang="ja-JP" altLang="ja-JP"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the aggregated camera and phone objects.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ja-JP" altLang="ja-JP"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81967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altLang="ja-JP" sz="4800" b="1" dirty="0">
                <a:latin typeface="Times New Roman" pitchFamily="18" charset="0"/>
                <a:cs typeface="Times New Roman" pitchFamily="18" charset="0"/>
              </a:rPr>
              <a:t>Example: Smartphone System</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29</a:t>
            </a:fld>
            <a:endParaRPr lang="en-US" dirty="0">
              <a:solidFill>
                <a:schemeClr val="tx1"/>
              </a:solidFill>
            </a:endParaRPr>
          </a:p>
        </p:txBody>
      </p:sp>
      <p:sp>
        <p:nvSpPr>
          <p:cNvPr id="10" name="TextBox 9">
            <a:extLst>
              <a:ext uri="{FF2B5EF4-FFF2-40B4-BE49-F238E27FC236}">
                <a16:creationId xmlns:a16="http://schemas.microsoft.com/office/drawing/2014/main" id="{B2B559EF-956A-245F-6F31-ED3E3EB91167}"/>
              </a:ext>
            </a:extLst>
          </p:cNvPr>
          <p:cNvSpPr txBox="1"/>
          <p:nvPr/>
        </p:nvSpPr>
        <p:spPr>
          <a:xfrm>
            <a:off x="0" y="1414098"/>
            <a:ext cx="9067800" cy="4708981"/>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Modular Design Benefits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Camera or Phone classes can be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swapped</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without modifying SmartPhone code.</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Only the instantiation of SmartPhone and its parts needs to change.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Cohesion &amp; Coupling</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SmartPhone class is now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more cohesive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However, coupling increases since SmartPhone depends on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Camera</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Phone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interfaces (indirect dependency).</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Separation of Concerns Applied</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Generalization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Separate notions of Camera and Phone via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interfaces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Abstraction &amp; Encapsulation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Define first-gen Camera and traditional Phone as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implementing classes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Decomposition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Break down SmartPhone into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constituent parts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(camera + phone) separated from the whole.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3878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070" y="28353"/>
            <a:ext cx="9448800" cy="990600"/>
          </a:xfrm>
        </p:spPr>
        <p:style>
          <a:lnRef idx="2">
            <a:schemeClr val="accent6"/>
          </a:lnRef>
          <a:fillRef idx="1">
            <a:schemeClr val="lt1"/>
          </a:fillRef>
          <a:effectRef idx="0">
            <a:schemeClr val="accent6"/>
          </a:effectRef>
          <a:fontRef idx="minor">
            <a:schemeClr val="dk1"/>
          </a:fontRef>
        </p:style>
        <p:txBody>
          <a:bodyPr>
            <a:normAutofit fontScale="90000"/>
          </a:bodyPr>
          <a:lstStyle/>
          <a:p>
            <a:r>
              <a:rPr lang="en-US" altLang="ja-JP" sz="4800" b="1" dirty="0">
                <a:latin typeface="Times New Roman" pitchFamily="18" charset="0"/>
                <a:cs typeface="Times New Roman" pitchFamily="18" charset="0"/>
              </a:rPr>
              <a:t>Information Hiding in Software Design</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30</a:t>
            </a:fld>
            <a:endParaRPr lang="en-US" dirty="0">
              <a:solidFill>
                <a:schemeClr val="tx1"/>
              </a:solidFill>
            </a:endParaRPr>
          </a:p>
        </p:txBody>
      </p:sp>
      <p:sp>
        <p:nvSpPr>
          <p:cNvPr id="10" name="TextBox 9">
            <a:extLst>
              <a:ext uri="{FF2B5EF4-FFF2-40B4-BE49-F238E27FC236}">
                <a16:creationId xmlns:a16="http://schemas.microsoft.com/office/drawing/2014/main" id="{B2B559EF-956A-245F-6F31-ED3E3EB91167}"/>
              </a:ext>
            </a:extLst>
          </p:cNvPr>
          <p:cNvSpPr txBox="1"/>
          <p:nvPr/>
        </p:nvSpPr>
        <p:spPr>
          <a:xfrm>
            <a:off x="-12405" y="1219200"/>
            <a:ext cx="9058940" cy="5940088"/>
          </a:xfrm>
          <a:prstGeom prst="rect">
            <a:avLst/>
          </a:prstGeom>
          <a:noFill/>
        </p:spPr>
        <p:txBody>
          <a:bodyPr wrap="square">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Definition: </a:t>
            </a:r>
            <a:r>
              <a:rPr kumimoji="0" lang="en-US"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Modules only access the information needed to do their job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ja-JP" sz="2000" b="1"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Purpose: </a:t>
            </a:r>
            <a:r>
              <a:rPr kumimoji="0" lang="en-US"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Hide details that may change (algorithms, data representations)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lang="en-US" altLang="ja-JP" sz="2000" b="0" i="0" u="none" strike="noStrike" baseline="0" dirty="0">
                <a:latin typeface="Times New Roman" panose="02020603050405020304" pitchFamily="18" charset="0"/>
                <a:cs typeface="Times New Roman" panose="02020603050405020304" pitchFamily="18" charset="0"/>
              </a:rPr>
              <a:t>Information hiding is commonly associated with sensitive data —the more sensitive the data, the more likely it should have limited access.</a:t>
            </a:r>
            <a:endParaRPr kumimoji="0" lang="en-US"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Assumptions: Exposed via APIs &amp; interfaces</a:t>
            </a:r>
          </a:p>
          <a:p>
            <a:pPr marL="342900" indent="-342900">
              <a:buFont typeface="Wingdings" panose="05000000000000000000" pitchFamily="2" charset="2"/>
              <a:buChar char="Ø"/>
            </a:pPr>
            <a:r>
              <a:rPr lang="en-US" altLang="ja-JP" sz="2000" b="1" dirty="0"/>
              <a:t>Benefits of Information Hiding</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Developers can </a:t>
            </a:r>
            <a:r>
              <a:rPr lang="en-US" altLang="ja-JP" sz="2000" b="1" dirty="0">
                <a:latin typeface="Times New Roman" panose="02020603050405020304" pitchFamily="18" charset="0"/>
                <a:cs typeface="Times New Roman" panose="02020603050405020304" pitchFamily="18" charset="0"/>
              </a:rPr>
              <a:t>work independently</a:t>
            </a:r>
            <a:r>
              <a:rPr lang="en-US" altLang="ja-JP" sz="2000" dirty="0">
                <a:latin typeface="Times New Roman" panose="02020603050405020304" pitchFamily="18" charset="0"/>
                <a:cs typeface="Times New Roman" panose="02020603050405020304" pitchFamily="18" charset="0"/>
              </a:rPr>
              <a:t> on modules</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Reduces dependencies on </a:t>
            </a:r>
            <a:r>
              <a:rPr lang="en-US" altLang="ja-JP" sz="2000" b="1" dirty="0">
                <a:latin typeface="Times New Roman" panose="02020603050405020304" pitchFamily="18" charset="0"/>
                <a:cs typeface="Times New Roman" panose="02020603050405020304" pitchFamily="18" charset="0"/>
              </a:rPr>
              <a:t>implementation details</a:t>
            </a:r>
            <a:endParaRPr lang="en-US" altLang="ja-JP" sz="20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Ø"/>
            </a:pPr>
            <a:r>
              <a:rPr lang="en-US" altLang="ja-JP" sz="2000" b="1" dirty="0">
                <a:latin typeface="Times New Roman" panose="02020603050405020304" pitchFamily="18" charset="0"/>
                <a:cs typeface="Times New Roman" panose="02020603050405020304" pitchFamily="18" charset="0"/>
              </a:rPr>
              <a:t>Flexibility</a:t>
            </a:r>
            <a:r>
              <a:rPr lang="en-US" altLang="ja-JP" sz="2000" dirty="0">
                <a:latin typeface="Times New Roman" panose="02020603050405020304" pitchFamily="18" charset="0"/>
                <a:cs typeface="Times New Roman" panose="02020603050405020304" pitchFamily="18" charset="0"/>
              </a:rPr>
              <a:t>: implementation can change without affecting others</a:t>
            </a:r>
          </a:p>
          <a:p>
            <a:pPr marL="800100" lvl="1" indent="-342900">
              <a:buFont typeface="Wingdings" panose="05000000000000000000" pitchFamily="2" charset="2"/>
              <a:buChar char="Ø"/>
            </a:pPr>
            <a:r>
              <a:rPr lang="en-US" altLang="ja-JP" sz="2000" b="1" dirty="0">
                <a:latin typeface="Times New Roman" panose="02020603050405020304" pitchFamily="18" charset="0"/>
                <a:cs typeface="Times New Roman" panose="02020603050405020304" pitchFamily="18" charset="0"/>
              </a:rPr>
              <a:t>Security</a:t>
            </a:r>
            <a:r>
              <a:rPr lang="en-US" altLang="ja-JP" sz="2000" dirty="0">
                <a:latin typeface="Times New Roman" panose="02020603050405020304" pitchFamily="18" charset="0"/>
                <a:cs typeface="Times New Roman" panose="02020603050405020304" pitchFamily="18" charset="0"/>
              </a:rPr>
              <a:t>: sensitive data protected</a:t>
            </a:r>
          </a:p>
          <a:p>
            <a:pPr marL="800100" lvl="1" indent="-342900">
              <a:buFont typeface="Wingdings" panose="05000000000000000000" pitchFamily="2" charset="2"/>
              <a:buChar char="Ø"/>
            </a:pPr>
            <a:r>
              <a:rPr lang="en-US" altLang="ja-JP" sz="2000" b="1" dirty="0">
                <a:latin typeface="Times New Roman" panose="02020603050405020304" pitchFamily="18" charset="0"/>
                <a:cs typeface="Times New Roman" panose="02020603050405020304" pitchFamily="18" charset="0"/>
              </a:rPr>
              <a:t>Reliability</a:t>
            </a:r>
            <a:r>
              <a:rPr lang="en-US" altLang="ja-JP" sz="2000" dirty="0">
                <a:latin typeface="Times New Roman" panose="02020603050405020304" pitchFamily="18" charset="0"/>
                <a:cs typeface="Times New Roman" panose="02020603050405020304" pitchFamily="18" charset="0"/>
              </a:rPr>
              <a:t>: prevents unwanted changes to critical attributes</a:t>
            </a:r>
            <a:endParaRPr kumimoji="0" lang="en-US"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Relation to Encapsulation</a:t>
            </a:r>
          </a:p>
          <a:p>
            <a:pPr marL="800100" lvl="1" indent="-342900"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Encapsulation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bundles attributes &amp; behaviors into a class</a:t>
            </a:r>
          </a:p>
          <a:p>
            <a:pPr marL="800100" lvl="1" indent="-342900" eaLnBrk="0" fontAlgn="base" hangingPunct="0">
              <a:spcBef>
                <a:spcPct val="0"/>
              </a:spcBef>
              <a:spcAft>
                <a:spcPct val="0"/>
              </a:spcAft>
              <a:buFont typeface="Wingdings" panose="05000000000000000000" pitchFamily="2" charset="2"/>
              <a:buChar char="ü"/>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access via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interfaces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ü"/>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Hides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implementation details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behind method signatures</a:t>
            </a:r>
          </a:p>
          <a:p>
            <a:pPr marL="800100" lvl="1" indent="-342900" eaLnBrk="0" fontAlgn="base" hangingPunct="0">
              <a:spcBef>
                <a:spcPct val="0"/>
              </a:spcBef>
              <a:spcAft>
                <a:spcPct val="0"/>
              </a:spcAft>
              <a:buFont typeface="Wingdings" panose="05000000000000000000" pitchFamily="2" charset="2"/>
              <a:buChar char="ü"/>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Allows internal changes without breaking external expectations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20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pP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E7CC7BF4-8003-EF38-142D-4F660E0CD59D}"/>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spTree>
    <p:extLst>
      <p:ext uri="{BB962C8B-B14F-4D97-AF65-F5344CB8AC3E}">
        <p14:creationId xmlns:p14="http://schemas.microsoft.com/office/powerpoint/2010/main" val="41047517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31</a:t>
            </a:fld>
            <a:endParaRPr lang="en-US" dirty="0">
              <a:solidFill>
                <a:schemeClr val="tx1"/>
              </a:solidFill>
            </a:endParaRPr>
          </a:p>
        </p:txBody>
      </p:sp>
      <p:sp>
        <p:nvSpPr>
          <p:cNvPr id="4" name="Rectangle 1">
            <a:extLst>
              <a:ext uri="{FF2B5EF4-FFF2-40B4-BE49-F238E27FC236}">
                <a16:creationId xmlns:a16="http://schemas.microsoft.com/office/drawing/2014/main" id="{E7CC7BF4-8003-EF38-142D-4F660E0CD59D}"/>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pic>
        <p:nvPicPr>
          <p:cNvPr id="6" name="Picture 5">
            <a:extLst>
              <a:ext uri="{FF2B5EF4-FFF2-40B4-BE49-F238E27FC236}">
                <a16:creationId xmlns:a16="http://schemas.microsoft.com/office/drawing/2014/main" id="{0BCFF599-C8D7-67BA-DF08-D2A2090D99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350" y="0"/>
            <a:ext cx="7504334" cy="6858000"/>
          </a:xfrm>
          <a:prstGeom prst="rect">
            <a:avLst/>
          </a:prstGeom>
        </p:spPr>
      </p:pic>
    </p:spTree>
    <p:extLst>
      <p:ext uri="{BB962C8B-B14F-4D97-AF65-F5344CB8AC3E}">
        <p14:creationId xmlns:p14="http://schemas.microsoft.com/office/powerpoint/2010/main" val="7187643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685800"/>
          </a:xfrm>
        </p:spPr>
        <p:style>
          <a:lnRef idx="2">
            <a:schemeClr val="accent6"/>
          </a:lnRef>
          <a:fillRef idx="1">
            <a:schemeClr val="lt1"/>
          </a:fillRef>
          <a:effectRef idx="0">
            <a:schemeClr val="accent6"/>
          </a:effectRef>
          <a:fontRef idx="minor">
            <a:schemeClr val="dk1"/>
          </a:fontRef>
        </p:style>
        <p:txBody>
          <a:bodyPr>
            <a:noAutofit/>
          </a:bodyPr>
          <a:lstStyle/>
          <a:p>
            <a:r>
              <a:rPr lang="en-US" altLang="ja-JP" sz="4000" b="1" dirty="0">
                <a:latin typeface="Times New Roman" pitchFamily="18" charset="0"/>
                <a:cs typeface="Times New Roman" pitchFamily="18" charset="0"/>
              </a:rPr>
              <a:t>Information Hiding in Software Design</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32</a:t>
            </a:fld>
            <a:endParaRPr lang="en-US" dirty="0">
              <a:solidFill>
                <a:schemeClr val="tx1"/>
              </a:solidFill>
            </a:endParaRPr>
          </a:p>
        </p:txBody>
      </p:sp>
      <p:sp>
        <p:nvSpPr>
          <p:cNvPr id="10" name="TextBox 9">
            <a:extLst>
              <a:ext uri="{FF2B5EF4-FFF2-40B4-BE49-F238E27FC236}">
                <a16:creationId xmlns:a16="http://schemas.microsoft.com/office/drawing/2014/main" id="{B2B559EF-956A-245F-6F31-ED3E3EB91167}"/>
              </a:ext>
            </a:extLst>
          </p:cNvPr>
          <p:cNvSpPr txBox="1"/>
          <p:nvPr/>
        </p:nvSpPr>
        <p:spPr>
          <a:xfrm>
            <a:off x="10633" y="817106"/>
            <a:ext cx="9058940" cy="4401205"/>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Conceals changeable details (e.g., algorithms, data structures) to reduce dependency.</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Assumptions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 hidden—explicitly expressed in APIs and interfaces.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Idea</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Hide what may change → implementation details.</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Reveal what remains stable → assumptions via interfaces.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Benefits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Enables independent module development.</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Promotes modularity and maintainability.</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Relation to Encapsulation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Encapsulation groups attributes and behaviors into classes.</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Interfaces provide controlled access, hiding internal implementations.</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Other modules depend on method signatures, not underlying logic.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E7CC7BF4-8003-EF38-142D-4F660E0CD59D}"/>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spTree>
    <p:extLst>
      <p:ext uri="{BB962C8B-B14F-4D97-AF65-F5344CB8AC3E}">
        <p14:creationId xmlns:p14="http://schemas.microsoft.com/office/powerpoint/2010/main" val="7761764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070" y="28353"/>
            <a:ext cx="9448800" cy="990600"/>
          </a:xfrm>
        </p:spPr>
        <p:style>
          <a:lnRef idx="2">
            <a:schemeClr val="accent6"/>
          </a:lnRef>
          <a:fillRef idx="1">
            <a:schemeClr val="lt1"/>
          </a:fillRef>
          <a:effectRef idx="0">
            <a:schemeClr val="accent6"/>
          </a:effectRef>
          <a:fontRef idx="minor">
            <a:schemeClr val="dk1"/>
          </a:fontRef>
        </p:style>
        <p:txBody>
          <a:bodyPr>
            <a:normAutofit fontScale="90000"/>
          </a:bodyPr>
          <a:lstStyle/>
          <a:p>
            <a:r>
              <a:rPr lang="en-US" altLang="ja-JP" sz="4800" b="1" dirty="0">
                <a:latin typeface="Times New Roman" pitchFamily="18" charset="0"/>
                <a:cs typeface="Times New Roman" pitchFamily="18" charset="0"/>
              </a:rPr>
              <a:t>Information Hiding in Software Design</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33</a:t>
            </a:fld>
            <a:endParaRPr lang="en-US" dirty="0">
              <a:solidFill>
                <a:schemeClr val="tx1"/>
              </a:solidFill>
            </a:endParaRPr>
          </a:p>
        </p:txBody>
      </p:sp>
      <p:sp>
        <p:nvSpPr>
          <p:cNvPr id="10" name="TextBox 9">
            <a:extLst>
              <a:ext uri="{FF2B5EF4-FFF2-40B4-BE49-F238E27FC236}">
                <a16:creationId xmlns:a16="http://schemas.microsoft.com/office/drawing/2014/main" id="{B2B559EF-956A-245F-6F31-ED3E3EB91167}"/>
              </a:ext>
            </a:extLst>
          </p:cNvPr>
          <p:cNvSpPr txBox="1"/>
          <p:nvPr/>
        </p:nvSpPr>
        <p:spPr>
          <a:xfrm>
            <a:off x="8860" y="1018953"/>
            <a:ext cx="9058940" cy="4785926"/>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Encapsulation &amp; Interfaces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Implementation is hidden behind an interface.</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Other classes rely on method signatures, not internal logic.</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Behaviour can change without altering expected outcomes.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Why It Matters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Expectations for a behaviour are fulfilled without exposing </a:t>
            </a:r>
            <a:r>
              <a:rPr kumimoji="0" lang="ja-JP" altLang="ja-JP"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works.</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Enhances flexibility, maintainability, and modularity.</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Hiding Attributes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Critical attributes should not be modified directly by external classes.</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Protects class integrity and prevents unintended side effects.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Access Modifiers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Control visibility of attributes and behaviours.</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Define what subclasses and other classes can access.</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Examples: public, private, protected.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2000" b="0" i="0" u="none" strike="noStrike" cap="none" normalizeH="0" baseline="0" dirty="0">
              <a:ln>
                <a:noFill/>
              </a:ln>
              <a:solidFill>
                <a:schemeClr val="tx1"/>
              </a:solidFill>
              <a:effectLst/>
              <a:latin typeface="Arial" panose="020B0604020202020204" pitchFamily="34" charset="0"/>
            </a:endParaRPr>
          </a:p>
        </p:txBody>
      </p:sp>
      <p:sp>
        <p:nvSpPr>
          <p:cNvPr id="4" name="Rectangle 1">
            <a:extLst>
              <a:ext uri="{FF2B5EF4-FFF2-40B4-BE49-F238E27FC236}">
                <a16:creationId xmlns:a16="http://schemas.microsoft.com/office/drawing/2014/main" id="{E7CC7BF4-8003-EF38-142D-4F660E0CD59D}"/>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spTree>
    <p:extLst>
      <p:ext uri="{BB962C8B-B14F-4D97-AF65-F5344CB8AC3E}">
        <p14:creationId xmlns:p14="http://schemas.microsoft.com/office/powerpoint/2010/main" val="28491029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070" y="28353"/>
            <a:ext cx="9448800" cy="990600"/>
          </a:xfrm>
        </p:spPr>
        <p:style>
          <a:lnRef idx="2">
            <a:schemeClr val="accent6"/>
          </a:lnRef>
          <a:fillRef idx="1">
            <a:schemeClr val="lt1"/>
          </a:fillRef>
          <a:effectRef idx="0">
            <a:schemeClr val="accent6"/>
          </a:effectRef>
          <a:fontRef idx="minor">
            <a:schemeClr val="dk1"/>
          </a:fontRef>
        </p:style>
        <p:txBody>
          <a:bodyPr>
            <a:normAutofit fontScale="90000"/>
          </a:bodyPr>
          <a:lstStyle/>
          <a:p>
            <a:r>
              <a:rPr lang="en-US" altLang="ja-JP" sz="4800" b="1" dirty="0">
                <a:latin typeface="Times New Roman" pitchFamily="18" charset="0"/>
                <a:cs typeface="Times New Roman" pitchFamily="18" charset="0"/>
              </a:rPr>
              <a:t>Attributes &amp; Access Modifiers (Java)</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34</a:t>
            </a:fld>
            <a:endParaRPr lang="en-US" dirty="0">
              <a:solidFill>
                <a:schemeClr val="tx1"/>
              </a:solidFill>
            </a:endParaRPr>
          </a:p>
        </p:txBody>
      </p:sp>
      <p:sp>
        <p:nvSpPr>
          <p:cNvPr id="10" name="TextBox 9">
            <a:extLst>
              <a:ext uri="{FF2B5EF4-FFF2-40B4-BE49-F238E27FC236}">
                <a16:creationId xmlns:a16="http://schemas.microsoft.com/office/drawing/2014/main" id="{B2B559EF-956A-245F-6F31-ED3E3EB91167}"/>
              </a:ext>
            </a:extLst>
          </p:cNvPr>
          <p:cNvSpPr txBox="1"/>
          <p:nvPr/>
        </p:nvSpPr>
        <p:spPr>
          <a:xfrm>
            <a:off x="-31898" y="1031431"/>
            <a:ext cx="9058940" cy="5447645"/>
          </a:xfrm>
          <a:prstGeom prst="rect">
            <a:avLst/>
          </a:prstGeom>
          <a:noFill/>
        </p:spPr>
        <p:txBody>
          <a:bodyPr wrap="square">
            <a:spAutoFit/>
          </a:bodyPr>
          <a:lstStyle/>
          <a:p>
            <a:pPr marL="285750" indent="-285750">
              <a:buFont typeface="Wingdings" panose="05000000000000000000" pitchFamily="2" charset="2"/>
              <a:buChar char="ü"/>
            </a:pPr>
            <a:r>
              <a:rPr lang="en-US" altLang="ja-JP" sz="2000" dirty="0">
                <a:latin typeface="Times New Roman" panose="02020603050405020304" pitchFamily="18" charset="0"/>
                <a:cs typeface="Times New Roman" panose="02020603050405020304" pitchFamily="18" charset="0"/>
              </a:rPr>
              <a:t>Attributes can be </a:t>
            </a:r>
            <a:r>
              <a:rPr lang="en-US" altLang="ja-JP" sz="2000" b="1" dirty="0">
                <a:latin typeface="Times New Roman" panose="02020603050405020304" pitchFamily="18" charset="0"/>
                <a:cs typeface="Times New Roman" panose="02020603050405020304" pitchFamily="18" charset="0"/>
              </a:rPr>
              <a:t>hidden</a:t>
            </a:r>
            <a:r>
              <a:rPr lang="en-US" altLang="ja-JP" sz="2000" dirty="0">
                <a:latin typeface="Times New Roman" panose="02020603050405020304" pitchFamily="18" charset="0"/>
                <a:cs typeface="Times New Roman" panose="02020603050405020304" pitchFamily="18" charset="0"/>
              </a:rPr>
              <a:t> to prevent direct external modification</a:t>
            </a:r>
          </a:p>
          <a:p>
            <a:pPr marL="285750" indent="-285750">
              <a:buFont typeface="Wingdings" panose="05000000000000000000" pitchFamily="2" charset="2"/>
              <a:buChar char="ü"/>
            </a:pPr>
            <a:r>
              <a:rPr lang="en-US" altLang="ja-JP" sz="2000" b="1" dirty="0">
                <a:latin typeface="Times New Roman" panose="02020603050405020304" pitchFamily="18" charset="0"/>
                <a:cs typeface="Times New Roman" panose="02020603050405020304" pitchFamily="18" charset="0"/>
              </a:rPr>
              <a:t>Access levels</a:t>
            </a:r>
            <a:r>
              <a:rPr lang="en-US" altLang="ja-JP" sz="2000" dirty="0">
                <a:latin typeface="Times New Roman" panose="02020603050405020304" pitchFamily="18" charset="0"/>
                <a:cs typeface="Times New Roman" panose="02020603050405020304" pitchFamily="18" charset="0"/>
              </a:rPr>
              <a:t>:</a:t>
            </a:r>
          </a:p>
          <a:p>
            <a:pPr marL="742950" lvl="1" indent="-285750">
              <a:buFont typeface="Wingdings" panose="05000000000000000000" pitchFamily="2" charset="2"/>
              <a:buChar char="Ø"/>
            </a:pPr>
            <a:r>
              <a:rPr lang="en-US" altLang="ja-JP" sz="2000" b="1" dirty="0">
                <a:latin typeface="Times New Roman" panose="02020603050405020304" pitchFamily="18" charset="0"/>
                <a:cs typeface="Times New Roman" panose="02020603050405020304" pitchFamily="18" charset="0"/>
              </a:rPr>
              <a:t>Public</a:t>
            </a:r>
            <a:r>
              <a:rPr lang="en-US" altLang="ja-JP" sz="2000" dirty="0">
                <a:latin typeface="Times New Roman" panose="02020603050405020304" pitchFamily="18" charset="0"/>
                <a:cs typeface="Times New Roman" panose="02020603050405020304" pitchFamily="18" charset="0"/>
              </a:rPr>
              <a:t> – Accessible everywhere</a:t>
            </a:r>
          </a:p>
          <a:p>
            <a:pPr marL="742950" lvl="1" indent="-285750">
              <a:buFont typeface="Wingdings" panose="05000000000000000000" pitchFamily="2" charset="2"/>
              <a:buChar char="Ø"/>
            </a:pPr>
            <a:r>
              <a:rPr lang="en-US" altLang="ja-JP" sz="2000" b="1" dirty="0">
                <a:latin typeface="Times New Roman" panose="02020603050405020304" pitchFamily="18" charset="0"/>
                <a:cs typeface="Times New Roman" panose="02020603050405020304" pitchFamily="18" charset="0"/>
              </a:rPr>
              <a:t>Protected</a:t>
            </a:r>
            <a:r>
              <a:rPr lang="en-US" altLang="ja-JP" sz="2000" dirty="0">
                <a:latin typeface="Times New Roman" panose="02020603050405020304" pitchFamily="18" charset="0"/>
                <a:cs typeface="Times New Roman" panose="02020603050405020304" pitchFamily="18" charset="0"/>
              </a:rPr>
              <a:t> – Accessible within package &amp; subclasses</a:t>
            </a:r>
          </a:p>
          <a:p>
            <a:pPr marL="742950" lvl="1" indent="-285750">
              <a:buFont typeface="Wingdings" panose="05000000000000000000" pitchFamily="2" charset="2"/>
              <a:buChar char="Ø"/>
            </a:pPr>
            <a:r>
              <a:rPr lang="en-US" altLang="ja-JP" sz="2000" b="1" dirty="0">
                <a:latin typeface="Times New Roman" panose="02020603050405020304" pitchFamily="18" charset="0"/>
                <a:cs typeface="Times New Roman" panose="02020603050405020304" pitchFamily="18" charset="0"/>
              </a:rPr>
              <a:t>Default</a:t>
            </a:r>
            <a:r>
              <a:rPr lang="en-US" altLang="ja-JP" sz="2000" dirty="0">
                <a:latin typeface="Times New Roman" panose="02020603050405020304" pitchFamily="18" charset="0"/>
                <a:cs typeface="Times New Roman" panose="02020603050405020304" pitchFamily="18" charset="0"/>
              </a:rPr>
              <a:t> – Accessible within package only</a:t>
            </a:r>
          </a:p>
          <a:p>
            <a:pPr marL="742950" lvl="1" indent="-285750">
              <a:buFont typeface="Wingdings" panose="05000000000000000000" pitchFamily="2" charset="2"/>
              <a:buChar char="Ø"/>
            </a:pPr>
            <a:r>
              <a:rPr lang="en-US" altLang="ja-JP" sz="2000" b="1" dirty="0">
                <a:latin typeface="Times New Roman" panose="02020603050405020304" pitchFamily="18" charset="0"/>
                <a:cs typeface="Times New Roman" panose="02020603050405020304" pitchFamily="18" charset="0"/>
              </a:rPr>
              <a:t>Private</a:t>
            </a:r>
            <a:r>
              <a:rPr lang="en-US" altLang="ja-JP" sz="2000" dirty="0">
                <a:latin typeface="Times New Roman" panose="02020603050405020304" pitchFamily="18" charset="0"/>
                <a:cs typeface="Times New Roman" panose="02020603050405020304" pitchFamily="18" charset="0"/>
              </a:rPr>
              <a:t> – Accessible within the class only</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altLang="ja-JP" sz="2000" b="1" dirty="0">
                <a:latin typeface="Times New Roman" panose="02020603050405020304" pitchFamily="18" charset="0"/>
                <a:cs typeface="Times New Roman" panose="02020603050405020304" pitchFamily="18" charset="0"/>
              </a:rPr>
              <a:t>Public</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Accessible by </a:t>
            </a:r>
            <a:r>
              <a:rPr lang="en-US" altLang="ja-JP" sz="2000" b="1" dirty="0">
                <a:latin typeface="Times New Roman" panose="02020603050405020304" pitchFamily="18" charset="0"/>
                <a:cs typeface="Times New Roman" panose="02020603050405020304" pitchFamily="18" charset="0"/>
              </a:rPr>
              <a:t>any class</a:t>
            </a:r>
            <a:r>
              <a:rPr lang="en-US" altLang="ja-JP" sz="2000" dirty="0">
                <a:latin typeface="Times New Roman" panose="02020603050405020304" pitchFamily="18" charset="0"/>
                <a:cs typeface="Times New Roman" panose="02020603050405020304" pitchFamily="18" charset="0"/>
              </a:rPr>
              <a:t> in the system</a:t>
            </a:r>
          </a:p>
          <a:p>
            <a:pPr marL="800100" lvl="1" indent="-342900">
              <a:buFont typeface="Wingdings" panose="05000000000000000000" pitchFamily="2" charset="2"/>
              <a:buChar char="Ø"/>
            </a:pPr>
            <a:r>
              <a:rPr lang="en-US" altLang="ja-JP" sz="2000" b="1" dirty="0">
                <a:latin typeface="Times New Roman" panose="02020603050405020304" pitchFamily="18" charset="0"/>
                <a:cs typeface="Times New Roman" panose="02020603050405020304" pitchFamily="18" charset="0"/>
              </a:rPr>
              <a:t>Attributes: </a:t>
            </a:r>
            <a:r>
              <a:rPr lang="en-US" altLang="ja-JP" sz="2000" dirty="0">
                <a:latin typeface="Times New Roman" panose="02020603050405020304" pitchFamily="18" charset="0"/>
                <a:cs typeface="Times New Roman" panose="02020603050405020304" pitchFamily="18" charset="0"/>
              </a:rPr>
              <a:t>Can be read/modified by other classes</a:t>
            </a:r>
          </a:p>
          <a:p>
            <a:pPr marL="800100" lvl="1" indent="-342900">
              <a:buFont typeface="Wingdings" panose="05000000000000000000" pitchFamily="2" charset="2"/>
              <a:buChar char="Ø"/>
            </a:pPr>
            <a:r>
              <a:rPr lang="en-US" altLang="ja-JP" sz="2000" b="1" dirty="0">
                <a:latin typeface="Times New Roman" panose="02020603050405020304" pitchFamily="18" charset="0"/>
                <a:cs typeface="Times New Roman" panose="02020603050405020304" pitchFamily="18" charset="0"/>
              </a:rPr>
              <a:t>Methods: </a:t>
            </a:r>
            <a:r>
              <a:rPr lang="en-US" altLang="ja-JP" sz="2000" dirty="0">
                <a:latin typeface="Times New Roman" panose="02020603050405020304" pitchFamily="18" charset="0"/>
                <a:cs typeface="Times New Roman" panose="02020603050405020304" pitchFamily="18" charset="0"/>
              </a:rPr>
              <a:t>Can be </a:t>
            </a:r>
            <a:r>
              <a:rPr lang="en-US" altLang="ja-JP" sz="2000" b="1" dirty="0">
                <a:latin typeface="Times New Roman" panose="02020603050405020304" pitchFamily="18" charset="0"/>
                <a:cs typeface="Times New Roman" panose="02020603050405020304" pitchFamily="18" charset="0"/>
              </a:rPr>
              <a:t>invoked</a:t>
            </a:r>
            <a:r>
              <a:rPr lang="en-US" altLang="ja-JP" sz="2000" dirty="0">
                <a:latin typeface="Times New Roman" panose="02020603050405020304" pitchFamily="18" charset="0"/>
                <a:cs typeface="Times New Roman" panose="02020603050405020304" pitchFamily="18" charset="0"/>
              </a:rPr>
              <a:t> by other classes</a:t>
            </a:r>
          </a:p>
          <a:p>
            <a:pPr marL="800100" lvl="1" indent="-342900">
              <a:buFont typeface="Wingdings" panose="05000000000000000000" pitchFamily="2" charset="2"/>
              <a:buChar char="Ø"/>
            </a:pPr>
            <a:r>
              <a:rPr lang="en-US" altLang="ja-JP" sz="2000" b="1" dirty="0">
                <a:latin typeface="Times New Roman" panose="02020603050405020304" pitchFamily="18" charset="0"/>
                <a:cs typeface="Times New Roman" panose="02020603050405020304" pitchFamily="18" charset="0"/>
              </a:rPr>
              <a:t>Encapsulation still applies</a:t>
            </a:r>
            <a:r>
              <a:rPr lang="en-US" altLang="ja-JP" sz="2000" dirty="0">
                <a:latin typeface="Times New Roman" panose="02020603050405020304" pitchFamily="18" charset="0"/>
                <a:cs typeface="Times New Roman" panose="02020603050405020304" pitchFamily="18" charset="0"/>
              </a:rPr>
              <a:t> → Implementation hidden</a:t>
            </a:r>
          </a:p>
          <a:p>
            <a:pPr marL="285750" indent="-285750">
              <a:buFont typeface="Wingdings" panose="05000000000000000000" pitchFamily="2" charset="2"/>
              <a:buChar char="ü"/>
            </a:pPr>
            <a:r>
              <a:rPr lang="en-US" altLang="ja-JP" b="1" dirty="0">
                <a:latin typeface="Times New Roman" panose="02020603050405020304" pitchFamily="18" charset="0"/>
                <a:cs typeface="Times New Roman" panose="02020603050405020304" pitchFamily="18" charset="0"/>
              </a:rPr>
              <a:t>Protected</a:t>
            </a:r>
          </a:p>
          <a:p>
            <a:pPr marL="742950" lvl="1" indent="-285750">
              <a:buFont typeface="Wingdings" panose="05000000000000000000" pitchFamily="2" charset="2"/>
              <a:buChar char="Ø"/>
            </a:pPr>
            <a:r>
              <a:rPr lang="en-US" altLang="ja-JP" dirty="0">
                <a:latin typeface="Times New Roman" panose="02020603050405020304" pitchFamily="18" charset="0"/>
                <a:cs typeface="Times New Roman" panose="02020603050405020304" pitchFamily="18" charset="0"/>
              </a:rPr>
              <a:t>Accessible by:</a:t>
            </a:r>
          </a:p>
          <a:p>
            <a:pPr marL="1200150" lvl="2" indent="-285750">
              <a:buFont typeface="Wingdings" panose="05000000000000000000" pitchFamily="2" charset="2"/>
              <a:buChar char="Ø"/>
            </a:pPr>
            <a:r>
              <a:rPr lang="en-US" altLang="ja-JP" dirty="0">
                <a:latin typeface="Times New Roman" panose="02020603050405020304" pitchFamily="18" charset="0"/>
                <a:cs typeface="Times New Roman" panose="02020603050405020304" pitchFamily="18" charset="0"/>
              </a:rPr>
              <a:t>The class itself</a:t>
            </a:r>
          </a:p>
          <a:p>
            <a:pPr marL="1200150" lvl="2" indent="-285750">
              <a:buFont typeface="Wingdings" panose="05000000000000000000" pitchFamily="2" charset="2"/>
              <a:buChar char="Ø"/>
            </a:pPr>
            <a:r>
              <a:rPr lang="en-US" altLang="ja-JP" b="1" dirty="0">
                <a:latin typeface="Times New Roman" panose="02020603050405020304" pitchFamily="18" charset="0"/>
                <a:cs typeface="Times New Roman" panose="02020603050405020304" pitchFamily="18" charset="0"/>
              </a:rPr>
              <a:t>Subclasses</a:t>
            </a:r>
            <a:endParaRPr lang="en-US" altLang="ja-JP"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Ø"/>
            </a:pPr>
            <a:r>
              <a:rPr lang="en-US" altLang="ja-JP" b="1" dirty="0">
                <a:latin typeface="Times New Roman" panose="02020603050405020304" pitchFamily="18" charset="0"/>
                <a:cs typeface="Times New Roman" panose="02020603050405020304" pitchFamily="18" charset="0"/>
              </a:rPr>
              <a:t>Same package</a:t>
            </a:r>
            <a:r>
              <a:rPr lang="en-US" altLang="ja-JP" dirty="0">
                <a:latin typeface="Times New Roman" panose="02020603050405020304" pitchFamily="18" charset="0"/>
                <a:cs typeface="Times New Roman" panose="02020603050405020304" pitchFamily="18" charset="0"/>
              </a:rPr>
              <a:t> classes</a:t>
            </a:r>
          </a:p>
          <a:p>
            <a:pPr marL="742950" lvl="1" indent="-285750">
              <a:buFont typeface="Wingdings" panose="05000000000000000000" pitchFamily="2" charset="2"/>
              <a:buChar char="Ø"/>
            </a:pPr>
            <a:r>
              <a:rPr lang="en-US" altLang="ja-JP" dirty="0">
                <a:latin typeface="Times New Roman" panose="02020603050405020304" pitchFamily="18" charset="0"/>
                <a:cs typeface="Times New Roman" panose="02020603050405020304" pitchFamily="18" charset="0"/>
              </a:rPr>
              <a:t>Useful for inheritance and related groups of classes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E7CC7BF4-8003-EF38-142D-4F660E0CD59D}"/>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spTree>
    <p:extLst>
      <p:ext uri="{BB962C8B-B14F-4D97-AF65-F5344CB8AC3E}">
        <p14:creationId xmlns:p14="http://schemas.microsoft.com/office/powerpoint/2010/main" val="39152064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070" y="28353"/>
            <a:ext cx="9448800" cy="990600"/>
          </a:xfrm>
        </p:spPr>
        <p:style>
          <a:lnRef idx="2">
            <a:schemeClr val="accent6"/>
          </a:lnRef>
          <a:fillRef idx="1">
            <a:schemeClr val="lt1"/>
          </a:fillRef>
          <a:effectRef idx="0">
            <a:schemeClr val="accent6"/>
          </a:effectRef>
          <a:fontRef idx="minor">
            <a:schemeClr val="dk1"/>
          </a:fontRef>
        </p:style>
        <p:txBody>
          <a:bodyPr>
            <a:normAutofit fontScale="90000"/>
          </a:bodyPr>
          <a:lstStyle/>
          <a:p>
            <a:r>
              <a:rPr lang="en-US" altLang="ja-JP" sz="4800" b="1" dirty="0">
                <a:latin typeface="Times New Roman" pitchFamily="18" charset="0"/>
                <a:cs typeface="Times New Roman" pitchFamily="18" charset="0"/>
              </a:rPr>
              <a:t>Attributes &amp; Access Modifiers (Java)</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35</a:t>
            </a:fld>
            <a:endParaRPr lang="en-US" dirty="0">
              <a:solidFill>
                <a:schemeClr val="tx1"/>
              </a:solidFill>
            </a:endParaRPr>
          </a:p>
        </p:txBody>
      </p:sp>
      <p:sp>
        <p:nvSpPr>
          <p:cNvPr id="10" name="TextBox 9">
            <a:extLst>
              <a:ext uri="{FF2B5EF4-FFF2-40B4-BE49-F238E27FC236}">
                <a16:creationId xmlns:a16="http://schemas.microsoft.com/office/drawing/2014/main" id="{B2B559EF-956A-245F-6F31-ED3E3EB91167}"/>
              </a:ext>
            </a:extLst>
          </p:cNvPr>
          <p:cNvSpPr txBox="1"/>
          <p:nvPr/>
        </p:nvSpPr>
        <p:spPr>
          <a:xfrm>
            <a:off x="-7088" y="1074509"/>
            <a:ext cx="9058940" cy="4708981"/>
          </a:xfrm>
          <a:prstGeom prst="rect">
            <a:avLst/>
          </a:prstGeom>
          <a:noFill/>
        </p:spPr>
        <p:txBody>
          <a:bodyPr wrap="square">
            <a:spAutoFit/>
          </a:bodyPr>
          <a:lstStyle/>
          <a:p>
            <a:pPr marL="342900" indent="-342900">
              <a:buFont typeface="Wingdings" panose="05000000000000000000" pitchFamily="2" charset="2"/>
              <a:buChar char="ü"/>
            </a:pPr>
            <a:r>
              <a:rPr lang="en-US" altLang="ja-JP" sz="2000" b="1" dirty="0">
                <a:latin typeface="Times New Roman" panose="02020603050405020304" pitchFamily="18" charset="0"/>
                <a:cs typeface="Times New Roman" panose="02020603050405020304" pitchFamily="18" charset="0"/>
              </a:rPr>
              <a:t>Default (No Modifier)</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Also called </a:t>
            </a:r>
            <a:r>
              <a:rPr lang="en-US" altLang="ja-JP" sz="2000" b="1" dirty="0">
                <a:latin typeface="Times New Roman" panose="02020603050405020304" pitchFamily="18" charset="0"/>
                <a:cs typeface="Times New Roman" panose="02020603050405020304" pitchFamily="18" charset="0"/>
              </a:rPr>
              <a:t>package-private</a:t>
            </a:r>
            <a:endParaRPr lang="en-US" altLang="ja-JP" sz="20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Accessible only within the </a:t>
            </a:r>
            <a:r>
              <a:rPr lang="en-US" altLang="ja-JP" sz="2000" b="1" dirty="0">
                <a:latin typeface="Times New Roman" panose="02020603050405020304" pitchFamily="18" charset="0"/>
                <a:cs typeface="Times New Roman" panose="02020603050405020304" pitchFamily="18" charset="0"/>
              </a:rPr>
              <a:t>same package</a:t>
            </a:r>
            <a:endParaRPr lang="en-US" altLang="ja-JP" sz="20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Not visible to subclasses outside the package</a:t>
            </a:r>
          </a:p>
          <a:p>
            <a:pPr marL="342900" indent="-342900">
              <a:buFont typeface="Wingdings" panose="05000000000000000000" pitchFamily="2" charset="2"/>
              <a:buChar char="ü"/>
            </a:pPr>
            <a:r>
              <a:rPr lang="en-US" altLang="ja-JP" sz="2000" b="1" dirty="0">
                <a:latin typeface="Times New Roman" panose="02020603050405020304" pitchFamily="18" charset="0"/>
                <a:cs typeface="Times New Roman" panose="02020603050405020304" pitchFamily="18" charset="0"/>
              </a:rPr>
              <a:t>Private</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Accessible </a:t>
            </a:r>
            <a:r>
              <a:rPr lang="en-US" altLang="ja-JP" sz="2000" b="1" dirty="0">
                <a:latin typeface="Times New Roman" panose="02020603050405020304" pitchFamily="18" charset="0"/>
                <a:cs typeface="Times New Roman" panose="02020603050405020304" pitchFamily="18" charset="0"/>
              </a:rPr>
              <a:t>only within the class itself</a:t>
            </a:r>
            <a:endParaRPr lang="en-US" altLang="ja-JP" sz="20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Attributes cannot be accessed directly by other classes</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Methods cannot be invoked by external classes</a:t>
            </a:r>
          </a:p>
          <a:p>
            <a:pPr lvl="1"/>
            <a:endParaRPr lang="en-US" altLang="ja-JP" sz="2000" dirty="0">
              <a:latin typeface="Times New Roman" panose="02020603050405020304" pitchFamily="18" charset="0"/>
              <a:cs typeface="Times New Roman" panose="02020603050405020304" pitchFamily="18" charset="0"/>
            </a:endParaRPr>
          </a:p>
          <a:p>
            <a:pPr lvl="2"/>
            <a:r>
              <a:rPr lang="en-US" altLang="ja-JP" sz="2000" b="1" dirty="0">
                <a:solidFill>
                  <a:srgbClr val="00B050"/>
                </a:solidFill>
                <a:latin typeface="Times New Roman" panose="02020603050405020304" pitchFamily="18" charset="0"/>
                <a:cs typeface="Times New Roman" panose="02020603050405020304" pitchFamily="18" charset="0"/>
              </a:rPr>
              <a:t>public class Person {</a:t>
            </a:r>
          </a:p>
          <a:p>
            <a:pPr lvl="2"/>
            <a:r>
              <a:rPr lang="en-US" altLang="ja-JP" sz="2000" b="1" dirty="0">
                <a:solidFill>
                  <a:srgbClr val="00B050"/>
                </a:solidFill>
                <a:latin typeface="Times New Roman" panose="02020603050405020304" pitchFamily="18" charset="0"/>
                <a:cs typeface="Times New Roman" panose="02020603050405020304" pitchFamily="18" charset="0"/>
              </a:rPr>
              <a:t>    String name; // default access }</a:t>
            </a:r>
          </a:p>
          <a:p>
            <a:pPr marL="800100" lvl="1" indent="-342900">
              <a:buFont typeface="Wingdings" panose="05000000000000000000" pitchFamily="2" charset="2"/>
              <a:buChar char="Ø"/>
            </a:pPr>
            <a:endParaRPr lang="en-US" altLang="ja-JP" sz="20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l"/>
            </a:pPr>
            <a:r>
              <a:rPr lang="en-US" altLang="ja-JP" sz="2000" dirty="0">
                <a:latin typeface="Times New Roman" panose="02020603050405020304" pitchFamily="18" charset="0"/>
                <a:cs typeface="Times New Roman" panose="02020603050405020304" pitchFamily="18" charset="0"/>
              </a:rPr>
              <a:t>Person class is public</a:t>
            </a:r>
          </a:p>
          <a:p>
            <a:pPr marL="800100" lvl="1" indent="-342900">
              <a:buFont typeface="Wingdings" panose="05000000000000000000" pitchFamily="2" charset="2"/>
              <a:buChar char="l"/>
            </a:pPr>
            <a:r>
              <a:rPr lang="en-US" altLang="ja-JP" sz="2000" dirty="0">
                <a:latin typeface="Times New Roman" panose="02020603050405020304" pitchFamily="18" charset="0"/>
                <a:cs typeface="Times New Roman" panose="02020603050405020304" pitchFamily="18" charset="0"/>
              </a:rPr>
              <a:t>name has default access (no modifier)</a:t>
            </a:r>
          </a:p>
          <a:p>
            <a:pPr marL="800100" lvl="1" indent="-342900">
              <a:buFont typeface="Wingdings" panose="05000000000000000000" pitchFamily="2" charset="2"/>
              <a:buChar char="l"/>
            </a:pPr>
            <a:r>
              <a:rPr lang="en-US" altLang="ja-JP" sz="2000" dirty="0">
                <a:latin typeface="Times New Roman" panose="02020603050405020304" pitchFamily="18" charset="0"/>
                <a:cs typeface="Times New Roman" panose="02020603050405020304" pitchFamily="18" charset="0"/>
              </a:rPr>
              <a:t>Could also be declared private or protected for stricter control</a:t>
            </a:r>
          </a:p>
        </p:txBody>
      </p:sp>
      <p:sp>
        <p:nvSpPr>
          <p:cNvPr id="4" name="Rectangle 1">
            <a:extLst>
              <a:ext uri="{FF2B5EF4-FFF2-40B4-BE49-F238E27FC236}">
                <a16:creationId xmlns:a16="http://schemas.microsoft.com/office/drawing/2014/main" id="{E7CC7BF4-8003-EF38-142D-4F660E0CD59D}"/>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spTree>
    <p:extLst>
      <p:ext uri="{BB962C8B-B14F-4D97-AF65-F5344CB8AC3E}">
        <p14:creationId xmlns:p14="http://schemas.microsoft.com/office/powerpoint/2010/main" val="40736661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265" y="-152400"/>
            <a:ext cx="9046535" cy="990600"/>
          </a:xfrm>
          <a:ln>
            <a:noFill/>
          </a:ln>
        </p:spPr>
        <p:style>
          <a:lnRef idx="2">
            <a:schemeClr val="accent6"/>
          </a:lnRef>
          <a:fillRef idx="1">
            <a:schemeClr val="lt1"/>
          </a:fillRef>
          <a:effectRef idx="0">
            <a:schemeClr val="accent6"/>
          </a:effectRef>
          <a:fontRef idx="minor">
            <a:schemeClr val="dk1"/>
          </a:fontRef>
        </p:style>
        <p:txBody>
          <a:bodyPr>
            <a:normAutofit/>
          </a:bodyPr>
          <a:lstStyle/>
          <a:p>
            <a:r>
              <a:rPr lang="en-US" altLang="ja-JP" sz="4000" b="1" dirty="0">
                <a:latin typeface="Times New Roman" pitchFamily="18" charset="0"/>
                <a:cs typeface="Times New Roman" pitchFamily="18" charset="0"/>
              </a:rPr>
              <a:t>Conceptual Integrity in Software Design</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36</a:t>
            </a:fld>
            <a:endParaRPr lang="en-US" dirty="0">
              <a:solidFill>
                <a:schemeClr val="tx1"/>
              </a:solidFill>
            </a:endParaRPr>
          </a:p>
        </p:txBody>
      </p:sp>
      <p:sp>
        <p:nvSpPr>
          <p:cNvPr id="10" name="TextBox 9">
            <a:extLst>
              <a:ext uri="{FF2B5EF4-FFF2-40B4-BE49-F238E27FC236}">
                <a16:creationId xmlns:a16="http://schemas.microsoft.com/office/drawing/2014/main" id="{B2B559EF-956A-245F-6F31-ED3E3EB91167}"/>
              </a:ext>
            </a:extLst>
          </p:cNvPr>
          <p:cNvSpPr txBox="1"/>
          <p:nvPr/>
        </p:nvSpPr>
        <p:spPr>
          <a:xfrm>
            <a:off x="42530" y="990600"/>
            <a:ext cx="9025270" cy="4401205"/>
          </a:xfrm>
          <a:prstGeom prst="rect">
            <a:avLst/>
          </a:prstGeom>
          <a:noFill/>
        </p:spPr>
        <p:txBody>
          <a:bodyPr wrap="square">
            <a:spAutoFit/>
          </a:bodyPr>
          <a:lstStyle/>
          <a:p>
            <a:pPr marL="285750" indent="-285750" algn="l">
              <a:buFont typeface="Wingdings" panose="05000000000000000000" pitchFamily="2" charset="2"/>
              <a:buChar char="ü"/>
            </a:pPr>
            <a:r>
              <a:rPr lang="en-US" altLang="ja-JP" sz="2000" b="1" i="0" u="none" strike="noStrike" baseline="0" dirty="0">
                <a:solidFill>
                  <a:srgbClr val="00B050"/>
                </a:solidFill>
                <a:latin typeface="Times New Roman" panose="02020603050405020304" pitchFamily="18" charset="0"/>
                <a:cs typeface="Times New Roman" panose="02020603050405020304" pitchFamily="18" charset="0"/>
              </a:rPr>
              <a:t>Ensures a software system feels consistent and cohesive, as if guided by a single mind.</a:t>
            </a:r>
          </a:p>
          <a:p>
            <a:pPr marL="342900" indent="-342900" algn="l">
              <a:buFont typeface="Wingdings" panose="05000000000000000000" pitchFamily="2" charset="2"/>
              <a:buChar char="ü"/>
            </a:pPr>
            <a:r>
              <a:rPr lang="en-US" altLang="ja-JP" sz="2000" b="1" i="0" u="none" strike="noStrike" baseline="0" dirty="0">
                <a:solidFill>
                  <a:srgbClr val="00B050"/>
                </a:solidFill>
                <a:latin typeface="Times New Roman" panose="02020603050405020304" pitchFamily="18" charset="0"/>
                <a:cs typeface="Times New Roman" panose="02020603050405020304" pitchFamily="18" charset="0"/>
              </a:rPr>
              <a:t>Maintains uniformity in design and implementation, even with multiple contributors.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It’s Achieved</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Clear design principles and conventions.</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Effective communication among team members.</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Regular code reviews for consistency.</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Unified architecture and design foundation.</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Adoption of common programming constructs.</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small core group approving commits to ensure coherence.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Benefit</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Produces software that is predictable, maintainable, and easier to understand.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E7CC7BF4-8003-EF38-142D-4F660E0CD59D}"/>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spTree>
    <p:extLst>
      <p:ext uri="{BB962C8B-B14F-4D97-AF65-F5344CB8AC3E}">
        <p14:creationId xmlns:p14="http://schemas.microsoft.com/office/powerpoint/2010/main" val="38761309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37</a:t>
            </a:fld>
            <a:endParaRPr lang="en-US" dirty="0">
              <a:solidFill>
                <a:schemeClr val="tx1"/>
              </a:solidFill>
            </a:endParaRPr>
          </a:p>
        </p:txBody>
      </p:sp>
      <p:sp>
        <p:nvSpPr>
          <p:cNvPr id="4" name="Rectangle 1">
            <a:extLst>
              <a:ext uri="{FF2B5EF4-FFF2-40B4-BE49-F238E27FC236}">
                <a16:creationId xmlns:a16="http://schemas.microsoft.com/office/drawing/2014/main" id="{E7CC7BF4-8003-EF38-142D-4F660E0CD59D}"/>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pic>
        <p:nvPicPr>
          <p:cNvPr id="6" name="Picture 5">
            <a:extLst>
              <a:ext uri="{FF2B5EF4-FFF2-40B4-BE49-F238E27FC236}">
                <a16:creationId xmlns:a16="http://schemas.microsoft.com/office/drawing/2014/main" id="{3FD1018B-2565-C058-FE68-6534C920DB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607" y="15874"/>
            <a:ext cx="7743793" cy="7138995"/>
          </a:xfrm>
          <a:prstGeom prst="rect">
            <a:avLst/>
          </a:prstGeom>
        </p:spPr>
      </p:pic>
    </p:spTree>
    <p:extLst>
      <p:ext uri="{BB962C8B-B14F-4D97-AF65-F5344CB8AC3E}">
        <p14:creationId xmlns:p14="http://schemas.microsoft.com/office/powerpoint/2010/main" val="36119833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3795" y="7937"/>
            <a:ext cx="8949070" cy="990600"/>
          </a:xfrm>
        </p:spPr>
        <p:style>
          <a:lnRef idx="2">
            <a:schemeClr val="accent6"/>
          </a:lnRef>
          <a:fillRef idx="1">
            <a:schemeClr val="lt1"/>
          </a:fillRef>
          <a:effectRef idx="0">
            <a:schemeClr val="accent6"/>
          </a:effectRef>
          <a:fontRef idx="minor">
            <a:schemeClr val="dk1"/>
          </a:fontRef>
        </p:style>
        <p:txBody>
          <a:bodyPr>
            <a:noAutofit/>
          </a:bodyPr>
          <a:lstStyle/>
          <a:p>
            <a:r>
              <a:rPr lang="en-US" altLang="ja-JP" sz="4000" b="1" dirty="0">
                <a:latin typeface="Times New Roman" pitchFamily="18" charset="0"/>
                <a:cs typeface="Times New Roman" pitchFamily="18" charset="0"/>
              </a:rPr>
              <a:t>Conceptual Integrity in Software Design</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38</a:t>
            </a:fld>
            <a:endParaRPr lang="en-US" dirty="0">
              <a:solidFill>
                <a:schemeClr val="tx1"/>
              </a:solidFill>
            </a:endParaRPr>
          </a:p>
        </p:txBody>
      </p:sp>
      <p:sp>
        <p:nvSpPr>
          <p:cNvPr id="10" name="TextBox 9">
            <a:extLst>
              <a:ext uri="{FF2B5EF4-FFF2-40B4-BE49-F238E27FC236}">
                <a16:creationId xmlns:a16="http://schemas.microsoft.com/office/drawing/2014/main" id="{B2B559EF-956A-245F-6F31-ED3E3EB91167}"/>
              </a:ext>
            </a:extLst>
          </p:cNvPr>
          <p:cNvSpPr txBox="1"/>
          <p:nvPr/>
        </p:nvSpPr>
        <p:spPr>
          <a:xfrm>
            <a:off x="63795" y="998537"/>
            <a:ext cx="8546805" cy="5632311"/>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Ensures software is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consistent and cohesive</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Makes the system feel like it was built by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one guiding mind</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Achieved through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shared design principles &amp; conventions</a:t>
            </a:r>
            <a:endParaRPr kumimoji="0" lang="en-US"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 about ignoring team opinions → ideas must align with agreed principles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Promotes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uniform design and implementation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across the system</a:t>
            </a:r>
            <a:endParaRPr kumimoji="0" lang="en-US"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lang="en-US" altLang="ja-JP"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altLang="ja-JP" sz="2000" b="1" dirty="0">
                <a:latin typeface="Times New Roman" panose="02020603050405020304" pitchFamily="18" charset="0"/>
                <a:cs typeface="Times New Roman" panose="02020603050405020304" pitchFamily="18" charset="0"/>
              </a:rPr>
              <a:t>Ways to Achieve Conceptual Integrity</a:t>
            </a:r>
          </a:p>
          <a:p>
            <a:pPr marL="800100" lvl="1" indent="-342900">
              <a:buFont typeface="Wingdings" panose="05000000000000000000" pitchFamily="2" charset="2"/>
              <a:buChar char="Ø"/>
            </a:pPr>
            <a:r>
              <a:rPr lang="en-US" altLang="ja-JP" sz="2000" b="1" dirty="0">
                <a:latin typeface="Times New Roman" panose="02020603050405020304" pitchFamily="18" charset="0"/>
                <a:cs typeface="Times New Roman" panose="02020603050405020304" pitchFamily="18" charset="0"/>
              </a:rPr>
              <a:t>Effective communication</a:t>
            </a:r>
            <a:r>
              <a:rPr lang="en-US" altLang="ja-JP" sz="2000" dirty="0">
                <a:latin typeface="Times New Roman" panose="02020603050405020304" pitchFamily="18" charset="0"/>
                <a:cs typeface="Times New Roman" panose="02020603050405020304" pitchFamily="18" charset="0"/>
              </a:rPr>
              <a:t> among team members</a:t>
            </a:r>
          </a:p>
          <a:p>
            <a:pPr marL="800100" lvl="1" indent="-342900">
              <a:buFont typeface="Wingdings" panose="05000000000000000000" pitchFamily="2" charset="2"/>
              <a:buChar char="Ø"/>
            </a:pPr>
            <a:r>
              <a:rPr lang="en-US" altLang="ja-JP" sz="2000" b="1" dirty="0">
                <a:latin typeface="Times New Roman" panose="02020603050405020304" pitchFamily="18" charset="0"/>
                <a:cs typeface="Times New Roman" panose="02020603050405020304" pitchFamily="18" charset="0"/>
              </a:rPr>
              <a:t>Code reviews</a:t>
            </a:r>
            <a:r>
              <a:rPr lang="en-US" altLang="ja-JP" sz="2000" dirty="0">
                <a:latin typeface="Times New Roman" panose="02020603050405020304" pitchFamily="18" charset="0"/>
                <a:cs typeface="Times New Roman" panose="02020603050405020304" pitchFamily="18" charset="0"/>
              </a:rPr>
              <a:t> for consistency</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Use of </a:t>
            </a:r>
            <a:r>
              <a:rPr lang="en-US" altLang="ja-JP" sz="2000" b="1" dirty="0">
                <a:latin typeface="Times New Roman" panose="02020603050405020304" pitchFamily="18" charset="0"/>
                <a:cs typeface="Times New Roman" panose="02020603050405020304" pitchFamily="18" charset="0"/>
              </a:rPr>
              <a:t>standard design principles &amp; constructs</a:t>
            </a:r>
            <a:endParaRPr lang="en-US" altLang="ja-JP" sz="20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Adoption of a </a:t>
            </a:r>
            <a:r>
              <a:rPr lang="en-US" altLang="ja-JP" sz="2000" b="1" dirty="0">
                <a:latin typeface="Times New Roman" panose="02020603050405020304" pitchFamily="18" charset="0"/>
                <a:cs typeface="Times New Roman" panose="02020603050405020304" pitchFamily="18" charset="0"/>
              </a:rPr>
              <a:t>well-defined architecture</a:t>
            </a:r>
            <a:endParaRPr lang="en-US" altLang="ja-JP" sz="20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Ø"/>
            </a:pPr>
            <a:r>
              <a:rPr lang="en-US" altLang="ja-JP" sz="2000" b="1" dirty="0">
                <a:latin typeface="Times New Roman" panose="02020603050405020304" pitchFamily="18" charset="0"/>
                <a:cs typeface="Times New Roman" panose="02020603050405020304" pitchFamily="18" charset="0"/>
              </a:rPr>
              <a:t>Unifying concepts</a:t>
            </a:r>
            <a:r>
              <a:rPr lang="en-US" altLang="ja-JP" sz="2000" dirty="0">
                <a:latin typeface="Times New Roman" panose="02020603050405020304" pitchFamily="18" charset="0"/>
                <a:cs typeface="Times New Roman" panose="02020603050405020304" pitchFamily="18" charset="0"/>
              </a:rPr>
              <a:t> across modules</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A </a:t>
            </a:r>
            <a:r>
              <a:rPr lang="en-US" altLang="ja-JP" sz="2000" b="1" dirty="0">
                <a:latin typeface="Times New Roman" panose="02020603050405020304" pitchFamily="18" charset="0"/>
                <a:cs typeface="Times New Roman" panose="02020603050405020304" pitchFamily="18" charset="0"/>
              </a:rPr>
              <a:t>core review group</a:t>
            </a:r>
            <a:r>
              <a:rPr lang="en-US" altLang="ja-JP" sz="2000" dirty="0">
                <a:latin typeface="Times New Roman" panose="02020603050405020304" pitchFamily="18" charset="0"/>
                <a:cs typeface="Times New Roman" panose="02020603050405020304" pitchFamily="18" charset="0"/>
              </a:rPr>
              <a:t> to approve commits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Best Practice</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Agile practices: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daily stand-ups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&amp;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sprint retrospectives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Agree on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libraries, frameworks, and methods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ensure uniformity</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E7CC7BF4-8003-EF38-142D-4F660E0CD59D}"/>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spTree>
    <p:extLst>
      <p:ext uri="{BB962C8B-B14F-4D97-AF65-F5344CB8AC3E}">
        <p14:creationId xmlns:p14="http://schemas.microsoft.com/office/powerpoint/2010/main" val="17153178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530" y="-39485"/>
            <a:ext cx="9096154" cy="990600"/>
          </a:xfrm>
          <a:ln>
            <a:noFill/>
          </a:ln>
        </p:spPr>
        <p:style>
          <a:lnRef idx="2">
            <a:schemeClr val="accent6"/>
          </a:lnRef>
          <a:fillRef idx="1">
            <a:schemeClr val="lt1"/>
          </a:fillRef>
          <a:effectRef idx="0">
            <a:schemeClr val="accent6"/>
          </a:effectRef>
          <a:fontRef idx="minor">
            <a:schemeClr val="dk1"/>
          </a:fontRef>
        </p:style>
        <p:txBody>
          <a:bodyPr>
            <a:noAutofit/>
          </a:bodyPr>
          <a:lstStyle/>
          <a:p>
            <a:r>
              <a:rPr lang="en-US" altLang="ja-JP" sz="4000" b="1" dirty="0">
                <a:latin typeface="Times New Roman" pitchFamily="18" charset="0"/>
                <a:cs typeface="Times New Roman" pitchFamily="18" charset="0"/>
              </a:rPr>
              <a:t>Conceptual Integrity in Software Design</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39</a:t>
            </a:fld>
            <a:endParaRPr lang="en-US" dirty="0">
              <a:solidFill>
                <a:schemeClr val="tx1"/>
              </a:solidFill>
            </a:endParaRPr>
          </a:p>
        </p:txBody>
      </p:sp>
      <p:sp>
        <p:nvSpPr>
          <p:cNvPr id="10" name="TextBox 9">
            <a:extLst>
              <a:ext uri="{FF2B5EF4-FFF2-40B4-BE49-F238E27FC236}">
                <a16:creationId xmlns:a16="http://schemas.microsoft.com/office/drawing/2014/main" id="{B2B559EF-956A-245F-6F31-ED3E3EB91167}"/>
              </a:ext>
            </a:extLst>
          </p:cNvPr>
          <p:cNvSpPr txBox="1"/>
          <p:nvPr/>
        </p:nvSpPr>
        <p:spPr>
          <a:xfrm>
            <a:off x="37214" y="887393"/>
            <a:ext cx="9058940" cy="5878532"/>
          </a:xfrm>
          <a:prstGeom prst="rect">
            <a:avLst/>
          </a:prstGeom>
          <a:noFill/>
        </p:spPr>
        <p:txBody>
          <a:bodyPr wrap="square">
            <a:spAutoFit/>
          </a:bodyPr>
          <a:lstStyle/>
          <a:p>
            <a:pPr marL="342900" indent="-342900">
              <a:buFont typeface="Wingdings" panose="05000000000000000000" pitchFamily="2" charset="2"/>
              <a:buChar char="ü"/>
            </a:pPr>
            <a:r>
              <a:rPr lang="en-US" altLang="ja-JP" sz="2000" b="1" dirty="0">
                <a:latin typeface="Times New Roman" panose="02020603050405020304" pitchFamily="18" charset="0"/>
                <a:cs typeface="Times New Roman" panose="02020603050405020304" pitchFamily="18" charset="0"/>
              </a:rPr>
              <a:t>Dhaka Urban Management System &amp; Conceptual Integrity</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If traffic control, waste management, safety, and citizen services are developed by different teams, the system could feel fragmented.</a:t>
            </a:r>
            <a:endParaRPr lang="en-US" altLang="ja-JP" sz="2000" b="1" dirty="0">
              <a:solidFill>
                <a:srgbClr val="FF0000"/>
              </a:solidFill>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Ø"/>
            </a:pPr>
            <a:r>
              <a:rPr lang="en-US" altLang="ja-JP" sz="2000" b="1" dirty="0">
                <a:solidFill>
                  <a:srgbClr val="FF0000"/>
                </a:solidFill>
                <a:latin typeface="Times New Roman" panose="02020603050405020304" pitchFamily="18" charset="0"/>
                <a:cs typeface="Times New Roman" panose="02020603050405020304" pitchFamily="18" charset="0"/>
              </a:rPr>
              <a:t>Without conceptual integrity: </a:t>
            </a:r>
            <a:r>
              <a:rPr lang="en-US" altLang="ja-JP" sz="2000" b="1" dirty="0">
                <a:solidFill>
                  <a:srgbClr val="00B050"/>
                </a:solidFill>
                <a:latin typeface="Times New Roman" panose="02020603050405020304" pitchFamily="18" charset="0"/>
                <a:cs typeface="Times New Roman" panose="02020603050405020304" pitchFamily="18" charset="0"/>
              </a:rPr>
              <a:t>traffic control, waste management, and safety systems might be built by different teams with different standards </a:t>
            </a:r>
            <a:r>
              <a:rPr lang="en-US" altLang="ja-JP" sz="2000" dirty="0">
                <a:latin typeface="Times New Roman" panose="02020603050405020304" pitchFamily="18" charset="0"/>
                <a:cs typeface="Times New Roman" panose="02020603050405020304" pitchFamily="18" charset="0"/>
              </a:rPr>
              <a:t>→ leading to incompatibility and confusion.</a:t>
            </a:r>
          </a:p>
          <a:p>
            <a:pPr marL="800100" lvl="1" indent="-342900">
              <a:buFont typeface="Wingdings" panose="05000000000000000000" pitchFamily="2" charset="2"/>
              <a:buChar char="Ø"/>
            </a:pPr>
            <a:r>
              <a:rPr lang="en-US" altLang="ja-JP" sz="2000" b="1" dirty="0">
                <a:solidFill>
                  <a:srgbClr val="FF0000"/>
                </a:solidFill>
                <a:latin typeface="Times New Roman" panose="02020603050405020304" pitchFamily="18" charset="0"/>
                <a:cs typeface="Times New Roman" panose="02020603050405020304" pitchFamily="18" charset="0"/>
              </a:rPr>
              <a:t>With conceptual integrity: </a:t>
            </a:r>
            <a:r>
              <a:rPr lang="en-US" altLang="ja-JP" sz="2000" b="1" dirty="0">
                <a:solidFill>
                  <a:srgbClr val="00B050"/>
                </a:solidFill>
                <a:latin typeface="Times New Roman" panose="02020603050405020304" pitchFamily="18" charset="0"/>
                <a:cs typeface="Times New Roman" panose="02020603050405020304" pitchFamily="18" charset="0"/>
              </a:rPr>
              <a:t>all subsystems follow the same design principles, communication standards, and interfaces</a:t>
            </a:r>
            <a:r>
              <a:rPr lang="en-US" altLang="ja-JP" sz="2000" b="1" dirty="0">
                <a:latin typeface="Times New Roman" panose="02020603050405020304" pitchFamily="18" charset="0"/>
                <a:cs typeface="Times New Roman" panose="02020603050405020304" pitchFamily="18" charset="0"/>
              </a:rPr>
              <a:t> </a:t>
            </a:r>
            <a:r>
              <a:rPr lang="en-US" altLang="ja-JP" sz="2000" dirty="0">
                <a:latin typeface="Times New Roman" panose="02020603050405020304" pitchFamily="18" charset="0"/>
                <a:cs typeface="Times New Roman" panose="02020603050405020304" pitchFamily="18" charset="0"/>
              </a:rPr>
              <a:t>→ citizens experience one </a:t>
            </a:r>
            <a:r>
              <a:rPr lang="en-US" altLang="ja-JP" sz="2000" b="1" dirty="0">
                <a:latin typeface="Times New Roman" panose="02020603050405020304" pitchFamily="18" charset="0"/>
                <a:cs typeface="Times New Roman" panose="02020603050405020304" pitchFamily="18" charset="0"/>
              </a:rPr>
              <a:t>cohesive urban management platform</a:t>
            </a:r>
            <a:r>
              <a:rPr lang="en-US" altLang="ja-JP" sz="2000"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ü"/>
            </a:pPr>
            <a:r>
              <a:rPr lang="en-US" altLang="ja-JP" sz="2000" b="1" dirty="0">
                <a:latin typeface="Times New Roman" panose="02020603050405020304" pitchFamily="18" charset="0"/>
                <a:cs typeface="Times New Roman" panose="02020603050405020304" pitchFamily="18" charset="0"/>
              </a:rPr>
              <a:t>Agricultural Automation System &amp; Conceptual Integrity</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Different modules (irrigation sensors, drones, greenhouses, AI models) are often developed separately.</a:t>
            </a:r>
          </a:p>
          <a:p>
            <a:pPr marL="800100" lvl="1" indent="-342900">
              <a:buFont typeface="Wingdings" panose="05000000000000000000" pitchFamily="2" charset="2"/>
              <a:buChar char="Ø"/>
            </a:pPr>
            <a:r>
              <a:rPr lang="en-US" altLang="ja-JP" sz="2000" b="1" dirty="0">
                <a:solidFill>
                  <a:srgbClr val="FF0000"/>
                </a:solidFill>
                <a:latin typeface="Times New Roman" panose="02020603050405020304" pitchFamily="18" charset="0"/>
                <a:cs typeface="Times New Roman" panose="02020603050405020304" pitchFamily="18" charset="0"/>
              </a:rPr>
              <a:t>Without conceptual integrity: </a:t>
            </a:r>
            <a:r>
              <a:rPr lang="en-US" altLang="ja-JP" sz="2000" b="1" dirty="0">
                <a:solidFill>
                  <a:srgbClr val="00B050"/>
                </a:solidFill>
                <a:latin typeface="Times New Roman" panose="02020603050405020304" pitchFamily="18" charset="0"/>
                <a:cs typeface="Times New Roman" panose="02020603050405020304" pitchFamily="18" charset="0"/>
              </a:rPr>
              <a:t>irrigation, drones, and greenhouses might work as separate tools </a:t>
            </a:r>
            <a:r>
              <a:rPr lang="en-US" altLang="ja-JP" sz="2000" dirty="0">
                <a:latin typeface="Times New Roman" panose="02020603050405020304" pitchFamily="18" charset="0"/>
                <a:cs typeface="Times New Roman" panose="02020603050405020304" pitchFamily="18" charset="0"/>
              </a:rPr>
              <a:t>→ farmers must learn and manage each independently.</a:t>
            </a:r>
          </a:p>
          <a:p>
            <a:pPr marL="800100" lvl="1" indent="-342900">
              <a:buFont typeface="Wingdings" panose="05000000000000000000" pitchFamily="2" charset="2"/>
              <a:buChar char="Ø"/>
            </a:pPr>
            <a:r>
              <a:rPr lang="en-US" altLang="ja-JP" sz="2000" b="1" dirty="0">
                <a:solidFill>
                  <a:srgbClr val="FF0000"/>
                </a:solidFill>
                <a:latin typeface="Times New Roman" panose="02020603050405020304" pitchFamily="18" charset="0"/>
                <a:cs typeface="Times New Roman" panose="02020603050405020304" pitchFamily="18" charset="0"/>
              </a:rPr>
              <a:t>With conceptual integrity: </a:t>
            </a:r>
            <a:r>
              <a:rPr lang="en-US" altLang="ja-JP" sz="2000" b="1" dirty="0">
                <a:solidFill>
                  <a:srgbClr val="00B050"/>
                </a:solidFill>
                <a:latin typeface="Times New Roman" panose="02020603050405020304" pitchFamily="18" charset="0"/>
                <a:cs typeface="Times New Roman" panose="02020603050405020304" pitchFamily="18" charset="0"/>
              </a:rPr>
              <a:t>these tools share a common architecture (e.g., one dashboard, unified data standards), making the system feel seamless </a:t>
            </a:r>
            <a:r>
              <a:rPr lang="en-US" altLang="ja-JP" sz="2000" dirty="0">
                <a:latin typeface="Times New Roman" panose="02020603050405020304" pitchFamily="18" charset="0"/>
                <a:cs typeface="Times New Roman" panose="02020603050405020304" pitchFamily="18" charset="0"/>
              </a:rPr>
              <a:t>and farmer-friendly.</a:t>
            </a:r>
          </a:p>
          <a:p>
            <a:pPr marL="800100" lvl="1" indent="-342900">
              <a:buFont typeface="Wingdings" panose="05000000000000000000" pitchFamily="2" charset="2"/>
              <a:buChar char="Ø"/>
            </a:pPr>
            <a:r>
              <a:rPr lang="en-US" altLang="ja-JP" sz="1600" b="1" dirty="0">
                <a:solidFill>
                  <a:srgbClr val="C00000"/>
                </a:solidFill>
                <a:latin typeface="Times New Roman" panose="02020603050405020304" pitchFamily="18" charset="0"/>
                <a:cs typeface="Times New Roman" panose="02020603050405020304" pitchFamily="18" charset="0"/>
              </a:rPr>
              <a:t>Conceptual integrity ensures that complex systems—whether in urban management or agriculture—work as a unified whole, not just a collection of disconnected parts.</a:t>
            </a:r>
          </a:p>
        </p:txBody>
      </p:sp>
      <p:sp>
        <p:nvSpPr>
          <p:cNvPr id="4" name="Rectangle 1">
            <a:extLst>
              <a:ext uri="{FF2B5EF4-FFF2-40B4-BE49-F238E27FC236}">
                <a16:creationId xmlns:a16="http://schemas.microsoft.com/office/drawing/2014/main" id="{E7CC7BF4-8003-EF38-142D-4F660E0CD59D}"/>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spTree>
    <p:extLst>
      <p:ext uri="{BB962C8B-B14F-4D97-AF65-F5344CB8AC3E}">
        <p14:creationId xmlns:p14="http://schemas.microsoft.com/office/powerpoint/2010/main" val="25798069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070" y="28353"/>
            <a:ext cx="9448800" cy="990600"/>
          </a:xfrm>
        </p:spPr>
        <p:style>
          <a:lnRef idx="2">
            <a:schemeClr val="accent6"/>
          </a:lnRef>
          <a:fillRef idx="1">
            <a:schemeClr val="lt1"/>
          </a:fillRef>
          <a:effectRef idx="0">
            <a:schemeClr val="accent6"/>
          </a:effectRef>
          <a:fontRef idx="minor">
            <a:schemeClr val="dk1"/>
          </a:fontRef>
        </p:style>
        <p:txBody>
          <a:bodyPr>
            <a:normAutofit fontScale="90000"/>
          </a:bodyPr>
          <a:lstStyle/>
          <a:p>
            <a:r>
              <a:rPr lang="en-US" altLang="ja-JP" sz="4800" b="1" dirty="0">
                <a:latin typeface="Times New Roman" pitchFamily="18" charset="0"/>
                <a:cs typeface="Times New Roman" pitchFamily="18" charset="0"/>
              </a:rPr>
              <a:t>Conceptual Integrity – Key Practices</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40</a:t>
            </a:fld>
            <a:endParaRPr lang="en-US" dirty="0">
              <a:solidFill>
                <a:schemeClr val="tx1"/>
              </a:solidFill>
            </a:endParaRPr>
          </a:p>
        </p:txBody>
      </p:sp>
      <p:sp>
        <p:nvSpPr>
          <p:cNvPr id="10" name="TextBox 9">
            <a:extLst>
              <a:ext uri="{FF2B5EF4-FFF2-40B4-BE49-F238E27FC236}">
                <a16:creationId xmlns:a16="http://schemas.microsoft.com/office/drawing/2014/main" id="{B2B559EF-956A-245F-6F31-ED3E3EB91167}"/>
              </a:ext>
            </a:extLst>
          </p:cNvPr>
          <p:cNvSpPr txBox="1"/>
          <p:nvPr/>
        </p:nvSpPr>
        <p:spPr>
          <a:xfrm>
            <a:off x="8860" y="1240465"/>
            <a:ext cx="9058940" cy="5632311"/>
          </a:xfrm>
          <a:prstGeom prst="rect">
            <a:avLst/>
          </a:prstGeom>
          <a:noFill/>
        </p:spPr>
        <p:txBody>
          <a:bodyPr wrap="square">
            <a:spAutoFit/>
          </a:bodyPr>
          <a:lstStyle/>
          <a:p>
            <a:pPr marL="342900" indent="-342900">
              <a:buFont typeface="Wingdings" panose="05000000000000000000" pitchFamily="2" charset="2"/>
              <a:buChar char="ü"/>
            </a:pPr>
            <a:r>
              <a:rPr lang="en-US" altLang="ja-JP" sz="2000" b="1" dirty="0">
                <a:latin typeface="Times New Roman" panose="02020603050405020304" pitchFamily="18" charset="0"/>
                <a:cs typeface="Times New Roman" panose="02020603050405020304" pitchFamily="18" charset="0"/>
              </a:rPr>
              <a:t>Code Reviews</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Systematic review of written code (like academic peer review)</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Detects mistakes and improves consistency among developers</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Ensures adherence to agreed design principles</a:t>
            </a:r>
          </a:p>
          <a:p>
            <a:pPr marL="342900" indent="-342900">
              <a:buFont typeface="Wingdings" panose="05000000000000000000" pitchFamily="2" charset="2"/>
              <a:buChar char="ü"/>
            </a:pPr>
            <a:r>
              <a:rPr lang="en-US" altLang="ja-JP" sz="2000" b="1" dirty="0">
                <a:latin typeface="Times New Roman" panose="02020603050405020304" pitchFamily="18" charset="0"/>
                <a:cs typeface="Times New Roman" panose="02020603050405020304" pitchFamily="18" charset="0"/>
              </a:rPr>
              <a:t>Design Principles &amp; Constructs</a:t>
            </a:r>
          </a:p>
          <a:p>
            <a:pPr marL="800100" lvl="1" indent="-342900">
              <a:buFont typeface="Wingdings" panose="05000000000000000000" pitchFamily="2" charset="2"/>
              <a:buChar char="Ø"/>
            </a:pPr>
            <a:r>
              <a:rPr lang="en-US" altLang="ja-JP" sz="2000" b="1" dirty="0">
                <a:latin typeface="Times New Roman" panose="02020603050405020304" pitchFamily="18" charset="0"/>
                <a:cs typeface="Times New Roman" panose="02020603050405020304" pitchFamily="18" charset="0"/>
              </a:rPr>
              <a:t>Java Interfaces</a:t>
            </a:r>
            <a:r>
              <a:rPr lang="en-US" altLang="ja-JP" sz="2000" dirty="0">
                <a:latin typeface="Times New Roman" panose="02020603050405020304" pitchFamily="18" charset="0"/>
                <a:cs typeface="Times New Roman" panose="02020603050405020304" pitchFamily="18" charset="0"/>
              </a:rPr>
              <a:t>: enforce consistent behaviors across classes</a:t>
            </a:r>
          </a:p>
          <a:p>
            <a:pPr marL="800100" lvl="1" indent="-342900">
              <a:buFont typeface="Wingdings" panose="05000000000000000000" pitchFamily="2" charset="2"/>
              <a:buChar char="Ø"/>
            </a:pPr>
            <a:r>
              <a:rPr lang="en-US" altLang="ja-JP" sz="2000" b="1" dirty="0">
                <a:latin typeface="Times New Roman" panose="02020603050405020304" pitchFamily="18" charset="0"/>
                <a:cs typeface="Times New Roman" panose="02020603050405020304" pitchFamily="18" charset="0"/>
              </a:rPr>
              <a:t>Design Patterns</a:t>
            </a:r>
            <a:r>
              <a:rPr lang="en-US" altLang="ja-JP" sz="2000" dirty="0">
                <a:latin typeface="Times New Roman" panose="02020603050405020304" pitchFamily="18" charset="0"/>
                <a:cs typeface="Times New Roman" panose="02020603050405020304" pitchFamily="18" charset="0"/>
              </a:rPr>
              <a:t>: conventional, reusable solutions to design problems</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Promote uniformity and conceptual integrity</a:t>
            </a:r>
          </a:p>
          <a:p>
            <a:pPr marL="800100" lvl="1" indent="-342900">
              <a:buFont typeface="Wingdings" panose="05000000000000000000" pitchFamily="2" charset="2"/>
              <a:buChar char="Ø"/>
            </a:pPr>
            <a:endParaRPr lang="en-US" altLang="ja-JP"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altLang="ja-JP" sz="2000" b="1" dirty="0">
                <a:latin typeface="Times New Roman" panose="02020603050405020304" pitchFamily="18" charset="0"/>
                <a:cs typeface="Times New Roman" panose="02020603050405020304" pitchFamily="18" charset="0"/>
              </a:rPr>
              <a:t>Well-Defined Design &amp; Architecture</a:t>
            </a:r>
          </a:p>
          <a:p>
            <a:pPr marL="800100" lvl="1" indent="-342900">
              <a:buFont typeface="Wingdings" panose="05000000000000000000" pitchFamily="2" charset="2"/>
              <a:buChar char="Ø"/>
            </a:pPr>
            <a:r>
              <a:rPr lang="en-US" altLang="ja-JP" sz="2000" b="1" dirty="0">
                <a:latin typeface="Times New Roman" panose="02020603050405020304" pitchFamily="18" charset="0"/>
                <a:cs typeface="Times New Roman" panose="02020603050405020304" pitchFamily="18" charset="0"/>
              </a:rPr>
              <a:t>Design</a:t>
            </a:r>
            <a:r>
              <a:rPr lang="en-US" altLang="ja-JP" sz="2000" dirty="0">
                <a:latin typeface="Times New Roman" panose="02020603050405020304" pitchFamily="18" charset="0"/>
                <a:cs typeface="Times New Roman" panose="02020603050405020304" pitchFamily="18" charset="0"/>
              </a:rPr>
              <a:t>: guides internal structure of single-process software</a:t>
            </a:r>
          </a:p>
          <a:p>
            <a:pPr marL="800100" lvl="1" indent="-342900">
              <a:buFont typeface="Wingdings" panose="05000000000000000000" pitchFamily="2" charset="2"/>
              <a:buChar char="Ø"/>
            </a:pPr>
            <a:r>
              <a:rPr lang="en-US" altLang="ja-JP" sz="2000" b="1" dirty="0">
                <a:latin typeface="Times New Roman" panose="02020603050405020304" pitchFamily="18" charset="0"/>
                <a:cs typeface="Times New Roman" panose="02020603050405020304" pitchFamily="18" charset="0"/>
              </a:rPr>
              <a:t>Architecture</a:t>
            </a:r>
            <a:r>
              <a:rPr lang="en-US" altLang="ja-JP" sz="2000" dirty="0">
                <a:latin typeface="Times New Roman" panose="02020603050405020304" pitchFamily="18" charset="0"/>
                <a:cs typeface="Times New Roman" panose="02020603050405020304" pitchFamily="18" charset="0"/>
              </a:rPr>
              <a:t>: describes multi-process interactions and relationships</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Both provide consistent structure and logic</a:t>
            </a:r>
          </a:p>
          <a:p>
            <a:pPr marL="342900" indent="-342900">
              <a:buFont typeface="Wingdings" panose="05000000000000000000" pitchFamily="2" charset="2"/>
              <a:buChar char="ü"/>
            </a:pPr>
            <a:r>
              <a:rPr lang="en-US" altLang="ja-JP" sz="2000" b="1" dirty="0"/>
              <a:t>Unifying Concepts</a:t>
            </a:r>
          </a:p>
          <a:p>
            <a:pPr marL="800100" lvl="1" indent="-342900">
              <a:buFont typeface="Wingdings" panose="05000000000000000000" pitchFamily="2" charset="2"/>
              <a:buChar char="ü"/>
            </a:pPr>
            <a:r>
              <a:rPr lang="en-US" altLang="ja-JP" sz="2000" dirty="0">
                <a:latin typeface="Times New Roman" panose="02020603050405020304" pitchFamily="18" charset="0"/>
                <a:cs typeface="Times New Roman" panose="02020603050405020304" pitchFamily="18" charset="0"/>
              </a:rPr>
              <a:t>Finding commonality across different resources or features</a:t>
            </a:r>
          </a:p>
          <a:p>
            <a:pPr marL="800100" lvl="1" indent="-342900">
              <a:buFont typeface="Wingdings" panose="05000000000000000000" pitchFamily="2" charset="2"/>
              <a:buChar char="ü"/>
            </a:pPr>
            <a:r>
              <a:rPr lang="en-US" altLang="ja-JP" sz="2000" dirty="0">
                <a:latin typeface="Times New Roman" panose="02020603050405020304" pitchFamily="18" charset="0"/>
                <a:cs typeface="Times New Roman" panose="02020603050405020304" pitchFamily="18" charset="0"/>
              </a:rPr>
              <a:t>Example: </a:t>
            </a:r>
            <a:r>
              <a:rPr lang="en-US" altLang="ja-JP" sz="2000" b="1" dirty="0">
                <a:latin typeface="Times New Roman" panose="02020603050405020304" pitchFamily="18" charset="0"/>
                <a:cs typeface="Times New Roman" panose="02020603050405020304" pitchFamily="18" charset="0"/>
              </a:rPr>
              <a:t>Unix philosophy</a:t>
            </a:r>
            <a:r>
              <a:rPr lang="en-US" altLang="ja-JP" sz="2000" dirty="0">
                <a:latin typeface="Times New Roman" panose="02020603050405020304" pitchFamily="18" charset="0"/>
                <a:cs typeface="Times New Roman" panose="02020603050405020304" pitchFamily="18" charset="0"/>
              </a:rPr>
              <a:t> – treat everything as a file</a:t>
            </a:r>
          </a:p>
          <a:p>
            <a:pPr marL="800100" lvl="1" indent="-342900">
              <a:buFont typeface="Wingdings" panose="05000000000000000000" pitchFamily="2" charset="2"/>
              <a:buChar char="ü"/>
            </a:pPr>
            <a:r>
              <a:rPr lang="en-US" altLang="ja-JP" sz="2000" dirty="0">
                <a:latin typeface="Times New Roman" panose="02020603050405020304" pitchFamily="18" charset="0"/>
                <a:cs typeface="Times New Roman" panose="02020603050405020304" pitchFamily="18" charset="0"/>
              </a:rPr>
              <a:t>Simplifies usage and reduces special cases → more consistency</a:t>
            </a:r>
          </a:p>
          <a:p>
            <a:pPr lvl="1"/>
            <a:endParaRPr lang="en-US" altLang="ja-JP" sz="20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E7CC7BF4-8003-EF38-142D-4F660E0CD59D}"/>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spTree>
    <p:extLst>
      <p:ext uri="{BB962C8B-B14F-4D97-AF65-F5344CB8AC3E}">
        <p14:creationId xmlns:p14="http://schemas.microsoft.com/office/powerpoint/2010/main" val="30778162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860" y="15875"/>
            <a:ext cx="9144000" cy="806450"/>
          </a:xfrm>
        </p:spPr>
        <p:style>
          <a:lnRef idx="2">
            <a:schemeClr val="accent6"/>
          </a:lnRef>
          <a:fillRef idx="1">
            <a:schemeClr val="lt1"/>
          </a:fillRef>
          <a:effectRef idx="0">
            <a:schemeClr val="accent6"/>
          </a:effectRef>
          <a:fontRef idx="minor">
            <a:schemeClr val="dk1"/>
          </a:fontRef>
        </p:style>
        <p:txBody>
          <a:bodyPr>
            <a:noAutofit/>
          </a:bodyPr>
          <a:lstStyle/>
          <a:p>
            <a:r>
              <a:rPr lang="en-US" altLang="ja-JP" sz="3600" dirty="0">
                <a:latin typeface="Times New Roman" pitchFamily="18" charset="0"/>
                <a:cs typeface="Times New Roman" pitchFamily="18" charset="0"/>
              </a:rPr>
              <a:t>Conceptual Integrity – Key Practices On DUMS</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41</a:t>
            </a:fld>
            <a:endParaRPr lang="en-US" dirty="0">
              <a:solidFill>
                <a:schemeClr val="tx1"/>
              </a:solidFill>
            </a:endParaRPr>
          </a:p>
        </p:txBody>
      </p:sp>
      <p:sp>
        <p:nvSpPr>
          <p:cNvPr id="10" name="TextBox 9">
            <a:extLst>
              <a:ext uri="{FF2B5EF4-FFF2-40B4-BE49-F238E27FC236}">
                <a16:creationId xmlns:a16="http://schemas.microsoft.com/office/drawing/2014/main" id="{B2B559EF-956A-245F-6F31-ED3E3EB91167}"/>
              </a:ext>
            </a:extLst>
          </p:cNvPr>
          <p:cNvSpPr txBox="1"/>
          <p:nvPr/>
        </p:nvSpPr>
        <p:spPr>
          <a:xfrm>
            <a:off x="99236" y="838200"/>
            <a:ext cx="9058940" cy="6555641"/>
          </a:xfrm>
          <a:prstGeom prst="rect">
            <a:avLst/>
          </a:prstGeom>
          <a:noFill/>
        </p:spPr>
        <p:txBody>
          <a:bodyPr wrap="square">
            <a:spAutoFit/>
          </a:bodyPr>
          <a:lstStyle/>
          <a:p>
            <a:r>
              <a:rPr lang="en-US" altLang="ja-JP" sz="2000" b="1" dirty="0">
                <a:latin typeface="Times New Roman" panose="02020603050405020304" pitchFamily="18" charset="0"/>
                <a:cs typeface="Times New Roman" panose="02020603050405020304" pitchFamily="18" charset="0"/>
              </a:rPr>
              <a:t>1. Code Reviews</a:t>
            </a:r>
            <a:endParaRPr lang="en-US" altLang="ja-JP" sz="20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en-US" altLang="ja-JP" sz="2000" dirty="0">
                <a:latin typeface="Times New Roman" panose="02020603050405020304" pitchFamily="18" charset="0"/>
                <a:cs typeface="Times New Roman" panose="02020603050405020304" pitchFamily="18" charset="0"/>
              </a:rPr>
              <a:t>Developers working on </a:t>
            </a:r>
            <a:r>
              <a:rPr lang="en-US" altLang="ja-JP" sz="2000" b="1" dirty="0">
                <a:latin typeface="Times New Roman" panose="02020603050405020304" pitchFamily="18" charset="0"/>
                <a:cs typeface="Times New Roman" panose="02020603050405020304" pitchFamily="18" charset="0"/>
              </a:rPr>
              <a:t>traffic monitoring</a:t>
            </a:r>
            <a:r>
              <a:rPr lang="en-US" altLang="ja-JP" sz="2000" dirty="0">
                <a:latin typeface="Times New Roman" panose="02020603050405020304" pitchFamily="18" charset="0"/>
                <a:cs typeface="Times New Roman" panose="02020603050405020304" pitchFamily="18" charset="0"/>
              </a:rPr>
              <a:t> and </a:t>
            </a:r>
            <a:r>
              <a:rPr lang="en-US" altLang="ja-JP" sz="2000" b="1" dirty="0">
                <a:latin typeface="Times New Roman" panose="02020603050405020304" pitchFamily="18" charset="0"/>
                <a:cs typeface="Times New Roman" panose="02020603050405020304" pitchFamily="18" charset="0"/>
              </a:rPr>
              <a:t>waste collection modules</a:t>
            </a:r>
            <a:r>
              <a:rPr lang="en-US" altLang="ja-JP" sz="2000" dirty="0">
                <a:latin typeface="Times New Roman" panose="02020603050405020304" pitchFamily="18" charset="0"/>
                <a:cs typeface="Times New Roman" panose="02020603050405020304" pitchFamily="18" charset="0"/>
              </a:rPr>
              <a:t> review each other’s code.</a:t>
            </a:r>
          </a:p>
          <a:p>
            <a:pPr marL="800100" lvl="1" indent="-342900">
              <a:buFont typeface="Wingdings" panose="05000000000000000000" pitchFamily="2" charset="2"/>
              <a:buChar char="ü"/>
            </a:pPr>
            <a:r>
              <a:rPr lang="en-US" altLang="ja-JP" sz="2000" dirty="0">
                <a:latin typeface="Times New Roman" panose="02020603050405020304" pitchFamily="18" charset="0"/>
                <a:cs typeface="Times New Roman" panose="02020603050405020304" pitchFamily="18" charset="0"/>
              </a:rPr>
              <a:t>Detects logic errors (e.g., wrong sensor data handling).</a:t>
            </a:r>
          </a:p>
          <a:p>
            <a:pPr marL="800100" lvl="1" indent="-342900">
              <a:buFont typeface="Wingdings" panose="05000000000000000000" pitchFamily="2" charset="2"/>
              <a:buChar char="ü"/>
            </a:pPr>
            <a:r>
              <a:rPr lang="en-US" altLang="ja-JP" sz="2000" dirty="0">
                <a:latin typeface="Times New Roman" panose="02020603050405020304" pitchFamily="18" charset="0"/>
                <a:cs typeface="Times New Roman" panose="02020603050405020304" pitchFamily="18" charset="0"/>
              </a:rPr>
              <a:t>Ensures both modules follow the same </a:t>
            </a:r>
            <a:r>
              <a:rPr lang="en-US" altLang="ja-JP" sz="2000" b="1" dirty="0">
                <a:latin typeface="Times New Roman" panose="02020603050405020304" pitchFamily="18" charset="0"/>
                <a:cs typeface="Times New Roman" panose="02020603050405020304" pitchFamily="18" charset="0"/>
              </a:rPr>
              <a:t>naming conventions, error handling, and security standards</a:t>
            </a:r>
            <a:r>
              <a:rPr lang="en-US" altLang="ja-JP" sz="2000" dirty="0">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Design Principles &amp; Constructs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Java Interfaces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standard SensorData interface defines how all sensors (traffic, pollution, waste bins) send data.</a:t>
            </a:r>
          </a:p>
          <a:p>
            <a:pPr marL="800100" lvl="1" indent="-342900"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 Patterns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Observer pattern used so multiple subsystems (traffic control, pollution alerts) can react to real-time sensor updates in the same way.</a:t>
            </a:r>
          </a:p>
          <a:p>
            <a:pPr marL="800100" lvl="1" indent="-342900" eaLnBrk="0" fontAlgn="base" hangingPunct="0">
              <a:spcBef>
                <a:spcPct val="0"/>
              </a:spcBef>
              <a:spcAft>
                <a:spcPct val="0"/>
              </a:spcAft>
              <a:buFont typeface="Wingdings" panose="05000000000000000000" pitchFamily="2" charset="2"/>
              <a:buChar char="ü"/>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Promotes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uniformity</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across modules.</a:t>
            </a:r>
          </a:p>
          <a:p>
            <a:r>
              <a:rPr lang="en-US" altLang="ja-JP" sz="2000" b="1" dirty="0">
                <a:latin typeface="Times New Roman" panose="02020603050405020304" pitchFamily="18" charset="0"/>
                <a:cs typeface="Times New Roman" panose="02020603050405020304" pitchFamily="18" charset="0"/>
              </a:rPr>
              <a:t>3. Well-Defined Design &amp; Architecture</a:t>
            </a:r>
            <a:endParaRPr lang="en-US" altLang="ja-JP" sz="20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en-US" altLang="ja-JP" sz="2000" b="1" dirty="0">
                <a:latin typeface="Times New Roman" panose="02020603050405020304" pitchFamily="18" charset="0"/>
                <a:cs typeface="Times New Roman" panose="02020603050405020304" pitchFamily="18" charset="0"/>
              </a:rPr>
              <a:t>Design (internal)</a:t>
            </a:r>
            <a:r>
              <a:rPr lang="en-US" altLang="ja-JP" sz="2000" dirty="0">
                <a:latin typeface="Times New Roman" panose="02020603050405020304" pitchFamily="18" charset="0"/>
                <a:cs typeface="Times New Roman" panose="02020603050405020304" pitchFamily="18" charset="0"/>
              </a:rPr>
              <a:t>: Traffic light control software has a clear internal structure separating data collection, decision logic, and output commands.</a:t>
            </a:r>
          </a:p>
          <a:p>
            <a:pPr marL="800100" lvl="1" indent="-342900">
              <a:buFont typeface="Wingdings" panose="05000000000000000000" pitchFamily="2" charset="2"/>
              <a:buChar char="ü"/>
            </a:pPr>
            <a:r>
              <a:rPr lang="en-US" altLang="ja-JP" sz="2000" b="1" dirty="0">
                <a:latin typeface="Times New Roman" panose="02020603050405020304" pitchFamily="18" charset="0"/>
                <a:cs typeface="Times New Roman" panose="02020603050405020304" pitchFamily="18" charset="0"/>
              </a:rPr>
              <a:t>Architecture (multi-process)</a:t>
            </a:r>
            <a:r>
              <a:rPr lang="en-US" altLang="ja-JP" sz="2000" dirty="0">
                <a:latin typeface="Times New Roman" panose="02020603050405020304" pitchFamily="18" charset="0"/>
                <a:cs typeface="Times New Roman" panose="02020603050405020304" pitchFamily="18" charset="0"/>
              </a:rPr>
              <a:t>: Traffic control, waste management, and emergency response services communicate through a </a:t>
            </a:r>
            <a:r>
              <a:rPr lang="en-US" altLang="ja-JP" sz="2000" b="1" dirty="0">
                <a:latin typeface="Times New Roman" panose="02020603050405020304" pitchFamily="18" charset="0"/>
                <a:cs typeface="Times New Roman" panose="02020603050405020304" pitchFamily="18" charset="0"/>
              </a:rPr>
              <a:t>central IoT hub</a:t>
            </a:r>
            <a:r>
              <a:rPr lang="en-US" altLang="ja-JP" sz="2000" dirty="0">
                <a:latin typeface="Times New Roman" panose="02020603050405020304" pitchFamily="18" charset="0"/>
                <a:cs typeface="Times New Roman" panose="02020603050405020304" pitchFamily="18" charset="0"/>
              </a:rPr>
              <a:t>.</a:t>
            </a:r>
          </a:p>
          <a:p>
            <a:pPr marL="800100" lvl="1" indent="-342900">
              <a:buFont typeface="Wingdings" panose="05000000000000000000" pitchFamily="2" charset="2"/>
              <a:buChar char="ü"/>
            </a:pPr>
            <a:r>
              <a:rPr lang="en-US" altLang="ja-JP" sz="2000" dirty="0">
                <a:latin typeface="Times New Roman" panose="02020603050405020304" pitchFamily="18" charset="0"/>
                <a:cs typeface="Times New Roman" panose="02020603050405020304" pitchFamily="18" charset="0"/>
              </a:rPr>
              <a:t>Provides a </a:t>
            </a:r>
            <a:r>
              <a:rPr lang="en-US" altLang="ja-JP" sz="2000" b="1" dirty="0">
                <a:latin typeface="Times New Roman" panose="02020603050405020304" pitchFamily="18" charset="0"/>
                <a:cs typeface="Times New Roman" panose="02020603050405020304" pitchFamily="18" charset="0"/>
              </a:rPr>
              <a:t>consistent structure</a:t>
            </a:r>
            <a:r>
              <a:rPr lang="en-US" altLang="ja-JP" sz="2000" dirty="0">
                <a:latin typeface="Times New Roman" panose="02020603050405020304" pitchFamily="18" charset="0"/>
                <a:cs typeface="Times New Roman" panose="02020603050405020304" pitchFamily="18" charset="0"/>
              </a:rPr>
              <a:t> for scaling and integration.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endParaRPr lang="en-US" altLang="ja-JP" sz="20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endParaRPr lang="en-US" altLang="ja-JP" sz="20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E7CC7BF4-8003-EF38-142D-4F660E0CD59D}"/>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spTree>
    <p:extLst>
      <p:ext uri="{BB962C8B-B14F-4D97-AF65-F5344CB8AC3E}">
        <p14:creationId xmlns:p14="http://schemas.microsoft.com/office/powerpoint/2010/main" val="23124724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860" y="24188"/>
            <a:ext cx="9152860" cy="990600"/>
          </a:xfrm>
          <a:ln>
            <a:noFill/>
          </a:ln>
        </p:spPr>
        <p:style>
          <a:lnRef idx="2">
            <a:schemeClr val="accent6"/>
          </a:lnRef>
          <a:fillRef idx="1">
            <a:schemeClr val="lt1"/>
          </a:fillRef>
          <a:effectRef idx="0">
            <a:schemeClr val="accent6"/>
          </a:effectRef>
          <a:fontRef idx="minor">
            <a:schemeClr val="dk1"/>
          </a:fontRef>
        </p:style>
        <p:txBody>
          <a:bodyPr>
            <a:noAutofit/>
          </a:bodyPr>
          <a:lstStyle/>
          <a:p>
            <a:r>
              <a:rPr lang="en-US" altLang="ja-JP" sz="3600" b="1" dirty="0">
                <a:latin typeface="Times New Roman" pitchFamily="18" charset="0"/>
                <a:cs typeface="Times New Roman" pitchFamily="18" charset="0"/>
              </a:rPr>
              <a:t>Conceptual Integrity – Key Practices On DUMS</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42</a:t>
            </a:fld>
            <a:endParaRPr lang="en-US" dirty="0">
              <a:solidFill>
                <a:schemeClr val="tx1"/>
              </a:solidFill>
            </a:endParaRPr>
          </a:p>
        </p:txBody>
      </p:sp>
      <p:sp>
        <p:nvSpPr>
          <p:cNvPr id="10" name="TextBox 9">
            <a:extLst>
              <a:ext uri="{FF2B5EF4-FFF2-40B4-BE49-F238E27FC236}">
                <a16:creationId xmlns:a16="http://schemas.microsoft.com/office/drawing/2014/main" id="{B2B559EF-956A-245F-6F31-ED3E3EB91167}"/>
              </a:ext>
            </a:extLst>
          </p:cNvPr>
          <p:cNvSpPr txBox="1"/>
          <p:nvPr/>
        </p:nvSpPr>
        <p:spPr>
          <a:xfrm>
            <a:off x="85060" y="1143000"/>
            <a:ext cx="9058940" cy="4708981"/>
          </a:xfrm>
          <a:prstGeom prst="rect">
            <a:avLst/>
          </a:prstGeom>
          <a:noFill/>
        </p:spPr>
        <p:txBody>
          <a:bodyPr wrap="square">
            <a:spAutoFit/>
          </a:bodyPr>
          <a:lstStyle/>
          <a:p>
            <a:r>
              <a:rPr lang="en-US" altLang="ja-JP" sz="2000" b="1" dirty="0">
                <a:latin typeface="Times New Roman" panose="02020603050405020304" pitchFamily="18" charset="0"/>
                <a:cs typeface="Times New Roman" panose="02020603050405020304" pitchFamily="18" charset="0"/>
              </a:rPr>
              <a:t>4. Unifying Concepts</a:t>
            </a:r>
            <a:endParaRPr lang="en-US" altLang="ja-JP"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altLang="ja-JP" sz="2000" b="1" dirty="0">
                <a:latin typeface="Times New Roman" panose="02020603050405020304" pitchFamily="18" charset="0"/>
                <a:cs typeface="Times New Roman" panose="02020603050405020304" pitchFamily="18" charset="0"/>
              </a:rPr>
              <a:t>Single Dashboard</a:t>
            </a:r>
            <a:r>
              <a:rPr lang="en-US" altLang="ja-JP" sz="2000" dirty="0">
                <a:latin typeface="Times New Roman" panose="02020603050405020304" pitchFamily="18" charset="0"/>
                <a:cs typeface="Times New Roman" panose="02020603050405020304" pitchFamily="18" charset="0"/>
              </a:rPr>
              <a:t>: Citizens and administrators use one portal for traffic updates, garbage collection schedules, and safety alerts.</a:t>
            </a:r>
          </a:p>
          <a:p>
            <a:pPr marL="342900" indent="-342900">
              <a:buFont typeface="Wingdings" panose="05000000000000000000" pitchFamily="2" charset="2"/>
              <a:buChar char="ü"/>
            </a:pPr>
            <a:r>
              <a:rPr lang="en-US" altLang="ja-JP" sz="2000" dirty="0">
                <a:latin typeface="Times New Roman" panose="02020603050405020304" pitchFamily="18" charset="0"/>
                <a:cs typeface="Times New Roman" panose="02020603050405020304" pitchFamily="18" charset="0"/>
              </a:rPr>
              <a:t>Like the </a:t>
            </a:r>
            <a:r>
              <a:rPr lang="en-US" altLang="ja-JP" sz="2000" b="1" dirty="0">
                <a:latin typeface="Times New Roman" panose="02020603050405020304" pitchFamily="18" charset="0"/>
                <a:cs typeface="Times New Roman" panose="02020603050405020304" pitchFamily="18" charset="0"/>
              </a:rPr>
              <a:t>Unix philosophy</a:t>
            </a:r>
            <a:r>
              <a:rPr lang="en-US" altLang="ja-JP" sz="2000" dirty="0">
                <a:latin typeface="Times New Roman" panose="02020603050405020304" pitchFamily="18" charset="0"/>
                <a:cs typeface="Times New Roman" panose="02020603050405020304" pitchFamily="18" charset="0"/>
              </a:rPr>
              <a:t>: “treat everything as a file,” here → “treat all services as a data stream.”</a:t>
            </a:r>
          </a:p>
          <a:p>
            <a:pPr marL="342900" indent="-342900">
              <a:buFont typeface="Wingdings" panose="05000000000000000000" pitchFamily="2" charset="2"/>
              <a:buChar char="ü"/>
            </a:pPr>
            <a:r>
              <a:rPr lang="en-US" altLang="ja-JP" sz="2000" dirty="0">
                <a:latin typeface="Times New Roman" panose="02020603050405020304" pitchFamily="18" charset="0"/>
                <a:cs typeface="Times New Roman" panose="02020603050405020304" pitchFamily="18" charset="0"/>
              </a:rPr>
              <a:t>Reduces special cases → improves </a:t>
            </a:r>
            <a:r>
              <a:rPr lang="en-US" altLang="ja-JP" sz="2000" b="1" dirty="0">
                <a:latin typeface="Times New Roman" panose="02020603050405020304" pitchFamily="18" charset="0"/>
                <a:cs typeface="Times New Roman" panose="02020603050405020304" pitchFamily="18" charset="0"/>
              </a:rPr>
              <a:t>user experience and system consistency</a:t>
            </a:r>
            <a:r>
              <a:rPr lang="en-US" altLang="ja-JP" sz="2000"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ü"/>
            </a:pPr>
            <a:endParaRPr lang="en-US" altLang="ja-JP"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altLang="ja-JP" sz="2000" b="1" dirty="0">
                <a:latin typeface="Times New Roman" panose="02020603050405020304" pitchFamily="18" charset="0"/>
                <a:cs typeface="Times New Roman" panose="02020603050405020304" pitchFamily="18" charset="0"/>
              </a:rPr>
              <a:t>Small Core Review Group</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A trusted core team accepts commits</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Ensures alignment with architecture &amp; design rules</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Prevents unorganized or “informal” coding practices</a:t>
            </a:r>
          </a:p>
          <a:p>
            <a:endParaRPr lang="en-US" altLang="ja-JP"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altLang="ja-JP" sz="2000" dirty="0">
                <a:latin typeface="Times New Roman" panose="02020603050405020304" pitchFamily="18" charset="0"/>
                <a:cs typeface="Times New Roman" panose="02020603050405020304" pitchFamily="18" charset="0"/>
              </a:rPr>
              <a:t>So, </a:t>
            </a:r>
            <a:r>
              <a:rPr lang="en-US" altLang="ja-JP" sz="2000" b="1" dirty="0">
                <a:latin typeface="Times New Roman" panose="02020603050405020304" pitchFamily="18" charset="0"/>
                <a:cs typeface="Times New Roman" panose="02020603050405020304" pitchFamily="18" charset="0"/>
              </a:rPr>
              <a:t>conceptual integrity in Dhaka Urban Management System</a:t>
            </a:r>
            <a:r>
              <a:rPr lang="en-US" altLang="ja-JP" sz="2000" dirty="0">
                <a:latin typeface="Times New Roman" panose="02020603050405020304" pitchFamily="18" charset="0"/>
                <a:cs typeface="Times New Roman" panose="02020603050405020304" pitchFamily="18" charset="0"/>
              </a:rPr>
              <a:t> ensures all modules—built by different teams—work as one cohesive, predictable, and maintainable system.</a:t>
            </a:r>
          </a:p>
        </p:txBody>
      </p:sp>
      <p:sp>
        <p:nvSpPr>
          <p:cNvPr id="4" name="Rectangle 1">
            <a:extLst>
              <a:ext uri="{FF2B5EF4-FFF2-40B4-BE49-F238E27FC236}">
                <a16:creationId xmlns:a16="http://schemas.microsoft.com/office/drawing/2014/main" id="{E7CC7BF4-8003-EF38-142D-4F660E0CD59D}"/>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spTree>
    <p:extLst>
      <p:ext uri="{BB962C8B-B14F-4D97-AF65-F5344CB8AC3E}">
        <p14:creationId xmlns:p14="http://schemas.microsoft.com/office/powerpoint/2010/main" val="1299848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8730" y="65604"/>
            <a:ext cx="8534400" cy="673469"/>
          </a:xfrm>
          <a:ln>
            <a:noFill/>
          </a:ln>
        </p:spPr>
        <p:style>
          <a:lnRef idx="2">
            <a:schemeClr val="accent6"/>
          </a:lnRef>
          <a:fillRef idx="1">
            <a:schemeClr val="lt1"/>
          </a:fillRef>
          <a:effectRef idx="0">
            <a:schemeClr val="accent6"/>
          </a:effectRef>
          <a:fontRef idx="minor">
            <a:schemeClr val="dk1"/>
          </a:fontRef>
        </p:style>
        <p:txBody>
          <a:bodyPr>
            <a:normAutofit fontScale="90000"/>
          </a:bodyPr>
          <a:lstStyle/>
          <a:p>
            <a:r>
              <a:rPr lang="en-US" altLang="ja-JP" sz="4800" b="1" dirty="0">
                <a:latin typeface="Times New Roman" pitchFamily="18" charset="0"/>
                <a:cs typeface="Times New Roman" pitchFamily="18" charset="0"/>
              </a:rPr>
              <a:t>Specialized UML class diagrams</a:t>
            </a:r>
          </a:p>
        </p:txBody>
      </p:sp>
      <p:sp>
        <p:nvSpPr>
          <p:cNvPr id="4" name="Subtitle 3"/>
          <p:cNvSpPr>
            <a:spLocks noGrp="1"/>
          </p:cNvSpPr>
          <p:nvPr>
            <p:ph type="subTitle" idx="1"/>
          </p:nvPr>
        </p:nvSpPr>
        <p:spPr>
          <a:xfrm>
            <a:off x="93921" y="928540"/>
            <a:ext cx="8915400" cy="5863856"/>
          </a:xfrm>
        </p:spPr>
        <p:txBody>
          <a:bodyPr>
            <a:noAutofit/>
          </a:bodyPr>
          <a:lstStyle/>
          <a:p>
            <a:pPr marL="342900" indent="-342900" algn="l">
              <a:buFont typeface="Wingdings" panose="05000000000000000000" pitchFamily="2" charset="2"/>
              <a:buChar char="ü"/>
            </a:pPr>
            <a:r>
              <a:rPr lang="en-US" altLang="ja-JP" sz="2000" b="0" i="0" dirty="0">
                <a:solidFill>
                  <a:schemeClr val="tx1"/>
                </a:solidFill>
                <a:effectLst/>
                <a:latin typeface="Times New Roman" panose="02020603050405020304" pitchFamily="18" charset="0"/>
                <a:cs typeface="Times New Roman" panose="02020603050405020304" pitchFamily="18" charset="0"/>
              </a:rPr>
              <a:t>Beyond standard UML class diagrams, this section explores two specialized types and their application in technical design. </a:t>
            </a:r>
            <a:r>
              <a:rPr lang="en-US" altLang="ja-JP" sz="2000" dirty="0">
                <a:solidFill>
                  <a:schemeClr val="tx1"/>
                </a:solidFill>
                <a:latin typeface="Times New Roman" panose="02020603050405020304" pitchFamily="18" charset="0"/>
                <a:cs typeface="Times New Roman" panose="02020603050405020304" pitchFamily="18" charset="0"/>
              </a:rPr>
              <a:t>UML </a:t>
            </a:r>
            <a:r>
              <a:rPr lang="en-US" altLang="ja-JP" sz="2000" b="1" dirty="0">
                <a:solidFill>
                  <a:schemeClr val="tx1"/>
                </a:solidFill>
                <a:latin typeface="Times New Roman" panose="02020603050405020304" pitchFamily="18" charset="0"/>
                <a:cs typeface="Times New Roman" panose="02020603050405020304" pitchFamily="18" charset="0"/>
              </a:rPr>
              <a:t>sequence diagrams,</a:t>
            </a:r>
            <a:r>
              <a:rPr lang="en-US" altLang="ja-JP" sz="2000" dirty="0">
                <a:solidFill>
                  <a:schemeClr val="tx1"/>
                </a:solidFill>
                <a:latin typeface="Times New Roman" panose="02020603050405020304" pitchFamily="18" charset="0"/>
                <a:cs typeface="Times New Roman" panose="02020603050405020304" pitchFamily="18" charset="0"/>
              </a:rPr>
              <a:t> </a:t>
            </a:r>
            <a:r>
              <a:rPr lang="en-US" altLang="ja-JP" sz="2000" b="1" dirty="0">
                <a:solidFill>
                  <a:schemeClr val="tx1"/>
                </a:solidFill>
                <a:latin typeface="Times New Roman" panose="02020603050405020304" pitchFamily="18" charset="0"/>
                <a:cs typeface="Times New Roman" panose="02020603050405020304" pitchFamily="18" charset="0"/>
              </a:rPr>
              <a:t>UML State Diagram.</a:t>
            </a:r>
            <a:endParaRPr lang="en-US" altLang="ja-JP" sz="2000" b="0" i="0" dirty="0">
              <a:solidFill>
                <a:schemeClr val="tx1"/>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UML </a:t>
            </a:r>
            <a:r>
              <a:rPr lang="en-US" altLang="ja-JP" sz="2000" b="1" dirty="0">
                <a:solidFill>
                  <a:schemeClr val="tx1"/>
                </a:solidFill>
                <a:latin typeface="Times New Roman" panose="02020603050405020304" pitchFamily="18" charset="0"/>
                <a:cs typeface="Times New Roman" panose="02020603050405020304" pitchFamily="18" charset="0"/>
              </a:rPr>
              <a:t>sequence diagrams</a:t>
            </a:r>
            <a:r>
              <a:rPr lang="en-US" altLang="ja-JP" sz="2000" dirty="0">
                <a:solidFill>
                  <a:schemeClr val="tx1"/>
                </a:solidFill>
                <a:latin typeface="Times New Roman" panose="02020603050405020304" pitchFamily="18" charset="0"/>
                <a:cs typeface="Times New Roman" panose="02020603050405020304" pitchFamily="18" charset="0"/>
              </a:rPr>
              <a:t> describe how objects interact with each other over time to complete a task. They are widely used in </a:t>
            </a:r>
            <a:r>
              <a:rPr lang="en-US" altLang="ja-JP" sz="2000" b="1" dirty="0">
                <a:solidFill>
                  <a:schemeClr val="tx1"/>
                </a:solidFill>
                <a:latin typeface="Times New Roman" panose="02020603050405020304" pitchFamily="18" charset="0"/>
                <a:cs typeface="Times New Roman" panose="02020603050405020304" pitchFamily="18" charset="0"/>
              </a:rPr>
              <a:t>planning and technical design</a:t>
            </a:r>
            <a:r>
              <a:rPr lang="en-US" altLang="ja-JP" sz="2000" dirty="0">
                <a:solidFill>
                  <a:schemeClr val="tx1"/>
                </a:solidFill>
                <a:latin typeface="Times New Roman" panose="02020603050405020304" pitchFamily="18" charset="0"/>
                <a:cs typeface="Times New Roman" panose="02020603050405020304" pitchFamily="18" charset="0"/>
              </a:rPr>
              <a:t>, before coding begins.</a:t>
            </a:r>
          </a:p>
          <a:p>
            <a:pPr marL="342900"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Think of a sequence diagram as a </a:t>
            </a:r>
            <a:r>
              <a:rPr lang="en-US" altLang="ja-JP" sz="2000" b="1" dirty="0">
                <a:solidFill>
                  <a:schemeClr val="tx1"/>
                </a:solidFill>
                <a:latin typeface="Times New Roman" panose="02020603050405020304" pitchFamily="18" charset="0"/>
                <a:cs typeface="Times New Roman" panose="02020603050405020304" pitchFamily="18" charset="0"/>
              </a:rPr>
              <a:t>conversation map</a:t>
            </a:r>
            <a:r>
              <a:rPr lang="en-US" altLang="ja-JP" sz="2000" dirty="0">
                <a:solidFill>
                  <a:schemeClr val="tx1"/>
                </a:solidFill>
                <a:latin typeface="Times New Roman" panose="02020603050405020304" pitchFamily="18" charset="0"/>
                <a:cs typeface="Times New Roman" panose="02020603050405020304" pitchFamily="18" charset="0"/>
              </a:rPr>
              <a:t>: it shows the messages exchanged between objects (or actors) to achieve a goal.</a:t>
            </a:r>
          </a:p>
          <a:p>
            <a:pPr marL="342900" indent="-342900" algn="l">
              <a:buFont typeface="Wingdings" panose="05000000000000000000" pitchFamily="2" charset="2"/>
              <a:buChar char="ü"/>
            </a:pP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43</a:t>
            </a:fld>
            <a:endParaRPr lang="en-US" dirty="0">
              <a:solidFill>
                <a:schemeClr val="tx1"/>
              </a:solidFill>
            </a:endParaRPr>
          </a:p>
        </p:txBody>
      </p:sp>
      <p:sp>
        <p:nvSpPr>
          <p:cNvPr id="8" name="TextBox 7">
            <a:extLst>
              <a:ext uri="{FF2B5EF4-FFF2-40B4-BE49-F238E27FC236}">
                <a16:creationId xmlns:a16="http://schemas.microsoft.com/office/drawing/2014/main" id="{6C519726-EE05-9340-B1D2-D8B0673ED66C}"/>
              </a:ext>
            </a:extLst>
          </p:cNvPr>
          <p:cNvSpPr txBox="1"/>
          <p:nvPr/>
        </p:nvSpPr>
        <p:spPr>
          <a:xfrm>
            <a:off x="17721" y="3490790"/>
            <a:ext cx="5805377" cy="461665"/>
          </a:xfrm>
          <a:prstGeom prst="rect">
            <a:avLst/>
          </a:prstGeom>
          <a:noFill/>
        </p:spPr>
        <p:txBody>
          <a:bodyPr wrap="square">
            <a:spAutoFit/>
          </a:bodyPr>
          <a:lstStyle/>
          <a:p>
            <a:pPr marL="342900" indent="-342900">
              <a:buFont typeface="Wingdings" panose="05000000000000000000" pitchFamily="2" charset="2"/>
              <a:buChar char="u"/>
            </a:pPr>
            <a:r>
              <a:rPr lang="en-US" altLang="ja-JP" sz="2400" dirty="0">
                <a:latin typeface="Times New Roman" panose="02020603050405020304" pitchFamily="18" charset="0"/>
                <a:cs typeface="Times New Roman" panose="02020603050405020304" pitchFamily="18" charset="0"/>
              </a:rPr>
              <a:t>Key Components of a Sequence Diagram</a:t>
            </a:r>
            <a:endParaRPr lang="ja-JP" altLang="en-US" sz="2400" dirty="0">
              <a:latin typeface="Times New Roman" panose="02020603050405020304" pitchFamily="18" charset="0"/>
              <a:cs typeface="Times New Roman" panose="02020603050405020304" pitchFamily="18" charset="0"/>
            </a:endParaRPr>
          </a:p>
        </p:txBody>
      </p:sp>
      <p:sp>
        <p:nvSpPr>
          <p:cNvPr id="9" name="Rectangle 2">
            <a:extLst>
              <a:ext uri="{FF2B5EF4-FFF2-40B4-BE49-F238E27FC236}">
                <a16:creationId xmlns:a16="http://schemas.microsoft.com/office/drawing/2014/main" id="{6054A0CC-B539-72C5-A101-9574210ABCB5}"/>
              </a:ext>
            </a:extLst>
          </p:cNvPr>
          <p:cNvSpPr>
            <a:spLocks noChangeArrowheads="1"/>
          </p:cNvSpPr>
          <p:nvPr/>
        </p:nvSpPr>
        <p:spPr bwMode="auto">
          <a:xfrm>
            <a:off x="17721" y="3911090"/>
            <a:ext cx="7830879" cy="252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Objects / Roles (Boxes at the top)</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Represent roles played by objects (often named after their class).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Lifelines (Vertical dashed lines)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Show the passage of time for an object.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Messages (Solid arrows)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Represent communication from one object to another.</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Label above arrow describes the message/action.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647320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fontScale="90000"/>
          </a:bodyPr>
          <a:lstStyle/>
          <a:p>
            <a:r>
              <a:rPr lang="en-US" altLang="ja-JP" sz="4800" b="1" dirty="0">
                <a:latin typeface="Times New Roman" pitchFamily="18" charset="0"/>
                <a:cs typeface="Times New Roman" pitchFamily="18" charset="0"/>
              </a:rPr>
              <a:t>Specialized UML class diagrams</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44</a:t>
            </a:fld>
            <a:endParaRPr lang="en-US" dirty="0">
              <a:solidFill>
                <a:schemeClr val="tx1"/>
              </a:solidFill>
            </a:endParaRPr>
          </a:p>
        </p:txBody>
      </p:sp>
      <p:sp>
        <p:nvSpPr>
          <p:cNvPr id="9" name="Rectangle 2">
            <a:extLst>
              <a:ext uri="{FF2B5EF4-FFF2-40B4-BE49-F238E27FC236}">
                <a16:creationId xmlns:a16="http://schemas.microsoft.com/office/drawing/2014/main" id="{6054A0CC-B539-72C5-A101-9574210ABCB5}"/>
              </a:ext>
            </a:extLst>
          </p:cNvPr>
          <p:cNvSpPr>
            <a:spLocks noChangeArrowheads="1"/>
          </p:cNvSpPr>
          <p:nvPr/>
        </p:nvSpPr>
        <p:spPr bwMode="auto">
          <a:xfrm>
            <a:off x="152400" y="1371600"/>
            <a:ext cx="87630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Return messages (Dashed arrows)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Show data/control returning to the sender.</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Activation bars (Small rectangles on lifeline)</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Indicate when an object is active (sending/receiving/waiting).</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Actors (Stick figures)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Represent people interacting with the system.</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Frame (Large box)</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Encloses the diagram; title placed at the top-left.</a:t>
            </a:r>
          </a:p>
          <a:p>
            <a:pPr marL="342900" indent="-342900"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elements</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alt</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(Alternative): shows conditional flows.</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loop</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repeats actions while a condition holds true.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176888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915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altLang="ja-JP" sz="3200" b="1" dirty="0">
                <a:latin typeface="Times New Roman" pitchFamily="18" charset="0"/>
                <a:cs typeface="Times New Roman" pitchFamily="18" charset="0"/>
              </a:rPr>
              <a:t>Example: Changing TV Channel with a Remote</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45</a:t>
            </a:fld>
            <a:endParaRPr lang="en-US" dirty="0">
              <a:solidFill>
                <a:schemeClr val="tx1"/>
              </a:solidFill>
            </a:endParaRPr>
          </a:p>
        </p:txBody>
      </p:sp>
      <p:sp>
        <p:nvSpPr>
          <p:cNvPr id="9" name="Rectangle 2">
            <a:extLst>
              <a:ext uri="{FF2B5EF4-FFF2-40B4-BE49-F238E27FC236}">
                <a16:creationId xmlns:a16="http://schemas.microsoft.com/office/drawing/2014/main" id="{6054A0CC-B539-72C5-A101-9574210ABCB5}"/>
              </a:ext>
            </a:extLst>
          </p:cNvPr>
          <p:cNvSpPr>
            <a:spLocks noChangeArrowheads="1"/>
          </p:cNvSpPr>
          <p:nvPr/>
        </p:nvSpPr>
        <p:spPr bwMode="auto">
          <a:xfrm>
            <a:off x="76200" y="1447800"/>
            <a:ext cx="87630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ü"/>
            </a:pPr>
            <a:r>
              <a:rPr lang="en-US" altLang="ja-JP" sz="2000" b="1" dirty="0">
                <a:latin typeface="Times New Roman" panose="02020603050405020304" pitchFamily="18" charset="0"/>
                <a:cs typeface="Times New Roman" panose="02020603050405020304" pitchFamily="18" charset="0"/>
              </a:rPr>
              <a:t>Simple Sequence:</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Actor (</a:t>
            </a:r>
            <a:r>
              <a:rPr lang="en-US" altLang="ja-JP" sz="2000" b="1" dirty="0">
                <a:latin typeface="Times New Roman" panose="02020603050405020304" pitchFamily="18" charset="0"/>
                <a:cs typeface="Times New Roman" panose="02020603050405020304" pitchFamily="18" charset="0"/>
              </a:rPr>
              <a:t>Viewer</a:t>
            </a:r>
            <a:r>
              <a:rPr lang="en-US" altLang="ja-JP" sz="2000" dirty="0">
                <a:latin typeface="Times New Roman" panose="02020603050405020304" pitchFamily="18" charset="0"/>
                <a:cs typeface="Times New Roman" panose="02020603050405020304" pitchFamily="18" charset="0"/>
              </a:rPr>
              <a:t>) sends input (press button) → </a:t>
            </a:r>
            <a:r>
              <a:rPr lang="en-US" altLang="ja-JP" sz="2000" b="1" dirty="0">
                <a:latin typeface="Times New Roman" panose="02020603050405020304" pitchFamily="18" charset="0"/>
                <a:cs typeface="Times New Roman" panose="02020603050405020304" pitchFamily="18" charset="0"/>
              </a:rPr>
              <a:t>Remote</a:t>
            </a:r>
            <a:r>
              <a:rPr lang="en-US" altLang="ja-JP" sz="2000" dirty="0">
                <a:latin typeface="Times New Roman" panose="02020603050405020304" pitchFamily="18" charset="0"/>
                <a:cs typeface="Times New Roman" panose="02020603050405020304" pitchFamily="18" charset="0"/>
              </a:rPr>
              <a:t>.</a:t>
            </a:r>
          </a:p>
          <a:p>
            <a:pPr marL="800100" lvl="1" indent="-342900">
              <a:buFont typeface="Wingdings" panose="05000000000000000000" pitchFamily="2" charset="2"/>
              <a:buChar char="Ø"/>
            </a:pPr>
            <a:r>
              <a:rPr lang="en-US" altLang="ja-JP" sz="2000" b="1" dirty="0">
                <a:latin typeface="Times New Roman" panose="02020603050405020304" pitchFamily="18" charset="0"/>
                <a:cs typeface="Times New Roman" panose="02020603050405020304" pitchFamily="18" charset="0"/>
              </a:rPr>
              <a:t>Remote</a:t>
            </a:r>
            <a:r>
              <a:rPr lang="en-US" altLang="ja-JP" sz="2000" dirty="0">
                <a:latin typeface="Times New Roman" panose="02020603050405020304" pitchFamily="18" charset="0"/>
                <a:cs typeface="Times New Roman" panose="02020603050405020304" pitchFamily="18" charset="0"/>
              </a:rPr>
              <a:t> forwards command → </a:t>
            </a:r>
            <a:r>
              <a:rPr lang="en-US" altLang="ja-JP" sz="2000" b="1" dirty="0">
                <a:latin typeface="Times New Roman" panose="02020603050405020304" pitchFamily="18" charset="0"/>
                <a:cs typeface="Times New Roman" panose="02020603050405020304" pitchFamily="18" charset="0"/>
              </a:rPr>
              <a:t>TV</a:t>
            </a:r>
            <a:r>
              <a:rPr lang="en-US" altLang="ja-JP" sz="2000" dirty="0">
                <a:latin typeface="Times New Roman" panose="02020603050405020304" pitchFamily="18" charset="0"/>
                <a:cs typeface="Times New Roman" panose="02020603050405020304" pitchFamily="18" charset="0"/>
              </a:rPr>
              <a:t>.</a:t>
            </a:r>
          </a:p>
          <a:p>
            <a:pPr marL="800100" lvl="1" indent="-342900">
              <a:buFont typeface="Wingdings" panose="05000000000000000000" pitchFamily="2" charset="2"/>
              <a:buChar char="Ø"/>
            </a:pPr>
            <a:r>
              <a:rPr lang="en-US" altLang="ja-JP" sz="2000" b="1" dirty="0">
                <a:latin typeface="Times New Roman" panose="02020603050405020304" pitchFamily="18" charset="0"/>
                <a:cs typeface="Times New Roman" panose="02020603050405020304" pitchFamily="18" charset="0"/>
              </a:rPr>
              <a:t>TV</a:t>
            </a:r>
            <a:r>
              <a:rPr lang="en-US" altLang="ja-JP" sz="2000" dirty="0">
                <a:latin typeface="Times New Roman" panose="02020603050405020304" pitchFamily="18" charset="0"/>
                <a:cs typeface="Times New Roman" panose="02020603050405020304" pitchFamily="18" charset="0"/>
              </a:rPr>
              <a:t> changes channel → displays to Viewer.</a:t>
            </a:r>
          </a:p>
          <a:p>
            <a:pPr marL="342900" indent="-342900">
              <a:buFont typeface="Wingdings" panose="05000000000000000000" pitchFamily="2" charset="2"/>
              <a:buChar char="ü"/>
            </a:pPr>
            <a:r>
              <a:rPr lang="en-US" altLang="ja-JP" sz="2000" b="1" dirty="0">
                <a:latin typeface="Times New Roman" panose="02020603050405020304" pitchFamily="18" charset="0"/>
                <a:cs typeface="Times New Roman" panose="02020603050405020304" pitchFamily="18" charset="0"/>
              </a:rPr>
              <a:t>Extended with Alternatives &amp; Loops:</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If Viewer is </a:t>
            </a:r>
            <a:r>
              <a:rPr lang="en-US" altLang="ja-JP" sz="2000" b="1" dirty="0">
                <a:latin typeface="Times New Roman" panose="02020603050405020304" pitchFamily="18" charset="0"/>
                <a:cs typeface="Times New Roman" panose="02020603050405020304" pitchFamily="18" charset="0"/>
              </a:rPr>
              <a:t>not satisfied</a:t>
            </a:r>
            <a:r>
              <a:rPr lang="en-US" altLang="ja-JP" sz="2000" dirty="0">
                <a:latin typeface="Times New Roman" panose="02020603050405020304" pitchFamily="18" charset="0"/>
                <a:cs typeface="Times New Roman" panose="02020603050405020304" pitchFamily="18" charset="0"/>
              </a:rPr>
              <a:t> with the channel → loop repeats.</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Viewer presses "up/down" → Remote → TV → New channel.</a:t>
            </a:r>
          </a:p>
          <a:p>
            <a:pPr marL="800100" lvl="1" indent="-342900">
              <a:buFont typeface="Wingdings" panose="05000000000000000000" pitchFamily="2" charset="2"/>
              <a:buChar char="Ø"/>
            </a:pPr>
            <a:r>
              <a:rPr lang="en-US" altLang="ja-JP" sz="2000" dirty="0">
                <a:latin typeface="Times New Roman" panose="02020603050405020304" pitchFamily="18" charset="0"/>
                <a:cs typeface="Times New Roman" panose="02020603050405020304" pitchFamily="18" charset="0"/>
              </a:rPr>
              <a:t>Continues until Viewer is satisfied.</a:t>
            </a:r>
          </a:p>
        </p:txBody>
      </p:sp>
    </p:spTree>
    <p:extLst>
      <p:ext uri="{BB962C8B-B14F-4D97-AF65-F5344CB8AC3E}">
        <p14:creationId xmlns:p14="http://schemas.microsoft.com/office/powerpoint/2010/main" val="35052526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500" y="92075"/>
            <a:ext cx="8534400" cy="762000"/>
          </a:xfrm>
          <a:ln>
            <a:noFill/>
          </a:ln>
        </p:spPr>
        <p:style>
          <a:lnRef idx="2">
            <a:schemeClr val="accent6"/>
          </a:lnRef>
          <a:fillRef idx="1">
            <a:schemeClr val="lt1"/>
          </a:fillRef>
          <a:effectRef idx="0">
            <a:schemeClr val="accent6"/>
          </a:effectRef>
          <a:fontRef idx="minor">
            <a:schemeClr val="dk1"/>
          </a:fontRef>
        </p:style>
        <p:txBody>
          <a:bodyPr>
            <a:normAutofit fontScale="90000"/>
          </a:bodyPr>
          <a:lstStyle/>
          <a:p>
            <a:r>
              <a:rPr lang="en-US" altLang="ja-JP" sz="4800" b="1" dirty="0">
                <a:latin typeface="Times New Roman" pitchFamily="18" charset="0"/>
                <a:cs typeface="Times New Roman" pitchFamily="18" charset="0"/>
              </a:rPr>
              <a:t>UML State Diagrams</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46</a:t>
            </a:fld>
            <a:endParaRPr lang="en-US" dirty="0">
              <a:solidFill>
                <a:schemeClr val="tx1"/>
              </a:solidFill>
            </a:endParaRPr>
          </a:p>
        </p:txBody>
      </p:sp>
      <p:sp>
        <p:nvSpPr>
          <p:cNvPr id="9" name="Rectangle 2">
            <a:extLst>
              <a:ext uri="{FF2B5EF4-FFF2-40B4-BE49-F238E27FC236}">
                <a16:creationId xmlns:a16="http://schemas.microsoft.com/office/drawing/2014/main" id="{6054A0CC-B539-72C5-A101-9574210ABCB5}"/>
              </a:ext>
            </a:extLst>
          </p:cNvPr>
          <p:cNvSpPr>
            <a:spLocks noChangeArrowheads="1"/>
          </p:cNvSpPr>
          <p:nvPr/>
        </p:nvSpPr>
        <p:spPr bwMode="auto">
          <a:xfrm>
            <a:off x="-87719" y="825547"/>
            <a:ext cx="876300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ü"/>
            </a:pPr>
            <a:r>
              <a:rPr lang="en-US" altLang="ja-JP" sz="2000" dirty="0">
                <a:latin typeface="Times New Roman" panose="02020603050405020304" pitchFamily="18" charset="0"/>
                <a:cs typeface="Times New Roman" panose="02020603050405020304" pitchFamily="18" charset="0"/>
              </a:rPr>
              <a:t>A </a:t>
            </a:r>
            <a:r>
              <a:rPr lang="en-US" altLang="ja-JP" sz="2000" b="1" dirty="0">
                <a:latin typeface="Times New Roman" panose="02020603050405020304" pitchFamily="18" charset="0"/>
                <a:cs typeface="Times New Roman" panose="02020603050405020304" pitchFamily="18" charset="0"/>
              </a:rPr>
              <a:t>UML State Diagram</a:t>
            </a:r>
            <a:r>
              <a:rPr lang="en-US" altLang="ja-JP" sz="2000" dirty="0">
                <a:latin typeface="Times New Roman" panose="02020603050405020304" pitchFamily="18" charset="0"/>
                <a:cs typeface="Times New Roman" panose="02020603050405020304" pitchFamily="18" charset="0"/>
              </a:rPr>
              <a:t> describes how a system or an object </a:t>
            </a:r>
            <a:r>
              <a:rPr lang="en-US" altLang="ja-JP" sz="2000" b="1" dirty="0">
                <a:latin typeface="Times New Roman" panose="02020603050405020304" pitchFamily="18" charset="0"/>
                <a:cs typeface="Times New Roman" panose="02020603050405020304" pitchFamily="18" charset="0"/>
              </a:rPr>
              <a:t>behaves and responds</a:t>
            </a:r>
            <a:r>
              <a:rPr lang="en-US" altLang="ja-JP" sz="2000" dirty="0">
                <a:latin typeface="Times New Roman" panose="02020603050405020304" pitchFamily="18" charset="0"/>
                <a:cs typeface="Times New Roman" panose="02020603050405020304" pitchFamily="18" charset="0"/>
              </a:rPr>
              <a:t> to events over time. It shows the </a:t>
            </a:r>
            <a:r>
              <a:rPr lang="en-US" altLang="ja-JP" sz="2000" b="1" dirty="0">
                <a:latin typeface="Times New Roman" panose="02020603050405020304" pitchFamily="18" charset="0"/>
                <a:cs typeface="Times New Roman" panose="02020603050405020304" pitchFamily="18" charset="0"/>
              </a:rPr>
              <a:t>different states</a:t>
            </a:r>
            <a:r>
              <a:rPr lang="en-US" altLang="ja-JP" sz="2000" dirty="0">
                <a:latin typeface="Times New Roman" panose="02020603050405020304" pitchFamily="18" charset="0"/>
                <a:cs typeface="Times New Roman" panose="02020603050405020304" pitchFamily="18" charset="0"/>
              </a:rPr>
              <a:t> an object can be in, and the </a:t>
            </a:r>
            <a:r>
              <a:rPr lang="en-US" altLang="ja-JP" sz="2000" b="1" dirty="0">
                <a:latin typeface="Times New Roman" panose="02020603050405020304" pitchFamily="18" charset="0"/>
                <a:cs typeface="Times New Roman" panose="02020603050405020304" pitchFamily="18" charset="0"/>
              </a:rPr>
              <a:t>transitions</a:t>
            </a:r>
            <a:r>
              <a:rPr lang="en-US" altLang="ja-JP" sz="2000" dirty="0">
                <a:latin typeface="Times New Roman" panose="02020603050405020304" pitchFamily="18" charset="0"/>
                <a:cs typeface="Times New Roman" panose="02020603050405020304" pitchFamily="18" charset="0"/>
              </a:rPr>
              <a:t> between those states when events occur.</a:t>
            </a:r>
          </a:p>
          <a:p>
            <a:pPr marL="342900" indent="-342900">
              <a:buFont typeface="Wingdings" panose="05000000000000000000" pitchFamily="2" charset="2"/>
              <a:buChar char="ü"/>
            </a:pPr>
            <a:r>
              <a:rPr lang="en-US" altLang="ja-JP" sz="2000" dirty="0">
                <a:latin typeface="Times New Roman" panose="02020603050405020304" pitchFamily="18" charset="0"/>
                <a:cs typeface="Times New Roman" panose="02020603050405020304" pitchFamily="18" charset="0"/>
              </a:rPr>
              <a:t>A </a:t>
            </a:r>
            <a:r>
              <a:rPr lang="en-US" altLang="ja-JP" sz="2000" b="1" dirty="0">
                <a:latin typeface="Times New Roman" panose="02020603050405020304" pitchFamily="18" charset="0"/>
                <a:cs typeface="Times New Roman" panose="02020603050405020304" pitchFamily="18" charset="0"/>
              </a:rPr>
              <a:t>state</a:t>
            </a:r>
            <a:r>
              <a:rPr lang="en-US" altLang="ja-JP" sz="2000" dirty="0">
                <a:latin typeface="Times New Roman" panose="02020603050405020304" pitchFamily="18" charset="0"/>
                <a:cs typeface="Times New Roman" panose="02020603050405020304" pitchFamily="18" charset="0"/>
              </a:rPr>
              <a:t> represents the condition of an object at a specific moment, defined by its </a:t>
            </a:r>
            <a:r>
              <a:rPr lang="en-US" altLang="ja-JP" sz="2000" b="1" dirty="0">
                <a:latin typeface="Times New Roman" panose="02020603050405020304" pitchFamily="18" charset="0"/>
                <a:cs typeface="Times New Roman" panose="02020603050405020304" pitchFamily="18" charset="0"/>
              </a:rPr>
              <a:t>attributes and behavior</a:t>
            </a:r>
            <a:r>
              <a:rPr lang="en-US" altLang="ja-JP" sz="2000"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81246F65-97CD-7D72-A7E3-FC12DCBDAE68}"/>
              </a:ext>
            </a:extLst>
          </p:cNvPr>
          <p:cNvSpPr txBox="1"/>
          <p:nvPr/>
        </p:nvSpPr>
        <p:spPr>
          <a:xfrm>
            <a:off x="-75314" y="2456763"/>
            <a:ext cx="4572000" cy="369332"/>
          </a:xfrm>
          <a:prstGeom prst="rect">
            <a:avLst/>
          </a:prstGeom>
          <a:noFill/>
        </p:spPr>
        <p:txBody>
          <a:bodyPr wrap="square">
            <a:spAutoFit/>
          </a:bodyPr>
          <a:lstStyle/>
          <a:p>
            <a:pPr marL="285750" indent="-285750">
              <a:buFont typeface="Wingdings" panose="05000000000000000000" pitchFamily="2" charset="2"/>
              <a:buChar char="u"/>
            </a:pPr>
            <a:r>
              <a:rPr lang="en-US" altLang="ja-JP" b="1" dirty="0">
                <a:latin typeface="Times New Roman" panose="02020603050405020304" pitchFamily="18" charset="0"/>
                <a:cs typeface="Times New Roman" panose="02020603050405020304" pitchFamily="18" charset="0"/>
              </a:rPr>
              <a:t>Key Elements of a State Diagram</a:t>
            </a:r>
            <a:endParaRPr lang="ja-JP" altLang="en-US" b="1"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95709593-0867-F74B-1337-1F46734A2373}"/>
              </a:ext>
            </a:extLst>
          </p:cNvPr>
          <p:cNvSpPr>
            <a:spLocks noChangeArrowheads="1"/>
          </p:cNvSpPr>
          <p:nvPr/>
        </p:nvSpPr>
        <p:spPr bwMode="auto">
          <a:xfrm>
            <a:off x="7531" y="2795607"/>
            <a:ext cx="89535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States (Rounded rectangles)</a:t>
            </a:r>
            <a:endParaRPr kumimoji="0" lang="ja-JP" altLang="ja-JP"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Wingdings" panose="05000000000000000000" pitchFamily="2" charset="2"/>
              <a:buChar char="ü"/>
            </a:pPr>
            <a:r>
              <a:rPr kumimoji="0" lang="ja-JP" altLang="ja-JP"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Show the condition of an object at a point in time.</a:t>
            </a:r>
          </a:p>
          <a:p>
            <a:pPr marL="742950" lvl="1" indent="-285750" eaLnBrk="0" fontAlgn="base" hangingPunct="0">
              <a:spcBef>
                <a:spcPct val="0"/>
              </a:spcBef>
              <a:spcAft>
                <a:spcPct val="0"/>
              </a:spcAft>
              <a:buFont typeface="Wingdings" panose="05000000000000000000" pitchFamily="2" charset="2"/>
              <a:buChar char="ü"/>
            </a:pPr>
            <a:r>
              <a:rPr kumimoji="0" lang="ja-JP" altLang="ja-JP"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a:t>
            </a:r>
            <a:r>
              <a:rPr kumimoji="0" lang="ja-JP" altLang="ja-JP"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Park, Reverse, Neutral, Drive</a:t>
            </a:r>
            <a:r>
              <a:rPr kumimoji="0" lang="ja-JP" altLang="ja-JP"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a car.</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Transitions (Arrows)</a:t>
            </a:r>
            <a:endParaRPr kumimoji="0" lang="ja-JP" altLang="ja-JP"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Wingdings" panose="05000000000000000000" pitchFamily="2" charset="2"/>
              <a:buChar char="ü"/>
            </a:pPr>
            <a:r>
              <a:rPr kumimoji="0" lang="ja-JP" altLang="ja-JP"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Show the movement from one state to another when an event occurs.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Events (Triggers)</a:t>
            </a:r>
            <a:endParaRPr kumimoji="0" lang="ja-JP" altLang="ja-JP"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Wingdings" panose="05000000000000000000" pitchFamily="2" charset="2"/>
              <a:buChar char="ü"/>
            </a:pPr>
            <a:r>
              <a:rPr kumimoji="0" lang="ja-JP" altLang="ja-JP"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Cause a transition between states.</a:t>
            </a:r>
          </a:p>
          <a:p>
            <a:pPr marL="742950" lvl="1" indent="-285750" eaLnBrk="0" fontAlgn="base" hangingPunct="0">
              <a:spcBef>
                <a:spcPct val="0"/>
              </a:spcBef>
              <a:spcAft>
                <a:spcPct val="0"/>
              </a:spcAft>
              <a:buFont typeface="Wingdings" panose="05000000000000000000" pitchFamily="2" charset="2"/>
              <a:buChar char="ü"/>
            </a:pPr>
            <a:r>
              <a:rPr kumimoji="0" lang="ja-JP" altLang="ja-JP"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a:t>
            </a:r>
            <a:r>
              <a:rPr kumimoji="0" lang="ja-JP" altLang="ja-JP"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Shift gear, Press start, Turn off</a:t>
            </a:r>
            <a:r>
              <a:rPr kumimoji="0" lang="ja-JP" altLang="ja-JP"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Actions (Outputs/Behaviors)</a:t>
            </a:r>
            <a:endParaRPr kumimoji="0" lang="ja-JP" altLang="ja-JP"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Wingdings" panose="05000000000000000000" pitchFamily="2" charset="2"/>
              <a:buChar char="ü"/>
            </a:pPr>
            <a:r>
              <a:rPr kumimoji="0" lang="ja-JP" altLang="ja-JP"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the system does during a transition or inside a state.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Initial State (Black filled circle)</a:t>
            </a:r>
            <a:endParaRPr kumimoji="0" lang="ja-JP" altLang="ja-JP"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Wingdings" panose="05000000000000000000" pitchFamily="2" charset="2"/>
              <a:buChar char="ü"/>
            </a:pPr>
            <a:r>
              <a:rPr kumimoji="0" lang="ja-JP" altLang="ja-JP"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starting point of the system/object.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 State (Circle with dot inside)</a:t>
            </a:r>
            <a:r>
              <a:rPr kumimoji="0" lang="en-US" altLang="ja-JP"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ja-JP" altLang="ja-JP"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Where the system/object ends.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ja-JP" altLang="ja-JP"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69339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altLang="ja-JP" sz="4800" b="1" dirty="0">
                <a:latin typeface="Times New Roman" pitchFamily="18" charset="0"/>
                <a:cs typeface="Times New Roman" pitchFamily="18" charset="0"/>
              </a:rPr>
              <a:t>UML State Diagrams</a:t>
            </a: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47</a:t>
            </a:fld>
            <a:endParaRPr lang="en-US" dirty="0">
              <a:solidFill>
                <a:schemeClr val="tx1"/>
              </a:solidFill>
            </a:endParaRPr>
          </a:p>
        </p:txBody>
      </p:sp>
      <p:pic>
        <p:nvPicPr>
          <p:cNvPr id="7" name="Picture 6">
            <a:extLst>
              <a:ext uri="{FF2B5EF4-FFF2-40B4-BE49-F238E27FC236}">
                <a16:creationId xmlns:a16="http://schemas.microsoft.com/office/drawing/2014/main" id="{DB4B6467-50AF-0D06-5033-E3D908DBE678}"/>
              </a:ext>
            </a:extLst>
          </p:cNvPr>
          <p:cNvPicPr>
            <a:picLocks noChangeAspect="1"/>
          </p:cNvPicPr>
          <p:nvPr/>
        </p:nvPicPr>
        <p:blipFill>
          <a:blip r:embed="rId3"/>
          <a:stretch>
            <a:fillRect/>
          </a:stretch>
        </p:blipFill>
        <p:spPr>
          <a:xfrm>
            <a:off x="0" y="1371600"/>
            <a:ext cx="4572000" cy="3436883"/>
          </a:xfrm>
          <a:prstGeom prst="rect">
            <a:avLst/>
          </a:prstGeom>
        </p:spPr>
      </p:pic>
      <p:pic>
        <p:nvPicPr>
          <p:cNvPr id="10" name="Picture 9">
            <a:extLst>
              <a:ext uri="{FF2B5EF4-FFF2-40B4-BE49-F238E27FC236}">
                <a16:creationId xmlns:a16="http://schemas.microsoft.com/office/drawing/2014/main" id="{1D799DAF-85A6-20FB-1732-7D662DD939C3}"/>
              </a:ext>
            </a:extLst>
          </p:cNvPr>
          <p:cNvPicPr>
            <a:picLocks noChangeAspect="1"/>
          </p:cNvPicPr>
          <p:nvPr/>
        </p:nvPicPr>
        <p:blipFill>
          <a:blip r:embed="rId4"/>
          <a:stretch>
            <a:fillRect/>
          </a:stretch>
        </p:blipFill>
        <p:spPr>
          <a:xfrm>
            <a:off x="4419600" y="1219200"/>
            <a:ext cx="4029637" cy="3458058"/>
          </a:xfrm>
          <a:prstGeom prst="rect">
            <a:avLst/>
          </a:prstGeom>
        </p:spPr>
      </p:pic>
      <p:pic>
        <p:nvPicPr>
          <p:cNvPr id="12" name="Picture 11">
            <a:extLst>
              <a:ext uri="{FF2B5EF4-FFF2-40B4-BE49-F238E27FC236}">
                <a16:creationId xmlns:a16="http://schemas.microsoft.com/office/drawing/2014/main" id="{BBE4759A-547E-D565-E6C7-ECEFB0A51547}"/>
              </a:ext>
            </a:extLst>
          </p:cNvPr>
          <p:cNvPicPr>
            <a:picLocks noChangeAspect="1"/>
          </p:cNvPicPr>
          <p:nvPr/>
        </p:nvPicPr>
        <p:blipFill>
          <a:blip r:embed="rId5"/>
          <a:stretch>
            <a:fillRect/>
          </a:stretch>
        </p:blipFill>
        <p:spPr>
          <a:xfrm>
            <a:off x="33670" y="4801395"/>
            <a:ext cx="3462618" cy="2137419"/>
          </a:xfrm>
          <a:prstGeom prst="rect">
            <a:avLst/>
          </a:prstGeom>
        </p:spPr>
      </p:pic>
    </p:spTree>
    <p:extLst>
      <p:ext uri="{BB962C8B-B14F-4D97-AF65-F5344CB8AC3E}">
        <p14:creationId xmlns:p14="http://schemas.microsoft.com/office/powerpoint/2010/main" val="31340715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Autofit/>
          </a:bodyPr>
          <a:lstStyle/>
          <a:p>
            <a:r>
              <a:rPr lang="en-US" altLang="ja-JP" sz="3200" b="1" dirty="0">
                <a:latin typeface="Times New Roman" panose="02020603050405020304" pitchFamily="18" charset="0"/>
                <a:cs typeface="Times New Roman" pitchFamily="18" charset="0"/>
              </a:rPr>
              <a:t>Example: </a:t>
            </a:r>
            <a:r>
              <a:rPr kumimoji="0" lang="ja-JP" altLang="ja-JP"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Car with Automatic Transmission</a:t>
            </a:r>
            <a:endParaRPr lang="en-US" altLang="ja-JP" sz="3200" b="1" dirty="0">
              <a:latin typeface="Times New Roman" panose="02020603050405020304" pitchFamily="18" charset="0"/>
              <a:cs typeface="Times New Roman"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48</a:t>
            </a:fld>
            <a:endParaRPr lang="en-US" dirty="0">
              <a:solidFill>
                <a:schemeClr val="tx1"/>
              </a:solidFill>
            </a:endParaRPr>
          </a:p>
        </p:txBody>
      </p:sp>
      <p:sp>
        <p:nvSpPr>
          <p:cNvPr id="7" name="Rectangle 1">
            <a:extLst>
              <a:ext uri="{FF2B5EF4-FFF2-40B4-BE49-F238E27FC236}">
                <a16:creationId xmlns:a16="http://schemas.microsoft.com/office/drawing/2014/main" id="{2AA7A640-01C4-DE97-6C20-F489D575CE39}"/>
              </a:ext>
            </a:extLst>
          </p:cNvPr>
          <p:cNvSpPr>
            <a:spLocks noChangeArrowheads="1"/>
          </p:cNvSpPr>
          <p:nvPr/>
        </p:nvSpPr>
        <p:spPr bwMode="auto">
          <a:xfrm>
            <a:off x="24809" y="1216988"/>
            <a:ext cx="9042991"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Car with Automatic Transmission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car can exist in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different states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Park</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Car is stationary and locked.</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Reverse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Car moves backward.</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Neutral</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Car wheels are disengaged.</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Drive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Car moves forward.</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Transition Example:</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the car is in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Reverse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can only move backward.</a:t>
            </a:r>
          </a:p>
          <a:p>
            <a:pPr marL="800100" lvl="1" indent="-342900" eaLnBrk="0" fontAlgn="base" hangingPunct="0">
              <a:spcBef>
                <a:spcPct val="0"/>
              </a:spcBef>
              <a:spcAft>
                <a:spcPct val="0"/>
              </a:spcAft>
              <a:buFont typeface="Wingdings" panose="05000000000000000000" pitchFamily="2" charset="2"/>
              <a:buChar char="Ø"/>
            </a:pP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move forward, the driver triggers a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gear shift event</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changing the state to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Drive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Rectangle 3">
            <a:extLst>
              <a:ext uri="{FF2B5EF4-FFF2-40B4-BE49-F238E27FC236}">
                <a16:creationId xmlns:a16="http://schemas.microsoft.com/office/drawing/2014/main" id="{DD19B45A-2DEF-DC5A-6F29-D2DF5081735F}"/>
              </a:ext>
            </a:extLst>
          </p:cNvPr>
          <p:cNvSpPr>
            <a:spLocks noChangeArrowheads="1"/>
          </p:cNvSpPr>
          <p:nvPr/>
        </p:nvSpPr>
        <p:spPr bwMode="auto">
          <a:xfrm>
            <a:off x="-63796" y="4405978"/>
            <a:ext cx="9131595"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Why Use State Diagrams?</a:t>
            </a:r>
          </a:p>
          <a:p>
            <a:pPr marL="800100" lvl="1" indent="-342900"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Clarify behavior</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Easier to see how an object responds to different inputs than reading source code.</a:t>
            </a:r>
          </a:p>
          <a:p>
            <a:pPr marL="800100" lvl="1" indent="-342900"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Reveal missing cases</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Helps identify unplanned conditions or transitions.</a:t>
            </a:r>
          </a:p>
          <a:p>
            <a:pPr marL="800100" lvl="1" indent="-342900"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testing</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Knowing all possible states ensures </a:t>
            </a: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complete test coverage</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800100" lvl="1" indent="-342900" eaLnBrk="0" fontAlgn="base" hangingPunct="0">
              <a:spcBef>
                <a:spcPct val="0"/>
              </a:spcBef>
              <a:spcAft>
                <a:spcPct val="0"/>
              </a:spcAft>
              <a:buFont typeface="Wingdings" panose="05000000000000000000" pitchFamily="2" charset="2"/>
              <a:buChar char="ü"/>
            </a:pPr>
            <a:r>
              <a:rPr kumimoji="0" lang="ja-JP" altLang="ja-JP"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Better communication</a:t>
            </a:r>
            <a:r>
              <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a shared visual language for designers, developers, and testers.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69089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2729"/>
            <a:ext cx="8534400" cy="609600"/>
          </a:xfrm>
        </p:spPr>
        <p:style>
          <a:lnRef idx="2">
            <a:schemeClr val="accent6"/>
          </a:lnRef>
          <a:fillRef idx="1">
            <a:schemeClr val="lt1"/>
          </a:fillRef>
          <a:effectRef idx="0">
            <a:schemeClr val="accent6"/>
          </a:effectRef>
          <a:fontRef idx="minor">
            <a:schemeClr val="dk1"/>
          </a:fontRef>
        </p:style>
        <p:txBody>
          <a:bodyPr>
            <a:normAutofit fontScale="90000"/>
          </a:bodyPr>
          <a:lstStyle/>
          <a:p>
            <a:r>
              <a:rPr lang="en-US" altLang="ja-JP" sz="4800" b="1" dirty="0">
                <a:latin typeface="Times New Roman" pitchFamily="18" charset="0"/>
                <a:cs typeface="Times New Roman" pitchFamily="18" charset="0"/>
              </a:rPr>
              <a:t>Model Checking</a:t>
            </a:r>
          </a:p>
        </p:txBody>
      </p:sp>
      <p:sp>
        <p:nvSpPr>
          <p:cNvPr id="4" name="Subtitle 3"/>
          <p:cNvSpPr>
            <a:spLocks noGrp="1"/>
          </p:cNvSpPr>
          <p:nvPr>
            <p:ph type="subTitle" idx="1"/>
          </p:nvPr>
        </p:nvSpPr>
        <p:spPr>
          <a:xfrm>
            <a:off x="62023" y="719506"/>
            <a:ext cx="8915400" cy="6214694"/>
          </a:xfrm>
        </p:spPr>
        <p:txBody>
          <a:bodyPr>
            <a:noAutofit/>
          </a:bodyPr>
          <a:lstStyle/>
          <a:p>
            <a:pPr marL="342900" indent="-342900" algn="l">
              <a:buFont typeface="Wingdings" panose="05000000000000000000" pitchFamily="2" charset="2"/>
              <a:buChar char="ü"/>
            </a:pPr>
            <a:r>
              <a:rPr lang="en-US" altLang="ja-JP" sz="2000" dirty="0">
                <a:solidFill>
                  <a:schemeClr val="tx1"/>
                </a:solidFill>
                <a:latin typeface="Times New Roman" panose="02020603050405020304" pitchFamily="18" charset="0"/>
                <a:cs typeface="Times New Roman" panose="02020603050405020304" pitchFamily="18" charset="0"/>
              </a:rPr>
              <a:t>Model checking is a </a:t>
            </a:r>
            <a:r>
              <a:rPr lang="en-US" altLang="ja-JP" sz="2000" b="1" dirty="0">
                <a:solidFill>
                  <a:schemeClr val="tx1"/>
                </a:solidFill>
                <a:latin typeface="Times New Roman" panose="02020603050405020304" pitchFamily="18" charset="0"/>
                <a:cs typeface="Times New Roman" panose="02020603050405020304" pitchFamily="18" charset="0"/>
              </a:rPr>
              <a:t>formal verification technique</a:t>
            </a:r>
            <a:r>
              <a:rPr lang="en-US" altLang="ja-JP" sz="2000" dirty="0">
                <a:solidFill>
                  <a:schemeClr val="tx1"/>
                </a:solidFill>
                <a:latin typeface="Times New Roman" panose="02020603050405020304" pitchFamily="18" charset="0"/>
                <a:cs typeface="Times New Roman" panose="02020603050405020304" pitchFamily="18" charset="0"/>
              </a:rPr>
              <a:t> used to systematically check whether a software system behaves correctly in </a:t>
            </a:r>
            <a:r>
              <a:rPr lang="en-US" altLang="ja-JP" sz="2000" b="1" dirty="0">
                <a:solidFill>
                  <a:schemeClr val="tx1"/>
                </a:solidFill>
                <a:latin typeface="Times New Roman" panose="02020603050405020304" pitchFamily="18" charset="0"/>
                <a:cs typeface="Times New Roman" panose="02020603050405020304" pitchFamily="18" charset="0"/>
              </a:rPr>
              <a:t>all its possible states</a:t>
            </a:r>
            <a:r>
              <a:rPr lang="en-US" altLang="ja-JP" sz="2000" dirty="0">
                <a:solidFill>
                  <a:schemeClr val="tx1"/>
                </a:solidFill>
                <a:latin typeface="Times New Roman" panose="02020603050405020304" pitchFamily="18" charset="0"/>
                <a:cs typeface="Times New Roman" panose="02020603050405020304" pitchFamily="18" charset="0"/>
              </a:rPr>
              <a:t>.</a:t>
            </a:r>
          </a:p>
          <a:p>
            <a:pPr marL="800100" lvl="1"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It explores every possible state transition of the system.</a:t>
            </a:r>
          </a:p>
          <a:p>
            <a:pPr marL="800100" lvl="1"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It helps identify errors that might not be caught by traditional testing methods (unit tests, beta testing, simulations, etc.).</a:t>
            </a:r>
          </a:p>
          <a:p>
            <a:pPr algn="l"/>
            <a:r>
              <a:rPr lang="ja-JP" altLang="en-US" sz="2000" b="1" dirty="0">
                <a:solidFill>
                  <a:schemeClr val="tx1"/>
                </a:solidFill>
                <a:latin typeface="Times New Roman" panose="02020603050405020304" pitchFamily="18" charset="0"/>
                <a:cs typeface="Times New Roman" panose="02020603050405020304" pitchFamily="18" charset="0"/>
              </a:rPr>
              <a:t>🔹 </a:t>
            </a:r>
            <a:r>
              <a:rPr lang="en-US" altLang="ja-JP" sz="2000" b="1" dirty="0">
                <a:solidFill>
                  <a:schemeClr val="tx1"/>
                </a:solidFill>
                <a:latin typeface="Times New Roman" panose="02020603050405020304" pitchFamily="18" charset="0"/>
                <a:cs typeface="Times New Roman" panose="02020603050405020304" pitchFamily="18" charset="0"/>
              </a:rPr>
              <a:t>How It Works</a:t>
            </a:r>
          </a:p>
          <a:p>
            <a:pPr algn="l">
              <a:buFont typeface="+mj-lt"/>
              <a:buAutoNum type="arabicPeriod"/>
            </a:pPr>
            <a:r>
              <a:rPr lang="en-US" altLang="ja-JP" sz="2000" b="1" dirty="0">
                <a:solidFill>
                  <a:schemeClr val="tx1"/>
                </a:solidFill>
                <a:latin typeface="Times New Roman" panose="02020603050405020304" pitchFamily="18" charset="0"/>
                <a:cs typeface="Times New Roman" panose="02020603050405020304" pitchFamily="18" charset="0"/>
              </a:rPr>
              <a:t>Generate a State Model</a:t>
            </a:r>
            <a:endParaRPr lang="en-US" altLang="ja-JP" sz="2000" dirty="0">
              <a:solidFill>
                <a:schemeClr val="tx1"/>
              </a:solidFill>
              <a:latin typeface="Times New Roman" panose="02020603050405020304" pitchFamily="18" charset="0"/>
              <a:cs typeface="Times New Roman" panose="02020603050405020304" pitchFamily="18" charset="0"/>
            </a:endParaRPr>
          </a:p>
          <a:p>
            <a:pPr marL="742950" lvl="1" indent="-285750" algn="l">
              <a:buFont typeface="+mj-lt"/>
              <a:buAutoNum type="arabicPeriod"/>
            </a:pPr>
            <a:r>
              <a:rPr lang="en-US" altLang="ja-JP" sz="2000" dirty="0">
                <a:solidFill>
                  <a:schemeClr val="tx1"/>
                </a:solidFill>
                <a:latin typeface="Times New Roman" panose="02020603050405020304" pitchFamily="18" charset="0"/>
                <a:cs typeface="Times New Roman" panose="02020603050405020304" pitchFamily="18" charset="0"/>
              </a:rPr>
              <a:t>From your software (e.g., code or specification), the model checker builds a </a:t>
            </a:r>
            <a:r>
              <a:rPr lang="en-US" altLang="ja-JP" sz="2000" b="1" dirty="0">
                <a:solidFill>
                  <a:schemeClr val="tx1"/>
                </a:solidFill>
                <a:latin typeface="Times New Roman" panose="02020603050405020304" pitchFamily="18" charset="0"/>
                <a:cs typeface="Times New Roman" panose="02020603050405020304" pitchFamily="18" charset="0"/>
              </a:rPr>
              <a:t>state model</a:t>
            </a:r>
            <a:r>
              <a:rPr lang="en-US" altLang="ja-JP" sz="2000" dirty="0">
                <a:solidFill>
                  <a:schemeClr val="tx1"/>
                </a:solidFill>
                <a:latin typeface="Times New Roman" panose="02020603050405020304" pitchFamily="18" charset="0"/>
                <a:cs typeface="Times New Roman" panose="02020603050405020304" pitchFamily="18" charset="0"/>
              </a:rPr>
              <a:t>.</a:t>
            </a:r>
          </a:p>
          <a:p>
            <a:pPr marL="742950" lvl="1" indent="-285750" algn="l">
              <a:buFont typeface="+mj-lt"/>
              <a:buAutoNum type="arabicPeriod"/>
            </a:pPr>
            <a:r>
              <a:rPr lang="en-US" altLang="ja-JP" sz="2000" dirty="0">
                <a:solidFill>
                  <a:schemeClr val="tx1"/>
                </a:solidFill>
                <a:latin typeface="Times New Roman" panose="02020603050405020304" pitchFamily="18" charset="0"/>
                <a:cs typeface="Times New Roman" panose="02020603050405020304" pitchFamily="18" charset="0"/>
              </a:rPr>
              <a:t>A state model is like an abstract state machine that represents the system’s states and transitions.</a:t>
            </a:r>
          </a:p>
          <a:p>
            <a:pPr algn="l">
              <a:buFont typeface="+mj-lt"/>
              <a:buAutoNum type="arabicPeriod"/>
            </a:pPr>
            <a:r>
              <a:rPr lang="en-US" altLang="ja-JP" sz="2000" b="1" dirty="0">
                <a:solidFill>
                  <a:schemeClr val="tx1"/>
                </a:solidFill>
                <a:latin typeface="Times New Roman" panose="02020603050405020304" pitchFamily="18" charset="0"/>
                <a:cs typeface="Times New Roman" panose="02020603050405020304" pitchFamily="18" charset="0"/>
              </a:rPr>
              <a:t>Check </a:t>
            </a:r>
            <a:r>
              <a:rPr lang="en-US" altLang="ja-JP" sz="2000" b="1" dirty="0" err="1">
                <a:solidFill>
                  <a:schemeClr val="tx1"/>
                </a:solidFill>
                <a:latin typeface="Times New Roman" panose="02020603050405020304" pitchFamily="18" charset="0"/>
                <a:cs typeface="Times New Roman" panose="02020603050405020304" pitchFamily="18" charset="0"/>
              </a:rPr>
              <a:t>Behavioural</a:t>
            </a:r>
            <a:r>
              <a:rPr lang="en-US" altLang="ja-JP" sz="2000" b="1" dirty="0">
                <a:solidFill>
                  <a:schemeClr val="tx1"/>
                </a:solidFill>
                <a:latin typeface="Times New Roman" panose="02020603050405020304" pitchFamily="18" charset="0"/>
                <a:cs typeface="Times New Roman" panose="02020603050405020304" pitchFamily="18" charset="0"/>
              </a:rPr>
              <a:t> Properties</a:t>
            </a:r>
            <a:endParaRPr lang="en-US" altLang="ja-JP" sz="2000" dirty="0">
              <a:solidFill>
                <a:schemeClr val="tx1"/>
              </a:solidFill>
              <a:latin typeface="Times New Roman" panose="02020603050405020304" pitchFamily="18" charset="0"/>
              <a:cs typeface="Times New Roman" panose="02020603050405020304" pitchFamily="18" charset="0"/>
            </a:endParaRPr>
          </a:p>
          <a:p>
            <a:pPr marL="742950" lvl="1" indent="-285750" algn="l">
              <a:buFont typeface="+mj-lt"/>
              <a:buAutoNum type="arabicPeriod"/>
            </a:pPr>
            <a:r>
              <a:rPr lang="en-US" altLang="ja-JP" sz="2000" dirty="0">
                <a:solidFill>
                  <a:schemeClr val="tx1"/>
                </a:solidFill>
                <a:latin typeface="Times New Roman" panose="02020603050405020304" pitchFamily="18" charset="0"/>
                <a:cs typeface="Times New Roman" panose="02020603050405020304" pitchFamily="18" charset="0"/>
              </a:rPr>
              <a:t>The model checker verifies whether the state model satisfies specific properties, such as:</a:t>
            </a:r>
          </a:p>
          <a:p>
            <a:pPr marL="1143000" lvl="2" indent="-228600" algn="l">
              <a:buFont typeface="+mj-lt"/>
              <a:buAutoNum type="arabicPeriod"/>
            </a:pPr>
            <a:r>
              <a:rPr lang="en-US" altLang="ja-JP" sz="2000" dirty="0">
                <a:solidFill>
                  <a:schemeClr val="tx1"/>
                </a:solidFill>
                <a:latin typeface="Times New Roman" panose="02020603050405020304" pitchFamily="18" charset="0"/>
                <a:cs typeface="Times New Roman" panose="02020603050405020304" pitchFamily="18" charset="0"/>
              </a:rPr>
              <a:t>No </a:t>
            </a:r>
            <a:r>
              <a:rPr lang="en-US" altLang="ja-JP" sz="2000" b="1" dirty="0">
                <a:solidFill>
                  <a:schemeClr val="tx1"/>
                </a:solidFill>
                <a:latin typeface="Times New Roman" panose="02020603050405020304" pitchFamily="18" charset="0"/>
                <a:cs typeface="Times New Roman" panose="02020603050405020304" pitchFamily="18" charset="0"/>
              </a:rPr>
              <a:t>deadlock</a:t>
            </a:r>
            <a:r>
              <a:rPr lang="en-US" altLang="ja-JP" sz="2000" dirty="0">
                <a:solidFill>
                  <a:schemeClr val="tx1"/>
                </a:solidFill>
                <a:latin typeface="Times New Roman" panose="02020603050405020304" pitchFamily="18" charset="0"/>
                <a:cs typeface="Times New Roman" panose="02020603050405020304" pitchFamily="18" charset="0"/>
              </a:rPr>
              <a:t> (system should not freeze with tasks waiting for each other).</a:t>
            </a:r>
          </a:p>
          <a:p>
            <a:pPr marL="1143000" lvl="2" indent="-228600" algn="l">
              <a:buFont typeface="+mj-lt"/>
              <a:buAutoNum type="arabicPeriod"/>
            </a:pPr>
            <a:r>
              <a:rPr lang="en-US" altLang="ja-JP" sz="2000" dirty="0">
                <a:solidFill>
                  <a:schemeClr val="tx1"/>
                </a:solidFill>
                <a:latin typeface="Times New Roman" panose="02020603050405020304" pitchFamily="18" charset="0"/>
                <a:cs typeface="Times New Roman" panose="02020603050405020304" pitchFamily="18" charset="0"/>
              </a:rPr>
              <a:t>No </a:t>
            </a:r>
            <a:r>
              <a:rPr lang="en-US" altLang="ja-JP" sz="2000" b="1" dirty="0">
                <a:solidFill>
                  <a:schemeClr val="tx1"/>
                </a:solidFill>
                <a:latin typeface="Times New Roman" panose="02020603050405020304" pitchFamily="18" charset="0"/>
                <a:cs typeface="Times New Roman" panose="02020603050405020304" pitchFamily="18" charset="0"/>
              </a:rPr>
              <a:t>race conditions</a:t>
            </a:r>
            <a:r>
              <a:rPr lang="en-US" altLang="ja-JP" sz="2000" dirty="0">
                <a:solidFill>
                  <a:schemeClr val="tx1"/>
                </a:solidFill>
                <a:latin typeface="Times New Roman" panose="02020603050405020304" pitchFamily="18" charset="0"/>
                <a:cs typeface="Times New Roman" panose="02020603050405020304" pitchFamily="18" charset="0"/>
              </a:rPr>
              <a:t> (two processes accessing shared resources unpredictably).</a:t>
            </a:r>
          </a:p>
          <a:p>
            <a:pPr marL="1143000" lvl="2" indent="-228600" algn="l">
              <a:buFont typeface="+mj-lt"/>
              <a:buAutoNum type="arabicPeriod"/>
            </a:pPr>
            <a:r>
              <a:rPr lang="en-US" altLang="ja-JP" sz="2000" dirty="0">
                <a:solidFill>
                  <a:schemeClr val="tx1"/>
                </a:solidFill>
                <a:latin typeface="Times New Roman" panose="02020603050405020304" pitchFamily="18" charset="0"/>
                <a:cs typeface="Times New Roman" panose="02020603050405020304" pitchFamily="18" charset="0"/>
              </a:rPr>
              <a:t>Certain events must always eventually occur.</a:t>
            </a:r>
            <a:endParaRPr kumimoji="0" lang="ja-JP" altLang="ja-JP"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49</a:t>
            </a:fld>
            <a:endParaRPr lang="en-US" dirty="0">
              <a:solidFill>
                <a:schemeClr val="tx1"/>
              </a:solidFill>
            </a:endParaRPr>
          </a:p>
        </p:txBody>
      </p:sp>
    </p:spTree>
    <p:extLst>
      <p:ext uri="{BB962C8B-B14F-4D97-AF65-F5344CB8AC3E}">
        <p14:creationId xmlns:p14="http://schemas.microsoft.com/office/powerpoint/2010/main" val="25519060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altLang="ja-JP" sz="4800" b="1" dirty="0">
                <a:latin typeface="Times New Roman" pitchFamily="18" charset="0"/>
                <a:cs typeface="Times New Roman" pitchFamily="18" charset="0"/>
              </a:rPr>
              <a:t>Model Checking</a:t>
            </a:r>
          </a:p>
        </p:txBody>
      </p:sp>
      <p:sp>
        <p:nvSpPr>
          <p:cNvPr id="4" name="Subtitle 3"/>
          <p:cNvSpPr>
            <a:spLocks noGrp="1"/>
          </p:cNvSpPr>
          <p:nvPr>
            <p:ph type="subTitle" idx="1"/>
          </p:nvPr>
        </p:nvSpPr>
        <p:spPr>
          <a:xfrm>
            <a:off x="114300" y="1219200"/>
            <a:ext cx="8915400" cy="5863856"/>
          </a:xfrm>
        </p:spPr>
        <p:txBody>
          <a:bodyPr>
            <a:noAutofit/>
          </a:bodyPr>
          <a:lstStyle/>
          <a:p>
            <a:pPr algn="l">
              <a:buFont typeface="+mj-lt"/>
              <a:buAutoNum type="arabicPeriod"/>
            </a:pPr>
            <a:r>
              <a:rPr lang="ja-JP" altLang="en-US" sz="2000" b="1" dirty="0">
                <a:solidFill>
                  <a:schemeClr val="tx1"/>
                </a:solidFill>
                <a:latin typeface="Times New Roman" panose="02020603050405020304" pitchFamily="18" charset="0"/>
                <a:cs typeface="Times New Roman" panose="02020603050405020304" pitchFamily="18" charset="0"/>
              </a:rPr>
              <a:t>🔹 </a:t>
            </a:r>
            <a:r>
              <a:rPr lang="en-US" altLang="ja-JP" sz="2000" b="1" dirty="0">
                <a:solidFill>
                  <a:schemeClr val="tx1"/>
                </a:solidFill>
                <a:latin typeface="Times New Roman" panose="02020603050405020304" pitchFamily="18" charset="0"/>
                <a:cs typeface="Times New Roman" panose="02020603050405020304" pitchFamily="18" charset="0"/>
              </a:rPr>
              <a:t>Why It’s Useful Explore All States</a:t>
            </a:r>
            <a:endParaRPr lang="en-US" altLang="ja-JP" sz="2000" dirty="0">
              <a:solidFill>
                <a:schemeClr val="tx1"/>
              </a:solidFill>
              <a:latin typeface="Times New Roman" panose="02020603050405020304" pitchFamily="18" charset="0"/>
              <a:cs typeface="Times New Roman" panose="02020603050405020304" pitchFamily="18" charset="0"/>
            </a:endParaRPr>
          </a:p>
          <a:p>
            <a:pPr marL="742950" lvl="1" indent="-285750" algn="l">
              <a:buFont typeface="+mj-lt"/>
              <a:buAutoNum type="arabicPeriod"/>
            </a:pPr>
            <a:r>
              <a:rPr lang="en-US" altLang="ja-JP" sz="2000" dirty="0">
                <a:solidFill>
                  <a:schemeClr val="tx1"/>
                </a:solidFill>
                <a:latin typeface="Times New Roman" panose="02020603050405020304" pitchFamily="18" charset="0"/>
                <a:cs typeface="Times New Roman" panose="02020603050405020304" pitchFamily="18" charset="0"/>
              </a:rPr>
              <a:t>The model checker simulates every possible state change caused by different events and inputs.</a:t>
            </a:r>
          </a:p>
          <a:p>
            <a:pPr marL="742950" lvl="1" indent="-285750" algn="l">
              <a:buFont typeface="+mj-lt"/>
              <a:buAutoNum type="arabicPeriod"/>
            </a:pPr>
            <a:r>
              <a:rPr lang="en-US" altLang="ja-JP" sz="2000" dirty="0">
                <a:solidFill>
                  <a:schemeClr val="tx1"/>
                </a:solidFill>
                <a:latin typeface="Times New Roman" panose="02020603050405020304" pitchFamily="18" charset="0"/>
                <a:cs typeface="Times New Roman" panose="02020603050405020304" pitchFamily="18" charset="0"/>
              </a:rPr>
              <a:t>If a violation is found (e.g., a deadlock is possible), the tool provides a </a:t>
            </a:r>
            <a:r>
              <a:rPr lang="en-US" altLang="ja-JP" sz="2000" b="1" dirty="0">
                <a:solidFill>
                  <a:schemeClr val="tx1"/>
                </a:solidFill>
                <a:latin typeface="Times New Roman" panose="02020603050405020304" pitchFamily="18" charset="0"/>
                <a:cs typeface="Times New Roman" panose="02020603050405020304" pitchFamily="18" charset="0"/>
              </a:rPr>
              <a:t>counterexample trace</a:t>
            </a:r>
            <a:r>
              <a:rPr lang="en-US" altLang="ja-JP" sz="2000" dirty="0">
                <a:solidFill>
                  <a:schemeClr val="tx1"/>
                </a:solidFill>
                <a:latin typeface="Times New Roman" panose="02020603050405020304" pitchFamily="18" charset="0"/>
                <a:cs typeface="Times New Roman" panose="02020603050405020304" pitchFamily="18" charset="0"/>
              </a:rPr>
              <a:t> showing how it could happen.</a:t>
            </a:r>
          </a:p>
          <a:p>
            <a:pPr marL="342900" indent="-342900" algn="l">
              <a:buFont typeface="Wingdings" panose="05000000000000000000" pitchFamily="2" charset="2"/>
              <a:buChar char="ü"/>
            </a:pPr>
            <a:r>
              <a:rPr lang="en-US" altLang="ja-JP" sz="2000" b="1" dirty="0">
                <a:solidFill>
                  <a:schemeClr val="tx1"/>
                </a:solidFill>
                <a:latin typeface="Times New Roman" panose="02020603050405020304" pitchFamily="18" charset="0"/>
                <a:cs typeface="Times New Roman" panose="02020603050405020304" pitchFamily="18" charset="0"/>
              </a:rPr>
              <a:t>Example</a:t>
            </a:r>
          </a:p>
          <a:p>
            <a:pPr marL="800100" lvl="1"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Suppose a system has a </a:t>
            </a:r>
            <a:r>
              <a:rPr lang="en-US" altLang="ja-JP" sz="2000" b="1" dirty="0">
                <a:solidFill>
                  <a:schemeClr val="tx1"/>
                </a:solidFill>
                <a:latin typeface="Times New Roman" panose="02020603050405020304" pitchFamily="18" charset="0"/>
                <a:cs typeface="Times New Roman" panose="02020603050405020304" pitchFamily="18" charset="0"/>
              </a:rPr>
              <a:t>rule: “No deadlock should occur.”</a:t>
            </a:r>
            <a:endParaRPr lang="en-US" altLang="ja-JP" sz="2000" dirty="0">
              <a:solidFill>
                <a:schemeClr val="tx1"/>
              </a:solidFill>
              <a:latin typeface="Times New Roman" panose="02020603050405020304" pitchFamily="18" charset="0"/>
              <a:cs typeface="Times New Roman" panose="02020603050405020304" pitchFamily="18" charset="0"/>
            </a:endParaRPr>
          </a:p>
          <a:p>
            <a:pPr marL="800100" lvl="1"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The model checker simulates all possible state transitions.</a:t>
            </a:r>
          </a:p>
          <a:p>
            <a:pPr marL="800100" lvl="1"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If it finds that Process A and Process B could wait forever for the same resource, it reports a </a:t>
            </a:r>
            <a:r>
              <a:rPr lang="en-US" altLang="ja-JP" sz="2000" b="1" dirty="0">
                <a:solidFill>
                  <a:schemeClr val="tx1"/>
                </a:solidFill>
                <a:latin typeface="Times New Roman" panose="02020603050405020304" pitchFamily="18" charset="0"/>
                <a:cs typeface="Times New Roman" panose="02020603050405020304" pitchFamily="18" charset="0"/>
              </a:rPr>
              <a:t>deadlock violation</a:t>
            </a:r>
            <a:r>
              <a:rPr lang="en-US" altLang="ja-JP" sz="2000" dirty="0">
                <a:solidFill>
                  <a:schemeClr val="tx1"/>
                </a:solidFill>
                <a:latin typeface="Times New Roman" panose="02020603050405020304" pitchFamily="18" charset="0"/>
                <a:cs typeface="Times New Roman" panose="02020603050405020304" pitchFamily="18" charset="0"/>
              </a:rPr>
              <a:t>.</a:t>
            </a:r>
          </a:p>
          <a:p>
            <a:pPr algn="l"/>
            <a:endParaRPr lang="en-US" altLang="ja-JP" sz="2000" b="1" dirty="0">
              <a:solidFill>
                <a:schemeClr val="tx1"/>
              </a:solidFill>
              <a:latin typeface="Times New Roman" panose="02020603050405020304" pitchFamily="18" charset="0"/>
              <a:cs typeface="Times New Roman" panose="02020603050405020304" pitchFamily="18" charset="0"/>
            </a:endParaRPr>
          </a:p>
          <a:p>
            <a:pPr algn="l"/>
            <a:r>
              <a:rPr lang="ja-JP" altLang="en-US" sz="2000" dirty="0">
                <a:solidFill>
                  <a:schemeClr val="tx1"/>
                </a:solidFill>
                <a:latin typeface="Times New Roman" panose="02020603050405020304" pitchFamily="18" charset="0"/>
                <a:cs typeface="Times New Roman" panose="02020603050405020304" pitchFamily="18" charset="0"/>
              </a:rPr>
              <a:t>✅ </a:t>
            </a:r>
            <a:r>
              <a:rPr lang="en-US" altLang="ja-JP" sz="2000" dirty="0">
                <a:solidFill>
                  <a:schemeClr val="tx1"/>
                </a:solidFill>
                <a:latin typeface="Times New Roman" panose="02020603050405020304" pitchFamily="18" charset="0"/>
                <a:cs typeface="Times New Roman" panose="02020603050405020304" pitchFamily="18" charset="0"/>
              </a:rPr>
              <a:t>Finds errors not easily detected by testing.</a:t>
            </a:r>
            <a:br>
              <a:rPr lang="en-US" altLang="ja-JP" sz="2000" dirty="0">
                <a:solidFill>
                  <a:schemeClr val="tx1"/>
                </a:solidFill>
                <a:latin typeface="Times New Roman" panose="02020603050405020304" pitchFamily="18" charset="0"/>
                <a:cs typeface="Times New Roman" panose="02020603050405020304" pitchFamily="18" charset="0"/>
              </a:rPr>
            </a:br>
            <a:r>
              <a:rPr lang="ja-JP" altLang="en-US" sz="2000" dirty="0">
                <a:solidFill>
                  <a:schemeClr val="tx1"/>
                </a:solidFill>
                <a:latin typeface="Times New Roman" panose="02020603050405020304" pitchFamily="18" charset="0"/>
                <a:cs typeface="Times New Roman" panose="02020603050405020304" pitchFamily="18" charset="0"/>
              </a:rPr>
              <a:t>✅ </a:t>
            </a:r>
            <a:r>
              <a:rPr lang="en-US" altLang="ja-JP" sz="2000" dirty="0">
                <a:solidFill>
                  <a:schemeClr val="tx1"/>
                </a:solidFill>
                <a:latin typeface="Times New Roman" panose="02020603050405020304" pitchFamily="18" charset="0"/>
                <a:cs typeface="Times New Roman" panose="02020603050405020304" pitchFamily="18" charset="0"/>
              </a:rPr>
              <a:t>Ensures system reliability, especially in safety-critical systems (banking, aviation, medical devices, etc.).</a:t>
            </a:r>
            <a:br>
              <a:rPr lang="en-US" altLang="ja-JP" sz="2000" dirty="0">
                <a:solidFill>
                  <a:schemeClr val="tx1"/>
                </a:solidFill>
                <a:latin typeface="Times New Roman" panose="02020603050405020304" pitchFamily="18" charset="0"/>
                <a:cs typeface="Times New Roman" panose="02020603050405020304" pitchFamily="18" charset="0"/>
              </a:rPr>
            </a:br>
            <a:r>
              <a:rPr lang="ja-JP" altLang="en-US" sz="2000" dirty="0">
                <a:solidFill>
                  <a:schemeClr val="tx1"/>
                </a:solidFill>
                <a:latin typeface="Times New Roman" panose="02020603050405020304" pitchFamily="18" charset="0"/>
                <a:cs typeface="Times New Roman" panose="02020603050405020304" pitchFamily="18" charset="0"/>
              </a:rPr>
              <a:t>✅ </a:t>
            </a:r>
            <a:r>
              <a:rPr lang="en-US" altLang="ja-JP" sz="2000" dirty="0">
                <a:solidFill>
                  <a:schemeClr val="tx1"/>
                </a:solidFill>
                <a:latin typeface="Times New Roman" panose="02020603050405020304" pitchFamily="18" charset="0"/>
                <a:cs typeface="Times New Roman" panose="02020603050405020304" pitchFamily="18" charset="0"/>
              </a:rPr>
              <a:t>Complements other testing techniques.</a:t>
            </a:r>
          </a:p>
          <a:p>
            <a:pPr marL="800100" lvl="1" indent="-342900" algn="l">
              <a:buFont typeface="Wingdings" panose="05000000000000000000" pitchFamily="2" charset="2"/>
              <a:buChar char="Ø"/>
            </a:pPr>
            <a:endParaRPr lang="en-US" altLang="ja-JP" sz="1600" dirty="0"/>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50</a:t>
            </a:fld>
            <a:endParaRPr lang="en-US" dirty="0">
              <a:solidFill>
                <a:schemeClr val="tx1"/>
              </a:solidFill>
            </a:endParaRPr>
          </a:p>
        </p:txBody>
      </p:sp>
    </p:spTree>
    <p:extLst>
      <p:ext uri="{BB962C8B-B14F-4D97-AF65-F5344CB8AC3E}">
        <p14:creationId xmlns:p14="http://schemas.microsoft.com/office/powerpoint/2010/main" val="35106511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534400" cy="990600"/>
          </a:xfrm>
        </p:spPr>
        <p:style>
          <a:lnRef idx="2">
            <a:schemeClr val="accent6"/>
          </a:lnRef>
          <a:fillRef idx="1">
            <a:schemeClr val="lt1"/>
          </a:fillRef>
          <a:effectRef idx="0">
            <a:schemeClr val="accent6"/>
          </a:effectRef>
          <a:fontRef idx="minor">
            <a:schemeClr val="dk1"/>
          </a:fontRef>
        </p:style>
        <p:txBody>
          <a:bodyPr>
            <a:normAutofit/>
          </a:bodyPr>
          <a:lstStyle/>
          <a:p>
            <a:r>
              <a:rPr lang="en-US" altLang="ja-JP" sz="4800" b="1" dirty="0">
                <a:latin typeface="Times New Roman" pitchFamily="18" charset="0"/>
                <a:cs typeface="Times New Roman" pitchFamily="18" charset="0"/>
              </a:rPr>
              <a:t>Example: Smartphone System</a:t>
            </a:r>
          </a:p>
        </p:txBody>
      </p:sp>
      <p:sp>
        <p:nvSpPr>
          <p:cNvPr id="4" name="Subtitle 3"/>
          <p:cNvSpPr>
            <a:spLocks noGrp="1"/>
          </p:cNvSpPr>
          <p:nvPr>
            <p:ph type="subTitle" idx="1"/>
          </p:nvPr>
        </p:nvSpPr>
        <p:spPr>
          <a:xfrm>
            <a:off x="76200" y="1222744"/>
            <a:ext cx="8915400" cy="5863856"/>
          </a:xfrm>
        </p:spPr>
        <p:txBody>
          <a:bodyPr>
            <a:noAutofit/>
          </a:bodyPr>
          <a:lstStyle/>
          <a:p>
            <a:pPr marL="342900" indent="-342900" algn="l">
              <a:buFont typeface="Wingdings" panose="05000000000000000000" pitchFamily="2" charset="2"/>
              <a:buChar char="ü"/>
            </a:pPr>
            <a:r>
              <a:rPr lang="en-US" altLang="ja-JP" sz="2800" dirty="0">
                <a:solidFill>
                  <a:schemeClr val="tx1"/>
                </a:solidFill>
                <a:latin typeface="Times New Roman" panose="02020603050405020304" pitchFamily="18" charset="0"/>
                <a:cs typeface="Times New Roman" panose="02020603050405020304" pitchFamily="18" charset="0"/>
              </a:rPr>
              <a:t>Initial Design:</a:t>
            </a:r>
          </a:p>
          <a:p>
            <a:pPr marL="800100" lvl="1"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Single </a:t>
            </a:r>
            <a:r>
              <a:rPr lang="en-US" altLang="ja-JP" sz="2000" dirty="0" err="1">
                <a:solidFill>
                  <a:schemeClr val="tx1"/>
                </a:solidFill>
                <a:latin typeface="Times New Roman" panose="02020603050405020304" pitchFamily="18" charset="0"/>
                <a:cs typeface="Times New Roman" panose="02020603050405020304" pitchFamily="18" charset="0"/>
              </a:rPr>
              <a:t>SmartPhone</a:t>
            </a:r>
            <a:r>
              <a:rPr lang="en-US" altLang="ja-JP" sz="2000" dirty="0">
                <a:solidFill>
                  <a:schemeClr val="tx1"/>
                </a:solidFill>
                <a:latin typeface="Times New Roman" panose="02020603050405020304" pitchFamily="18" charset="0"/>
                <a:cs typeface="Times New Roman" panose="02020603050405020304" pitchFamily="18" charset="0"/>
              </a:rPr>
              <a:t> class with both camera and phone functions</a:t>
            </a:r>
          </a:p>
          <a:p>
            <a:pPr marL="800100" lvl="1"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Low cohesion → unrelated behaviors mixed together</a:t>
            </a:r>
          </a:p>
          <a:p>
            <a:pPr marL="800100" lvl="1" indent="-342900" algn="l">
              <a:buFont typeface="Wingdings" panose="05000000000000000000" pitchFamily="2" charset="2"/>
              <a:buChar char="Ø"/>
            </a:pPr>
            <a:r>
              <a:rPr lang="en-US" altLang="ja-JP" sz="2000" dirty="0">
                <a:solidFill>
                  <a:schemeClr val="tx1"/>
                </a:solidFill>
                <a:latin typeface="Times New Roman" panose="02020603050405020304" pitchFamily="18" charset="0"/>
                <a:cs typeface="Times New Roman" panose="02020603050405020304" pitchFamily="18" charset="0"/>
              </a:rPr>
              <a:t>Poor modularity → cannot reuse or replace components separately</a:t>
            </a:r>
          </a:p>
          <a:p>
            <a:pPr marL="342900" indent="-342900" algn="l">
              <a:buFont typeface="Wingdings" panose="05000000000000000000" pitchFamily="2" charset="2"/>
              <a:buChar char="ü"/>
            </a:pPr>
            <a:r>
              <a:rPr lang="en-US" altLang="ja-JP" sz="2800" dirty="0">
                <a:solidFill>
                  <a:schemeClr val="tx1"/>
                </a:solidFill>
                <a:latin typeface="Times New Roman" panose="02020603050405020304" pitchFamily="18" charset="0"/>
                <a:cs typeface="Times New Roman" panose="02020603050405020304" pitchFamily="18" charset="0"/>
              </a:rPr>
              <a:t>Improved Design (with SoC):</a:t>
            </a:r>
          </a:p>
          <a:p>
            <a:pPr marL="800100" lvl="1" indent="-342900" algn="l">
              <a:buFont typeface="Wingdings" panose="05000000000000000000" pitchFamily="2" charset="2"/>
              <a:buChar char="Ø"/>
            </a:pPr>
            <a:r>
              <a:rPr lang="en-US" altLang="ja-JP" sz="2400" dirty="0">
                <a:solidFill>
                  <a:schemeClr val="tx1"/>
                </a:solidFill>
                <a:latin typeface="Times New Roman" panose="02020603050405020304" pitchFamily="18" charset="0"/>
                <a:cs typeface="Times New Roman" panose="02020603050405020304" pitchFamily="18" charset="0"/>
              </a:rPr>
              <a:t>Identify two concerns:</a:t>
            </a:r>
          </a:p>
          <a:p>
            <a:pPr marL="1257300" lvl="2" indent="-342900" algn="l">
              <a:buFont typeface="Wingdings" panose="05000000000000000000" pitchFamily="2" charset="2"/>
              <a:buChar char="l"/>
            </a:pPr>
            <a:r>
              <a:rPr lang="en-US" altLang="ja-JP" sz="2000" dirty="0">
                <a:solidFill>
                  <a:schemeClr val="tx1"/>
                </a:solidFill>
                <a:latin typeface="Times New Roman" panose="02020603050405020304" pitchFamily="18" charset="0"/>
                <a:cs typeface="Times New Roman" panose="02020603050405020304" pitchFamily="18" charset="0"/>
              </a:rPr>
              <a:t>Phone functionality</a:t>
            </a:r>
          </a:p>
          <a:p>
            <a:pPr marL="1257300" lvl="2" indent="-342900" algn="l">
              <a:buFont typeface="Wingdings" panose="05000000000000000000" pitchFamily="2" charset="2"/>
              <a:buChar char="l"/>
            </a:pPr>
            <a:r>
              <a:rPr lang="en-US" altLang="ja-JP" sz="2000" dirty="0">
                <a:solidFill>
                  <a:schemeClr val="tx1"/>
                </a:solidFill>
                <a:latin typeface="Times New Roman" panose="02020603050405020304" pitchFamily="18" charset="0"/>
                <a:cs typeface="Times New Roman" panose="02020603050405020304" pitchFamily="18" charset="0"/>
              </a:rPr>
              <a:t>Camera functionality</a:t>
            </a:r>
          </a:p>
          <a:p>
            <a:pPr marL="800100" lvl="1" indent="-342900" algn="l">
              <a:buFont typeface="Wingdings" panose="05000000000000000000" pitchFamily="2" charset="2"/>
              <a:buChar char="Ø"/>
            </a:pPr>
            <a:r>
              <a:rPr lang="en-US" altLang="ja-JP" sz="2400" dirty="0">
                <a:solidFill>
                  <a:schemeClr val="tx1"/>
                </a:solidFill>
                <a:latin typeface="Times New Roman" panose="02020603050405020304" pitchFamily="18" charset="0"/>
                <a:cs typeface="Times New Roman" panose="02020603050405020304" pitchFamily="18" charset="0"/>
              </a:rPr>
              <a:t>Create separate cohesive classes (Phone, Camera)</a:t>
            </a:r>
          </a:p>
          <a:p>
            <a:pPr marL="800100" lvl="1" indent="-342900" algn="l">
              <a:buFont typeface="Wingdings" panose="05000000000000000000" pitchFamily="2" charset="2"/>
              <a:buChar char="Ø"/>
            </a:pPr>
            <a:r>
              <a:rPr lang="en-US" altLang="ja-JP" sz="2400" dirty="0" err="1">
                <a:solidFill>
                  <a:schemeClr val="tx1"/>
                </a:solidFill>
                <a:latin typeface="Times New Roman" panose="02020603050405020304" pitchFamily="18" charset="0"/>
                <a:cs typeface="Times New Roman" panose="02020603050405020304" pitchFamily="18" charset="0"/>
              </a:rPr>
              <a:t>SmartPhone</a:t>
            </a:r>
            <a:r>
              <a:rPr lang="en-US" altLang="ja-JP" sz="2400" dirty="0">
                <a:solidFill>
                  <a:schemeClr val="tx1"/>
                </a:solidFill>
                <a:latin typeface="Times New Roman" panose="02020603050405020304" pitchFamily="18" charset="0"/>
                <a:cs typeface="Times New Roman" panose="02020603050405020304" pitchFamily="18" charset="0"/>
              </a:rPr>
              <a:t> acts as coordinator, referencing these components</a:t>
            </a:r>
          </a:p>
          <a:p>
            <a:pPr marL="800100" lvl="1" indent="-342900" algn="l">
              <a:buFont typeface="Wingdings" panose="05000000000000000000" pitchFamily="2" charset="2"/>
              <a:buChar char="Ø"/>
            </a:pPr>
            <a:r>
              <a:rPr lang="en-US" altLang="ja-JP" sz="2400" dirty="0">
                <a:solidFill>
                  <a:schemeClr val="tx1"/>
                </a:solidFill>
                <a:latin typeface="Times New Roman" panose="02020603050405020304" pitchFamily="18" charset="0"/>
                <a:cs typeface="Times New Roman" panose="02020603050405020304" pitchFamily="18" charset="0"/>
              </a:rPr>
              <a:t>Provides access without needing internal details</a:t>
            </a:r>
          </a:p>
          <a:p>
            <a:pPr marL="342900" indent="-342900" algn="l">
              <a:buFont typeface="Wingdings" panose="05000000000000000000" pitchFamily="2" charset="2"/>
              <a:buChar char="ü"/>
            </a:pPr>
            <a:endParaRPr lang="en-US" altLang="ja-JP" sz="2000" b="1" dirty="0">
              <a:solidFill>
                <a:schemeClr val="tx1"/>
              </a:solidFill>
              <a:latin typeface="Times New Roman" panose="02020603050405020304" pitchFamily="18" charset="0"/>
              <a:cs typeface="Times New Roman" panose="02020603050405020304" pitchFamily="18" charset="0"/>
            </a:endParaRPr>
          </a:p>
          <a:p>
            <a:pPr lvl="2" algn="l"/>
            <a:endParaRPr lang="en-US" altLang="ja-JP" sz="20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2000" b="0" i="0" u="none" strike="noStrike" cap="none" normalizeH="0" baseline="0" dirty="0">
              <a:ln>
                <a:noFill/>
              </a:ln>
              <a:solidFill>
                <a:schemeClr val="tx1"/>
              </a:solidFill>
              <a:effectLst/>
              <a:latin typeface="Arial" panose="020B0604020202020204" pitchFamily="34" charset="0"/>
            </a:endParaRPr>
          </a:p>
        </p:txBody>
      </p:sp>
      <p:sp>
        <p:nvSpPr>
          <p:cNvPr id="3" name="Slide Number Placeholder 2"/>
          <p:cNvSpPr>
            <a:spLocks noGrp="1"/>
          </p:cNvSpPr>
          <p:nvPr>
            <p:ph type="sldNum" sz="quarter" idx="12"/>
          </p:nvPr>
        </p:nvSpPr>
        <p:spPr>
          <a:xfrm>
            <a:off x="6781800" y="6400800"/>
            <a:ext cx="2133600" cy="365125"/>
          </a:xfrm>
        </p:spPr>
        <p:txBody>
          <a:bodyPr/>
          <a:lstStyle/>
          <a:p>
            <a:pPr algn="ctr"/>
            <a:fld id="{B6F15528-21DE-4FAA-801E-634DDDAF4B2B}" type="slidenum">
              <a:rPr lang="en-US" smtClean="0">
                <a:solidFill>
                  <a:schemeClr val="tx1"/>
                </a:solidFill>
              </a:rPr>
              <a:pPr algn="ctr"/>
              <a:t>51</a:t>
            </a:fld>
            <a:endParaRPr lang="en-US" dirty="0">
              <a:solidFill>
                <a:schemeClr val="tx1"/>
              </a:solidFill>
            </a:endParaRPr>
          </a:p>
        </p:txBody>
      </p:sp>
    </p:spTree>
    <p:extLst>
      <p:ext uri="{BB962C8B-B14F-4D97-AF65-F5344CB8AC3E}">
        <p14:creationId xmlns:p14="http://schemas.microsoft.com/office/powerpoint/2010/main" val="26495582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6781800" y="6400800"/>
            <a:ext cx="2133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CB061D28-FC46-53C7-B0B9-A7B1D9A89CBA}"/>
              </a:ext>
            </a:extLst>
          </p:cNvPr>
          <p:cNvPicPr>
            <a:picLocks noChangeAspect="1"/>
          </p:cNvPicPr>
          <p:nvPr/>
        </p:nvPicPr>
        <p:blipFill>
          <a:blip r:embed="rId3"/>
          <a:stretch>
            <a:fillRect/>
          </a:stretch>
        </p:blipFill>
        <p:spPr>
          <a:xfrm>
            <a:off x="-13877" y="6088060"/>
            <a:ext cx="762000" cy="772438"/>
          </a:xfrm>
          <a:prstGeom prst="rect">
            <a:avLst/>
          </a:prstGeom>
        </p:spPr>
      </p:pic>
      <p:pic>
        <p:nvPicPr>
          <p:cNvPr id="8" name="Picture 7">
            <a:extLst>
              <a:ext uri="{FF2B5EF4-FFF2-40B4-BE49-F238E27FC236}">
                <a16:creationId xmlns:a16="http://schemas.microsoft.com/office/drawing/2014/main" id="{616EE9EF-78D2-47FD-2FCF-64CC6FABA8BA}"/>
              </a:ext>
            </a:extLst>
          </p:cNvPr>
          <p:cNvPicPr>
            <a:picLocks noChangeAspect="1"/>
          </p:cNvPicPr>
          <p:nvPr/>
        </p:nvPicPr>
        <p:blipFill>
          <a:blip r:embed="rId4"/>
          <a:stretch>
            <a:fillRect/>
          </a:stretch>
        </p:blipFill>
        <p:spPr>
          <a:xfrm flipV="1">
            <a:off x="8203231" y="6300298"/>
            <a:ext cx="928277" cy="557702"/>
          </a:xfrm>
          <a:prstGeom prst="rect">
            <a:avLst/>
          </a:prstGeom>
        </p:spPr>
      </p:pic>
      <p:sp>
        <p:nvSpPr>
          <p:cNvPr id="7" name="Title 6">
            <a:extLst>
              <a:ext uri="{FF2B5EF4-FFF2-40B4-BE49-F238E27FC236}">
                <a16:creationId xmlns:a16="http://schemas.microsoft.com/office/drawing/2014/main" id="{7D67DCE4-E2BD-86F2-6AAC-031C5C56B109}"/>
              </a:ext>
            </a:extLst>
          </p:cNvPr>
          <p:cNvSpPr>
            <a:spLocks noGrp="1"/>
          </p:cNvSpPr>
          <p:nvPr>
            <p:ph type="ctrTitle"/>
          </p:nvPr>
        </p:nvSpPr>
        <p:spPr/>
        <p:txBody>
          <a:bodyPr/>
          <a:lstStyle/>
          <a:p>
            <a:r>
              <a:rPr lang="en-US" altLang="ja-JP" dirty="0"/>
              <a:t>Thank You (Q/A)</a:t>
            </a:r>
            <a:endParaRPr lang="ja-JP" altLang="en-US" dirty="0"/>
          </a:p>
        </p:txBody>
      </p:sp>
    </p:spTree>
    <p:extLst>
      <p:ext uri="{BB962C8B-B14F-4D97-AF65-F5344CB8AC3E}">
        <p14:creationId xmlns:p14="http://schemas.microsoft.com/office/powerpoint/2010/main" val="8180183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16936</TotalTime>
  <Words>5735</Words>
  <Application>Microsoft Office PowerPoint</Application>
  <PresentationFormat>On-screen Show (4:3)</PresentationFormat>
  <Paragraphs>741</Paragraphs>
  <Slides>52</Slides>
  <Notes>51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52</vt:i4>
      </vt:variant>
    </vt:vector>
  </HeadingPairs>
  <TitlesOfParts>
    <vt:vector size="60" baseType="lpstr">
      <vt:lpstr>CourierNewPSMT</vt:lpstr>
      <vt:lpstr>ＭＳ Ｐゴシック</vt:lpstr>
      <vt:lpstr>ＭＳ Ｐゴシック</vt:lpstr>
      <vt:lpstr>Arial</vt:lpstr>
      <vt:lpstr>Calibri</vt:lpstr>
      <vt:lpstr>Times New Roman</vt:lpstr>
      <vt:lpstr>Wingdings</vt:lpstr>
      <vt:lpstr>Office Theme</vt:lpstr>
      <vt:lpstr>Part A: Object-Oriented Design  </vt:lpstr>
      <vt:lpstr>Presentation Outline</vt:lpstr>
      <vt:lpstr>Design Principles</vt:lpstr>
      <vt:lpstr>Design Principles</vt:lpstr>
      <vt:lpstr>System Design &amp; Module Interaction</vt:lpstr>
      <vt:lpstr>Coupling in Software Design</vt:lpstr>
      <vt:lpstr>Coupling (Interdependence between modules)</vt:lpstr>
      <vt:lpstr>Cohesion in Software Design</vt:lpstr>
      <vt:lpstr>Cohesion in Software Design</vt:lpstr>
      <vt:lpstr>Cohesion in Software Design</vt:lpstr>
      <vt:lpstr>Coupling Cohesion Example-1 </vt:lpstr>
      <vt:lpstr>Coupling Cohesion Example-1 </vt:lpstr>
      <vt:lpstr>Coupling Cohesion Example-1 </vt:lpstr>
      <vt:lpstr>Coupling Cohesion Example-1 </vt:lpstr>
      <vt:lpstr>Coupling Cohesion Example-2 </vt:lpstr>
      <vt:lpstr>Separation of Concerns (SoC)</vt:lpstr>
      <vt:lpstr>Separation of Concerns (SoC)</vt:lpstr>
      <vt:lpstr>Separation of Concerns (SoC)</vt:lpstr>
      <vt:lpstr>Separation of Concerns (SoC)</vt:lpstr>
      <vt:lpstr>Separation of Concerns Example</vt:lpstr>
      <vt:lpstr>Separation of Concerns Example</vt:lpstr>
      <vt:lpstr>Separation of Concerns Example</vt:lpstr>
      <vt:lpstr>Separation of Concerns Example</vt:lpstr>
      <vt:lpstr>Separation of Concerns Example</vt:lpstr>
      <vt:lpstr>Example: Smartphone System</vt:lpstr>
      <vt:lpstr>Example: Smartphone System</vt:lpstr>
      <vt:lpstr>Example: Smartphone System</vt:lpstr>
      <vt:lpstr>Example: Smartphone System</vt:lpstr>
      <vt:lpstr>Example: Smartphone System</vt:lpstr>
      <vt:lpstr>Information Hiding in Software Design</vt:lpstr>
      <vt:lpstr>PowerPoint Presentation</vt:lpstr>
      <vt:lpstr>Information Hiding in Software Design</vt:lpstr>
      <vt:lpstr>Information Hiding in Software Design</vt:lpstr>
      <vt:lpstr>Attributes &amp; Access Modifiers (Java)</vt:lpstr>
      <vt:lpstr>Attributes &amp; Access Modifiers (Java)</vt:lpstr>
      <vt:lpstr>Conceptual Integrity in Software Design</vt:lpstr>
      <vt:lpstr>PowerPoint Presentation</vt:lpstr>
      <vt:lpstr>Conceptual Integrity in Software Design</vt:lpstr>
      <vt:lpstr>Conceptual Integrity in Software Design</vt:lpstr>
      <vt:lpstr>Conceptual Integrity – Key Practices</vt:lpstr>
      <vt:lpstr>Conceptual Integrity – Key Practices On DUMS</vt:lpstr>
      <vt:lpstr>Conceptual Integrity – Key Practices On DUMS</vt:lpstr>
      <vt:lpstr>Specialized UML class diagrams</vt:lpstr>
      <vt:lpstr>Specialized UML class diagrams</vt:lpstr>
      <vt:lpstr>Example: Changing TV Channel with a Remote</vt:lpstr>
      <vt:lpstr>UML State Diagrams</vt:lpstr>
      <vt:lpstr>UML State Diagrams</vt:lpstr>
      <vt:lpstr>Example: Car with Automatic Transmission</vt:lpstr>
      <vt:lpstr>Model Checking</vt:lpstr>
      <vt:lpstr>Model Checking</vt:lpstr>
      <vt:lpstr>Example: Smartphone System</vt:lpstr>
      <vt:lpstr>Thank You (Q/A)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Motor Imagery Classification Using TSM Dimensionality Reduction with Graph Fourier Transform(GFT)</dc:title>
  <dc:creator>Abid</dc:creator>
  <cp:lastModifiedBy>Abu Saleh Musa  Miah</cp:lastModifiedBy>
  <cp:revision>673</cp:revision>
  <dcterms:created xsi:type="dcterms:W3CDTF">2006-08-16T00:00:00Z</dcterms:created>
  <dcterms:modified xsi:type="dcterms:W3CDTF">2026-08-13T08:40:35Z</dcterms:modified>
</cp:coreProperties>
</file>