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81" r:id="rId3"/>
    <p:sldId id="282" r:id="rId4"/>
    <p:sldId id="279" r:id="rId5"/>
    <p:sldId id="280" r:id="rId6"/>
    <p:sldId id="283" r:id="rId7"/>
    <p:sldId id="257" r:id="rId8"/>
    <p:sldId id="258" r:id="rId9"/>
    <p:sldId id="259" r:id="rId10"/>
    <p:sldId id="260" r:id="rId11"/>
    <p:sldId id="284" r:id="rId12"/>
    <p:sldId id="261" r:id="rId13"/>
    <p:sldId id="262" r:id="rId14"/>
    <p:sldId id="285" r:id="rId15"/>
    <p:sldId id="263" r:id="rId16"/>
    <p:sldId id="264" r:id="rId17"/>
    <p:sldId id="265" r:id="rId18"/>
    <p:sldId id="286" r:id="rId19"/>
    <p:sldId id="266" r:id="rId20"/>
    <p:sldId id="267" r:id="rId21"/>
    <p:sldId id="268" r:id="rId22"/>
    <p:sldId id="269" r:id="rId23"/>
    <p:sldId id="287" r:id="rId24"/>
    <p:sldId id="270" r:id="rId25"/>
    <p:sldId id="271" r:id="rId26"/>
    <p:sldId id="272" r:id="rId27"/>
    <p:sldId id="273" r:id="rId28"/>
    <p:sldId id="288" r:id="rId29"/>
    <p:sldId id="289" r:id="rId30"/>
    <p:sldId id="291" r:id="rId31"/>
    <p:sldId id="292" r:id="rId32"/>
    <p:sldId id="293" r:id="rId33"/>
    <p:sldId id="294" r:id="rId34"/>
    <p:sldId id="295" r:id="rId35"/>
    <p:sldId id="296" r:id="rId36"/>
    <p:sldId id="297" r:id="rId37"/>
    <p:sldId id="298" r:id="rId38"/>
    <p:sldId id="300" r:id="rId39"/>
    <p:sldId id="301" r:id="rId40"/>
    <p:sldId id="302" r:id="rId41"/>
    <p:sldId id="303" r:id="rId42"/>
    <p:sldId id="305" r:id="rId43"/>
    <p:sldId id="304" r:id="rId44"/>
    <p:sldId id="290" r:id="rId45"/>
    <p:sldId id="307" r:id="rId46"/>
    <p:sldId id="308" r:id="rId47"/>
    <p:sldId id="309" r:id="rId48"/>
    <p:sldId id="310" r:id="rId49"/>
    <p:sldId id="306" r:id="rId50"/>
    <p:sldId id="277" r:id="rId51"/>
    <p:sldId id="278"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307" autoAdjust="0"/>
  </p:normalViewPr>
  <p:slideViewPr>
    <p:cSldViewPr snapToGrid="0" snapToObjects="1">
      <p:cViewPr varScale="1">
        <p:scale>
          <a:sx n="50" d="100"/>
          <a:sy n="50" d="100"/>
        </p:scale>
        <p:origin x="190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E277E7-8593-4AE6-87A6-57A3D36636E4}" type="datetimeFigureOut">
              <a:rPr kumimoji="1" lang="ja-JP" altLang="en-US" smtClean="0"/>
              <a:t>2026/8/28</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DA97FB-A056-4FD8-AF8D-5F29C9651053}" type="slidenum">
              <a:rPr kumimoji="1" lang="ja-JP" altLang="en-US" smtClean="0"/>
              <a:t>‹#›</a:t>
            </a:fld>
            <a:endParaRPr kumimoji="1" lang="ja-JP" altLang="en-US"/>
          </a:p>
        </p:txBody>
      </p:sp>
    </p:spTree>
    <p:extLst>
      <p:ext uri="{BB962C8B-B14F-4D97-AF65-F5344CB8AC3E}">
        <p14:creationId xmlns:p14="http://schemas.microsoft.com/office/powerpoint/2010/main" val="10516127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29</a:t>
            </a:fld>
            <a:endParaRPr kumimoji="1" lang="ja-JP" altLang="en-US"/>
          </a:p>
        </p:txBody>
      </p:sp>
    </p:spTree>
    <p:extLst>
      <p:ext uri="{BB962C8B-B14F-4D97-AF65-F5344CB8AC3E}">
        <p14:creationId xmlns:p14="http://schemas.microsoft.com/office/powerpoint/2010/main" val="1979265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30</a:t>
            </a:fld>
            <a:endParaRPr kumimoji="1" lang="ja-JP" altLang="en-US"/>
          </a:p>
        </p:txBody>
      </p:sp>
    </p:spTree>
    <p:extLst>
      <p:ext uri="{BB962C8B-B14F-4D97-AF65-F5344CB8AC3E}">
        <p14:creationId xmlns:p14="http://schemas.microsoft.com/office/powerpoint/2010/main" val="4115130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33</a:t>
            </a:fld>
            <a:endParaRPr kumimoji="1" lang="ja-JP" altLang="en-US"/>
          </a:p>
        </p:txBody>
      </p:sp>
    </p:spTree>
    <p:extLst>
      <p:ext uri="{BB962C8B-B14F-4D97-AF65-F5344CB8AC3E}">
        <p14:creationId xmlns:p14="http://schemas.microsoft.com/office/powerpoint/2010/main" val="3901604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34</a:t>
            </a:fld>
            <a:endParaRPr kumimoji="1" lang="ja-JP" altLang="en-US"/>
          </a:p>
        </p:txBody>
      </p:sp>
    </p:spTree>
    <p:extLst>
      <p:ext uri="{BB962C8B-B14F-4D97-AF65-F5344CB8AC3E}">
        <p14:creationId xmlns:p14="http://schemas.microsoft.com/office/powerpoint/2010/main" val="1482086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35</a:t>
            </a:fld>
            <a:endParaRPr kumimoji="1" lang="ja-JP" altLang="en-US"/>
          </a:p>
        </p:txBody>
      </p:sp>
    </p:spTree>
    <p:extLst>
      <p:ext uri="{BB962C8B-B14F-4D97-AF65-F5344CB8AC3E}">
        <p14:creationId xmlns:p14="http://schemas.microsoft.com/office/powerpoint/2010/main" val="1169455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36</a:t>
            </a:fld>
            <a:endParaRPr kumimoji="1" lang="ja-JP" altLang="en-US"/>
          </a:p>
        </p:txBody>
      </p:sp>
    </p:spTree>
    <p:extLst>
      <p:ext uri="{BB962C8B-B14F-4D97-AF65-F5344CB8AC3E}">
        <p14:creationId xmlns:p14="http://schemas.microsoft.com/office/powerpoint/2010/main" val="1524637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37</a:t>
            </a:fld>
            <a:endParaRPr kumimoji="1" lang="ja-JP" altLang="en-US"/>
          </a:p>
        </p:txBody>
      </p:sp>
    </p:spTree>
    <p:extLst>
      <p:ext uri="{BB962C8B-B14F-4D97-AF65-F5344CB8AC3E}">
        <p14:creationId xmlns:p14="http://schemas.microsoft.com/office/powerpoint/2010/main" val="948104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38</a:t>
            </a:fld>
            <a:endParaRPr kumimoji="1" lang="ja-JP" altLang="en-US"/>
          </a:p>
        </p:txBody>
      </p:sp>
    </p:spTree>
    <p:extLst>
      <p:ext uri="{BB962C8B-B14F-4D97-AF65-F5344CB8AC3E}">
        <p14:creationId xmlns:p14="http://schemas.microsoft.com/office/powerpoint/2010/main" val="3832429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39</a:t>
            </a:fld>
            <a:endParaRPr kumimoji="1" lang="ja-JP" altLang="en-US"/>
          </a:p>
        </p:txBody>
      </p:sp>
    </p:spTree>
    <p:extLst>
      <p:ext uri="{BB962C8B-B14F-4D97-AF65-F5344CB8AC3E}">
        <p14:creationId xmlns:p14="http://schemas.microsoft.com/office/powerpoint/2010/main" val="2508205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40</a:t>
            </a:fld>
            <a:endParaRPr kumimoji="1" lang="ja-JP" altLang="en-US"/>
          </a:p>
        </p:txBody>
      </p:sp>
    </p:spTree>
    <p:extLst>
      <p:ext uri="{BB962C8B-B14F-4D97-AF65-F5344CB8AC3E}">
        <p14:creationId xmlns:p14="http://schemas.microsoft.com/office/powerpoint/2010/main" val="3366381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41</a:t>
            </a:fld>
            <a:endParaRPr kumimoji="1" lang="ja-JP" altLang="en-US"/>
          </a:p>
        </p:txBody>
      </p:sp>
    </p:spTree>
    <p:extLst>
      <p:ext uri="{BB962C8B-B14F-4D97-AF65-F5344CB8AC3E}">
        <p14:creationId xmlns:p14="http://schemas.microsoft.com/office/powerpoint/2010/main" val="217354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42</a:t>
            </a:fld>
            <a:endParaRPr kumimoji="1" lang="ja-JP" altLang="en-US"/>
          </a:p>
        </p:txBody>
      </p:sp>
    </p:spTree>
    <p:extLst>
      <p:ext uri="{BB962C8B-B14F-4D97-AF65-F5344CB8AC3E}">
        <p14:creationId xmlns:p14="http://schemas.microsoft.com/office/powerpoint/2010/main" val="1295004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Exam Answer Summary</a:t>
            </a:r>
          </a:p>
          <a:p>
            <a:r>
              <a:rPr lang="en-US" altLang="ja-JP" b="1" dirty="0"/>
              <a:t>Appropriate Pattern:</a:t>
            </a:r>
            <a:r>
              <a:rPr lang="en-US" altLang="ja-JP" dirty="0"/>
              <a:t> Chain of Responsibility Design Pattern</a:t>
            </a:r>
          </a:p>
          <a:p>
            <a:r>
              <a:rPr lang="en-US" altLang="ja-JP" b="1" dirty="0"/>
              <a:t>Reason:</a:t>
            </a:r>
            <a:br>
              <a:rPr lang="en-US" altLang="ja-JP" dirty="0"/>
            </a:br>
            <a:r>
              <a:rPr lang="en-US" altLang="ja-JP" dirty="0"/>
              <a:t>The withdrawal request is passed through multiple authorization levels. Each authority decides whether it can approve the request; otherwise, it forwards the request to the next authority in the chain.</a:t>
            </a:r>
          </a:p>
          <a:p>
            <a:r>
              <a:rPr lang="en-US" altLang="ja-JP" b="1" dirty="0"/>
              <a:t>Participants:</a:t>
            </a:r>
            <a:endParaRPr lang="en-US" altLang="ja-JP" dirty="0"/>
          </a:p>
          <a:p>
            <a:pPr>
              <a:buFont typeface="Arial" panose="020B0604020202020204" pitchFamily="34" charset="0"/>
              <a:buChar char="•"/>
            </a:pPr>
            <a:r>
              <a:rPr lang="en-US" altLang="ja-JP" dirty="0"/>
              <a:t>Handler → Approver (abstract class) </a:t>
            </a:r>
          </a:p>
          <a:p>
            <a:pPr>
              <a:buFont typeface="Arial" panose="020B0604020202020204" pitchFamily="34" charset="0"/>
              <a:buChar char="•"/>
            </a:pPr>
            <a:r>
              <a:rPr lang="en-US" altLang="ja-JP" dirty="0"/>
              <a:t>Concrete Handlers → Cashier, Senior Officer, Manager </a:t>
            </a:r>
          </a:p>
          <a:p>
            <a:pPr>
              <a:buFont typeface="Arial" panose="020B0604020202020204" pitchFamily="34" charset="0"/>
              <a:buChar char="•"/>
            </a:pPr>
            <a:r>
              <a:rPr lang="en-US" altLang="ja-JP" dirty="0"/>
              <a:t>Client → Bank withdrawal system </a:t>
            </a:r>
          </a:p>
          <a:p>
            <a:r>
              <a:rPr lang="en-US" altLang="ja-JP" dirty="0"/>
              <a:t>This is the expected design pattern solution for this problem.</a:t>
            </a:r>
          </a:p>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43</a:t>
            </a:fld>
            <a:endParaRPr kumimoji="1" lang="ja-JP" altLang="en-US"/>
          </a:p>
        </p:txBody>
      </p:sp>
    </p:spTree>
    <p:extLst>
      <p:ext uri="{BB962C8B-B14F-4D97-AF65-F5344CB8AC3E}">
        <p14:creationId xmlns:p14="http://schemas.microsoft.com/office/powerpoint/2010/main" val="397448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44</a:t>
            </a:fld>
            <a:endParaRPr kumimoji="1" lang="ja-JP" altLang="en-US"/>
          </a:p>
        </p:txBody>
      </p:sp>
    </p:spTree>
    <p:extLst>
      <p:ext uri="{BB962C8B-B14F-4D97-AF65-F5344CB8AC3E}">
        <p14:creationId xmlns:p14="http://schemas.microsoft.com/office/powerpoint/2010/main" val="2602474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45</a:t>
            </a:fld>
            <a:endParaRPr kumimoji="1" lang="ja-JP" altLang="en-US"/>
          </a:p>
        </p:txBody>
      </p:sp>
    </p:spTree>
    <p:extLst>
      <p:ext uri="{BB962C8B-B14F-4D97-AF65-F5344CB8AC3E}">
        <p14:creationId xmlns:p14="http://schemas.microsoft.com/office/powerpoint/2010/main" val="1448753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46</a:t>
            </a:fld>
            <a:endParaRPr kumimoji="1" lang="ja-JP" altLang="en-US"/>
          </a:p>
        </p:txBody>
      </p:sp>
    </p:spTree>
    <p:extLst>
      <p:ext uri="{BB962C8B-B14F-4D97-AF65-F5344CB8AC3E}">
        <p14:creationId xmlns:p14="http://schemas.microsoft.com/office/powerpoint/2010/main" val="29812029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47</a:t>
            </a:fld>
            <a:endParaRPr kumimoji="1" lang="ja-JP" altLang="en-US"/>
          </a:p>
        </p:txBody>
      </p:sp>
    </p:spTree>
    <p:extLst>
      <p:ext uri="{BB962C8B-B14F-4D97-AF65-F5344CB8AC3E}">
        <p14:creationId xmlns:p14="http://schemas.microsoft.com/office/powerpoint/2010/main" val="17994829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6FDA97FB-A056-4FD8-AF8D-5F29C9651053}" type="slidenum">
              <a:rPr kumimoji="1" lang="ja-JP" altLang="en-US" smtClean="0"/>
              <a:t>48</a:t>
            </a:fld>
            <a:endParaRPr kumimoji="1" lang="ja-JP" altLang="en-US"/>
          </a:p>
        </p:txBody>
      </p:sp>
    </p:spTree>
    <p:extLst>
      <p:ext uri="{BB962C8B-B14F-4D97-AF65-F5344CB8AC3E}">
        <p14:creationId xmlns:p14="http://schemas.microsoft.com/office/powerpoint/2010/main" val="1528252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0"/>
            <a:ext cx="7956024" cy="646331"/>
          </a:xfrm>
          <a:prstGeom prst="rect">
            <a:avLst/>
          </a:prstGeom>
          <a:noFill/>
        </p:spPr>
        <p:txBody>
          <a:bodyPr wrap="none">
            <a:spAutoFit/>
          </a:bodyPr>
          <a:lstStyle/>
          <a:p>
            <a:pPr>
              <a:defRPr sz="2800" b="1">
                <a:latin typeface="Times New Roman"/>
              </a:defRPr>
            </a:pPr>
            <a:r>
              <a:rPr sz="3600" dirty="0"/>
              <a:t>Module 2: Behavioral Design Patterns</a:t>
            </a:r>
          </a:p>
        </p:txBody>
      </p:sp>
      <p:sp>
        <p:nvSpPr>
          <p:cNvPr id="3" name="TextBox 2"/>
          <p:cNvSpPr txBox="1"/>
          <p:nvPr/>
        </p:nvSpPr>
        <p:spPr>
          <a:xfrm>
            <a:off x="0" y="548640"/>
            <a:ext cx="11877367" cy="4970591"/>
          </a:xfrm>
          <a:prstGeom prst="rect">
            <a:avLst/>
          </a:prstGeom>
          <a:noFill/>
        </p:spPr>
        <p:txBody>
          <a:bodyPr wrap="square">
            <a:spAutoFit/>
          </a:bodyPr>
          <a:lstStyle/>
          <a:p>
            <a:pPr>
              <a:spcAft>
                <a:spcPts val="600"/>
              </a:spcAft>
              <a:defRPr sz="1600">
                <a:latin typeface="Times New Roman"/>
              </a:defRPr>
            </a:pPr>
            <a:r>
              <a:rPr lang="en-US" sz="2800" b="1" dirty="0">
                <a:solidFill>
                  <a:srgbClr val="FF0000"/>
                </a:solidFill>
              </a:rPr>
              <a:t>BDP: </a:t>
            </a:r>
            <a:r>
              <a:rPr sz="2800" b="1" dirty="0" err="1">
                <a:solidFill>
                  <a:srgbClr val="FF0000"/>
                </a:solidFill>
              </a:rPr>
              <a:t>Behavioural</a:t>
            </a:r>
            <a:r>
              <a:rPr sz="2800" b="1" dirty="0">
                <a:solidFill>
                  <a:srgbClr val="FF0000"/>
                </a:solidFill>
              </a:rPr>
              <a:t> design patterns focus on how objects communicate and interact with each other</a:t>
            </a:r>
            <a:r>
              <a:rPr sz="4000" b="1" dirty="0">
                <a:solidFill>
                  <a:srgbClr val="FF0000"/>
                </a:solidFill>
              </a:rPr>
              <a:t>.</a:t>
            </a:r>
          </a:p>
          <a:p>
            <a:pPr>
              <a:spcAft>
                <a:spcPts val="600"/>
              </a:spcAft>
              <a:defRPr sz="1600">
                <a:latin typeface="Times New Roman"/>
              </a:defRPr>
            </a:pPr>
            <a:r>
              <a:rPr dirty="0"/>
              <a:t>They define how responsibilities and algorithms are distributed among objects.</a:t>
            </a:r>
          </a:p>
          <a:p>
            <a:pPr>
              <a:spcAft>
                <a:spcPts val="600"/>
              </a:spcAft>
              <a:defRPr sz="1600">
                <a:latin typeface="Times New Roman"/>
              </a:defRPr>
            </a:pPr>
            <a:r>
              <a:rPr b="1" dirty="0">
                <a:solidFill>
                  <a:srgbClr val="00B0F0"/>
                </a:solidFill>
              </a:rPr>
              <a:t>They help make communication between objects: </a:t>
            </a:r>
            <a:r>
              <a:rPr b="1" dirty="0">
                <a:solidFill>
                  <a:srgbClr val="7030A0"/>
                </a:solidFill>
              </a:rPr>
              <a:t>Flexible; Maintainable; Loosely coupled; Easier to extend</a:t>
            </a:r>
            <a:r>
              <a:rPr dirty="0"/>
              <a:t>.</a:t>
            </a:r>
          </a:p>
          <a:p>
            <a:pPr>
              <a:spcAft>
                <a:spcPts val="600"/>
              </a:spcAft>
              <a:defRPr sz="1600">
                <a:latin typeface="Times New Roman"/>
              </a:defRPr>
            </a:pPr>
            <a:r>
              <a:rPr sz="2400" b="1" dirty="0">
                <a:solidFill>
                  <a:srgbClr val="00B0F0"/>
                </a:solidFill>
              </a:rPr>
              <a:t>Major Behavioral Patterns:</a:t>
            </a:r>
          </a:p>
          <a:p>
            <a:pPr lvl="1">
              <a:spcAft>
                <a:spcPts val="600"/>
              </a:spcAft>
              <a:defRPr sz="1500">
                <a:latin typeface="Times New Roman"/>
              </a:defRPr>
            </a:pPr>
            <a:r>
              <a:rPr sz="2400" dirty="0"/>
              <a:t>1. Template Method Pattern</a:t>
            </a:r>
          </a:p>
          <a:p>
            <a:pPr lvl="1">
              <a:spcAft>
                <a:spcPts val="600"/>
              </a:spcAft>
              <a:defRPr sz="1500">
                <a:latin typeface="Times New Roman"/>
              </a:defRPr>
            </a:pPr>
            <a:r>
              <a:rPr sz="2400" dirty="0"/>
              <a:t>2. Chain of Responsibility Pattern</a:t>
            </a:r>
          </a:p>
          <a:p>
            <a:pPr lvl="1">
              <a:spcAft>
                <a:spcPts val="600"/>
              </a:spcAft>
              <a:defRPr sz="1500">
                <a:latin typeface="Times New Roman"/>
              </a:defRPr>
            </a:pPr>
            <a:r>
              <a:rPr sz="2400" dirty="0"/>
              <a:t>3. State Pattern</a:t>
            </a:r>
          </a:p>
          <a:p>
            <a:pPr lvl="1">
              <a:spcAft>
                <a:spcPts val="600"/>
              </a:spcAft>
              <a:defRPr sz="1500">
                <a:latin typeface="Times New Roman"/>
              </a:defRPr>
            </a:pPr>
            <a:r>
              <a:rPr sz="2400" dirty="0"/>
              <a:t>4. Command Pattern</a:t>
            </a:r>
          </a:p>
          <a:p>
            <a:pPr lvl="1">
              <a:spcAft>
                <a:spcPts val="600"/>
              </a:spcAft>
              <a:defRPr sz="1500">
                <a:latin typeface="Times New Roman"/>
              </a:defRPr>
            </a:pPr>
            <a:r>
              <a:rPr sz="2400" dirty="0"/>
              <a:t>5. Observer Pattern</a:t>
            </a:r>
          </a:p>
          <a:p>
            <a:pPr>
              <a:spcAft>
                <a:spcPts val="600"/>
              </a:spcAft>
              <a:defRPr sz="1600">
                <a:latin typeface="Times New Roman"/>
              </a:defRPr>
            </a:pPr>
            <a:r>
              <a:rPr b="1" dirty="0">
                <a:solidFill>
                  <a:srgbClr val="00B0F0"/>
                </a:solidFill>
              </a:rPr>
              <a:t>Key idea</a:t>
            </a:r>
            <a:r>
              <a:rPr dirty="0"/>
              <a:t>: </a:t>
            </a:r>
            <a:r>
              <a:rPr dirty="0" err="1"/>
              <a:t>Behavioural</a:t>
            </a:r>
            <a:r>
              <a:rPr dirty="0"/>
              <a:t> patterns focus on object communication and behavior, rather than object creation or structural organization.</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Module 2: Behavioural Design Patterns</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a:t>
            </a:r>
          </a:p>
        </p:txBody>
      </p:sp>
      <p:pic>
        <p:nvPicPr>
          <p:cNvPr id="7" name="Picture 6">
            <a:extLst>
              <a:ext uri="{FF2B5EF4-FFF2-40B4-BE49-F238E27FC236}">
                <a16:creationId xmlns:a16="http://schemas.microsoft.com/office/drawing/2014/main" id="{7CF56770-0835-B1CB-211E-DD966FF445C6}"/>
              </a:ext>
            </a:extLst>
          </p:cNvPr>
          <p:cNvPicPr>
            <a:picLocks noChangeAspect="1"/>
          </p:cNvPicPr>
          <p:nvPr/>
        </p:nvPicPr>
        <p:blipFill>
          <a:blip r:embed="rId2"/>
          <a:srcRect t="5821" b="1434"/>
          <a:stretch/>
        </p:blipFill>
        <p:spPr>
          <a:xfrm>
            <a:off x="275304" y="-1"/>
            <a:ext cx="11154696" cy="6896987"/>
          </a:xfrm>
          <a:prstGeom prst="rect">
            <a:avLst/>
          </a:prstGeom>
        </p:spPr>
      </p:pic>
    </p:spTree>
    <p:extLst>
      <p:ext uri="{BB962C8B-B14F-4D97-AF65-F5344CB8AC3E}">
        <p14:creationId xmlns:p14="http://schemas.microsoft.com/office/powerpoint/2010/main" val="3449220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Module 2: Behavioural Design Patterns</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a:t>
            </a:r>
          </a:p>
        </p:txBody>
      </p:sp>
      <p:pic>
        <p:nvPicPr>
          <p:cNvPr id="8" name="Picture 7">
            <a:extLst>
              <a:ext uri="{FF2B5EF4-FFF2-40B4-BE49-F238E27FC236}">
                <a16:creationId xmlns:a16="http://schemas.microsoft.com/office/drawing/2014/main" id="{ADF1841B-5805-4311-C5AD-751286DCD39C}"/>
              </a:ext>
            </a:extLst>
          </p:cNvPr>
          <p:cNvPicPr>
            <a:picLocks noChangeAspect="1"/>
          </p:cNvPicPr>
          <p:nvPr/>
        </p:nvPicPr>
        <p:blipFill>
          <a:blip r:embed="rId2"/>
          <a:srcRect t="5879" b="4852"/>
          <a:stretch/>
        </p:blipFill>
        <p:spPr>
          <a:xfrm>
            <a:off x="205986" y="-140600"/>
            <a:ext cx="11759872" cy="6998600"/>
          </a:xfrm>
          <a:prstGeom prst="rect">
            <a:avLst/>
          </a:prstGeom>
        </p:spPr>
      </p:pic>
    </p:spTree>
    <p:extLst>
      <p:ext uri="{BB962C8B-B14F-4D97-AF65-F5344CB8AC3E}">
        <p14:creationId xmlns:p14="http://schemas.microsoft.com/office/powerpoint/2010/main" val="1345358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Module 2: Behavioural Design Patterns</a:t>
            </a:r>
          </a:p>
        </p:txBody>
      </p:sp>
      <p:sp>
        <p:nvSpPr>
          <p:cNvPr id="3" name="TextBox 2"/>
          <p:cNvSpPr txBox="1"/>
          <p:nvPr/>
        </p:nvSpPr>
        <p:spPr>
          <a:xfrm>
            <a:off x="196645" y="914400"/>
            <a:ext cx="11877367" cy="5539978"/>
          </a:xfrm>
          <a:prstGeom prst="rect">
            <a:avLst/>
          </a:prstGeom>
          <a:noFill/>
        </p:spPr>
        <p:txBody>
          <a:bodyPr wrap="square">
            <a:spAutoFit/>
          </a:bodyPr>
          <a:lstStyle/>
          <a:p>
            <a:pPr>
              <a:spcAft>
                <a:spcPts val="600"/>
              </a:spcAft>
              <a:defRPr sz="1600">
                <a:latin typeface="Times New Roman"/>
              </a:defRPr>
            </a:pPr>
            <a:r>
              <a:rPr dirty="0"/>
              <a:t>What are Behavioral Design Patterns?</a:t>
            </a:r>
          </a:p>
          <a:p>
            <a:pPr>
              <a:spcAft>
                <a:spcPts val="600"/>
              </a:spcAft>
              <a:defRPr sz="1600">
                <a:latin typeface="Times New Roman"/>
              </a:defRPr>
            </a:pPr>
            <a:r>
              <a:rPr sz="4800" b="1" dirty="0" err="1">
                <a:solidFill>
                  <a:srgbClr val="FF0000"/>
                </a:solidFill>
              </a:rPr>
              <a:t>Behavioural</a:t>
            </a:r>
            <a:r>
              <a:rPr sz="4800" b="1" dirty="0">
                <a:solidFill>
                  <a:srgbClr val="FF0000"/>
                </a:solidFill>
              </a:rPr>
              <a:t> design patterns focus on how objects communicate and interact with each other.</a:t>
            </a:r>
          </a:p>
          <a:p>
            <a:pPr>
              <a:spcAft>
                <a:spcPts val="600"/>
              </a:spcAft>
              <a:defRPr sz="1600">
                <a:latin typeface="Times New Roman"/>
              </a:defRPr>
            </a:pPr>
            <a:r>
              <a:rPr dirty="0"/>
              <a:t>They define how responsibilities and algorithms are distributed among objects.</a:t>
            </a:r>
          </a:p>
          <a:p>
            <a:pPr>
              <a:spcAft>
                <a:spcPts val="600"/>
              </a:spcAft>
              <a:defRPr sz="1600">
                <a:latin typeface="Times New Roman"/>
              </a:defRPr>
            </a:pPr>
            <a:r>
              <a:rPr b="1" dirty="0">
                <a:solidFill>
                  <a:srgbClr val="00B0F0"/>
                </a:solidFill>
              </a:rPr>
              <a:t>They help make communication between objects: </a:t>
            </a:r>
            <a:r>
              <a:rPr dirty="0"/>
              <a:t>Flexible; Maintainable; Loosely coupled; Easier to extend.</a:t>
            </a:r>
          </a:p>
          <a:p>
            <a:pPr>
              <a:spcAft>
                <a:spcPts val="600"/>
              </a:spcAft>
              <a:defRPr sz="1600">
                <a:latin typeface="Times New Roman"/>
              </a:defRPr>
            </a:pPr>
            <a:r>
              <a:rPr b="1" dirty="0">
                <a:solidFill>
                  <a:srgbClr val="00B0F0"/>
                </a:solidFill>
              </a:rPr>
              <a:t>Major </a:t>
            </a:r>
            <a:r>
              <a:rPr b="1" dirty="0" err="1">
                <a:solidFill>
                  <a:srgbClr val="00B0F0"/>
                </a:solidFill>
              </a:rPr>
              <a:t>Behavioural</a:t>
            </a:r>
            <a:r>
              <a:rPr b="1" dirty="0">
                <a:solidFill>
                  <a:srgbClr val="00B0F0"/>
                </a:solidFill>
              </a:rPr>
              <a:t> Patterns:</a:t>
            </a:r>
          </a:p>
          <a:p>
            <a:pPr lvl="1">
              <a:spcAft>
                <a:spcPts val="600"/>
              </a:spcAft>
              <a:defRPr sz="1500">
                <a:latin typeface="Times New Roman"/>
              </a:defRPr>
            </a:pPr>
            <a:r>
              <a:rPr dirty="0"/>
              <a:t>1. Template Method Pattern</a:t>
            </a:r>
          </a:p>
          <a:p>
            <a:pPr lvl="1">
              <a:spcAft>
                <a:spcPts val="600"/>
              </a:spcAft>
              <a:defRPr sz="1500">
                <a:latin typeface="Times New Roman"/>
              </a:defRPr>
            </a:pPr>
            <a:r>
              <a:rPr dirty="0"/>
              <a:t>2. Chain of Responsibility Pattern</a:t>
            </a:r>
          </a:p>
          <a:p>
            <a:pPr lvl="1">
              <a:spcAft>
                <a:spcPts val="600"/>
              </a:spcAft>
              <a:defRPr sz="1500">
                <a:latin typeface="Times New Roman"/>
              </a:defRPr>
            </a:pPr>
            <a:r>
              <a:rPr dirty="0"/>
              <a:t>3. State Pattern</a:t>
            </a:r>
          </a:p>
          <a:p>
            <a:pPr lvl="1">
              <a:spcAft>
                <a:spcPts val="600"/>
              </a:spcAft>
              <a:defRPr sz="1500">
                <a:latin typeface="Times New Roman"/>
              </a:defRPr>
            </a:pPr>
            <a:r>
              <a:rPr dirty="0"/>
              <a:t>4. Command Pattern</a:t>
            </a:r>
          </a:p>
          <a:p>
            <a:pPr lvl="1">
              <a:spcAft>
                <a:spcPts val="600"/>
              </a:spcAft>
              <a:defRPr sz="1500">
                <a:latin typeface="Times New Roman"/>
              </a:defRPr>
            </a:pPr>
            <a:r>
              <a:rPr dirty="0"/>
              <a:t>5. Observer Pattern</a:t>
            </a:r>
          </a:p>
          <a:p>
            <a:pPr>
              <a:spcAft>
                <a:spcPts val="600"/>
              </a:spcAft>
              <a:defRPr sz="1600">
                <a:latin typeface="Times New Roman"/>
              </a:defRPr>
            </a:pPr>
            <a:r>
              <a:rPr dirty="0"/>
              <a:t>Key idea: </a:t>
            </a:r>
            <a:r>
              <a:rPr dirty="0" err="1"/>
              <a:t>Behavioural</a:t>
            </a:r>
            <a:r>
              <a:rPr dirty="0"/>
              <a:t> patterns focus on object communication and behavior, rather than object creation or structural organization.</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a:t>
            </a:r>
          </a:p>
        </p:txBody>
      </p:sp>
      <p:pic>
        <p:nvPicPr>
          <p:cNvPr id="6" name="Picture 5">
            <a:extLst>
              <a:ext uri="{FF2B5EF4-FFF2-40B4-BE49-F238E27FC236}">
                <a16:creationId xmlns:a16="http://schemas.microsoft.com/office/drawing/2014/main" id="{26274223-361E-9B8C-F7C6-2EF7FEC347A5}"/>
              </a:ext>
            </a:extLst>
          </p:cNvPr>
          <p:cNvPicPr>
            <a:picLocks noChangeAspect="1"/>
          </p:cNvPicPr>
          <p:nvPr/>
        </p:nvPicPr>
        <p:blipFill>
          <a:blip r:embed="rId2"/>
          <a:srcRect t="5884" b="5886"/>
          <a:stretch/>
        </p:blipFill>
        <p:spPr>
          <a:xfrm>
            <a:off x="274810" y="0"/>
            <a:ext cx="10383357" cy="6870862"/>
          </a:xfrm>
          <a:prstGeom prst="rect">
            <a:avLst/>
          </a:prstGeom>
        </p:spPr>
      </p:pic>
    </p:spTree>
    <p:extLst>
      <p:ext uri="{BB962C8B-B14F-4D97-AF65-F5344CB8AC3E}">
        <p14:creationId xmlns:p14="http://schemas.microsoft.com/office/powerpoint/2010/main" val="582829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Module 2: Behavioural Design Patterns</a:t>
            </a:r>
          </a:p>
        </p:txBody>
      </p:sp>
      <p:sp>
        <p:nvSpPr>
          <p:cNvPr id="3" name="TextBox 2"/>
          <p:cNvSpPr txBox="1"/>
          <p:nvPr/>
        </p:nvSpPr>
        <p:spPr>
          <a:xfrm>
            <a:off x="196645" y="914400"/>
            <a:ext cx="11877367" cy="5539978"/>
          </a:xfrm>
          <a:prstGeom prst="rect">
            <a:avLst/>
          </a:prstGeom>
          <a:noFill/>
        </p:spPr>
        <p:txBody>
          <a:bodyPr wrap="square">
            <a:spAutoFit/>
          </a:bodyPr>
          <a:lstStyle/>
          <a:p>
            <a:pPr>
              <a:spcAft>
                <a:spcPts val="600"/>
              </a:spcAft>
              <a:defRPr sz="1600">
                <a:latin typeface="Times New Roman"/>
              </a:defRPr>
            </a:pPr>
            <a:r>
              <a:rPr dirty="0"/>
              <a:t>What are Behavioral Design Patterns?</a:t>
            </a:r>
          </a:p>
          <a:p>
            <a:pPr>
              <a:spcAft>
                <a:spcPts val="600"/>
              </a:spcAft>
              <a:defRPr sz="1600">
                <a:latin typeface="Times New Roman"/>
              </a:defRPr>
            </a:pPr>
            <a:r>
              <a:rPr sz="4800" b="1" dirty="0" err="1">
                <a:solidFill>
                  <a:srgbClr val="FF0000"/>
                </a:solidFill>
              </a:rPr>
              <a:t>Behavioural</a:t>
            </a:r>
            <a:r>
              <a:rPr sz="4800" b="1" dirty="0">
                <a:solidFill>
                  <a:srgbClr val="FF0000"/>
                </a:solidFill>
              </a:rPr>
              <a:t> design patterns focus on how objects communicate and interact with each other.</a:t>
            </a:r>
          </a:p>
          <a:p>
            <a:pPr>
              <a:spcAft>
                <a:spcPts val="600"/>
              </a:spcAft>
              <a:defRPr sz="1600">
                <a:latin typeface="Times New Roman"/>
              </a:defRPr>
            </a:pPr>
            <a:r>
              <a:rPr dirty="0"/>
              <a:t>They define how responsibilities and algorithms are distributed among objects.</a:t>
            </a:r>
          </a:p>
          <a:p>
            <a:pPr>
              <a:spcAft>
                <a:spcPts val="600"/>
              </a:spcAft>
              <a:defRPr sz="1600">
                <a:latin typeface="Times New Roman"/>
              </a:defRPr>
            </a:pPr>
            <a:r>
              <a:rPr b="1" dirty="0">
                <a:solidFill>
                  <a:srgbClr val="00B0F0"/>
                </a:solidFill>
              </a:rPr>
              <a:t>They help make communication between objects: </a:t>
            </a:r>
            <a:r>
              <a:rPr dirty="0"/>
              <a:t>Flexible; Maintainable; Loosely coupled; Easier to extend.</a:t>
            </a:r>
          </a:p>
          <a:p>
            <a:pPr>
              <a:spcAft>
                <a:spcPts val="600"/>
              </a:spcAft>
              <a:defRPr sz="1600">
                <a:latin typeface="Times New Roman"/>
              </a:defRPr>
            </a:pPr>
            <a:r>
              <a:rPr b="1" dirty="0">
                <a:solidFill>
                  <a:srgbClr val="00B0F0"/>
                </a:solidFill>
              </a:rPr>
              <a:t>Major </a:t>
            </a:r>
            <a:r>
              <a:rPr b="1" dirty="0" err="1">
                <a:solidFill>
                  <a:srgbClr val="00B0F0"/>
                </a:solidFill>
              </a:rPr>
              <a:t>Behavioural</a:t>
            </a:r>
            <a:r>
              <a:rPr b="1" dirty="0">
                <a:solidFill>
                  <a:srgbClr val="00B0F0"/>
                </a:solidFill>
              </a:rPr>
              <a:t> Patterns:</a:t>
            </a:r>
          </a:p>
          <a:p>
            <a:pPr lvl="1">
              <a:spcAft>
                <a:spcPts val="600"/>
              </a:spcAft>
              <a:defRPr sz="1500">
                <a:latin typeface="Times New Roman"/>
              </a:defRPr>
            </a:pPr>
            <a:r>
              <a:rPr dirty="0"/>
              <a:t>1. Template Method Pattern</a:t>
            </a:r>
          </a:p>
          <a:p>
            <a:pPr lvl="1">
              <a:spcAft>
                <a:spcPts val="600"/>
              </a:spcAft>
              <a:defRPr sz="1500">
                <a:latin typeface="Times New Roman"/>
              </a:defRPr>
            </a:pPr>
            <a:r>
              <a:rPr dirty="0"/>
              <a:t>2. Chain of Responsibility Pattern</a:t>
            </a:r>
          </a:p>
          <a:p>
            <a:pPr lvl="1">
              <a:spcAft>
                <a:spcPts val="600"/>
              </a:spcAft>
              <a:defRPr sz="1500">
                <a:latin typeface="Times New Roman"/>
              </a:defRPr>
            </a:pPr>
            <a:r>
              <a:rPr dirty="0"/>
              <a:t>3. State Pattern</a:t>
            </a:r>
          </a:p>
          <a:p>
            <a:pPr lvl="1">
              <a:spcAft>
                <a:spcPts val="600"/>
              </a:spcAft>
              <a:defRPr sz="1500">
                <a:latin typeface="Times New Roman"/>
              </a:defRPr>
            </a:pPr>
            <a:r>
              <a:rPr dirty="0"/>
              <a:t>4. Command Pattern</a:t>
            </a:r>
          </a:p>
          <a:p>
            <a:pPr lvl="1">
              <a:spcAft>
                <a:spcPts val="600"/>
              </a:spcAft>
              <a:defRPr sz="1500">
                <a:latin typeface="Times New Roman"/>
              </a:defRPr>
            </a:pPr>
            <a:r>
              <a:rPr dirty="0"/>
              <a:t>5. Observer Pattern</a:t>
            </a:r>
          </a:p>
          <a:p>
            <a:pPr>
              <a:spcAft>
                <a:spcPts val="600"/>
              </a:spcAft>
              <a:defRPr sz="1600">
                <a:latin typeface="Times New Roman"/>
              </a:defRPr>
            </a:pPr>
            <a:r>
              <a:rPr dirty="0"/>
              <a:t>Key idea: </a:t>
            </a:r>
            <a:r>
              <a:rPr dirty="0" err="1"/>
              <a:t>Behavioural</a:t>
            </a:r>
            <a:r>
              <a:rPr dirty="0"/>
              <a:t> patterns focus on object communication and behavior, rather than object creation or structural organization.</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a:t>
            </a:r>
          </a:p>
        </p:txBody>
      </p:sp>
      <p:pic>
        <p:nvPicPr>
          <p:cNvPr id="7" name="Picture 6">
            <a:extLst>
              <a:ext uri="{FF2B5EF4-FFF2-40B4-BE49-F238E27FC236}">
                <a16:creationId xmlns:a16="http://schemas.microsoft.com/office/drawing/2014/main" id="{E07C5F41-A8E0-037F-7B73-41AC3A99FC65}"/>
              </a:ext>
            </a:extLst>
          </p:cNvPr>
          <p:cNvPicPr>
            <a:picLocks noChangeAspect="1"/>
          </p:cNvPicPr>
          <p:nvPr/>
        </p:nvPicPr>
        <p:blipFill>
          <a:blip r:embed="rId2"/>
          <a:stretch>
            <a:fillRect/>
          </a:stretch>
        </p:blipFill>
        <p:spPr>
          <a:xfrm>
            <a:off x="265471" y="0"/>
            <a:ext cx="9144000" cy="6858000"/>
          </a:xfrm>
          <a:prstGeom prst="rect">
            <a:avLst/>
          </a:prstGeom>
        </p:spPr>
      </p:pic>
    </p:spTree>
    <p:extLst>
      <p:ext uri="{BB962C8B-B14F-4D97-AF65-F5344CB8AC3E}">
        <p14:creationId xmlns:p14="http://schemas.microsoft.com/office/powerpoint/2010/main" val="331117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E386340-367C-A1F2-6F61-E3CEB19EFA51}"/>
              </a:ext>
            </a:extLst>
          </p:cNvPr>
          <p:cNvPicPr>
            <a:picLocks noChangeAspect="1"/>
          </p:cNvPicPr>
          <p:nvPr/>
        </p:nvPicPr>
        <p:blipFill>
          <a:blip r:embed="rId2"/>
          <a:stretch>
            <a:fillRect/>
          </a:stretch>
        </p:blipFill>
        <p:spPr>
          <a:xfrm>
            <a:off x="470719" y="0"/>
            <a:ext cx="10287000" cy="6858000"/>
          </a:xfrm>
          <a:prstGeom prst="rect">
            <a:avLst/>
          </a:prstGeom>
        </p:spPr>
      </p:pic>
    </p:spTree>
    <p:extLst>
      <p:ext uri="{BB962C8B-B14F-4D97-AF65-F5344CB8AC3E}">
        <p14:creationId xmlns:p14="http://schemas.microsoft.com/office/powerpoint/2010/main" val="101284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1. Template Method Pattern — Definition</a:t>
            </a:r>
          </a:p>
        </p:txBody>
      </p:sp>
      <p:sp>
        <p:nvSpPr>
          <p:cNvPr id="3" name="TextBox 2"/>
          <p:cNvSpPr txBox="1"/>
          <p:nvPr/>
        </p:nvSpPr>
        <p:spPr>
          <a:xfrm>
            <a:off x="594360" y="914400"/>
            <a:ext cx="10972800" cy="4247317"/>
          </a:xfrm>
          <a:prstGeom prst="rect">
            <a:avLst/>
          </a:prstGeom>
          <a:noFill/>
        </p:spPr>
        <p:txBody>
          <a:bodyPr wrap="square">
            <a:spAutoFit/>
          </a:bodyPr>
          <a:lstStyle/>
          <a:p>
            <a:pPr marL="285750" indent="-285750">
              <a:spcAft>
                <a:spcPts val="600"/>
              </a:spcAft>
              <a:buFont typeface="Wingdings" panose="05000000000000000000" pitchFamily="2" charset="2"/>
              <a:buChar char="Ø"/>
              <a:defRPr sz="1600">
                <a:latin typeface="Times New Roman"/>
              </a:defRPr>
            </a:pPr>
            <a:r>
              <a:rPr sz="2400" b="1" dirty="0">
                <a:solidFill>
                  <a:srgbClr val="00B050"/>
                </a:solidFill>
              </a:rPr>
              <a:t>The Template Method Pattern defines the skeleton of an algorithm in a superclass while allowing subclasses to redefine certain steps of the algorithm without changing its overall structure.</a:t>
            </a:r>
          </a:p>
          <a:p>
            <a:pPr marL="285750" indent="-285750">
              <a:spcAft>
                <a:spcPts val="600"/>
              </a:spcAft>
              <a:buFont typeface="Wingdings" panose="05000000000000000000" pitchFamily="2" charset="2"/>
              <a:buChar char="Ø"/>
              <a:defRPr sz="1600">
                <a:latin typeface="Times New Roman"/>
              </a:defRPr>
            </a:pPr>
            <a:r>
              <a:rPr sz="2400" b="1" dirty="0">
                <a:solidFill>
                  <a:srgbClr val="00B050"/>
                </a:solidFill>
              </a:rPr>
              <a:t>Main Idea: </a:t>
            </a:r>
            <a:r>
              <a:rPr sz="2400" dirty="0"/>
              <a:t>Algorithm structure is fixed, but individual steps can vary.</a:t>
            </a:r>
          </a:p>
          <a:p>
            <a:pPr marL="285750" indent="-285750">
              <a:spcAft>
                <a:spcPts val="600"/>
              </a:spcAft>
              <a:buFont typeface="Wingdings" panose="05000000000000000000" pitchFamily="2" charset="2"/>
              <a:buChar char="Ø"/>
              <a:defRPr sz="1600">
                <a:latin typeface="Times New Roman"/>
              </a:defRPr>
            </a:pPr>
            <a:r>
              <a:rPr sz="2400" b="1" dirty="0">
                <a:solidFill>
                  <a:srgbClr val="00B050"/>
                </a:solidFill>
              </a:rPr>
              <a:t>Example: </a:t>
            </a:r>
            <a:r>
              <a:rPr sz="2400" dirty="0"/>
              <a:t>Preparing a Beverage</a:t>
            </a:r>
          </a:p>
          <a:p>
            <a:pPr marL="285750" indent="-285750">
              <a:spcAft>
                <a:spcPts val="600"/>
              </a:spcAft>
              <a:buFont typeface="Wingdings" panose="05000000000000000000" pitchFamily="2" charset="2"/>
              <a:buChar char="Ø"/>
              <a:defRPr sz="1600">
                <a:latin typeface="Times New Roman"/>
              </a:defRPr>
            </a:pPr>
            <a:r>
              <a:rPr sz="2400" b="1" dirty="0">
                <a:solidFill>
                  <a:srgbClr val="FF0000"/>
                </a:solidFill>
              </a:rPr>
              <a:t>A general process may be: </a:t>
            </a:r>
            <a:r>
              <a:rPr sz="2400" dirty="0"/>
              <a:t>Prepare Beverage → Boil Water → Brew Beverage → Pour into Cup → Add Condiments</a:t>
            </a:r>
          </a:p>
          <a:p>
            <a:pPr marL="285750" indent="-285750">
              <a:spcAft>
                <a:spcPts val="600"/>
              </a:spcAft>
              <a:buFont typeface="Wingdings" panose="05000000000000000000" pitchFamily="2" charset="2"/>
              <a:buChar char="Ø"/>
              <a:defRPr sz="1600">
                <a:latin typeface="Times New Roman"/>
              </a:defRPr>
            </a:pPr>
            <a:r>
              <a:rPr sz="2400" b="1" dirty="0">
                <a:solidFill>
                  <a:srgbClr val="FF0000"/>
                </a:solidFill>
              </a:rPr>
              <a:t>For tea: </a:t>
            </a:r>
            <a:r>
              <a:rPr sz="2400" dirty="0"/>
              <a:t>Boil Water → Steep Tea → Pour → Add Lemon</a:t>
            </a:r>
          </a:p>
          <a:p>
            <a:pPr marL="285750" indent="-285750">
              <a:spcAft>
                <a:spcPts val="600"/>
              </a:spcAft>
              <a:buFont typeface="Wingdings" panose="05000000000000000000" pitchFamily="2" charset="2"/>
              <a:buChar char="Ø"/>
              <a:defRPr sz="1600">
                <a:latin typeface="Times New Roman"/>
              </a:defRPr>
            </a:pPr>
            <a:r>
              <a:rPr sz="2400" b="1" dirty="0">
                <a:solidFill>
                  <a:srgbClr val="FF0000"/>
                </a:solidFill>
              </a:rPr>
              <a:t>For coffee: </a:t>
            </a:r>
            <a:r>
              <a:rPr sz="2400" dirty="0"/>
              <a:t>Boil Water → Brew Coffee → Pour → Add Sugar/Milk</a:t>
            </a:r>
          </a:p>
          <a:p>
            <a:pPr marL="285750" indent="-285750">
              <a:spcAft>
                <a:spcPts val="600"/>
              </a:spcAft>
              <a:buFont typeface="Wingdings" panose="05000000000000000000" pitchFamily="2" charset="2"/>
              <a:buChar char="Ø"/>
              <a:defRPr sz="1600">
                <a:latin typeface="Times New Roman"/>
              </a:defRPr>
            </a:pPr>
            <a:r>
              <a:rPr sz="2400" dirty="0"/>
              <a:t>The overall algorithm remains the same, but some steps differ.</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Template Method Pattern — Structure and Benefits</a:t>
            </a:r>
          </a:p>
        </p:txBody>
      </p:sp>
      <p:sp>
        <p:nvSpPr>
          <p:cNvPr id="3" name="Rounded Rectangle 2"/>
          <p:cNvSpPr/>
          <p:nvPr/>
        </p:nvSpPr>
        <p:spPr>
          <a:xfrm>
            <a:off x="4846320" y="914400"/>
            <a:ext cx="246888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latin typeface="Times New Roman"/>
              </a:defRPr>
            </a:pPr>
            <a:r>
              <a:rPr>
                <a:solidFill>
                  <a:schemeClr val="tx1"/>
                </a:solidFill>
              </a:rPr>
              <a:t>Beverage</a:t>
            </a:r>
          </a:p>
        </p:txBody>
      </p:sp>
      <p:sp>
        <p:nvSpPr>
          <p:cNvPr id="4" name="Rounded Rectangle 3"/>
          <p:cNvSpPr/>
          <p:nvPr/>
        </p:nvSpPr>
        <p:spPr>
          <a:xfrm>
            <a:off x="2286000" y="1828800"/>
            <a:ext cx="201168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latin typeface="Times New Roman"/>
              </a:defRPr>
            </a:pPr>
            <a:r>
              <a:rPr>
                <a:solidFill>
                  <a:schemeClr val="tx1"/>
                </a:solidFill>
              </a:rPr>
              <a:t>Tea</a:t>
            </a:r>
          </a:p>
        </p:txBody>
      </p:sp>
      <p:sp>
        <p:nvSpPr>
          <p:cNvPr id="5" name="Rounded Rectangle 4"/>
          <p:cNvSpPr/>
          <p:nvPr/>
        </p:nvSpPr>
        <p:spPr>
          <a:xfrm>
            <a:off x="7863840" y="1828800"/>
            <a:ext cx="201168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latin typeface="Times New Roman"/>
              </a:defRPr>
            </a:pPr>
            <a:r>
              <a:rPr>
                <a:solidFill>
                  <a:schemeClr val="tx1"/>
                </a:solidFill>
              </a:rPr>
              <a:t>Coffee</a:t>
            </a:r>
          </a:p>
        </p:txBody>
      </p:sp>
      <p:sp>
        <p:nvSpPr>
          <p:cNvPr id="6" name="TextBox 5"/>
          <p:cNvSpPr txBox="1"/>
          <p:nvPr/>
        </p:nvSpPr>
        <p:spPr>
          <a:xfrm>
            <a:off x="594360" y="2743200"/>
            <a:ext cx="10972800" cy="3277820"/>
          </a:xfrm>
          <a:prstGeom prst="rect">
            <a:avLst/>
          </a:prstGeom>
          <a:noFill/>
        </p:spPr>
        <p:txBody>
          <a:bodyPr wrap="square">
            <a:spAutoFit/>
          </a:bodyPr>
          <a:lstStyle/>
          <a:p>
            <a:pPr marL="285750" indent="-285750">
              <a:spcAft>
                <a:spcPts val="600"/>
              </a:spcAft>
              <a:buFont typeface="Wingdings" panose="05000000000000000000" pitchFamily="2" charset="2"/>
              <a:buChar char="Ø"/>
              <a:defRPr sz="1600">
                <a:latin typeface="Times New Roman"/>
              </a:defRPr>
            </a:pPr>
            <a:r>
              <a:rPr sz="2400" b="1" dirty="0">
                <a:solidFill>
                  <a:srgbClr val="FF0000"/>
                </a:solidFill>
              </a:rPr>
              <a:t>Structure: </a:t>
            </a:r>
            <a:r>
              <a:rPr sz="2400" dirty="0"/>
              <a:t>Beverage → Tea / Coffee</a:t>
            </a:r>
          </a:p>
          <a:p>
            <a:pPr marL="285750" indent="-285750">
              <a:spcAft>
                <a:spcPts val="600"/>
              </a:spcAft>
              <a:buFont typeface="Wingdings" panose="05000000000000000000" pitchFamily="2" charset="2"/>
              <a:buChar char="Ø"/>
              <a:defRPr sz="1600">
                <a:latin typeface="Times New Roman"/>
              </a:defRPr>
            </a:pPr>
            <a:r>
              <a:rPr sz="2400" b="1" dirty="0">
                <a:solidFill>
                  <a:srgbClr val="00B050"/>
                </a:solidFill>
              </a:rPr>
              <a:t>Template Method: </a:t>
            </a:r>
            <a:r>
              <a:rPr sz="2400" dirty="0"/>
              <a:t>Defines the fixed sequence of steps while subclasses customize selected operations.</a:t>
            </a:r>
          </a:p>
          <a:p>
            <a:pPr marL="285750" indent="-285750">
              <a:spcAft>
                <a:spcPts val="600"/>
              </a:spcAft>
              <a:buFont typeface="Wingdings" panose="05000000000000000000" pitchFamily="2" charset="2"/>
              <a:buChar char="Ø"/>
              <a:defRPr sz="1600">
                <a:latin typeface="Times New Roman"/>
              </a:defRPr>
            </a:pPr>
            <a:r>
              <a:rPr sz="2400" b="1" dirty="0">
                <a:solidFill>
                  <a:srgbClr val="00B050"/>
                </a:solidFill>
              </a:rPr>
              <a:t>Benefits: </a:t>
            </a:r>
            <a:r>
              <a:rPr sz="2400" dirty="0"/>
              <a:t>Reuses common algorithm structure; Avoids duplicate code; Allows subclasses to customize specific steps; Maintains a consistent algorithm; Supports code reuse through inheritance.</a:t>
            </a:r>
          </a:p>
          <a:p>
            <a:pPr marL="285750" indent="-285750">
              <a:spcAft>
                <a:spcPts val="600"/>
              </a:spcAft>
              <a:buFont typeface="Wingdings" panose="05000000000000000000" pitchFamily="2" charset="2"/>
              <a:buChar char="Ø"/>
              <a:defRPr sz="1600">
                <a:latin typeface="Times New Roman"/>
              </a:defRPr>
            </a:pPr>
            <a:r>
              <a:rPr sz="2400" b="1" dirty="0">
                <a:solidFill>
                  <a:srgbClr val="00B050"/>
                </a:solidFill>
              </a:rPr>
              <a:t>When to Use: </a:t>
            </a:r>
            <a:r>
              <a:rPr sz="2400" dirty="0"/>
              <a:t>Several classes follow the same overall process; Some steps differ between classes; You want to avoid repeating common algorithm code.</a:t>
            </a:r>
          </a:p>
        </p:txBody>
      </p:sp>
      <p:sp>
        <p:nvSpPr>
          <p:cNvPr id="7" name="TextBox 6"/>
          <p:cNvSpPr txBox="1"/>
          <p:nvPr/>
        </p:nvSpPr>
        <p:spPr>
          <a:xfrm>
            <a:off x="10972800" y="6446520"/>
            <a:ext cx="457200" cy="182880"/>
          </a:xfrm>
          <a:prstGeom prst="rect">
            <a:avLst/>
          </a:prstGeom>
          <a:noFill/>
        </p:spPr>
        <p:txBody>
          <a:bodyPr wrap="none">
            <a:spAutoFit/>
          </a:bodyPr>
          <a:lstStyle/>
          <a:p>
            <a:pPr algn="r">
              <a:defRPr sz="1000">
                <a:latin typeface="Times New Roman"/>
              </a:defRPr>
            </a:pPr>
            <a:r>
              <a:t>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Template Method Pattern — Java Example</a:t>
            </a:r>
          </a:p>
        </p:txBody>
      </p:sp>
      <p:sp>
        <p:nvSpPr>
          <p:cNvPr id="3" name="Rounded Rectangle 2"/>
          <p:cNvSpPr/>
          <p:nvPr/>
        </p:nvSpPr>
        <p:spPr>
          <a:xfrm>
            <a:off x="640080" y="1051560"/>
            <a:ext cx="4502191" cy="5303520"/>
          </a:xfrm>
          <a:prstGeom prst="roundRect">
            <a:avLst/>
          </a:prstGeom>
          <a:solidFill>
            <a:srgbClr val="F2F2F2"/>
          </a:solidFill>
        </p:spPr>
        <p:style>
          <a:lnRef idx="1">
            <a:schemeClr val="accent1"/>
          </a:lnRef>
          <a:fillRef idx="3">
            <a:schemeClr val="accent1"/>
          </a:fillRef>
          <a:effectRef idx="2">
            <a:schemeClr val="accent1"/>
          </a:effectRef>
          <a:fontRef idx="minor">
            <a:schemeClr val="lt1"/>
          </a:fontRef>
        </p:style>
        <p:txBody>
          <a:bodyPr wrap="none" rtlCol="0" anchor="ctr"/>
          <a:lstStyle/>
          <a:p>
            <a:pPr>
              <a:defRPr sz="1400">
                <a:latin typeface="Courier New"/>
              </a:defRPr>
            </a:pPr>
            <a:r>
              <a:rPr dirty="0">
                <a:solidFill>
                  <a:schemeClr val="tx1"/>
                </a:solidFill>
                <a:latin typeface="Times New Roman" panose="02020603050405020304" pitchFamily="18" charset="0"/>
                <a:cs typeface="Times New Roman" panose="02020603050405020304" pitchFamily="18" charset="0"/>
              </a:rPr>
              <a:t>abstract class Beverage {</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final void prepare()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boilWater</a:t>
            </a:r>
            <a:r>
              <a:rPr dirty="0">
                <a:solidFill>
                  <a:schemeClr val="tx1"/>
                </a:solidFill>
                <a:latin typeface="Times New Roman" panose="02020603050405020304" pitchFamily="18" charset="0"/>
                <a:cs typeface="Times New Roman" panose="02020603050405020304" pitchFamily="18" charset="0"/>
              </a:rPr>
              <a:t>();</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brew();</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pourInCup</a:t>
            </a:r>
            <a:r>
              <a:rPr dirty="0">
                <a:solidFill>
                  <a:schemeClr val="tx1"/>
                </a:solidFill>
                <a:latin typeface="Times New Roman" panose="02020603050405020304" pitchFamily="18" charset="0"/>
                <a:cs typeface="Times New Roman" panose="02020603050405020304" pitchFamily="18" charset="0"/>
              </a:rPr>
              <a:t>();</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addCondiments</a:t>
            </a:r>
            <a:r>
              <a:rPr dirty="0">
                <a:solidFill>
                  <a:schemeClr val="tx1"/>
                </a:solidFill>
                <a:latin typeface="Times New Roman" panose="02020603050405020304" pitchFamily="18" charset="0"/>
                <a:cs typeface="Times New Roman" panose="02020603050405020304" pitchFamily="18" charset="0"/>
              </a:rPr>
              <a:t>();</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abstract void brew();</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abstract void </a:t>
            </a:r>
            <a:r>
              <a:rPr dirty="0" err="1">
                <a:solidFill>
                  <a:schemeClr val="tx1"/>
                </a:solidFill>
                <a:latin typeface="Times New Roman" panose="02020603050405020304" pitchFamily="18" charset="0"/>
                <a:cs typeface="Times New Roman" panose="02020603050405020304" pitchFamily="18" charset="0"/>
              </a:rPr>
              <a:t>addCondiments</a:t>
            </a:r>
            <a:r>
              <a:rPr dirty="0">
                <a:solidFill>
                  <a:schemeClr val="tx1"/>
                </a:solidFill>
                <a:latin typeface="Times New Roman" panose="02020603050405020304" pitchFamily="18" charset="0"/>
                <a:cs typeface="Times New Roman" panose="02020603050405020304" pitchFamily="18" charset="0"/>
              </a:rPr>
              <a:t>();</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void </a:t>
            </a:r>
            <a:r>
              <a:rPr dirty="0" err="1">
                <a:solidFill>
                  <a:schemeClr val="tx1"/>
                </a:solidFill>
                <a:latin typeface="Times New Roman" panose="02020603050405020304" pitchFamily="18" charset="0"/>
                <a:cs typeface="Times New Roman" panose="02020603050405020304" pitchFamily="18" charset="0"/>
              </a:rPr>
              <a:t>boilWater</a:t>
            </a: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System.out.println</a:t>
            </a:r>
            <a:r>
              <a:rPr dirty="0">
                <a:solidFill>
                  <a:schemeClr val="tx1"/>
                </a:solidFill>
                <a:latin typeface="Times New Roman" panose="02020603050405020304" pitchFamily="18" charset="0"/>
                <a:cs typeface="Times New Roman" panose="02020603050405020304" pitchFamily="18" charset="0"/>
              </a:rPr>
              <a:t>("Boiling water");</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void </a:t>
            </a:r>
            <a:r>
              <a:rPr dirty="0" err="1">
                <a:solidFill>
                  <a:schemeClr val="tx1"/>
                </a:solidFill>
                <a:latin typeface="Times New Roman" panose="02020603050405020304" pitchFamily="18" charset="0"/>
                <a:cs typeface="Times New Roman" panose="02020603050405020304" pitchFamily="18" charset="0"/>
              </a:rPr>
              <a:t>pourInCup</a:t>
            </a: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System.out.println</a:t>
            </a:r>
            <a:r>
              <a:rPr dirty="0">
                <a:solidFill>
                  <a:schemeClr val="tx1"/>
                </a:solidFill>
                <a:latin typeface="Times New Roman" panose="02020603050405020304" pitchFamily="18" charset="0"/>
                <a:cs typeface="Times New Roman" panose="02020603050405020304" pitchFamily="18" charset="0"/>
              </a:rPr>
              <a:t>("Pouring into cup");</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2. Chain of Responsibility Pattern — Definition</a:t>
            </a:r>
          </a:p>
        </p:txBody>
      </p:sp>
      <p:sp>
        <p:nvSpPr>
          <p:cNvPr id="3" name="TextBox 2"/>
          <p:cNvSpPr txBox="1"/>
          <p:nvPr/>
        </p:nvSpPr>
        <p:spPr>
          <a:xfrm>
            <a:off x="228600" y="914400"/>
            <a:ext cx="11338560" cy="4708981"/>
          </a:xfrm>
          <a:prstGeom prst="rect">
            <a:avLst/>
          </a:prstGeom>
          <a:noFill/>
        </p:spPr>
        <p:txBody>
          <a:bodyPr wrap="square">
            <a:spAutoFit/>
          </a:bodyPr>
          <a:lstStyle/>
          <a:p>
            <a:pPr marL="285750" indent="-285750">
              <a:spcAft>
                <a:spcPts val="600"/>
              </a:spcAft>
              <a:buFont typeface="Wingdings" panose="05000000000000000000" pitchFamily="2" charset="2"/>
              <a:buChar char="ü"/>
              <a:defRPr sz="1600">
                <a:latin typeface="Times New Roman"/>
              </a:defRPr>
            </a:pPr>
            <a:r>
              <a:rPr sz="2800" b="1" dirty="0">
                <a:solidFill>
                  <a:srgbClr val="00B050"/>
                </a:solidFill>
              </a:rPr>
              <a:t>The Chain of Responsibility Pattern passes a request through a chain of handlers until one handler can process the request</a:t>
            </a:r>
            <a:r>
              <a:rPr sz="2800" dirty="0"/>
              <a:t>.</a:t>
            </a:r>
          </a:p>
          <a:p>
            <a:pPr marL="285750" indent="-285750">
              <a:spcAft>
                <a:spcPts val="600"/>
              </a:spcAft>
              <a:buFont typeface="Wingdings" panose="05000000000000000000" pitchFamily="2" charset="2"/>
              <a:buChar char="ü"/>
              <a:defRPr sz="1600">
                <a:latin typeface="Times New Roman"/>
              </a:defRPr>
            </a:pPr>
            <a:r>
              <a:rPr sz="2800" b="1" dirty="0">
                <a:solidFill>
                  <a:srgbClr val="FF0000"/>
                </a:solidFill>
              </a:rPr>
              <a:t>Main Idea: </a:t>
            </a:r>
            <a:r>
              <a:rPr sz="2800" dirty="0"/>
              <a:t>Give multiple objects a chance to handle a request without coupling the sender to a specific receiver.</a:t>
            </a:r>
          </a:p>
          <a:p>
            <a:pPr marL="285750" indent="-285750">
              <a:spcAft>
                <a:spcPts val="600"/>
              </a:spcAft>
              <a:buFont typeface="Wingdings" panose="05000000000000000000" pitchFamily="2" charset="2"/>
              <a:buChar char="ü"/>
              <a:defRPr sz="1600">
                <a:latin typeface="Times New Roman"/>
              </a:defRPr>
            </a:pPr>
            <a:r>
              <a:rPr sz="2800" b="1" dirty="0">
                <a:solidFill>
                  <a:srgbClr val="FF0000"/>
                </a:solidFill>
              </a:rPr>
              <a:t>Example: </a:t>
            </a:r>
            <a:r>
              <a:rPr sz="2800" dirty="0"/>
              <a:t>University Complaint System: Student → Class Teacher → Department Chairman → Dean → Vice Chancellor</a:t>
            </a:r>
          </a:p>
          <a:p>
            <a:pPr marL="285750" indent="-285750">
              <a:spcAft>
                <a:spcPts val="600"/>
              </a:spcAft>
              <a:buFont typeface="Wingdings" panose="05000000000000000000" pitchFamily="2" charset="2"/>
              <a:buChar char="ü"/>
              <a:defRPr sz="1600">
                <a:latin typeface="Times New Roman"/>
              </a:defRPr>
            </a:pPr>
            <a:r>
              <a:rPr sz="2800" dirty="0"/>
              <a:t>A complaint is passed along the chain until the appropriate authority handles it.</a:t>
            </a:r>
          </a:p>
          <a:p>
            <a:pPr marL="285750" indent="-285750">
              <a:spcAft>
                <a:spcPts val="600"/>
              </a:spcAft>
              <a:buFont typeface="Wingdings" panose="05000000000000000000" pitchFamily="2" charset="2"/>
              <a:buChar char="ü"/>
              <a:defRPr sz="1600">
                <a:latin typeface="Times New Roman"/>
              </a:defRPr>
            </a:pPr>
            <a:r>
              <a:rPr sz="2800" b="1" dirty="0">
                <a:solidFill>
                  <a:srgbClr val="FF0000"/>
                </a:solidFill>
              </a:rPr>
              <a:t>Basic Structure: </a:t>
            </a:r>
            <a:r>
              <a:rPr sz="2800" dirty="0"/>
              <a:t>Client → Handler A → Handler B → Handler C → Handler D</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2. Chain of Responsibility Pattern — Definition</a:t>
            </a:r>
          </a:p>
        </p:txBody>
      </p:sp>
      <p:sp>
        <p:nvSpPr>
          <p:cNvPr id="3" name="TextBox 2"/>
          <p:cNvSpPr txBox="1"/>
          <p:nvPr/>
        </p:nvSpPr>
        <p:spPr>
          <a:xfrm>
            <a:off x="594360" y="914400"/>
            <a:ext cx="10972800" cy="1877437"/>
          </a:xfrm>
          <a:prstGeom prst="rect">
            <a:avLst/>
          </a:prstGeom>
          <a:noFill/>
        </p:spPr>
        <p:txBody>
          <a:bodyPr wrap="square">
            <a:spAutoFit/>
          </a:bodyPr>
          <a:lstStyle/>
          <a:p>
            <a:pPr marL="285750" indent="-285750">
              <a:spcAft>
                <a:spcPts val="600"/>
              </a:spcAft>
              <a:buFont typeface="Wingdings" panose="05000000000000000000" pitchFamily="2" charset="2"/>
              <a:buChar char="ü"/>
              <a:defRPr sz="1600">
                <a:latin typeface="Times New Roman"/>
              </a:defRPr>
            </a:pPr>
            <a:r>
              <a:rPr b="1" dirty="0">
                <a:solidFill>
                  <a:srgbClr val="00B050"/>
                </a:solidFill>
              </a:rPr>
              <a:t>The Chain of Responsibility Pattern passes a request through a chain of handlers until one handler can process the request</a:t>
            </a:r>
            <a:r>
              <a:rPr dirty="0"/>
              <a:t>.</a:t>
            </a:r>
          </a:p>
          <a:p>
            <a:pPr marL="285750" indent="-285750">
              <a:spcAft>
                <a:spcPts val="600"/>
              </a:spcAft>
              <a:buFont typeface="Wingdings" panose="05000000000000000000" pitchFamily="2" charset="2"/>
              <a:buChar char="ü"/>
              <a:defRPr sz="1600">
                <a:latin typeface="Times New Roman"/>
              </a:defRPr>
            </a:pPr>
            <a:r>
              <a:rPr b="1" dirty="0">
                <a:solidFill>
                  <a:srgbClr val="FF0000"/>
                </a:solidFill>
              </a:rPr>
              <a:t>Main Idea: </a:t>
            </a:r>
            <a:r>
              <a:rPr dirty="0"/>
              <a:t>Give multiple objects a chance to handle a request without coupling the sender to a specific receiver.</a:t>
            </a:r>
          </a:p>
          <a:p>
            <a:pPr marL="285750" indent="-285750">
              <a:spcAft>
                <a:spcPts val="600"/>
              </a:spcAft>
              <a:buFont typeface="Wingdings" panose="05000000000000000000" pitchFamily="2" charset="2"/>
              <a:buChar char="ü"/>
              <a:defRPr sz="1600">
                <a:latin typeface="Times New Roman"/>
              </a:defRPr>
            </a:pPr>
            <a:r>
              <a:rPr b="1" dirty="0">
                <a:solidFill>
                  <a:srgbClr val="FF0000"/>
                </a:solidFill>
              </a:rPr>
              <a:t>Example: </a:t>
            </a:r>
            <a:r>
              <a:rPr dirty="0"/>
              <a:t>University Complaint System: Student → Class Teacher → Department Chairman → Dean → Vice Chancellor</a:t>
            </a:r>
          </a:p>
          <a:p>
            <a:pPr marL="285750" indent="-285750">
              <a:spcAft>
                <a:spcPts val="600"/>
              </a:spcAft>
              <a:buFont typeface="Wingdings" panose="05000000000000000000" pitchFamily="2" charset="2"/>
              <a:buChar char="ü"/>
              <a:defRPr sz="1600">
                <a:latin typeface="Times New Roman"/>
              </a:defRPr>
            </a:pPr>
            <a:r>
              <a:rPr dirty="0"/>
              <a:t>A complaint is passed along the chain until the appropriate authority handles it.</a:t>
            </a:r>
          </a:p>
          <a:p>
            <a:pPr marL="285750" indent="-285750">
              <a:spcAft>
                <a:spcPts val="600"/>
              </a:spcAft>
              <a:buFont typeface="Wingdings" panose="05000000000000000000" pitchFamily="2" charset="2"/>
              <a:buChar char="ü"/>
              <a:defRPr sz="1600">
                <a:latin typeface="Times New Roman"/>
              </a:defRPr>
            </a:pPr>
            <a:r>
              <a:rPr b="1" dirty="0">
                <a:solidFill>
                  <a:srgbClr val="FF0000"/>
                </a:solidFill>
              </a:rPr>
              <a:t>Basic Structure: </a:t>
            </a:r>
            <a:r>
              <a:rPr dirty="0"/>
              <a:t>Client → Handler A → Handler B → Handler C → Handler D</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5</a:t>
            </a:r>
          </a:p>
        </p:txBody>
      </p:sp>
      <p:pic>
        <p:nvPicPr>
          <p:cNvPr id="6" name="Picture 5">
            <a:extLst>
              <a:ext uri="{FF2B5EF4-FFF2-40B4-BE49-F238E27FC236}">
                <a16:creationId xmlns:a16="http://schemas.microsoft.com/office/drawing/2014/main" id="{EC8062D6-8D5B-3A75-14C9-CCF707651300}"/>
              </a:ext>
            </a:extLst>
          </p:cNvPr>
          <p:cNvPicPr>
            <a:picLocks noChangeAspect="1"/>
          </p:cNvPicPr>
          <p:nvPr/>
        </p:nvPicPr>
        <p:blipFill>
          <a:blip r:embed="rId2"/>
          <a:srcRect t="6452" b="1362"/>
          <a:stretch/>
        </p:blipFill>
        <p:spPr>
          <a:xfrm>
            <a:off x="136176" y="-1"/>
            <a:ext cx="11338559" cy="6968405"/>
          </a:xfrm>
          <a:prstGeom prst="rect">
            <a:avLst/>
          </a:prstGeom>
        </p:spPr>
      </p:pic>
    </p:spTree>
    <p:extLst>
      <p:ext uri="{BB962C8B-B14F-4D97-AF65-F5344CB8AC3E}">
        <p14:creationId xmlns:p14="http://schemas.microsoft.com/office/powerpoint/2010/main" val="572271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Chain of Responsibility — Java Structure and Benefits</a:t>
            </a:r>
          </a:p>
        </p:txBody>
      </p:sp>
      <p:sp>
        <p:nvSpPr>
          <p:cNvPr id="3" name="TextBox 2"/>
          <p:cNvSpPr txBox="1"/>
          <p:nvPr/>
        </p:nvSpPr>
        <p:spPr>
          <a:xfrm>
            <a:off x="594360" y="914400"/>
            <a:ext cx="10972800" cy="4585871"/>
          </a:xfrm>
          <a:prstGeom prst="rect">
            <a:avLst/>
          </a:prstGeom>
          <a:noFill/>
        </p:spPr>
        <p:txBody>
          <a:bodyPr wrap="square">
            <a:spAutoFit/>
          </a:bodyPr>
          <a:lstStyle/>
          <a:p>
            <a:pPr>
              <a:spcAft>
                <a:spcPts val="600"/>
              </a:spcAft>
              <a:defRPr sz="1600">
                <a:latin typeface="Times New Roman"/>
              </a:defRPr>
            </a:pPr>
            <a:r>
              <a:rPr sz="2800" b="1" dirty="0">
                <a:solidFill>
                  <a:srgbClr val="FF0000"/>
                </a:solidFill>
              </a:rPr>
              <a:t>Benefits: </a:t>
            </a:r>
            <a:endParaRPr lang="en-US" sz="2800" b="1" dirty="0">
              <a:solidFill>
                <a:srgbClr val="FF0000"/>
              </a:solidFill>
            </a:endParaRPr>
          </a:p>
          <a:p>
            <a:pPr marL="285750" indent="-285750">
              <a:spcAft>
                <a:spcPts val="600"/>
              </a:spcAft>
              <a:buFont typeface="Wingdings" panose="05000000000000000000" pitchFamily="2" charset="2"/>
              <a:buChar char="ü"/>
              <a:defRPr sz="1600">
                <a:latin typeface="Times New Roman"/>
              </a:defRPr>
            </a:pPr>
            <a:r>
              <a:rPr sz="2800" dirty="0"/>
              <a:t>Reduces coupling between sender and receiver; </a:t>
            </a:r>
            <a:endParaRPr lang="en-US" sz="2800" dirty="0"/>
          </a:p>
          <a:p>
            <a:pPr marL="285750" indent="-285750">
              <a:spcAft>
                <a:spcPts val="600"/>
              </a:spcAft>
              <a:buFont typeface="Wingdings" panose="05000000000000000000" pitchFamily="2" charset="2"/>
              <a:buChar char="ü"/>
              <a:defRPr sz="1600">
                <a:latin typeface="Times New Roman"/>
              </a:defRPr>
            </a:pPr>
            <a:r>
              <a:rPr sz="2800" dirty="0"/>
              <a:t>Multiple objects can handle a request; </a:t>
            </a:r>
            <a:endParaRPr lang="en-US" sz="2800" dirty="0"/>
          </a:p>
          <a:p>
            <a:pPr marL="285750" indent="-285750">
              <a:spcAft>
                <a:spcPts val="600"/>
              </a:spcAft>
              <a:buFont typeface="Wingdings" panose="05000000000000000000" pitchFamily="2" charset="2"/>
              <a:buChar char="ü"/>
              <a:defRPr sz="1600">
                <a:latin typeface="Times New Roman"/>
              </a:defRPr>
            </a:pPr>
            <a:r>
              <a:rPr sz="2800" dirty="0"/>
              <a:t>Handler order can be changed easily; </a:t>
            </a:r>
            <a:endParaRPr lang="en-US" sz="2800" dirty="0"/>
          </a:p>
          <a:p>
            <a:pPr marL="285750" indent="-285750">
              <a:spcAft>
                <a:spcPts val="600"/>
              </a:spcAft>
              <a:buFont typeface="Wingdings" panose="05000000000000000000" pitchFamily="2" charset="2"/>
              <a:buChar char="ü"/>
              <a:defRPr sz="1600">
                <a:latin typeface="Times New Roman"/>
              </a:defRPr>
            </a:pPr>
            <a:r>
              <a:rPr sz="2800" dirty="0"/>
              <a:t>New handlers can be added without modifying the client; </a:t>
            </a:r>
            <a:endParaRPr lang="en-US" sz="2800" dirty="0"/>
          </a:p>
          <a:p>
            <a:pPr marL="285750" indent="-285750">
              <a:spcAft>
                <a:spcPts val="600"/>
              </a:spcAft>
              <a:buFont typeface="Wingdings" panose="05000000000000000000" pitchFamily="2" charset="2"/>
              <a:buChar char="ü"/>
              <a:defRPr sz="1600">
                <a:latin typeface="Times New Roman"/>
              </a:defRPr>
            </a:pPr>
            <a:r>
              <a:rPr sz="2800" dirty="0"/>
              <a:t>Supports flexible request processing.</a:t>
            </a:r>
          </a:p>
          <a:p>
            <a:pPr marL="285750" indent="-285750">
              <a:spcAft>
                <a:spcPts val="600"/>
              </a:spcAft>
              <a:buFont typeface="Wingdings" panose="05000000000000000000" pitchFamily="2" charset="2"/>
              <a:buChar char="ü"/>
              <a:defRPr sz="1600">
                <a:latin typeface="Times New Roman"/>
              </a:defRPr>
            </a:pPr>
            <a:r>
              <a:rPr sz="2800" dirty="0"/>
              <a:t>Common Applications: Approval systems;</a:t>
            </a:r>
            <a:endParaRPr lang="en-US" sz="2800" dirty="0"/>
          </a:p>
          <a:p>
            <a:pPr marL="285750" indent="-285750">
              <a:spcAft>
                <a:spcPts val="600"/>
              </a:spcAft>
              <a:buFont typeface="Wingdings" panose="05000000000000000000" pitchFamily="2" charset="2"/>
              <a:buChar char="ü"/>
              <a:defRPr sz="1600">
                <a:latin typeface="Times New Roman"/>
              </a:defRPr>
            </a:pPr>
            <a:r>
              <a:rPr sz="2800" dirty="0"/>
              <a:t> Exception handling; Customer support systems; </a:t>
            </a:r>
            <a:endParaRPr lang="en-US" sz="2800" dirty="0"/>
          </a:p>
          <a:p>
            <a:pPr marL="285750" indent="-285750">
              <a:spcAft>
                <a:spcPts val="600"/>
              </a:spcAft>
              <a:buFont typeface="Wingdings" panose="05000000000000000000" pitchFamily="2" charset="2"/>
              <a:buChar char="ü"/>
              <a:defRPr sz="1600">
                <a:latin typeface="Times New Roman"/>
              </a:defRPr>
            </a:pPr>
            <a:r>
              <a:rPr sz="2800" dirty="0"/>
              <a:t>Authentication/authorization; Event processing.</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3. State Pattern — Definition and Example</a:t>
            </a:r>
          </a:p>
        </p:txBody>
      </p:sp>
      <p:sp>
        <p:nvSpPr>
          <p:cNvPr id="3" name="TextBox 2"/>
          <p:cNvSpPr txBox="1"/>
          <p:nvPr/>
        </p:nvSpPr>
        <p:spPr>
          <a:xfrm>
            <a:off x="594360" y="914400"/>
            <a:ext cx="10972800" cy="2616101"/>
          </a:xfrm>
          <a:prstGeom prst="rect">
            <a:avLst/>
          </a:prstGeom>
          <a:noFill/>
        </p:spPr>
        <p:txBody>
          <a:bodyPr wrap="square">
            <a:spAutoFit/>
          </a:bodyPr>
          <a:lstStyle/>
          <a:p>
            <a:pPr marL="285750" indent="-285750">
              <a:spcAft>
                <a:spcPts val="600"/>
              </a:spcAft>
              <a:buFont typeface="Wingdings" panose="05000000000000000000" pitchFamily="2" charset="2"/>
              <a:buChar char="ü"/>
              <a:defRPr sz="1700">
                <a:latin typeface="Times New Roman"/>
              </a:defRPr>
            </a:pPr>
            <a:r>
              <a:rPr sz="2400" b="1" dirty="0">
                <a:solidFill>
                  <a:srgbClr val="00B050"/>
                </a:solidFill>
              </a:rPr>
              <a:t>The State Pattern allows an object to change its behavior when its internal state changes</a:t>
            </a:r>
            <a:r>
              <a:rPr sz="2400" dirty="0"/>
              <a:t>.</a:t>
            </a:r>
          </a:p>
          <a:p>
            <a:pPr marL="285750" indent="-285750">
              <a:spcAft>
                <a:spcPts val="600"/>
              </a:spcAft>
              <a:buFont typeface="Wingdings" panose="05000000000000000000" pitchFamily="2" charset="2"/>
              <a:buChar char="ü"/>
              <a:defRPr sz="1700">
                <a:latin typeface="Times New Roman"/>
              </a:defRPr>
            </a:pPr>
            <a:r>
              <a:rPr sz="2400" b="1" dirty="0">
                <a:solidFill>
                  <a:srgbClr val="FF0000"/>
                </a:solidFill>
              </a:rPr>
              <a:t>Main Idea: </a:t>
            </a:r>
            <a:r>
              <a:rPr sz="2400" dirty="0"/>
              <a:t>The object appears to change its class when its state changes.</a:t>
            </a:r>
          </a:p>
          <a:p>
            <a:pPr marL="285750" indent="-285750">
              <a:spcAft>
                <a:spcPts val="600"/>
              </a:spcAft>
              <a:buFont typeface="Wingdings" panose="05000000000000000000" pitchFamily="2" charset="2"/>
              <a:buChar char="ü"/>
              <a:defRPr sz="1700">
                <a:latin typeface="Times New Roman"/>
              </a:defRPr>
            </a:pPr>
            <a:r>
              <a:rPr sz="2400" b="1" dirty="0">
                <a:solidFill>
                  <a:srgbClr val="FF0000"/>
                </a:solidFill>
              </a:rPr>
              <a:t>Example: </a:t>
            </a:r>
            <a:r>
              <a:rPr sz="2400" dirty="0"/>
              <a:t>Online Order</a:t>
            </a:r>
          </a:p>
          <a:p>
            <a:pPr marL="285750" indent="-285750">
              <a:spcAft>
                <a:spcPts val="600"/>
              </a:spcAft>
              <a:buFont typeface="Wingdings" panose="05000000000000000000" pitchFamily="2" charset="2"/>
              <a:buChar char="ü"/>
              <a:defRPr sz="1700">
                <a:latin typeface="Times New Roman"/>
              </a:defRPr>
            </a:pPr>
            <a:r>
              <a:rPr sz="2400" dirty="0"/>
              <a:t>An order can have different states: Pending; Paid; Shipped; Delivered.</a:t>
            </a:r>
          </a:p>
          <a:p>
            <a:pPr marL="285750" indent="-285750">
              <a:spcAft>
                <a:spcPts val="600"/>
              </a:spcAft>
              <a:buFont typeface="Wingdings" panose="05000000000000000000" pitchFamily="2" charset="2"/>
              <a:buChar char="ü"/>
              <a:defRPr sz="1700">
                <a:latin typeface="Times New Roman"/>
              </a:defRPr>
            </a:pPr>
            <a:r>
              <a:rPr sz="2400" dirty="0"/>
              <a:t>The behavior of the order depends on its current state.</a:t>
            </a:r>
          </a:p>
        </p:txBody>
      </p:sp>
      <p:sp>
        <p:nvSpPr>
          <p:cNvPr id="4" name="Rounded Rectangle 3"/>
          <p:cNvSpPr/>
          <p:nvPr/>
        </p:nvSpPr>
        <p:spPr>
          <a:xfrm>
            <a:off x="640080" y="502920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a:solidFill>
                  <a:schemeClr val="tx1"/>
                </a:solidFill>
              </a:rPr>
              <a:t>Pending</a:t>
            </a:r>
          </a:p>
        </p:txBody>
      </p:sp>
      <p:sp>
        <p:nvSpPr>
          <p:cNvPr id="5" name="Rounded Rectangle 4"/>
          <p:cNvSpPr/>
          <p:nvPr/>
        </p:nvSpPr>
        <p:spPr>
          <a:xfrm>
            <a:off x="3383280" y="502920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a:solidFill>
                  <a:schemeClr val="tx1"/>
                </a:solidFill>
              </a:rPr>
              <a:t>Paid</a:t>
            </a:r>
          </a:p>
        </p:txBody>
      </p:sp>
      <p:sp>
        <p:nvSpPr>
          <p:cNvPr id="6" name="Rounded Rectangle 5"/>
          <p:cNvSpPr/>
          <p:nvPr/>
        </p:nvSpPr>
        <p:spPr>
          <a:xfrm>
            <a:off x="6126480" y="502920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a:solidFill>
                  <a:schemeClr val="tx1"/>
                </a:solidFill>
              </a:rPr>
              <a:t>Shipped</a:t>
            </a:r>
          </a:p>
        </p:txBody>
      </p:sp>
      <p:sp>
        <p:nvSpPr>
          <p:cNvPr id="7" name="Rounded Rectangle 6"/>
          <p:cNvSpPr/>
          <p:nvPr/>
        </p:nvSpPr>
        <p:spPr>
          <a:xfrm>
            <a:off x="8869680" y="502920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a:solidFill>
                  <a:schemeClr val="tx1"/>
                </a:solidFill>
              </a:rPr>
              <a:t>Delivered</a:t>
            </a:r>
          </a:p>
        </p:txBody>
      </p:sp>
      <p:sp>
        <p:nvSpPr>
          <p:cNvPr id="8" name="TextBox 7"/>
          <p:cNvSpPr txBox="1"/>
          <p:nvPr/>
        </p:nvSpPr>
        <p:spPr>
          <a:xfrm>
            <a:off x="10972800" y="6446520"/>
            <a:ext cx="457200" cy="182880"/>
          </a:xfrm>
          <a:prstGeom prst="rect">
            <a:avLst/>
          </a:prstGeom>
          <a:noFill/>
        </p:spPr>
        <p:txBody>
          <a:bodyPr wrap="none">
            <a:spAutoFit/>
          </a:bodyPr>
          <a:lstStyle/>
          <a:p>
            <a:pPr algn="r">
              <a:defRPr sz="1000">
                <a:latin typeface="Times New Roman"/>
              </a:defRPr>
            </a:pPr>
            <a:r>
              <a:t>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3. State Pattern — Definition and Example</a:t>
            </a:r>
          </a:p>
        </p:txBody>
      </p:sp>
      <p:sp>
        <p:nvSpPr>
          <p:cNvPr id="3" name="TextBox 2"/>
          <p:cNvSpPr txBox="1"/>
          <p:nvPr/>
        </p:nvSpPr>
        <p:spPr>
          <a:xfrm>
            <a:off x="594360" y="914400"/>
            <a:ext cx="10972800" cy="2616101"/>
          </a:xfrm>
          <a:prstGeom prst="rect">
            <a:avLst/>
          </a:prstGeom>
          <a:noFill/>
        </p:spPr>
        <p:txBody>
          <a:bodyPr wrap="square">
            <a:spAutoFit/>
          </a:bodyPr>
          <a:lstStyle/>
          <a:p>
            <a:pPr marL="285750" indent="-285750">
              <a:spcAft>
                <a:spcPts val="600"/>
              </a:spcAft>
              <a:buFont typeface="Wingdings" panose="05000000000000000000" pitchFamily="2" charset="2"/>
              <a:buChar char="ü"/>
              <a:defRPr sz="1700">
                <a:latin typeface="Times New Roman"/>
              </a:defRPr>
            </a:pPr>
            <a:r>
              <a:rPr sz="2400" b="1" dirty="0">
                <a:solidFill>
                  <a:srgbClr val="00B050"/>
                </a:solidFill>
              </a:rPr>
              <a:t>The State Pattern allows an object to change its behavior when its internal state changes</a:t>
            </a:r>
            <a:r>
              <a:rPr sz="2400" dirty="0"/>
              <a:t>.</a:t>
            </a:r>
          </a:p>
          <a:p>
            <a:pPr marL="285750" indent="-285750">
              <a:spcAft>
                <a:spcPts val="600"/>
              </a:spcAft>
              <a:buFont typeface="Wingdings" panose="05000000000000000000" pitchFamily="2" charset="2"/>
              <a:buChar char="ü"/>
              <a:defRPr sz="1700">
                <a:latin typeface="Times New Roman"/>
              </a:defRPr>
            </a:pPr>
            <a:r>
              <a:rPr sz="2400" b="1" dirty="0">
                <a:solidFill>
                  <a:srgbClr val="FF0000"/>
                </a:solidFill>
              </a:rPr>
              <a:t>Main Idea: </a:t>
            </a:r>
            <a:r>
              <a:rPr sz="2400" dirty="0"/>
              <a:t>The object appears to change its class when its state changes.</a:t>
            </a:r>
          </a:p>
          <a:p>
            <a:pPr marL="285750" indent="-285750">
              <a:spcAft>
                <a:spcPts val="600"/>
              </a:spcAft>
              <a:buFont typeface="Wingdings" panose="05000000000000000000" pitchFamily="2" charset="2"/>
              <a:buChar char="ü"/>
              <a:defRPr sz="1700">
                <a:latin typeface="Times New Roman"/>
              </a:defRPr>
            </a:pPr>
            <a:r>
              <a:rPr sz="2400" b="1" dirty="0">
                <a:solidFill>
                  <a:srgbClr val="FF0000"/>
                </a:solidFill>
              </a:rPr>
              <a:t>Example: </a:t>
            </a:r>
            <a:r>
              <a:rPr sz="2400" dirty="0"/>
              <a:t>Online Order</a:t>
            </a:r>
          </a:p>
          <a:p>
            <a:pPr marL="285750" indent="-285750">
              <a:spcAft>
                <a:spcPts val="600"/>
              </a:spcAft>
              <a:buFont typeface="Wingdings" panose="05000000000000000000" pitchFamily="2" charset="2"/>
              <a:buChar char="ü"/>
              <a:defRPr sz="1700">
                <a:latin typeface="Times New Roman"/>
              </a:defRPr>
            </a:pPr>
            <a:r>
              <a:rPr sz="2400" dirty="0"/>
              <a:t>An order can have different states: Pending; Paid; Shipped; Delivered.</a:t>
            </a:r>
          </a:p>
          <a:p>
            <a:pPr marL="285750" indent="-285750">
              <a:spcAft>
                <a:spcPts val="600"/>
              </a:spcAft>
              <a:buFont typeface="Wingdings" panose="05000000000000000000" pitchFamily="2" charset="2"/>
              <a:buChar char="ü"/>
              <a:defRPr sz="1700">
                <a:latin typeface="Times New Roman"/>
              </a:defRPr>
            </a:pPr>
            <a:r>
              <a:rPr sz="2400" dirty="0"/>
              <a:t>The behavior of the order depends on its current state.</a:t>
            </a:r>
          </a:p>
        </p:txBody>
      </p:sp>
      <p:sp>
        <p:nvSpPr>
          <p:cNvPr id="4" name="Rounded Rectangle 3"/>
          <p:cNvSpPr/>
          <p:nvPr/>
        </p:nvSpPr>
        <p:spPr>
          <a:xfrm>
            <a:off x="640080" y="502920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a:solidFill>
                  <a:schemeClr val="tx1"/>
                </a:solidFill>
              </a:rPr>
              <a:t>Pending</a:t>
            </a:r>
          </a:p>
        </p:txBody>
      </p:sp>
      <p:sp>
        <p:nvSpPr>
          <p:cNvPr id="5" name="Rounded Rectangle 4"/>
          <p:cNvSpPr/>
          <p:nvPr/>
        </p:nvSpPr>
        <p:spPr>
          <a:xfrm>
            <a:off x="3383280" y="502920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a:solidFill>
                  <a:schemeClr val="tx1"/>
                </a:solidFill>
              </a:rPr>
              <a:t>Paid</a:t>
            </a:r>
          </a:p>
        </p:txBody>
      </p:sp>
      <p:sp>
        <p:nvSpPr>
          <p:cNvPr id="6" name="Rounded Rectangle 5"/>
          <p:cNvSpPr/>
          <p:nvPr/>
        </p:nvSpPr>
        <p:spPr>
          <a:xfrm>
            <a:off x="6126480" y="502920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a:solidFill>
                  <a:schemeClr val="tx1"/>
                </a:solidFill>
              </a:rPr>
              <a:t>Shipped</a:t>
            </a:r>
          </a:p>
        </p:txBody>
      </p:sp>
      <p:sp>
        <p:nvSpPr>
          <p:cNvPr id="7" name="Rounded Rectangle 6"/>
          <p:cNvSpPr/>
          <p:nvPr/>
        </p:nvSpPr>
        <p:spPr>
          <a:xfrm>
            <a:off x="8869680" y="502920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a:solidFill>
                  <a:schemeClr val="tx1"/>
                </a:solidFill>
              </a:rPr>
              <a:t>Delivered</a:t>
            </a:r>
          </a:p>
        </p:txBody>
      </p:sp>
      <p:sp>
        <p:nvSpPr>
          <p:cNvPr id="8" name="TextBox 7"/>
          <p:cNvSpPr txBox="1"/>
          <p:nvPr/>
        </p:nvSpPr>
        <p:spPr>
          <a:xfrm>
            <a:off x="10972800" y="6446520"/>
            <a:ext cx="457200" cy="182880"/>
          </a:xfrm>
          <a:prstGeom prst="rect">
            <a:avLst/>
          </a:prstGeom>
          <a:noFill/>
        </p:spPr>
        <p:txBody>
          <a:bodyPr wrap="none">
            <a:spAutoFit/>
          </a:bodyPr>
          <a:lstStyle/>
          <a:p>
            <a:pPr algn="r">
              <a:defRPr sz="1000">
                <a:latin typeface="Times New Roman"/>
              </a:defRPr>
            </a:pPr>
            <a:r>
              <a:t>7</a:t>
            </a:r>
          </a:p>
        </p:txBody>
      </p:sp>
      <p:pic>
        <p:nvPicPr>
          <p:cNvPr id="10" name="Picture 9">
            <a:extLst>
              <a:ext uri="{FF2B5EF4-FFF2-40B4-BE49-F238E27FC236}">
                <a16:creationId xmlns:a16="http://schemas.microsoft.com/office/drawing/2014/main" id="{EAB3E730-C3FA-F513-028C-116B27A0DC2B}"/>
              </a:ext>
            </a:extLst>
          </p:cNvPr>
          <p:cNvPicPr>
            <a:picLocks noChangeAspect="1"/>
          </p:cNvPicPr>
          <p:nvPr/>
        </p:nvPicPr>
        <p:blipFill>
          <a:blip r:embed="rId2"/>
          <a:stretch>
            <a:fillRect/>
          </a:stretch>
        </p:blipFill>
        <p:spPr>
          <a:xfrm>
            <a:off x="-147484" y="78658"/>
            <a:ext cx="12192000" cy="6096000"/>
          </a:xfrm>
          <a:prstGeom prst="rect">
            <a:avLst/>
          </a:prstGeom>
        </p:spPr>
      </p:pic>
    </p:spTree>
    <p:extLst>
      <p:ext uri="{BB962C8B-B14F-4D97-AF65-F5344CB8AC3E}">
        <p14:creationId xmlns:p14="http://schemas.microsoft.com/office/powerpoint/2010/main" val="144336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State Pattern — Structure and Benefits</a:t>
            </a:r>
          </a:p>
        </p:txBody>
      </p:sp>
      <p:sp>
        <p:nvSpPr>
          <p:cNvPr id="3" name="Rounded Rectangle 2"/>
          <p:cNvSpPr/>
          <p:nvPr/>
        </p:nvSpPr>
        <p:spPr>
          <a:xfrm>
            <a:off x="4846320" y="914400"/>
            <a:ext cx="246888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900" b="1">
                <a:latin typeface="Times New Roman"/>
              </a:defRPr>
            </a:pPr>
            <a:r>
              <a:rPr sz="3600">
                <a:solidFill>
                  <a:schemeClr val="tx1"/>
                </a:solidFill>
              </a:rPr>
              <a:t>Context</a:t>
            </a:r>
          </a:p>
        </p:txBody>
      </p:sp>
      <p:sp>
        <p:nvSpPr>
          <p:cNvPr id="4" name="Rounded Rectangle 3"/>
          <p:cNvSpPr/>
          <p:nvPr/>
        </p:nvSpPr>
        <p:spPr>
          <a:xfrm>
            <a:off x="1097280" y="1828800"/>
            <a:ext cx="22860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sz="1600">
                <a:solidFill>
                  <a:schemeClr val="tx1"/>
                </a:solidFill>
              </a:rPr>
              <a:t>Pending State</a:t>
            </a:r>
          </a:p>
        </p:txBody>
      </p:sp>
      <p:sp>
        <p:nvSpPr>
          <p:cNvPr id="5" name="Rounded Rectangle 4"/>
          <p:cNvSpPr/>
          <p:nvPr/>
        </p:nvSpPr>
        <p:spPr>
          <a:xfrm>
            <a:off x="4846320" y="1828800"/>
            <a:ext cx="22860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sz="1600">
                <a:solidFill>
                  <a:schemeClr val="tx1"/>
                </a:solidFill>
              </a:rPr>
              <a:t>Paid State</a:t>
            </a:r>
          </a:p>
        </p:txBody>
      </p:sp>
      <p:sp>
        <p:nvSpPr>
          <p:cNvPr id="6" name="Rounded Rectangle 5"/>
          <p:cNvSpPr/>
          <p:nvPr/>
        </p:nvSpPr>
        <p:spPr>
          <a:xfrm>
            <a:off x="8595360" y="1828800"/>
            <a:ext cx="22860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latin typeface="Times New Roman"/>
              </a:defRPr>
            </a:pPr>
            <a:r>
              <a:rPr sz="1600">
                <a:solidFill>
                  <a:schemeClr val="tx1"/>
                </a:solidFill>
              </a:rPr>
              <a:t>Shipped State</a:t>
            </a:r>
          </a:p>
        </p:txBody>
      </p:sp>
      <p:sp>
        <p:nvSpPr>
          <p:cNvPr id="7" name="TextBox 6"/>
          <p:cNvSpPr txBox="1"/>
          <p:nvPr/>
        </p:nvSpPr>
        <p:spPr>
          <a:xfrm>
            <a:off x="228600" y="2952627"/>
            <a:ext cx="11717594" cy="2462213"/>
          </a:xfrm>
          <a:prstGeom prst="rect">
            <a:avLst/>
          </a:prstGeom>
          <a:noFill/>
        </p:spPr>
        <p:txBody>
          <a:bodyPr wrap="square">
            <a:spAutoFit/>
          </a:bodyPr>
          <a:lstStyle/>
          <a:p>
            <a:pPr marL="285750" indent="-285750">
              <a:spcAft>
                <a:spcPts val="600"/>
              </a:spcAft>
              <a:buFont typeface="Wingdings" panose="05000000000000000000" pitchFamily="2" charset="2"/>
              <a:buChar char="Ø"/>
              <a:defRPr sz="1500">
                <a:latin typeface="Times New Roman"/>
              </a:defRPr>
            </a:pPr>
            <a:r>
              <a:rPr sz="2400" b="1" dirty="0">
                <a:solidFill>
                  <a:srgbClr val="FF0000"/>
                </a:solidFill>
              </a:rPr>
              <a:t>Structure: </a:t>
            </a:r>
            <a:r>
              <a:rPr sz="2400" dirty="0"/>
              <a:t>Context → Current State → Pending / Paid / Shipped</a:t>
            </a:r>
          </a:p>
          <a:p>
            <a:pPr marL="285750" indent="-285750">
              <a:spcAft>
                <a:spcPts val="600"/>
              </a:spcAft>
              <a:buFont typeface="Wingdings" panose="05000000000000000000" pitchFamily="2" charset="2"/>
              <a:buChar char="Ø"/>
              <a:defRPr sz="1500">
                <a:latin typeface="Times New Roman"/>
              </a:defRPr>
            </a:pPr>
            <a:r>
              <a:rPr sz="2400" b="1" dirty="0">
                <a:solidFill>
                  <a:srgbClr val="FF0000"/>
                </a:solidFill>
              </a:rPr>
              <a:t>Benefits: </a:t>
            </a:r>
            <a:r>
              <a:rPr sz="2400" dirty="0"/>
              <a:t>Encapsulates state-specific behavior; Reduces large if-else or switch statements; Makes state transitions easier to manage; New states can be added easily; Improves maintainability.</a:t>
            </a:r>
          </a:p>
          <a:p>
            <a:pPr marL="285750" indent="-285750">
              <a:spcAft>
                <a:spcPts val="600"/>
              </a:spcAft>
              <a:buFont typeface="Wingdings" panose="05000000000000000000" pitchFamily="2" charset="2"/>
              <a:buChar char="Ø"/>
              <a:defRPr sz="1500">
                <a:latin typeface="Times New Roman"/>
              </a:defRPr>
            </a:pPr>
            <a:r>
              <a:rPr sz="2400" b="1" dirty="0">
                <a:solidFill>
                  <a:srgbClr val="FF0000"/>
                </a:solidFill>
              </a:rPr>
              <a:t>When to Use: </a:t>
            </a:r>
            <a:r>
              <a:rPr sz="2400" dirty="0"/>
              <a:t>Use State Pattern when an object's behavior changes significantly depending on its current state.</a:t>
            </a:r>
          </a:p>
        </p:txBody>
      </p:sp>
      <p:sp>
        <p:nvSpPr>
          <p:cNvPr id="8" name="TextBox 7"/>
          <p:cNvSpPr txBox="1"/>
          <p:nvPr/>
        </p:nvSpPr>
        <p:spPr>
          <a:xfrm>
            <a:off x="10972800" y="6446520"/>
            <a:ext cx="457200" cy="182880"/>
          </a:xfrm>
          <a:prstGeom prst="rect">
            <a:avLst/>
          </a:prstGeom>
          <a:noFill/>
        </p:spPr>
        <p:txBody>
          <a:bodyPr wrap="none">
            <a:spAutoFit/>
          </a:bodyPr>
          <a:lstStyle/>
          <a:p>
            <a:pPr algn="r">
              <a:defRPr sz="1000">
                <a:latin typeface="Times New Roman"/>
              </a:defRPr>
            </a:pPr>
            <a:r>
              <a:t>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State Pattern — Java Example</a:t>
            </a:r>
          </a:p>
        </p:txBody>
      </p:sp>
      <p:sp>
        <p:nvSpPr>
          <p:cNvPr id="3" name="Rounded Rectangle 2"/>
          <p:cNvSpPr/>
          <p:nvPr/>
        </p:nvSpPr>
        <p:spPr>
          <a:xfrm>
            <a:off x="168131" y="1012231"/>
            <a:ext cx="4285881" cy="3540105"/>
          </a:xfrm>
          <a:prstGeom prst="roundRect">
            <a:avLst/>
          </a:prstGeom>
          <a:solidFill>
            <a:srgbClr val="F2F2F2"/>
          </a:solidFill>
        </p:spPr>
        <p:style>
          <a:lnRef idx="1">
            <a:schemeClr val="accent1"/>
          </a:lnRef>
          <a:fillRef idx="3">
            <a:schemeClr val="accent1"/>
          </a:fillRef>
          <a:effectRef idx="2">
            <a:schemeClr val="accent1"/>
          </a:effectRef>
          <a:fontRef idx="minor">
            <a:schemeClr val="lt1"/>
          </a:fontRef>
        </p:style>
        <p:txBody>
          <a:bodyPr wrap="none" rtlCol="0" anchor="ctr"/>
          <a:lstStyle/>
          <a:p>
            <a:pPr>
              <a:defRPr sz="1400">
                <a:latin typeface="Courier New"/>
              </a:defRPr>
            </a:pPr>
            <a:r>
              <a:rPr dirty="0">
                <a:solidFill>
                  <a:schemeClr val="tx1"/>
                </a:solidFill>
                <a:latin typeface="Times New Roman" panose="02020603050405020304" pitchFamily="18" charset="0"/>
                <a:cs typeface="Times New Roman" panose="02020603050405020304" pitchFamily="18" charset="0"/>
              </a:rPr>
              <a:t>interface State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void handle();</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class </a:t>
            </a:r>
            <a:r>
              <a:rPr dirty="0" err="1">
                <a:solidFill>
                  <a:schemeClr val="tx1"/>
                </a:solidFill>
                <a:latin typeface="Times New Roman" panose="02020603050405020304" pitchFamily="18" charset="0"/>
                <a:cs typeface="Times New Roman" panose="02020603050405020304" pitchFamily="18" charset="0"/>
              </a:rPr>
              <a:t>PendingState</a:t>
            </a:r>
            <a:r>
              <a:rPr dirty="0">
                <a:solidFill>
                  <a:schemeClr val="tx1"/>
                </a:solidFill>
                <a:latin typeface="Times New Roman" panose="02020603050405020304" pitchFamily="18" charset="0"/>
                <a:cs typeface="Times New Roman" panose="02020603050405020304" pitchFamily="18" charset="0"/>
              </a:rPr>
              <a:t> implements State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public void handle()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System.out.println</a:t>
            </a:r>
            <a:r>
              <a:rPr dirty="0">
                <a:solidFill>
                  <a:schemeClr val="tx1"/>
                </a:solidFill>
                <a:latin typeface="Times New Roman" panose="02020603050405020304" pitchFamily="18" charset="0"/>
                <a:cs typeface="Times New Roman" panose="02020603050405020304" pitchFamily="18" charset="0"/>
              </a:rPr>
              <a:t>("Order is pending");</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class </a:t>
            </a:r>
            <a:r>
              <a:rPr dirty="0" err="1">
                <a:solidFill>
                  <a:schemeClr val="tx1"/>
                </a:solidFill>
                <a:latin typeface="Times New Roman" panose="02020603050405020304" pitchFamily="18" charset="0"/>
                <a:cs typeface="Times New Roman" panose="02020603050405020304" pitchFamily="18" charset="0"/>
              </a:rPr>
              <a:t>PaidState</a:t>
            </a:r>
            <a:r>
              <a:rPr dirty="0">
                <a:solidFill>
                  <a:schemeClr val="tx1"/>
                </a:solidFill>
                <a:latin typeface="Times New Roman" panose="02020603050405020304" pitchFamily="18" charset="0"/>
                <a:cs typeface="Times New Roman" panose="02020603050405020304" pitchFamily="18" charset="0"/>
              </a:rPr>
              <a:t> implements State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public void handle()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System.out.println</a:t>
            </a:r>
            <a:r>
              <a:rPr dirty="0">
                <a:solidFill>
                  <a:schemeClr val="tx1"/>
                </a:solidFill>
                <a:latin typeface="Times New Roman" panose="02020603050405020304" pitchFamily="18" charset="0"/>
                <a:cs typeface="Times New Roman" panose="02020603050405020304" pitchFamily="18" charset="0"/>
              </a:rPr>
              <a:t>("Order has been paid");</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4. Command Pattern — Definition</a:t>
            </a:r>
          </a:p>
        </p:txBody>
      </p:sp>
      <p:sp>
        <p:nvSpPr>
          <p:cNvPr id="3" name="TextBox 2"/>
          <p:cNvSpPr txBox="1"/>
          <p:nvPr/>
        </p:nvSpPr>
        <p:spPr>
          <a:xfrm>
            <a:off x="594360" y="914400"/>
            <a:ext cx="10972800" cy="3770263"/>
          </a:xfrm>
          <a:prstGeom prst="rect">
            <a:avLst/>
          </a:prstGeom>
          <a:noFill/>
        </p:spPr>
        <p:txBody>
          <a:bodyPr wrap="square">
            <a:spAutoFit/>
          </a:bodyPr>
          <a:lstStyle/>
          <a:p>
            <a:pPr>
              <a:spcAft>
                <a:spcPts val="600"/>
              </a:spcAft>
              <a:defRPr sz="1600">
                <a:latin typeface="Times New Roman"/>
              </a:defRPr>
            </a:pPr>
            <a:r>
              <a:rPr sz="3200" b="1" dirty="0">
                <a:solidFill>
                  <a:srgbClr val="00B050"/>
                </a:solidFill>
              </a:rPr>
              <a:t>The Command Pattern encapsulates a request as an object.</a:t>
            </a:r>
          </a:p>
          <a:p>
            <a:pPr>
              <a:spcAft>
                <a:spcPts val="600"/>
              </a:spcAft>
              <a:defRPr sz="1600">
                <a:latin typeface="Times New Roman"/>
              </a:defRPr>
            </a:pPr>
            <a:r>
              <a:rPr sz="3200" b="1" dirty="0">
                <a:solidFill>
                  <a:srgbClr val="FF0000"/>
                </a:solidFill>
              </a:rPr>
              <a:t>This allows requests to be: </a:t>
            </a:r>
            <a:r>
              <a:rPr sz="3200" dirty="0"/>
              <a:t>Stored; Scheduled; Queued; Executed; Undone; Redone; Logged.</a:t>
            </a:r>
          </a:p>
          <a:p>
            <a:pPr>
              <a:spcAft>
                <a:spcPts val="600"/>
              </a:spcAft>
              <a:defRPr sz="1600">
                <a:latin typeface="Times New Roman"/>
              </a:defRPr>
            </a:pPr>
            <a:r>
              <a:rPr sz="3200" b="1" dirty="0">
                <a:solidFill>
                  <a:srgbClr val="FF0000"/>
                </a:solidFill>
              </a:rPr>
              <a:t>Main Components: </a:t>
            </a:r>
            <a:r>
              <a:rPr sz="3200" dirty="0"/>
              <a:t>Client/Sender → Command → Invoker → Receiver → Performs Task</a:t>
            </a:r>
          </a:p>
          <a:p>
            <a:pPr>
              <a:spcAft>
                <a:spcPts val="600"/>
              </a:spcAft>
              <a:defRPr sz="1600">
                <a:latin typeface="Times New Roman"/>
              </a:defRPr>
            </a:pPr>
            <a:r>
              <a:rPr sz="3200" b="1" dirty="0">
                <a:solidFill>
                  <a:srgbClr val="FF0000"/>
                </a:solidFill>
              </a:rPr>
              <a:t>Example: </a:t>
            </a:r>
            <a:r>
              <a:rPr sz="3200" dirty="0"/>
              <a:t>Text Editor: User → Paste Button → </a:t>
            </a:r>
            <a:r>
              <a:rPr sz="3200" dirty="0" err="1"/>
              <a:t>PasteCommand</a:t>
            </a:r>
            <a:r>
              <a:rPr sz="3200" dirty="0"/>
              <a:t> → Document</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4. Command Pattern — Definition</a:t>
            </a:r>
          </a:p>
        </p:txBody>
      </p:sp>
      <p:sp>
        <p:nvSpPr>
          <p:cNvPr id="3" name="TextBox 2"/>
          <p:cNvSpPr txBox="1"/>
          <p:nvPr/>
        </p:nvSpPr>
        <p:spPr>
          <a:xfrm>
            <a:off x="594360" y="914400"/>
            <a:ext cx="10972800" cy="3770263"/>
          </a:xfrm>
          <a:prstGeom prst="rect">
            <a:avLst/>
          </a:prstGeom>
          <a:noFill/>
        </p:spPr>
        <p:txBody>
          <a:bodyPr wrap="square">
            <a:spAutoFit/>
          </a:bodyPr>
          <a:lstStyle/>
          <a:p>
            <a:pPr>
              <a:spcAft>
                <a:spcPts val="600"/>
              </a:spcAft>
              <a:defRPr sz="1600">
                <a:latin typeface="Times New Roman"/>
              </a:defRPr>
            </a:pPr>
            <a:r>
              <a:rPr sz="3200" b="1" dirty="0">
                <a:solidFill>
                  <a:srgbClr val="00B050"/>
                </a:solidFill>
              </a:rPr>
              <a:t>The Command Pattern encapsulates a request as an object.</a:t>
            </a:r>
          </a:p>
          <a:p>
            <a:pPr>
              <a:spcAft>
                <a:spcPts val="600"/>
              </a:spcAft>
              <a:defRPr sz="1600">
                <a:latin typeface="Times New Roman"/>
              </a:defRPr>
            </a:pPr>
            <a:r>
              <a:rPr sz="3200" dirty="0"/>
              <a:t>This allows requests to be: Stored; Scheduled; Queued; Executed; Undone; Redone; Logged.</a:t>
            </a:r>
          </a:p>
          <a:p>
            <a:pPr>
              <a:spcAft>
                <a:spcPts val="600"/>
              </a:spcAft>
              <a:defRPr sz="1600">
                <a:latin typeface="Times New Roman"/>
              </a:defRPr>
            </a:pPr>
            <a:r>
              <a:rPr sz="3200" dirty="0"/>
              <a:t>Main Components: Client/Sender → Command → Invoker → Receiver → Performs Task</a:t>
            </a:r>
          </a:p>
          <a:p>
            <a:pPr>
              <a:spcAft>
                <a:spcPts val="600"/>
              </a:spcAft>
              <a:defRPr sz="1600">
                <a:latin typeface="Times New Roman"/>
              </a:defRPr>
            </a:pPr>
            <a:r>
              <a:rPr sz="3200" dirty="0"/>
              <a:t>Example: Text Editor: User → Paste Button → </a:t>
            </a:r>
            <a:r>
              <a:rPr sz="3200" dirty="0" err="1"/>
              <a:t>PasteCommand</a:t>
            </a:r>
            <a:r>
              <a:rPr sz="3200" dirty="0"/>
              <a:t> → Document</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10</a:t>
            </a:r>
          </a:p>
        </p:txBody>
      </p:sp>
      <p:pic>
        <p:nvPicPr>
          <p:cNvPr id="6" name="Picture 5">
            <a:extLst>
              <a:ext uri="{FF2B5EF4-FFF2-40B4-BE49-F238E27FC236}">
                <a16:creationId xmlns:a16="http://schemas.microsoft.com/office/drawing/2014/main" id="{3CD44855-AB7D-1073-3A48-F9D274F02FF9}"/>
              </a:ext>
            </a:extLst>
          </p:cNvPr>
          <p:cNvPicPr>
            <a:picLocks noChangeAspect="1"/>
          </p:cNvPicPr>
          <p:nvPr/>
        </p:nvPicPr>
        <p:blipFill>
          <a:blip r:embed="rId2"/>
          <a:stretch>
            <a:fillRect/>
          </a:stretch>
        </p:blipFill>
        <p:spPr>
          <a:xfrm>
            <a:off x="685800" y="0"/>
            <a:ext cx="10287000" cy="6858000"/>
          </a:xfrm>
          <a:prstGeom prst="rect">
            <a:avLst/>
          </a:prstGeom>
        </p:spPr>
      </p:pic>
    </p:spTree>
    <p:extLst>
      <p:ext uri="{BB962C8B-B14F-4D97-AF65-F5344CB8AC3E}">
        <p14:creationId xmlns:p14="http://schemas.microsoft.com/office/powerpoint/2010/main" val="2899725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Command Pattern — Purpose</a:t>
            </a:r>
          </a:p>
        </p:txBody>
      </p:sp>
      <p:sp>
        <p:nvSpPr>
          <p:cNvPr id="3" name="TextBox 2"/>
          <p:cNvSpPr txBox="1"/>
          <p:nvPr/>
        </p:nvSpPr>
        <p:spPr>
          <a:xfrm>
            <a:off x="411480" y="914400"/>
            <a:ext cx="10972800" cy="3477875"/>
          </a:xfrm>
          <a:prstGeom prst="rect">
            <a:avLst/>
          </a:prstGeom>
          <a:noFill/>
        </p:spPr>
        <p:txBody>
          <a:bodyPr wrap="square">
            <a:spAutoFit/>
          </a:bodyPr>
          <a:lstStyle/>
          <a:p>
            <a:pPr>
              <a:spcAft>
                <a:spcPts val="600"/>
              </a:spcAft>
              <a:defRPr sz="1500">
                <a:latin typeface="Times New Roman"/>
              </a:defRPr>
            </a:pPr>
            <a:r>
              <a:rPr sz="2000" b="1" dirty="0">
                <a:solidFill>
                  <a:srgbClr val="FF0000"/>
                </a:solidFill>
              </a:rPr>
              <a:t>Major Purposes</a:t>
            </a:r>
          </a:p>
          <a:p>
            <a:pPr>
              <a:spcAft>
                <a:spcPts val="600"/>
              </a:spcAft>
              <a:defRPr sz="1500">
                <a:latin typeface="Times New Roman"/>
              </a:defRPr>
            </a:pPr>
            <a:r>
              <a:rPr sz="2000" b="1" dirty="0">
                <a:solidFill>
                  <a:srgbClr val="7030A0"/>
                </a:solidFill>
              </a:rPr>
              <a:t>1. Store and Schedule Requests</a:t>
            </a:r>
          </a:p>
          <a:p>
            <a:pPr>
              <a:spcAft>
                <a:spcPts val="600"/>
              </a:spcAft>
              <a:defRPr sz="1500">
                <a:latin typeface="Times New Roman"/>
              </a:defRPr>
            </a:pPr>
            <a:r>
              <a:rPr sz="2000" dirty="0"/>
              <a:t>Commands can be stored in lists or queues and executed later.</a:t>
            </a:r>
          </a:p>
          <a:p>
            <a:pPr>
              <a:spcAft>
                <a:spcPts val="600"/>
              </a:spcAft>
              <a:defRPr sz="1500">
                <a:latin typeface="Times New Roman"/>
              </a:defRPr>
            </a:pPr>
            <a:r>
              <a:rPr sz="2000" dirty="0"/>
              <a:t>Example: Create Alarm Command → Command Queue → Scheduled Time → Execute Alarm</a:t>
            </a:r>
          </a:p>
          <a:p>
            <a:pPr>
              <a:spcAft>
                <a:spcPts val="600"/>
              </a:spcAft>
              <a:defRPr sz="1500">
                <a:latin typeface="Times New Roman"/>
              </a:defRPr>
            </a:pPr>
            <a:r>
              <a:rPr sz="2000" b="1" dirty="0">
                <a:solidFill>
                  <a:srgbClr val="7030A0"/>
                </a:solidFill>
              </a:rPr>
              <a:t>2. Undo and Redo</a:t>
            </a:r>
          </a:p>
          <a:p>
            <a:pPr>
              <a:spcAft>
                <a:spcPts val="600"/>
              </a:spcAft>
              <a:defRPr sz="1500">
                <a:latin typeface="Times New Roman"/>
              </a:defRPr>
            </a:pPr>
            <a:r>
              <a:rPr sz="2000" dirty="0"/>
              <a:t>Execute → History List → Undo → Redo List</a:t>
            </a:r>
          </a:p>
          <a:p>
            <a:pPr>
              <a:spcAft>
                <a:spcPts val="600"/>
              </a:spcAft>
              <a:defRPr sz="1500">
                <a:latin typeface="Times New Roman"/>
              </a:defRPr>
            </a:pPr>
            <a:r>
              <a:rPr sz="2000" dirty="0"/>
              <a:t>Commands can maintain a history so that previous operations can be undone and redone.</a:t>
            </a:r>
          </a:p>
          <a:p>
            <a:pPr>
              <a:spcAft>
                <a:spcPts val="600"/>
              </a:spcAft>
              <a:defRPr sz="1500">
                <a:latin typeface="Times New Roman"/>
              </a:defRPr>
            </a:pPr>
            <a:r>
              <a:rPr sz="2000" b="1" dirty="0">
                <a:solidFill>
                  <a:srgbClr val="7030A0"/>
                </a:solidFill>
              </a:rPr>
              <a:t>3. Logging</a:t>
            </a:r>
          </a:p>
          <a:p>
            <a:pPr>
              <a:spcAft>
                <a:spcPts val="600"/>
              </a:spcAft>
              <a:defRPr sz="1500">
                <a:latin typeface="Times New Roman"/>
              </a:defRPr>
            </a:pPr>
            <a:r>
              <a:rPr sz="2000" dirty="0"/>
              <a:t>Commands can be stored in a log so recent operations can potentially be replayed after a system failure.</a:t>
            </a:r>
          </a:p>
        </p:txBody>
      </p:sp>
      <p:sp>
        <p:nvSpPr>
          <p:cNvPr id="4" name="Rounded Rectangle 3"/>
          <p:cNvSpPr/>
          <p:nvPr/>
        </p:nvSpPr>
        <p:spPr>
          <a:xfrm>
            <a:off x="640080" y="5120640"/>
            <a:ext cx="210312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latin typeface="Times New Roman"/>
              </a:defRPr>
            </a:pPr>
            <a:r>
              <a:rPr>
                <a:solidFill>
                  <a:schemeClr val="tx1"/>
                </a:solidFill>
              </a:rPr>
              <a:t>Client / Sender</a:t>
            </a:r>
          </a:p>
        </p:txBody>
      </p:sp>
      <p:sp>
        <p:nvSpPr>
          <p:cNvPr id="5" name="Rounded Rectangle 4"/>
          <p:cNvSpPr/>
          <p:nvPr/>
        </p:nvSpPr>
        <p:spPr>
          <a:xfrm>
            <a:off x="3200400" y="512064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latin typeface="Times New Roman"/>
              </a:defRPr>
            </a:pPr>
            <a:r>
              <a:rPr>
                <a:solidFill>
                  <a:schemeClr val="tx1"/>
                </a:solidFill>
              </a:rPr>
              <a:t>Command</a:t>
            </a:r>
          </a:p>
        </p:txBody>
      </p:sp>
      <p:sp>
        <p:nvSpPr>
          <p:cNvPr id="6" name="Rounded Rectangle 5"/>
          <p:cNvSpPr/>
          <p:nvPr/>
        </p:nvSpPr>
        <p:spPr>
          <a:xfrm>
            <a:off x="5486400" y="512064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latin typeface="Times New Roman"/>
              </a:defRPr>
            </a:pPr>
            <a:r>
              <a:rPr>
                <a:solidFill>
                  <a:schemeClr val="tx1"/>
                </a:solidFill>
              </a:rPr>
              <a:t>Invoker</a:t>
            </a:r>
          </a:p>
        </p:txBody>
      </p:sp>
      <p:sp>
        <p:nvSpPr>
          <p:cNvPr id="7" name="Rounded Rectangle 6"/>
          <p:cNvSpPr/>
          <p:nvPr/>
        </p:nvSpPr>
        <p:spPr>
          <a:xfrm>
            <a:off x="7772400" y="5120640"/>
            <a:ext cx="182880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latin typeface="Times New Roman"/>
              </a:defRPr>
            </a:pPr>
            <a:r>
              <a:rPr>
                <a:solidFill>
                  <a:schemeClr val="tx1"/>
                </a:solidFill>
              </a:rPr>
              <a:t>Receiver</a:t>
            </a:r>
          </a:p>
        </p:txBody>
      </p:sp>
      <p:sp>
        <p:nvSpPr>
          <p:cNvPr id="8" name="TextBox 7"/>
          <p:cNvSpPr txBox="1"/>
          <p:nvPr/>
        </p:nvSpPr>
        <p:spPr>
          <a:xfrm>
            <a:off x="10972800" y="6446520"/>
            <a:ext cx="457200" cy="182880"/>
          </a:xfrm>
          <a:prstGeom prst="rect">
            <a:avLst/>
          </a:prstGeom>
          <a:noFill/>
        </p:spPr>
        <p:txBody>
          <a:bodyPr wrap="none">
            <a:spAutoFit/>
          </a:bodyPr>
          <a:lstStyle/>
          <a:p>
            <a:pPr algn="r">
              <a:defRPr sz="1000">
                <a:latin typeface="Times New Roman"/>
              </a:defRPr>
            </a:pPr>
            <a:r>
              <a:t>11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Command Pattern — Structure</a:t>
            </a:r>
          </a:p>
        </p:txBody>
      </p:sp>
      <p:sp>
        <p:nvSpPr>
          <p:cNvPr id="3" name="TextBox 2"/>
          <p:cNvSpPr txBox="1"/>
          <p:nvPr/>
        </p:nvSpPr>
        <p:spPr>
          <a:xfrm>
            <a:off x="594360" y="914400"/>
            <a:ext cx="10972800" cy="5486400"/>
          </a:xfrm>
          <a:prstGeom prst="rect">
            <a:avLst/>
          </a:prstGeom>
          <a:noFill/>
        </p:spPr>
        <p:txBody>
          <a:bodyPr wrap="square">
            <a:spAutoFit/>
          </a:bodyPr>
          <a:lstStyle/>
          <a:p>
            <a:pPr>
              <a:spcAft>
                <a:spcPts val="600"/>
              </a:spcAft>
              <a:defRPr sz="1500">
                <a:latin typeface="Times New Roman"/>
              </a:defRPr>
            </a:pPr>
            <a:r>
              <a:rPr dirty="0"/>
              <a:t>Command Interface / Superclass</a:t>
            </a:r>
          </a:p>
          <a:p>
            <a:pPr lvl="1">
              <a:spcAft>
                <a:spcPts val="600"/>
              </a:spcAft>
              <a:defRPr sz="1400">
                <a:latin typeface="Times New Roman"/>
              </a:defRPr>
            </a:pPr>
            <a:r>
              <a:rPr dirty="0"/>
              <a:t>execute() → performs the command</a:t>
            </a:r>
          </a:p>
          <a:p>
            <a:pPr lvl="1">
              <a:spcAft>
                <a:spcPts val="600"/>
              </a:spcAft>
              <a:defRPr sz="1400">
                <a:latin typeface="Times New Roman"/>
              </a:defRPr>
            </a:pPr>
            <a:r>
              <a:rPr dirty="0"/>
              <a:t>unexecute() → reverses the command</a:t>
            </a:r>
          </a:p>
          <a:p>
            <a:pPr lvl="1">
              <a:spcAft>
                <a:spcPts val="600"/>
              </a:spcAft>
              <a:defRPr sz="1400">
                <a:latin typeface="Times New Roman"/>
              </a:defRPr>
            </a:pPr>
            <a:r>
              <a:rPr dirty="0" err="1"/>
              <a:t>isReversible</a:t>
            </a:r>
            <a:r>
              <a:rPr dirty="0"/>
              <a:t>() → determines whether the command can be undone</a:t>
            </a:r>
          </a:p>
          <a:p>
            <a:pPr>
              <a:spcAft>
                <a:spcPts val="600"/>
              </a:spcAft>
              <a:defRPr sz="1500">
                <a:latin typeface="Times New Roman"/>
              </a:defRPr>
            </a:pPr>
            <a:r>
              <a:rPr dirty="0"/>
              <a:t>Example: Command → </a:t>
            </a:r>
            <a:r>
              <a:rPr dirty="0" err="1"/>
              <a:t>PasteCommand</a:t>
            </a:r>
            <a:r>
              <a:rPr dirty="0"/>
              <a:t> / </a:t>
            </a:r>
            <a:r>
              <a:rPr dirty="0" err="1"/>
              <a:t>DeleteCommand</a:t>
            </a:r>
            <a:r>
              <a:rPr dirty="0"/>
              <a:t> → Receiver: Document</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Command Pattern — Benefits</a:t>
            </a:r>
          </a:p>
        </p:txBody>
      </p:sp>
      <p:sp>
        <p:nvSpPr>
          <p:cNvPr id="3" name="TextBox 2"/>
          <p:cNvSpPr txBox="1"/>
          <p:nvPr/>
        </p:nvSpPr>
        <p:spPr>
          <a:xfrm>
            <a:off x="594360" y="914400"/>
            <a:ext cx="10972800" cy="3062377"/>
          </a:xfrm>
          <a:prstGeom prst="rect">
            <a:avLst/>
          </a:prstGeom>
          <a:noFill/>
        </p:spPr>
        <p:txBody>
          <a:bodyPr wrap="square">
            <a:spAutoFit/>
          </a:bodyPr>
          <a:lstStyle/>
          <a:p>
            <a:pPr>
              <a:spcAft>
                <a:spcPts val="600"/>
              </a:spcAft>
              <a:defRPr sz="1600">
                <a:latin typeface="Times New Roman"/>
              </a:defRPr>
            </a:pPr>
            <a:r>
              <a:rPr sz="2400" b="1" dirty="0">
                <a:solidFill>
                  <a:srgbClr val="7030A0"/>
                </a:solidFill>
              </a:rPr>
              <a:t>1. Commands become objects </a:t>
            </a:r>
            <a:r>
              <a:rPr sz="2400" dirty="0"/>
              <a:t>— Requests can be manipulated as objects.</a:t>
            </a:r>
          </a:p>
          <a:p>
            <a:pPr>
              <a:spcAft>
                <a:spcPts val="600"/>
              </a:spcAft>
              <a:defRPr sz="1600">
                <a:latin typeface="Times New Roman"/>
              </a:defRPr>
            </a:pPr>
            <a:r>
              <a:rPr sz="2400" b="1" dirty="0">
                <a:solidFill>
                  <a:srgbClr val="FF0000"/>
                </a:solidFill>
              </a:rPr>
              <a:t>2. Supports Undo/Redo </a:t>
            </a:r>
            <a:r>
              <a:rPr sz="2400" dirty="0"/>
              <a:t>— Commands can maintain history and reversal operations.</a:t>
            </a:r>
          </a:p>
          <a:p>
            <a:pPr>
              <a:spcAft>
                <a:spcPts val="600"/>
              </a:spcAft>
              <a:defRPr sz="1600">
                <a:latin typeface="Times New Roman"/>
              </a:defRPr>
            </a:pPr>
            <a:r>
              <a:rPr sz="2400" b="1" dirty="0">
                <a:solidFill>
                  <a:srgbClr val="7030A0"/>
                </a:solidFill>
              </a:rPr>
              <a:t>3. Supports Queueing </a:t>
            </a:r>
            <a:r>
              <a:rPr sz="2400" dirty="0"/>
              <a:t>— Commands can be placed in queues and executed later.</a:t>
            </a:r>
          </a:p>
          <a:p>
            <a:pPr>
              <a:spcAft>
                <a:spcPts val="600"/>
              </a:spcAft>
              <a:defRPr sz="1600">
                <a:latin typeface="Times New Roman"/>
              </a:defRPr>
            </a:pPr>
            <a:r>
              <a:rPr sz="2400" b="1" dirty="0">
                <a:solidFill>
                  <a:srgbClr val="00B0F0"/>
                </a:solidFill>
              </a:rPr>
              <a:t>4. Reduces Coupling </a:t>
            </a:r>
            <a:r>
              <a:rPr sz="2400" dirty="0"/>
              <a:t>— The command object separates the requester from the receiver.</a:t>
            </a:r>
          </a:p>
          <a:p>
            <a:pPr>
              <a:spcAft>
                <a:spcPts val="600"/>
              </a:spcAft>
              <a:defRPr sz="1600">
                <a:latin typeface="Times New Roman"/>
              </a:defRPr>
            </a:pPr>
            <a:r>
              <a:rPr sz="2400" b="1" dirty="0">
                <a:solidFill>
                  <a:srgbClr val="00B050"/>
                </a:solidFill>
              </a:rPr>
              <a:t>5. Separates UI from Application Logic </a:t>
            </a:r>
            <a:r>
              <a:rPr sz="2400" b="1" dirty="0">
                <a:solidFill>
                  <a:srgbClr val="7030A0"/>
                </a:solidFill>
              </a:rPr>
              <a:t>— </a:t>
            </a:r>
            <a:r>
              <a:rPr sz="2400" dirty="0"/>
              <a:t>Button clicks can create command objects instead of directly containing application logic.</a:t>
            </a:r>
          </a:p>
          <a:p>
            <a:pPr>
              <a:spcAft>
                <a:spcPts val="600"/>
              </a:spcAft>
              <a:defRPr sz="1600">
                <a:latin typeface="Times New Roman"/>
              </a:defRPr>
            </a:pPr>
            <a:r>
              <a:rPr sz="2400" b="1" dirty="0">
                <a:solidFill>
                  <a:srgbClr val="7030A0"/>
                </a:solidFill>
              </a:rPr>
              <a:t>6. Easy to Maintain </a:t>
            </a:r>
            <a:r>
              <a:rPr sz="2400" dirty="0"/>
              <a:t>— New commands can be added independently.</a:t>
            </a:r>
          </a:p>
        </p:txBody>
      </p:sp>
      <p:sp>
        <p:nvSpPr>
          <p:cNvPr id="4" name="Rounded Rectangle 3"/>
          <p:cNvSpPr/>
          <p:nvPr/>
        </p:nvSpPr>
        <p:spPr>
          <a:xfrm>
            <a:off x="4754880" y="4572000"/>
            <a:ext cx="2560320" cy="59436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latin typeface="Times New Roman"/>
              </a:defRPr>
            </a:pPr>
            <a:r>
              <a:rPr dirty="0">
                <a:solidFill>
                  <a:schemeClr val="tx1"/>
                </a:solidFill>
              </a:rPr>
              <a:t>Blog / Subject</a:t>
            </a:r>
          </a:p>
        </p:txBody>
      </p:sp>
      <p:sp>
        <p:nvSpPr>
          <p:cNvPr id="5" name="Rounded Rectangle 4"/>
          <p:cNvSpPr/>
          <p:nvPr/>
        </p:nvSpPr>
        <p:spPr>
          <a:xfrm>
            <a:off x="1280160" y="5486400"/>
            <a:ext cx="2011680" cy="68580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latin typeface="Times New Roman"/>
              </a:defRPr>
            </a:pPr>
            <a:r>
              <a:rPr sz="1400">
                <a:solidFill>
                  <a:schemeClr val="tx1"/>
                </a:solidFill>
              </a:rPr>
              <a:t>Subscriber</a:t>
            </a:r>
            <a:br>
              <a:rPr sz="1400">
                <a:solidFill>
                  <a:schemeClr val="tx1"/>
                </a:solidFill>
              </a:rPr>
            </a:br>
            <a:r>
              <a:rPr sz="1400">
                <a:solidFill>
                  <a:schemeClr val="tx1"/>
                </a:solidFill>
              </a:rPr>
              <a:t>Observer 1</a:t>
            </a:r>
          </a:p>
        </p:txBody>
      </p:sp>
      <p:sp>
        <p:nvSpPr>
          <p:cNvPr id="6" name="Rounded Rectangle 5"/>
          <p:cNvSpPr/>
          <p:nvPr/>
        </p:nvSpPr>
        <p:spPr>
          <a:xfrm>
            <a:off x="4937760" y="5486400"/>
            <a:ext cx="2011680" cy="68580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latin typeface="Times New Roman"/>
              </a:defRPr>
            </a:pPr>
            <a:r>
              <a:rPr sz="1400">
                <a:solidFill>
                  <a:schemeClr val="tx1"/>
                </a:solidFill>
              </a:rPr>
              <a:t>Subscriber</a:t>
            </a:r>
            <a:br>
              <a:rPr sz="1400">
                <a:solidFill>
                  <a:schemeClr val="tx1"/>
                </a:solidFill>
              </a:rPr>
            </a:br>
            <a:r>
              <a:rPr sz="1400">
                <a:solidFill>
                  <a:schemeClr val="tx1"/>
                </a:solidFill>
              </a:rPr>
              <a:t>Observer 2</a:t>
            </a:r>
          </a:p>
        </p:txBody>
      </p:sp>
      <p:sp>
        <p:nvSpPr>
          <p:cNvPr id="7" name="Rounded Rectangle 6"/>
          <p:cNvSpPr/>
          <p:nvPr/>
        </p:nvSpPr>
        <p:spPr>
          <a:xfrm>
            <a:off x="8595360" y="5486400"/>
            <a:ext cx="2011680" cy="685800"/>
          </a:xfrm>
          <a:prstGeom prst="roundRect">
            <a:avLst/>
          </a:prstGeom>
          <a:solidFill>
            <a:srgbClr val="E6E6E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latin typeface="Times New Roman"/>
              </a:defRPr>
            </a:pPr>
            <a:r>
              <a:rPr sz="1400">
                <a:solidFill>
                  <a:schemeClr val="tx1"/>
                </a:solidFill>
              </a:rPr>
              <a:t>Subscriber</a:t>
            </a:r>
            <a:br>
              <a:rPr sz="1400">
                <a:solidFill>
                  <a:schemeClr val="tx1"/>
                </a:solidFill>
              </a:rPr>
            </a:br>
            <a:r>
              <a:rPr sz="1400">
                <a:solidFill>
                  <a:schemeClr val="tx1"/>
                </a:solidFill>
              </a:rPr>
              <a:t>Observer 3</a:t>
            </a:r>
          </a:p>
        </p:txBody>
      </p:sp>
      <p:sp>
        <p:nvSpPr>
          <p:cNvPr id="8" name="TextBox 7"/>
          <p:cNvSpPr txBox="1"/>
          <p:nvPr/>
        </p:nvSpPr>
        <p:spPr>
          <a:xfrm>
            <a:off x="10972800" y="6446520"/>
            <a:ext cx="457200" cy="182880"/>
          </a:xfrm>
          <a:prstGeom prst="rect">
            <a:avLst/>
          </a:prstGeom>
          <a:noFill/>
        </p:spPr>
        <p:txBody>
          <a:bodyPr wrap="none">
            <a:spAutoFit/>
          </a:bodyPr>
          <a:lstStyle/>
          <a:p>
            <a:pPr algn="r">
              <a:defRPr sz="1000">
                <a:latin typeface="Times New Roman"/>
              </a:defRPr>
            </a:pPr>
            <a:r>
              <a:t>13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5. Observer Pattern — Definition and Example</a:t>
            </a:r>
          </a:p>
        </p:txBody>
      </p:sp>
      <p:sp>
        <p:nvSpPr>
          <p:cNvPr id="3" name="TextBox 2"/>
          <p:cNvSpPr txBox="1"/>
          <p:nvPr/>
        </p:nvSpPr>
        <p:spPr>
          <a:xfrm>
            <a:off x="594359" y="914400"/>
            <a:ext cx="11338559" cy="2539157"/>
          </a:xfrm>
          <a:prstGeom prst="rect">
            <a:avLst/>
          </a:prstGeom>
          <a:noFill/>
        </p:spPr>
        <p:txBody>
          <a:bodyPr wrap="square">
            <a:spAutoFit/>
          </a:bodyPr>
          <a:lstStyle/>
          <a:p>
            <a:pPr>
              <a:spcAft>
                <a:spcPts val="600"/>
              </a:spcAft>
              <a:defRPr sz="1600">
                <a:latin typeface="Times New Roman"/>
              </a:defRPr>
            </a:pPr>
            <a:r>
              <a:rPr sz="2400" dirty="0"/>
              <a:t>The Observer Pattern defines a one-to-many relationship in which a Subject maintains a list of Observers and automatically notifies them when its state changes.</a:t>
            </a:r>
          </a:p>
          <a:p>
            <a:pPr>
              <a:spcAft>
                <a:spcPts val="600"/>
              </a:spcAft>
              <a:defRPr sz="1600">
                <a:latin typeface="Times New Roman"/>
              </a:defRPr>
            </a:pPr>
            <a:r>
              <a:rPr sz="2400" b="1" dirty="0">
                <a:solidFill>
                  <a:srgbClr val="FF0000"/>
                </a:solidFill>
              </a:rPr>
              <a:t>Main Idea: </a:t>
            </a:r>
            <a:r>
              <a:rPr sz="2400" dirty="0"/>
              <a:t>One object changes → many dependent objects are notified.</a:t>
            </a:r>
          </a:p>
          <a:p>
            <a:pPr>
              <a:spcAft>
                <a:spcPts val="600"/>
              </a:spcAft>
              <a:defRPr sz="1600">
                <a:latin typeface="Times New Roman"/>
              </a:defRPr>
            </a:pPr>
            <a:r>
              <a:rPr sz="2400" b="1" dirty="0">
                <a:solidFill>
                  <a:srgbClr val="FF0000"/>
                </a:solidFill>
              </a:rPr>
              <a:t>Example: </a:t>
            </a:r>
            <a:r>
              <a:rPr sz="2400" dirty="0"/>
              <a:t>Blog Subscription: Blog (Subject) → Subscriber 1 / Subscriber 2 / Subscriber 3 (Observers)</a:t>
            </a:r>
          </a:p>
          <a:p>
            <a:pPr>
              <a:spcAft>
                <a:spcPts val="600"/>
              </a:spcAft>
              <a:defRPr sz="1600">
                <a:latin typeface="Times New Roman"/>
              </a:defRPr>
            </a:pPr>
            <a:r>
              <a:rPr sz="2400" b="1" dirty="0">
                <a:solidFill>
                  <a:srgbClr val="00B0F0"/>
                </a:solidFill>
              </a:rPr>
              <a:t>When the blog changes: </a:t>
            </a:r>
            <a:r>
              <a:rPr sz="2400" dirty="0"/>
              <a:t>Blog Updated → notify() → update() on all subscribers.</a:t>
            </a:r>
          </a:p>
        </p:txBody>
      </p:sp>
      <p:sp>
        <p:nvSpPr>
          <p:cNvPr id="4" name="Rounded Rectangle 3"/>
          <p:cNvSpPr/>
          <p:nvPr/>
        </p:nvSpPr>
        <p:spPr>
          <a:xfrm>
            <a:off x="914400" y="4257368"/>
            <a:ext cx="10241280" cy="1143000"/>
          </a:xfrm>
          <a:prstGeom prst="roundRect">
            <a:avLst/>
          </a:prstGeom>
          <a:solidFill>
            <a:srgbClr val="F2F2F2"/>
          </a:solidFill>
        </p:spPr>
        <p:style>
          <a:lnRef idx="1">
            <a:schemeClr val="accent1"/>
          </a:lnRef>
          <a:fillRef idx="3">
            <a:schemeClr val="accent1"/>
          </a:fillRef>
          <a:effectRef idx="2">
            <a:schemeClr val="accent1"/>
          </a:effectRef>
          <a:fontRef idx="minor">
            <a:schemeClr val="lt1"/>
          </a:fontRef>
        </p:style>
        <p:txBody>
          <a:bodyPr wrap="none" rtlCol="0" anchor="ctr"/>
          <a:lstStyle/>
          <a:p>
            <a:pPr>
              <a:defRPr sz="1300">
                <a:latin typeface="Courier New"/>
              </a:defRPr>
            </a:pPr>
            <a:r>
              <a:rPr sz="2400" dirty="0">
                <a:solidFill>
                  <a:schemeClr val="tx1"/>
                </a:solidFill>
                <a:latin typeface="Times New Roman" panose="02020603050405020304" pitchFamily="18" charset="0"/>
                <a:cs typeface="Times New Roman" panose="02020603050405020304" pitchFamily="18" charset="0"/>
              </a:rPr>
              <a:t>interface Observer { void update(); }</a:t>
            </a:r>
            <a:br>
              <a:rPr sz="2400" dirty="0">
                <a:solidFill>
                  <a:schemeClr val="tx1"/>
                </a:solidFill>
                <a:latin typeface="Times New Roman" panose="02020603050405020304" pitchFamily="18" charset="0"/>
                <a:cs typeface="Times New Roman" panose="02020603050405020304" pitchFamily="18" charset="0"/>
              </a:rPr>
            </a:br>
            <a:br>
              <a:rPr sz="2400" dirty="0">
                <a:solidFill>
                  <a:schemeClr val="tx1"/>
                </a:solidFill>
                <a:latin typeface="Times New Roman" panose="02020603050405020304" pitchFamily="18" charset="0"/>
                <a:cs typeface="Times New Roman" panose="02020603050405020304" pitchFamily="18" charset="0"/>
              </a:rPr>
            </a:br>
            <a:r>
              <a:rPr sz="2400" dirty="0">
                <a:solidFill>
                  <a:schemeClr val="tx1"/>
                </a:solidFill>
                <a:latin typeface="Times New Roman" panose="02020603050405020304" pitchFamily="18" charset="0"/>
                <a:cs typeface="Times New Roman" panose="02020603050405020304" pitchFamily="18" charset="0"/>
              </a:rPr>
              <a:t>Subject: </a:t>
            </a:r>
            <a:r>
              <a:rPr sz="2400" dirty="0" err="1">
                <a:solidFill>
                  <a:schemeClr val="tx1"/>
                </a:solidFill>
                <a:latin typeface="Times New Roman" panose="02020603050405020304" pitchFamily="18" charset="0"/>
                <a:cs typeface="Times New Roman" panose="02020603050405020304" pitchFamily="18" charset="0"/>
              </a:rPr>
              <a:t>registerObserver</a:t>
            </a:r>
            <a:r>
              <a:rPr sz="2400" dirty="0">
                <a:solidFill>
                  <a:schemeClr val="tx1"/>
                </a:solidFill>
                <a:latin typeface="Times New Roman" panose="02020603050405020304" pitchFamily="18" charset="0"/>
                <a:cs typeface="Times New Roman" panose="02020603050405020304" pitchFamily="18" charset="0"/>
              </a:rPr>
              <a:t>(); </a:t>
            </a:r>
            <a:r>
              <a:rPr sz="2400" dirty="0" err="1">
                <a:solidFill>
                  <a:schemeClr val="tx1"/>
                </a:solidFill>
                <a:latin typeface="Times New Roman" panose="02020603050405020304" pitchFamily="18" charset="0"/>
                <a:cs typeface="Times New Roman" panose="02020603050405020304" pitchFamily="18" charset="0"/>
              </a:rPr>
              <a:t>unregisterObserver</a:t>
            </a:r>
            <a:r>
              <a:rPr sz="2400" dirty="0">
                <a:solidFill>
                  <a:schemeClr val="tx1"/>
                </a:solidFill>
                <a:latin typeface="Times New Roman" panose="02020603050405020304" pitchFamily="18" charset="0"/>
                <a:cs typeface="Times New Roman" panose="02020603050405020304" pitchFamily="18" charset="0"/>
              </a:rPr>
              <a:t>(); notify();</a:t>
            </a:r>
          </a:p>
        </p:txBody>
      </p:sp>
      <p:sp>
        <p:nvSpPr>
          <p:cNvPr id="5" name="TextBox 4"/>
          <p:cNvSpPr txBox="1"/>
          <p:nvPr/>
        </p:nvSpPr>
        <p:spPr>
          <a:xfrm>
            <a:off x="10972800" y="6446520"/>
            <a:ext cx="457200" cy="182880"/>
          </a:xfrm>
          <a:prstGeom prst="rect">
            <a:avLst/>
          </a:prstGeom>
          <a:noFill/>
        </p:spPr>
        <p:txBody>
          <a:bodyPr wrap="none">
            <a:spAutoFit/>
          </a:bodyPr>
          <a:lstStyle/>
          <a:p>
            <a:pPr algn="r">
              <a:defRPr sz="1000">
                <a:latin typeface="Times New Roman"/>
              </a:defRPr>
            </a:pPr>
            <a:r>
              <a:t>14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Observer Pattern — Java Example</a:t>
            </a:r>
          </a:p>
        </p:txBody>
      </p:sp>
      <p:sp>
        <p:nvSpPr>
          <p:cNvPr id="3" name="Rounded Rectangle 2"/>
          <p:cNvSpPr/>
          <p:nvPr/>
        </p:nvSpPr>
        <p:spPr>
          <a:xfrm>
            <a:off x="640080" y="1051560"/>
            <a:ext cx="4118733" cy="4670814"/>
          </a:xfrm>
          <a:prstGeom prst="roundRect">
            <a:avLst/>
          </a:prstGeom>
          <a:solidFill>
            <a:srgbClr val="F2F2F2"/>
          </a:solidFill>
        </p:spPr>
        <p:style>
          <a:lnRef idx="1">
            <a:schemeClr val="accent1"/>
          </a:lnRef>
          <a:fillRef idx="3">
            <a:schemeClr val="accent1"/>
          </a:fillRef>
          <a:effectRef idx="2">
            <a:schemeClr val="accent1"/>
          </a:effectRef>
          <a:fontRef idx="minor">
            <a:schemeClr val="lt1"/>
          </a:fontRef>
        </p:style>
        <p:txBody>
          <a:bodyPr wrap="none" rtlCol="0" anchor="ctr"/>
          <a:lstStyle/>
          <a:p>
            <a:pPr>
              <a:defRPr sz="1400">
                <a:latin typeface="Courier New"/>
              </a:defRPr>
            </a:pPr>
            <a:r>
              <a:rPr dirty="0">
                <a:solidFill>
                  <a:schemeClr val="tx1"/>
                </a:solidFill>
                <a:latin typeface="Times New Roman" panose="02020603050405020304" pitchFamily="18" charset="0"/>
                <a:cs typeface="Times New Roman" panose="02020603050405020304" pitchFamily="18" charset="0"/>
              </a:rPr>
              <a:t>class Subject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private </a:t>
            </a:r>
            <a:r>
              <a:rPr dirty="0" err="1">
                <a:solidFill>
                  <a:schemeClr val="tx1"/>
                </a:solidFill>
                <a:latin typeface="Times New Roman" panose="02020603050405020304" pitchFamily="18" charset="0"/>
                <a:cs typeface="Times New Roman" panose="02020603050405020304" pitchFamily="18" charset="0"/>
              </a:rPr>
              <a:t>ArrayList</a:t>
            </a:r>
            <a:r>
              <a:rPr dirty="0">
                <a:solidFill>
                  <a:schemeClr val="tx1"/>
                </a:solidFill>
                <a:latin typeface="Times New Roman" panose="02020603050405020304" pitchFamily="18" charset="0"/>
                <a:cs typeface="Times New Roman" panose="02020603050405020304" pitchFamily="18" charset="0"/>
              </a:rPr>
              <a:t>&lt;Observer&gt; observers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new </a:t>
            </a:r>
            <a:r>
              <a:rPr dirty="0" err="1">
                <a:solidFill>
                  <a:schemeClr val="tx1"/>
                </a:solidFill>
                <a:latin typeface="Times New Roman" panose="02020603050405020304" pitchFamily="18" charset="0"/>
                <a:cs typeface="Times New Roman" panose="02020603050405020304" pitchFamily="18" charset="0"/>
              </a:rPr>
              <a:t>ArrayList</a:t>
            </a:r>
            <a:r>
              <a:rPr dirty="0">
                <a:solidFill>
                  <a:schemeClr val="tx1"/>
                </a:solidFill>
                <a:latin typeface="Times New Roman" panose="02020603050405020304" pitchFamily="18" charset="0"/>
                <a:cs typeface="Times New Roman" panose="02020603050405020304" pitchFamily="18" charset="0"/>
              </a:rPr>
              <a:t>&lt;&gt;();</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public void </a:t>
            </a:r>
            <a:r>
              <a:rPr dirty="0" err="1">
                <a:solidFill>
                  <a:schemeClr val="tx1"/>
                </a:solidFill>
                <a:latin typeface="Times New Roman" panose="02020603050405020304" pitchFamily="18" charset="0"/>
                <a:cs typeface="Times New Roman" panose="02020603050405020304" pitchFamily="18" charset="0"/>
              </a:rPr>
              <a:t>registerObserver</a:t>
            </a:r>
            <a:r>
              <a:rPr dirty="0">
                <a:solidFill>
                  <a:schemeClr val="tx1"/>
                </a:solidFill>
                <a:latin typeface="Times New Roman" panose="02020603050405020304" pitchFamily="18" charset="0"/>
                <a:cs typeface="Times New Roman" panose="02020603050405020304" pitchFamily="18" charset="0"/>
              </a:rPr>
              <a:t>(Observer o)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observers.add</a:t>
            </a:r>
            <a:r>
              <a:rPr dirty="0">
                <a:solidFill>
                  <a:schemeClr val="tx1"/>
                </a:solidFill>
                <a:latin typeface="Times New Roman" panose="02020603050405020304" pitchFamily="18" charset="0"/>
                <a:cs typeface="Times New Roman" panose="02020603050405020304" pitchFamily="18" charset="0"/>
              </a:rPr>
              <a:t>(o);</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public void </a:t>
            </a:r>
            <a:r>
              <a:rPr dirty="0" err="1">
                <a:solidFill>
                  <a:schemeClr val="tx1"/>
                </a:solidFill>
                <a:latin typeface="Times New Roman" panose="02020603050405020304" pitchFamily="18" charset="0"/>
                <a:cs typeface="Times New Roman" panose="02020603050405020304" pitchFamily="18" charset="0"/>
              </a:rPr>
              <a:t>unregisterObserver</a:t>
            </a:r>
            <a:r>
              <a:rPr dirty="0">
                <a:solidFill>
                  <a:schemeClr val="tx1"/>
                </a:solidFill>
                <a:latin typeface="Times New Roman" panose="02020603050405020304" pitchFamily="18" charset="0"/>
                <a:cs typeface="Times New Roman" panose="02020603050405020304" pitchFamily="18" charset="0"/>
              </a:rPr>
              <a:t>(Observer o)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observers.remove</a:t>
            </a:r>
            <a:r>
              <a:rPr dirty="0">
                <a:solidFill>
                  <a:schemeClr val="tx1"/>
                </a:solidFill>
                <a:latin typeface="Times New Roman" panose="02020603050405020304" pitchFamily="18" charset="0"/>
                <a:cs typeface="Times New Roman" panose="02020603050405020304" pitchFamily="18" charset="0"/>
              </a:rPr>
              <a:t>(o);</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public void </a:t>
            </a:r>
            <a:r>
              <a:rPr dirty="0" err="1">
                <a:solidFill>
                  <a:schemeClr val="tx1"/>
                </a:solidFill>
                <a:latin typeface="Times New Roman" panose="02020603050405020304" pitchFamily="18" charset="0"/>
                <a:cs typeface="Times New Roman" panose="02020603050405020304" pitchFamily="18" charset="0"/>
              </a:rPr>
              <a:t>notifyObservers</a:t>
            </a: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for (Observer o : observers)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o.update</a:t>
            </a:r>
            <a:r>
              <a:rPr dirty="0">
                <a:solidFill>
                  <a:schemeClr val="tx1"/>
                </a:solidFill>
                <a:latin typeface="Times New Roman" panose="02020603050405020304" pitchFamily="18" charset="0"/>
                <a:cs typeface="Times New Roman" panose="02020603050405020304" pitchFamily="18" charset="0"/>
              </a:rPr>
              <a:t>();</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16</a:t>
            </a:r>
          </a:p>
        </p:txBody>
      </p:sp>
      <p:pic>
        <p:nvPicPr>
          <p:cNvPr id="6" name="Picture 5">
            <a:extLst>
              <a:ext uri="{FF2B5EF4-FFF2-40B4-BE49-F238E27FC236}">
                <a16:creationId xmlns:a16="http://schemas.microsoft.com/office/drawing/2014/main" id="{30304209-1A86-0C3C-D9B0-340676662B16}"/>
              </a:ext>
            </a:extLst>
          </p:cNvPr>
          <p:cNvPicPr>
            <a:picLocks noChangeAspect="1"/>
          </p:cNvPicPr>
          <p:nvPr/>
        </p:nvPicPr>
        <p:blipFill>
          <a:blip r:embed="rId2"/>
          <a:stretch>
            <a:fillRect/>
          </a:stretch>
        </p:blipFill>
        <p:spPr>
          <a:xfrm>
            <a:off x="106925" y="-182880"/>
            <a:ext cx="10287000" cy="6858000"/>
          </a:xfrm>
          <a:prstGeom prst="rect">
            <a:avLst/>
          </a:prstGeom>
        </p:spPr>
      </p:pic>
    </p:spTree>
    <p:extLst>
      <p:ext uri="{BB962C8B-B14F-4D97-AF65-F5344CB8AC3E}">
        <p14:creationId xmlns:p14="http://schemas.microsoft.com/office/powerpoint/2010/main" val="1267258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Observer Pattern — Structure</a:t>
            </a:r>
          </a:p>
        </p:txBody>
      </p:sp>
      <p:sp>
        <p:nvSpPr>
          <p:cNvPr id="3" name="TextBox 2"/>
          <p:cNvSpPr txBox="1"/>
          <p:nvPr/>
        </p:nvSpPr>
        <p:spPr>
          <a:xfrm>
            <a:off x="594360" y="914400"/>
            <a:ext cx="10972800" cy="3847207"/>
          </a:xfrm>
          <a:prstGeom prst="rect">
            <a:avLst/>
          </a:prstGeom>
          <a:noFill/>
        </p:spPr>
        <p:txBody>
          <a:bodyPr wrap="square">
            <a:spAutoFit/>
          </a:bodyPr>
          <a:lstStyle/>
          <a:p>
            <a:pPr>
              <a:spcAft>
                <a:spcPts val="600"/>
              </a:spcAft>
              <a:defRPr sz="1600">
                <a:latin typeface="Times New Roman"/>
              </a:defRPr>
            </a:pPr>
            <a:r>
              <a:rPr sz="3200" b="1" dirty="0">
                <a:solidFill>
                  <a:srgbClr val="00B050"/>
                </a:solidFill>
              </a:rPr>
              <a:t>Subject: </a:t>
            </a:r>
            <a:r>
              <a:rPr sz="3200" dirty="0"/>
              <a:t>Maintains a collection of observers.</a:t>
            </a:r>
          </a:p>
          <a:p>
            <a:pPr>
              <a:spcAft>
                <a:spcPts val="600"/>
              </a:spcAft>
              <a:defRPr sz="1600">
                <a:latin typeface="Times New Roman"/>
              </a:defRPr>
            </a:pPr>
            <a:r>
              <a:rPr sz="3200" dirty="0"/>
              <a:t>Main operations: </a:t>
            </a:r>
            <a:r>
              <a:rPr sz="3200" dirty="0" err="1"/>
              <a:t>registerObserver</a:t>
            </a:r>
            <a:r>
              <a:rPr sz="3200" dirty="0"/>
              <a:t>(); </a:t>
            </a:r>
            <a:r>
              <a:rPr sz="3200" dirty="0" err="1"/>
              <a:t>unregisterObserver</a:t>
            </a:r>
            <a:r>
              <a:rPr sz="3200" dirty="0"/>
              <a:t>(); notify().</a:t>
            </a:r>
          </a:p>
          <a:p>
            <a:pPr>
              <a:spcAft>
                <a:spcPts val="600"/>
              </a:spcAft>
              <a:defRPr sz="1600">
                <a:latin typeface="Times New Roman"/>
              </a:defRPr>
            </a:pPr>
            <a:r>
              <a:rPr sz="3200" b="1" dirty="0">
                <a:solidFill>
                  <a:srgbClr val="00B0F0"/>
                </a:solidFill>
              </a:rPr>
              <a:t>Observer: </a:t>
            </a:r>
            <a:r>
              <a:rPr sz="3200" dirty="0"/>
              <a:t>Defines update().</a:t>
            </a:r>
          </a:p>
          <a:p>
            <a:pPr>
              <a:spcAft>
                <a:spcPts val="600"/>
              </a:spcAft>
              <a:defRPr sz="1600">
                <a:latin typeface="Times New Roman"/>
              </a:defRPr>
            </a:pPr>
            <a:r>
              <a:rPr sz="3200" b="1" dirty="0">
                <a:solidFill>
                  <a:srgbClr val="00B050"/>
                </a:solidFill>
              </a:rPr>
              <a:t>Structure: </a:t>
            </a:r>
            <a:r>
              <a:rPr sz="3200" dirty="0"/>
              <a:t>Subject → Observer List → notify() → Observer 1, Observer 2, Observer 3 → update()</a:t>
            </a:r>
          </a:p>
          <a:p>
            <a:pPr>
              <a:spcAft>
                <a:spcPts val="600"/>
              </a:spcAft>
              <a:defRPr sz="1600">
                <a:latin typeface="Times New Roman"/>
              </a:defRPr>
            </a:pPr>
            <a:r>
              <a:rPr sz="3200" dirty="0"/>
              <a:t>Observers can subscribe and unsubscribe dynamically.</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Observer Pattern — Java Example</a:t>
            </a:r>
          </a:p>
        </p:txBody>
      </p:sp>
      <p:sp>
        <p:nvSpPr>
          <p:cNvPr id="3" name="Rounded Rectangle 2"/>
          <p:cNvSpPr/>
          <p:nvPr/>
        </p:nvSpPr>
        <p:spPr>
          <a:xfrm>
            <a:off x="640080" y="1051560"/>
            <a:ext cx="4118733" cy="4670814"/>
          </a:xfrm>
          <a:prstGeom prst="roundRect">
            <a:avLst/>
          </a:prstGeom>
          <a:solidFill>
            <a:srgbClr val="F2F2F2"/>
          </a:solidFill>
        </p:spPr>
        <p:style>
          <a:lnRef idx="1">
            <a:schemeClr val="accent1"/>
          </a:lnRef>
          <a:fillRef idx="3">
            <a:schemeClr val="accent1"/>
          </a:fillRef>
          <a:effectRef idx="2">
            <a:schemeClr val="accent1"/>
          </a:effectRef>
          <a:fontRef idx="minor">
            <a:schemeClr val="lt1"/>
          </a:fontRef>
        </p:style>
        <p:txBody>
          <a:bodyPr wrap="none" rtlCol="0" anchor="ctr"/>
          <a:lstStyle/>
          <a:p>
            <a:pPr>
              <a:defRPr sz="1400">
                <a:latin typeface="Courier New"/>
              </a:defRPr>
            </a:pPr>
            <a:r>
              <a:rPr dirty="0">
                <a:solidFill>
                  <a:schemeClr val="tx1"/>
                </a:solidFill>
                <a:latin typeface="Times New Roman" panose="02020603050405020304" pitchFamily="18" charset="0"/>
                <a:cs typeface="Times New Roman" panose="02020603050405020304" pitchFamily="18" charset="0"/>
              </a:rPr>
              <a:t>class Subject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private </a:t>
            </a:r>
            <a:r>
              <a:rPr dirty="0" err="1">
                <a:solidFill>
                  <a:schemeClr val="tx1"/>
                </a:solidFill>
                <a:latin typeface="Times New Roman" panose="02020603050405020304" pitchFamily="18" charset="0"/>
                <a:cs typeface="Times New Roman" panose="02020603050405020304" pitchFamily="18" charset="0"/>
              </a:rPr>
              <a:t>ArrayList</a:t>
            </a:r>
            <a:r>
              <a:rPr dirty="0">
                <a:solidFill>
                  <a:schemeClr val="tx1"/>
                </a:solidFill>
                <a:latin typeface="Times New Roman" panose="02020603050405020304" pitchFamily="18" charset="0"/>
                <a:cs typeface="Times New Roman" panose="02020603050405020304" pitchFamily="18" charset="0"/>
              </a:rPr>
              <a:t>&lt;Observer&gt; observers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new </a:t>
            </a:r>
            <a:r>
              <a:rPr dirty="0" err="1">
                <a:solidFill>
                  <a:schemeClr val="tx1"/>
                </a:solidFill>
                <a:latin typeface="Times New Roman" panose="02020603050405020304" pitchFamily="18" charset="0"/>
                <a:cs typeface="Times New Roman" panose="02020603050405020304" pitchFamily="18" charset="0"/>
              </a:rPr>
              <a:t>ArrayList</a:t>
            </a:r>
            <a:r>
              <a:rPr dirty="0">
                <a:solidFill>
                  <a:schemeClr val="tx1"/>
                </a:solidFill>
                <a:latin typeface="Times New Roman" panose="02020603050405020304" pitchFamily="18" charset="0"/>
                <a:cs typeface="Times New Roman" panose="02020603050405020304" pitchFamily="18" charset="0"/>
              </a:rPr>
              <a:t>&lt;&gt;();</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public void </a:t>
            </a:r>
            <a:r>
              <a:rPr dirty="0" err="1">
                <a:solidFill>
                  <a:schemeClr val="tx1"/>
                </a:solidFill>
                <a:latin typeface="Times New Roman" panose="02020603050405020304" pitchFamily="18" charset="0"/>
                <a:cs typeface="Times New Roman" panose="02020603050405020304" pitchFamily="18" charset="0"/>
              </a:rPr>
              <a:t>registerObserver</a:t>
            </a:r>
            <a:r>
              <a:rPr dirty="0">
                <a:solidFill>
                  <a:schemeClr val="tx1"/>
                </a:solidFill>
                <a:latin typeface="Times New Roman" panose="02020603050405020304" pitchFamily="18" charset="0"/>
                <a:cs typeface="Times New Roman" panose="02020603050405020304" pitchFamily="18" charset="0"/>
              </a:rPr>
              <a:t>(Observer o)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observers.add</a:t>
            </a:r>
            <a:r>
              <a:rPr dirty="0">
                <a:solidFill>
                  <a:schemeClr val="tx1"/>
                </a:solidFill>
                <a:latin typeface="Times New Roman" panose="02020603050405020304" pitchFamily="18" charset="0"/>
                <a:cs typeface="Times New Roman" panose="02020603050405020304" pitchFamily="18" charset="0"/>
              </a:rPr>
              <a:t>(o);</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public void </a:t>
            </a:r>
            <a:r>
              <a:rPr dirty="0" err="1">
                <a:solidFill>
                  <a:schemeClr val="tx1"/>
                </a:solidFill>
                <a:latin typeface="Times New Roman" panose="02020603050405020304" pitchFamily="18" charset="0"/>
                <a:cs typeface="Times New Roman" panose="02020603050405020304" pitchFamily="18" charset="0"/>
              </a:rPr>
              <a:t>unregisterObserver</a:t>
            </a:r>
            <a:r>
              <a:rPr dirty="0">
                <a:solidFill>
                  <a:schemeClr val="tx1"/>
                </a:solidFill>
                <a:latin typeface="Times New Roman" panose="02020603050405020304" pitchFamily="18" charset="0"/>
                <a:cs typeface="Times New Roman" panose="02020603050405020304" pitchFamily="18" charset="0"/>
              </a:rPr>
              <a:t>(Observer o)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observers.remove</a:t>
            </a:r>
            <a:r>
              <a:rPr dirty="0">
                <a:solidFill>
                  <a:schemeClr val="tx1"/>
                </a:solidFill>
                <a:latin typeface="Times New Roman" panose="02020603050405020304" pitchFamily="18" charset="0"/>
                <a:cs typeface="Times New Roman" panose="02020603050405020304" pitchFamily="18" charset="0"/>
              </a:rPr>
              <a:t>(o);</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public void </a:t>
            </a:r>
            <a:r>
              <a:rPr dirty="0" err="1">
                <a:solidFill>
                  <a:schemeClr val="tx1"/>
                </a:solidFill>
                <a:latin typeface="Times New Roman" panose="02020603050405020304" pitchFamily="18" charset="0"/>
                <a:cs typeface="Times New Roman" panose="02020603050405020304" pitchFamily="18" charset="0"/>
              </a:rPr>
              <a:t>notifyObservers</a:t>
            </a: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for (Observer o : observers)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r>
              <a:rPr dirty="0" err="1">
                <a:solidFill>
                  <a:schemeClr val="tx1"/>
                </a:solidFill>
                <a:latin typeface="Times New Roman" panose="02020603050405020304" pitchFamily="18" charset="0"/>
                <a:cs typeface="Times New Roman" panose="02020603050405020304" pitchFamily="18" charset="0"/>
              </a:rPr>
              <a:t>o.update</a:t>
            </a:r>
            <a:r>
              <a:rPr dirty="0">
                <a:solidFill>
                  <a:schemeClr val="tx1"/>
                </a:solidFill>
                <a:latin typeface="Times New Roman" panose="02020603050405020304" pitchFamily="18" charset="0"/>
                <a:cs typeface="Times New Roman" panose="02020603050405020304" pitchFamily="18" charset="0"/>
              </a:rPr>
              <a:t>();</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    }</a:t>
            </a:r>
            <a:br>
              <a:rPr dirty="0">
                <a:solidFill>
                  <a:schemeClr val="tx1"/>
                </a:solidFill>
                <a:latin typeface="Times New Roman" panose="02020603050405020304" pitchFamily="18" charset="0"/>
                <a:cs typeface="Times New Roman" panose="02020603050405020304" pitchFamily="18" charset="0"/>
              </a:rPr>
            </a:br>
            <a:r>
              <a:rPr dirty="0">
                <a:solidFill>
                  <a:schemeClr val="tx1"/>
                </a:solidFill>
                <a:latin typeface="Times New Roman" panose="02020603050405020304" pitchFamily="18" charset="0"/>
                <a:cs typeface="Times New Roman" panose="02020603050405020304" pitchFamily="18" charset="0"/>
              </a:rPr>
              <a:t>}</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rPr dirty="0"/>
              <a:t>Observer Pattern — Benefits &amp; Applications</a:t>
            </a:r>
          </a:p>
        </p:txBody>
      </p:sp>
      <p:sp>
        <p:nvSpPr>
          <p:cNvPr id="3" name="TextBox 2"/>
          <p:cNvSpPr txBox="1"/>
          <p:nvPr/>
        </p:nvSpPr>
        <p:spPr>
          <a:xfrm>
            <a:off x="594360" y="914400"/>
            <a:ext cx="10972800" cy="4108817"/>
          </a:xfrm>
          <a:prstGeom prst="rect">
            <a:avLst/>
          </a:prstGeom>
          <a:noFill/>
        </p:spPr>
        <p:txBody>
          <a:bodyPr wrap="square">
            <a:spAutoFit/>
          </a:bodyPr>
          <a:lstStyle/>
          <a:p>
            <a:pPr algn="just">
              <a:spcAft>
                <a:spcPts val="600"/>
              </a:spcAft>
              <a:defRPr sz="1600">
                <a:latin typeface="Times New Roman"/>
              </a:defRPr>
            </a:pPr>
            <a:r>
              <a:rPr sz="3200" b="1" dirty="0">
                <a:solidFill>
                  <a:srgbClr val="FF0000"/>
                </a:solidFill>
              </a:rPr>
              <a:t>Benefits: </a:t>
            </a:r>
            <a:r>
              <a:rPr sz="3200" dirty="0"/>
              <a:t>Automatically notifies dependent objects; Reduces direct dependency between subject and observers; Supports one-to-many communication; Observers can subscribe/unsubscribe dynamically; Makes notification management easier; Useful when many objects depend on one object's state.</a:t>
            </a:r>
          </a:p>
          <a:p>
            <a:pPr algn="just">
              <a:spcAft>
                <a:spcPts val="600"/>
              </a:spcAft>
              <a:defRPr sz="1600">
                <a:latin typeface="Times New Roman"/>
              </a:defRPr>
            </a:pPr>
            <a:r>
              <a:rPr sz="3200" b="1" dirty="0">
                <a:solidFill>
                  <a:srgbClr val="FF0000"/>
                </a:solidFill>
              </a:rPr>
              <a:t>Applications: </a:t>
            </a:r>
            <a:r>
              <a:rPr sz="3200" dirty="0"/>
              <a:t>Blog/news subscriptions; GUI event handling; Notification systems; Stock-price monitoring; Weather monitoring; Real-time dashboards.</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1338560" cy="548640"/>
          </a:xfrm>
          <a:prstGeom prst="rect">
            <a:avLst/>
          </a:prstGeom>
          <a:noFill/>
        </p:spPr>
        <p:txBody>
          <a:bodyPr wrap="none">
            <a:spAutoFit/>
          </a:bodyPr>
          <a:lstStyle/>
          <a:p>
            <a:pPr>
              <a:defRPr sz="2800" b="1">
                <a:latin typeface="Times New Roman"/>
              </a:defRPr>
            </a:pPr>
            <a:r>
              <a:t>Comparison of Behavioural Patterns</a:t>
            </a:r>
          </a:p>
        </p:txBody>
      </p:sp>
      <p:sp>
        <p:nvSpPr>
          <p:cNvPr id="3" name="TextBox 2"/>
          <p:cNvSpPr txBox="1"/>
          <p:nvPr/>
        </p:nvSpPr>
        <p:spPr>
          <a:xfrm>
            <a:off x="594360" y="914400"/>
            <a:ext cx="10972800" cy="4832092"/>
          </a:xfrm>
          <a:prstGeom prst="rect">
            <a:avLst/>
          </a:prstGeom>
          <a:noFill/>
        </p:spPr>
        <p:txBody>
          <a:bodyPr wrap="square">
            <a:spAutoFit/>
          </a:bodyPr>
          <a:lstStyle/>
          <a:p>
            <a:pPr>
              <a:spcAft>
                <a:spcPts val="600"/>
              </a:spcAft>
              <a:defRPr sz="1600">
                <a:latin typeface="Times New Roman"/>
              </a:defRPr>
            </a:pPr>
            <a:r>
              <a:rPr sz="3200" b="1" dirty="0">
                <a:solidFill>
                  <a:srgbClr val="00B050"/>
                </a:solidFill>
              </a:rPr>
              <a:t>Template Method </a:t>
            </a:r>
            <a:r>
              <a:rPr sz="3200" dirty="0"/>
              <a:t>→ How an algorithm is performed (Same algorithm, variable steps)</a:t>
            </a:r>
          </a:p>
          <a:p>
            <a:pPr>
              <a:spcAft>
                <a:spcPts val="600"/>
              </a:spcAft>
              <a:defRPr sz="1600">
                <a:latin typeface="Times New Roman"/>
              </a:defRPr>
            </a:pPr>
            <a:r>
              <a:rPr sz="3200" b="1" dirty="0">
                <a:solidFill>
                  <a:srgbClr val="00B050"/>
                </a:solidFill>
              </a:rPr>
              <a:t>Chain of Responsibility </a:t>
            </a:r>
            <a:r>
              <a:rPr sz="3200" dirty="0"/>
              <a:t>→ Who will handle the request? (Handler chain)</a:t>
            </a:r>
          </a:p>
          <a:p>
            <a:pPr>
              <a:spcAft>
                <a:spcPts val="600"/>
              </a:spcAft>
              <a:defRPr sz="1600">
                <a:latin typeface="Times New Roman"/>
              </a:defRPr>
            </a:pPr>
            <a:r>
              <a:rPr sz="3200" b="1" dirty="0">
                <a:solidFill>
                  <a:srgbClr val="00B050"/>
                </a:solidFill>
              </a:rPr>
              <a:t>State → </a:t>
            </a:r>
            <a:r>
              <a:rPr sz="3200" dirty="0"/>
              <a:t>What should I do in this state? (State-dependent behavior)</a:t>
            </a:r>
          </a:p>
          <a:p>
            <a:pPr>
              <a:spcAft>
                <a:spcPts val="600"/>
              </a:spcAft>
              <a:defRPr sz="1600">
                <a:latin typeface="Times New Roman"/>
              </a:defRPr>
            </a:pPr>
            <a:r>
              <a:rPr sz="3200" b="1" dirty="0">
                <a:solidFill>
                  <a:srgbClr val="00B050"/>
                </a:solidFill>
              </a:rPr>
              <a:t>Command → </a:t>
            </a:r>
            <a:r>
              <a:rPr sz="3200" dirty="0"/>
              <a:t>Turn a request into an object (Request → Object)</a:t>
            </a:r>
          </a:p>
          <a:p>
            <a:pPr>
              <a:spcAft>
                <a:spcPts val="600"/>
              </a:spcAft>
              <a:defRPr sz="1600">
                <a:latin typeface="Times New Roman"/>
              </a:defRPr>
            </a:pPr>
            <a:r>
              <a:rPr sz="3200" b="1" dirty="0">
                <a:solidFill>
                  <a:srgbClr val="00B050"/>
                </a:solidFill>
              </a:rPr>
              <a:t>Observer → </a:t>
            </a:r>
            <a:r>
              <a:rPr sz="3200" dirty="0"/>
              <a:t>Who needs to know about a change? (One-to-many notification)</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18</a:t>
            </a:r>
          </a:p>
        </p:txBody>
      </p:sp>
      <p:pic>
        <p:nvPicPr>
          <p:cNvPr id="6" name="Picture 5">
            <a:extLst>
              <a:ext uri="{FF2B5EF4-FFF2-40B4-BE49-F238E27FC236}">
                <a16:creationId xmlns:a16="http://schemas.microsoft.com/office/drawing/2014/main" id="{C91003B4-57B8-59A2-EB4F-BCB5670DCAC8}"/>
              </a:ext>
            </a:extLst>
          </p:cNvPr>
          <p:cNvPicPr>
            <a:picLocks noChangeAspect="1"/>
          </p:cNvPicPr>
          <p:nvPr/>
        </p:nvPicPr>
        <p:blipFill>
          <a:blip r:embed="rId2"/>
          <a:stretch>
            <a:fillRect/>
          </a:stretch>
        </p:blipFill>
        <p:spPr>
          <a:xfrm>
            <a:off x="88491" y="-88490"/>
            <a:ext cx="11773975" cy="6858000"/>
          </a:xfrm>
          <a:prstGeom prst="rect">
            <a:avLst/>
          </a:prstGeom>
        </p:spPr>
      </p:pic>
    </p:spTree>
    <p:extLst>
      <p:ext uri="{BB962C8B-B14F-4D97-AF65-F5344CB8AC3E}">
        <p14:creationId xmlns:p14="http://schemas.microsoft.com/office/powerpoint/2010/main" val="3089345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18</a:t>
            </a:r>
          </a:p>
        </p:txBody>
      </p:sp>
      <p:pic>
        <p:nvPicPr>
          <p:cNvPr id="3" name="Picture 2">
            <a:extLst>
              <a:ext uri="{FF2B5EF4-FFF2-40B4-BE49-F238E27FC236}">
                <a16:creationId xmlns:a16="http://schemas.microsoft.com/office/drawing/2014/main" id="{26AD6C95-219B-6A33-8794-E2FA0498FBDE}"/>
              </a:ext>
            </a:extLst>
          </p:cNvPr>
          <p:cNvPicPr>
            <a:picLocks noChangeAspect="1"/>
          </p:cNvPicPr>
          <p:nvPr/>
        </p:nvPicPr>
        <p:blipFill>
          <a:blip r:embed="rId3"/>
          <a:stretch>
            <a:fillRect/>
          </a:stretch>
        </p:blipFill>
        <p:spPr>
          <a:xfrm>
            <a:off x="209012" y="0"/>
            <a:ext cx="11773975" cy="6858000"/>
          </a:xfrm>
          <a:prstGeom prst="rect">
            <a:avLst/>
          </a:prstGeom>
        </p:spPr>
      </p:pic>
    </p:spTree>
    <p:extLst>
      <p:ext uri="{BB962C8B-B14F-4D97-AF65-F5344CB8AC3E}">
        <p14:creationId xmlns:p14="http://schemas.microsoft.com/office/powerpoint/2010/main" val="28069763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2919325" cy="523220"/>
          </a:xfrm>
          <a:prstGeom prst="rect">
            <a:avLst/>
          </a:prstGeom>
          <a:noFill/>
        </p:spPr>
        <p:txBody>
          <a:bodyPr wrap="none">
            <a:spAutoFit/>
          </a:bodyPr>
          <a:lstStyle/>
          <a:p>
            <a:pPr>
              <a:defRPr sz="2800" b="1">
                <a:latin typeface="Times New Roman"/>
              </a:defRPr>
            </a:pPr>
            <a:r>
              <a:rPr lang="en-US" dirty="0"/>
              <a:t>Problem Scenario</a:t>
            </a:r>
            <a:endParaRPr dirty="0"/>
          </a:p>
        </p:txBody>
      </p:sp>
      <p:sp>
        <p:nvSpPr>
          <p:cNvPr id="3" name="TextBox 2"/>
          <p:cNvSpPr txBox="1"/>
          <p:nvPr/>
        </p:nvSpPr>
        <p:spPr>
          <a:xfrm>
            <a:off x="594360" y="914400"/>
            <a:ext cx="10972800" cy="1754326"/>
          </a:xfrm>
          <a:prstGeom prst="rect">
            <a:avLst/>
          </a:prstGeom>
          <a:noFill/>
        </p:spPr>
        <p:txBody>
          <a:bodyPr wrap="square">
            <a:spAutoFit/>
          </a:bodyPr>
          <a:lstStyle/>
          <a:p>
            <a:r>
              <a:rPr lang="en-US" altLang="ja-JP" dirty="0"/>
              <a:t> Suppose You are designing a system for money withdrawal from bank account using check with the following authorization scenario:</a:t>
            </a:r>
          </a:p>
          <a:p>
            <a:pPr marL="742950" lvl="1" indent="-285750">
              <a:buFont typeface="Wingdings" panose="05000000000000000000" pitchFamily="2" charset="2"/>
              <a:buChar char="ü"/>
            </a:pPr>
            <a:r>
              <a:rPr lang="en-US" altLang="ja-JP" dirty="0"/>
              <a:t>For Tk. &lt; 10,000 only cashier's authorization is sufficient to withdraw money from account. </a:t>
            </a:r>
          </a:p>
          <a:p>
            <a:pPr marL="742950" lvl="1" indent="-285750">
              <a:buFont typeface="Wingdings" panose="05000000000000000000" pitchFamily="2" charset="2"/>
              <a:buChar char="ü"/>
            </a:pPr>
            <a:r>
              <a:rPr lang="en-US" altLang="ja-JP" dirty="0"/>
              <a:t>For Tk. 10,000 to 10,00,000 authorization from both cashier and senior officer is needed. </a:t>
            </a:r>
          </a:p>
          <a:p>
            <a:pPr marL="742950" lvl="1" indent="-285750">
              <a:buFont typeface="Wingdings" panose="05000000000000000000" pitchFamily="2" charset="2"/>
              <a:buChar char="ü"/>
            </a:pPr>
            <a:r>
              <a:rPr lang="en-US" altLang="ja-JP" dirty="0"/>
              <a:t>For Tk &gt; 10,00,000 authorization from Senior officer and Manager is needed. </a:t>
            </a:r>
          </a:p>
          <a:p>
            <a:pPr marL="742950" lvl="1" indent="-285750">
              <a:buFont typeface="Wingdings" panose="05000000000000000000" pitchFamily="2" charset="2"/>
              <a:buChar char="ü"/>
            </a:pPr>
            <a:r>
              <a:rPr lang="en-US" altLang="ja-JP" b="1" dirty="0"/>
              <a:t>Implement this </a:t>
            </a:r>
            <a:r>
              <a:rPr lang="en-US" altLang="ja-JP" b="1" dirty="0" err="1"/>
              <a:t>behaviour</a:t>
            </a:r>
            <a:r>
              <a:rPr lang="en-US" altLang="ja-JP" b="1" dirty="0"/>
              <a:t> using appropriate software design pattern.</a:t>
            </a:r>
            <a:r>
              <a:rPr lang="en-US" altLang="ja-JP" dirty="0"/>
              <a:t> </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6" name="TextBox 5">
            <a:extLst>
              <a:ext uri="{FF2B5EF4-FFF2-40B4-BE49-F238E27FC236}">
                <a16:creationId xmlns:a16="http://schemas.microsoft.com/office/drawing/2014/main" id="{38A01259-6797-8A44-8416-B12232B4403C}"/>
              </a:ext>
            </a:extLst>
          </p:cNvPr>
          <p:cNvSpPr txBox="1"/>
          <p:nvPr/>
        </p:nvSpPr>
        <p:spPr>
          <a:xfrm>
            <a:off x="183617" y="2742026"/>
            <a:ext cx="11794285" cy="3816429"/>
          </a:xfrm>
          <a:prstGeom prst="rect">
            <a:avLst/>
          </a:prstGeom>
          <a:noFill/>
        </p:spPr>
        <p:txBody>
          <a:bodyPr wrap="square">
            <a:spAutoFit/>
          </a:bodyPr>
          <a:lstStyle/>
          <a:p>
            <a:r>
              <a:rPr lang="en-US" altLang="ja-JP" dirty="0"/>
              <a:t>This Scenario is a classic example of the </a:t>
            </a:r>
            <a:r>
              <a:rPr lang="en-US" altLang="ja-JP" b="1" dirty="0"/>
              <a:t>Chain of Responsibility Design Pattern</a:t>
            </a:r>
            <a:r>
              <a:rPr lang="en-US" altLang="ja-JP" dirty="0"/>
              <a:t>.</a:t>
            </a:r>
          </a:p>
          <a:p>
            <a:r>
              <a:rPr lang="en-US" altLang="ja-JP" dirty="0"/>
              <a:t>The reason is:</a:t>
            </a:r>
          </a:p>
          <a:p>
            <a:pPr marL="285750" indent="-285750">
              <a:buFont typeface="Wingdings" panose="05000000000000000000" pitchFamily="2" charset="2"/>
              <a:buChar char="ü"/>
            </a:pPr>
            <a:r>
              <a:rPr lang="en-US" altLang="ja-JP" dirty="0"/>
              <a:t>A withdrawal request passes through a sequence of authorization levels. </a:t>
            </a:r>
          </a:p>
          <a:p>
            <a:pPr marL="285750" indent="-285750">
              <a:buFont typeface="Wingdings" panose="05000000000000000000" pitchFamily="2" charset="2"/>
              <a:buChar char="ü"/>
            </a:pPr>
            <a:r>
              <a:rPr lang="en-US" altLang="ja-JP" dirty="0"/>
              <a:t>Each authorization object decides whether it can handle the request. </a:t>
            </a:r>
          </a:p>
          <a:p>
            <a:pPr marL="285750" indent="-285750">
              <a:buFont typeface="Wingdings" panose="05000000000000000000" pitchFamily="2" charset="2"/>
              <a:buChar char="ü"/>
            </a:pPr>
            <a:r>
              <a:rPr lang="en-US" altLang="ja-JP" dirty="0"/>
              <a:t>If it cannot handle it, it forwards the request to the next authority. </a:t>
            </a:r>
          </a:p>
          <a:p>
            <a:pPr marL="285750" indent="-285750">
              <a:buFont typeface="Wingdings" panose="05000000000000000000" pitchFamily="2" charset="2"/>
              <a:buChar char="ü"/>
            </a:pPr>
            <a:r>
              <a:rPr lang="en-US" altLang="ja-JP" dirty="0"/>
              <a:t>The sender does not need to know which object will finally approve the request.</a:t>
            </a:r>
          </a:p>
          <a:p>
            <a:endParaRPr lang="en-US" altLang="ja-JP" dirty="0"/>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Concept</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ja-JP" altLang="ja-JP"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Chain of Responsibility pattern</a:t>
            </a:r>
            <a:r>
              <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creates a chain of handler objects. Each handler checks whether it can process a request; otherwise, it passes the request to the next handler in the chain.</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bank withdrawal system:</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Cashier | ↓ Senior Officer | ↓ Manager</a:t>
            </a:r>
          </a:p>
          <a:p>
            <a:pPr marL="285750" indent="-285750">
              <a:buFont typeface="Wingdings" panose="05000000000000000000" pitchFamily="2" charset="2"/>
              <a:buChar char="ü"/>
            </a:pPr>
            <a:endParaRPr lang="en-US" altLang="ja-JP" dirty="0"/>
          </a:p>
          <a:p>
            <a:pPr marL="285750" indent="-285750">
              <a:buFont typeface="Wingdings" panose="05000000000000000000" pitchFamily="2" charset="2"/>
              <a:buChar char="ü"/>
            </a:pPr>
            <a:endParaRPr lang="en-US" altLang="ja-JP" dirty="0"/>
          </a:p>
        </p:txBody>
      </p:sp>
    </p:spTree>
    <p:extLst>
      <p:ext uri="{BB962C8B-B14F-4D97-AF65-F5344CB8AC3E}">
        <p14:creationId xmlns:p14="http://schemas.microsoft.com/office/powerpoint/2010/main" val="1464693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1021433" cy="523220"/>
          </a:xfrm>
          <a:prstGeom prst="rect">
            <a:avLst/>
          </a:prstGeom>
          <a:noFill/>
        </p:spPr>
        <p:txBody>
          <a:bodyPr wrap="none">
            <a:spAutoFit/>
          </a:bodyPr>
          <a:lstStyle/>
          <a:p>
            <a:pPr>
              <a:defRPr sz="2800" b="1">
                <a:latin typeface="Times New Roman"/>
              </a:defRPr>
            </a:pPr>
            <a:r>
              <a:rPr lang="en-US" dirty="0"/>
              <a:t>UML</a:t>
            </a:r>
            <a:endParaRPr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pic>
        <p:nvPicPr>
          <p:cNvPr id="7" name="Picture 6">
            <a:extLst>
              <a:ext uri="{FF2B5EF4-FFF2-40B4-BE49-F238E27FC236}">
                <a16:creationId xmlns:a16="http://schemas.microsoft.com/office/drawing/2014/main" id="{3BFBE3D7-96B4-2A5F-1167-C8541EE752C1}"/>
              </a:ext>
            </a:extLst>
          </p:cNvPr>
          <p:cNvPicPr>
            <a:picLocks noChangeAspect="1"/>
          </p:cNvPicPr>
          <p:nvPr/>
        </p:nvPicPr>
        <p:blipFill>
          <a:blip r:embed="rId2"/>
          <a:stretch>
            <a:fillRect/>
          </a:stretch>
        </p:blipFill>
        <p:spPr>
          <a:xfrm>
            <a:off x="335124" y="975333"/>
            <a:ext cx="3596952" cy="3452159"/>
          </a:xfrm>
          <a:prstGeom prst="rect">
            <a:avLst/>
          </a:prstGeom>
        </p:spPr>
      </p:pic>
      <p:sp>
        <p:nvSpPr>
          <p:cNvPr id="9" name="TextBox 8">
            <a:extLst>
              <a:ext uri="{FF2B5EF4-FFF2-40B4-BE49-F238E27FC236}">
                <a16:creationId xmlns:a16="http://schemas.microsoft.com/office/drawing/2014/main" id="{899C09CC-06C5-8EC2-A7FE-35B55FF7B882}"/>
              </a:ext>
            </a:extLst>
          </p:cNvPr>
          <p:cNvSpPr txBox="1"/>
          <p:nvPr/>
        </p:nvSpPr>
        <p:spPr>
          <a:xfrm>
            <a:off x="4031225" y="437019"/>
            <a:ext cx="4827639" cy="1754326"/>
          </a:xfrm>
          <a:prstGeom prst="rect">
            <a:avLst/>
          </a:prstGeom>
          <a:noFill/>
        </p:spPr>
        <p:txBody>
          <a:bodyPr wrap="square">
            <a:spAutoFit/>
          </a:bodyPr>
          <a:lstStyle/>
          <a:p>
            <a:r>
              <a:rPr lang="en-US" altLang="ja-JP" b="1" dirty="0"/>
              <a:t>Abstract Handler: </a:t>
            </a:r>
            <a:r>
              <a:rPr lang="ja-JP" altLang="en-US" dirty="0"/>
              <a:t>abstract class Approver {    </a:t>
            </a:r>
            <a:endParaRPr lang="en-US" altLang="ja-JP" dirty="0"/>
          </a:p>
          <a:p>
            <a:r>
              <a:rPr lang="ja-JP" altLang="en-US" dirty="0"/>
              <a:t>protected Approver nextApprover;    </a:t>
            </a:r>
            <a:endParaRPr lang="en-US" altLang="ja-JP" dirty="0"/>
          </a:p>
          <a:p>
            <a:r>
              <a:rPr lang="ja-JP" altLang="en-US" dirty="0"/>
              <a:t>public void setNextApprover(Approver approver) {      </a:t>
            </a:r>
            <a:endParaRPr lang="en-US" altLang="ja-JP" dirty="0"/>
          </a:p>
          <a:p>
            <a:r>
              <a:rPr lang="ja-JP" altLang="en-US" dirty="0"/>
              <a:t>  this.nextApprover = approver;    }    </a:t>
            </a:r>
            <a:endParaRPr lang="en-US" altLang="ja-JP" dirty="0"/>
          </a:p>
          <a:p>
            <a:r>
              <a:rPr lang="ja-JP" altLang="en-US" dirty="0"/>
              <a:t>public abstract void approve(double amount);}</a:t>
            </a:r>
          </a:p>
        </p:txBody>
      </p:sp>
      <p:sp>
        <p:nvSpPr>
          <p:cNvPr id="10" name="TextBox 9">
            <a:extLst>
              <a:ext uri="{FF2B5EF4-FFF2-40B4-BE49-F238E27FC236}">
                <a16:creationId xmlns:a16="http://schemas.microsoft.com/office/drawing/2014/main" id="{0C23F94F-D46D-ADB7-018F-39A6654375ED}"/>
              </a:ext>
            </a:extLst>
          </p:cNvPr>
          <p:cNvSpPr txBox="1"/>
          <p:nvPr/>
        </p:nvSpPr>
        <p:spPr>
          <a:xfrm>
            <a:off x="4031225" y="2191345"/>
            <a:ext cx="4827639" cy="2031325"/>
          </a:xfrm>
          <a:prstGeom prst="rect">
            <a:avLst/>
          </a:prstGeom>
          <a:noFill/>
        </p:spPr>
        <p:txBody>
          <a:bodyPr wrap="square">
            <a:spAutoFit/>
          </a:bodyPr>
          <a:lstStyle/>
          <a:p>
            <a:r>
              <a:rPr lang="en-US" altLang="ja-JP" b="1" dirty="0"/>
              <a:t>Cashier Class: </a:t>
            </a:r>
            <a:r>
              <a:rPr lang="en-US" altLang="ja-JP" dirty="0"/>
              <a:t>class Cashier extends Approver{</a:t>
            </a:r>
          </a:p>
          <a:p>
            <a:r>
              <a:rPr lang="en-US" altLang="ja-JP" dirty="0"/>
              <a:t>    public void approve(double amount){</a:t>
            </a:r>
          </a:p>
          <a:p>
            <a:r>
              <a:rPr lang="en-US" altLang="ja-JP" dirty="0"/>
              <a:t>        if(amount &lt; 10000){</a:t>
            </a:r>
          </a:p>
          <a:p>
            <a:r>
              <a:rPr lang="en-US" altLang="ja-JP" dirty="0"/>
              <a:t>            </a:t>
            </a:r>
            <a:r>
              <a:rPr lang="en-US" altLang="ja-JP" dirty="0" err="1"/>
              <a:t>System.out.println</a:t>
            </a:r>
            <a:r>
              <a:rPr lang="en-US" altLang="ja-JP" dirty="0"/>
              <a:t>(            "Cashier approved withdrawal of Tk. " + amount);        }        else if(</a:t>
            </a:r>
            <a:r>
              <a:rPr lang="en-US" altLang="ja-JP" dirty="0" err="1"/>
              <a:t>nextApprover</a:t>
            </a:r>
            <a:r>
              <a:rPr lang="en-US" altLang="ja-JP" dirty="0"/>
              <a:t> != null){</a:t>
            </a:r>
          </a:p>
          <a:p>
            <a:r>
              <a:rPr lang="en-US" altLang="ja-JP" dirty="0"/>
              <a:t>            </a:t>
            </a:r>
            <a:r>
              <a:rPr lang="en-US" altLang="ja-JP" dirty="0" err="1"/>
              <a:t>nextApprover.approve</a:t>
            </a:r>
            <a:r>
              <a:rPr lang="en-US" altLang="ja-JP" dirty="0"/>
              <a:t>(amount);        }    }}</a:t>
            </a:r>
            <a:endParaRPr lang="ja-JP" altLang="en-US" dirty="0"/>
          </a:p>
        </p:txBody>
      </p:sp>
      <p:sp>
        <p:nvSpPr>
          <p:cNvPr id="11" name="TextBox 10">
            <a:extLst>
              <a:ext uri="{FF2B5EF4-FFF2-40B4-BE49-F238E27FC236}">
                <a16:creationId xmlns:a16="http://schemas.microsoft.com/office/drawing/2014/main" id="{8D22C431-7229-2EC4-57D7-E62E5151D598}"/>
              </a:ext>
            </a:extLst>
          </p:cNvPr>
          <p:cNvSpPr txBox="1"/>
          <p:nvPr/>
        </p:nvSpPr>
        <p:spPr>
          <a:xfrm>
            <a:off x="4183624" y="4415195"/>
            <a:ext cx="5717459" cy="2031325"/>
          </a:xfrm>
          <a:prstGeom prst="rect">
            <a:avLst/>
          </a:prstGeom>
          <a:noFill/>
        </p:spPr>
        <p:txBody>
          <a:bodyPr wrap="square">
            <a:spAutoFit/>
          </a:bodyPr>
          <a:lstStyle/>
          <a:p>
            <a:r>
              <a:rPr lang="en-US" altLang="ja-JP" b="1" dirty="0"/>
              <a:t>class </a:t>
            </a:r>
            <a:r>
              <a:rPr lang="en-US" altLang="ja-JP" b="1" dirty="0" err="1"/>
              <a:t>SeniorOfficer</a:t>
            </a:r>
            <a:r>
              <a:rPr lang="en-US" altLang="ja-JP" b="1" dirty="0"/>
              <a:t> </a:t>
            </a:r>
            <a:r>
              <a:rPr lang="en-US" altLang="ja-JP" dirty="0"/>
              <a:t>extends Approver {    </a:t>
            </a:r>
          </a:p>
          <a:p>
            <a:r>
              <a:rPr lang="en-US" altLang="ja-JP" dirty="0"/>
              <a:t>public void approve(double amount){</a:t>
            </a:r>
          </a:p>
          <a:p>
            <a:r>
              <a:rPr lang="en-US" altLang="ja-JP" dirty="0"/>
              <a:t>        if(amount &gt;= 10000 &amp;&amp; amount &lt;= 1000000){</a:t>
            </a:r>
          </a:p>
          <a:p>
            <a:r>
              <a:rPr lang="en-US" altLang="ja-JP" dirty="0"/>
              <a:t>            </a:t>
            </a:r>
            <a:r>
              <a:rPr lang="en-US" altLang="ja-JP" dirty="0" err="1"/>
              <a:t>System.out.println</a:t>
            </a:r>
            <a:r>
              <a:rPr lang="en-US" altLang="ja-JP" dirty="0"/>
              <a:t>("Senior Officer approved withdrawal of Tk. "             + amount);        }     </a:t>
            </a:r>
          </a:p>
          <a:p>
            <a:r>
              <a:rPr lang="en-US" altLang="ja-JP" dirty="0"/>
              <a:t>   else if(</a:t>
            </a:r>
            <a:r>
              <a:rPr lang="en-US" altLang="ja-JP" dirty="0" err="1"/>
              <a:t>nextApprover</a:t>
            </a:r>
            <a:r>
              <a:rPr lang="en-US" altLang="ja-JP" dirty="0"/>
              <a:t> != null) {            </a:t>
            </a:r>
            <a:r>
              <a:rPr lang="en-US" altLang="ja-JP" dirty="0" err="1"/>
              <a:t>nextApprover.approve</a:t>
            </a:r>
            <a:r>
              <a:rPr lang="en-US" altLang="ja-JP" dirty="0"/>
              <a:t>(amount);        }    }}</a:t>
            </a:r>
            <a:endParaRPr lang="ja-JP" altLang="en-US" dirty="0"/>
          </a:p>
        </p:txBody>
      </p:sp>
    </p:spTree>
    <p:extLst>
      <p:ext uri="{BB962C8B-B14F-4D97-AF65-F5344CB8AC3E}">
        <p14:creationId xmlns:p14="http://schemas.microsoft.com/office/powerpoint/2010/main" val="1755992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5025158" cy="523220"/>
          </a:xfrm>
          <a:prstGeom prst="rect">
            <a:avLst/>
          </a:prstGeom>
          <a:noFill/>
        </p:spPr>
        <p:txBody>
          <a:bodyPr wrap="none">
            <a:spAutoFit/>
          </a:bodyPr>
          <a:lstStyle/>
          <a:p>
            <a:pPr>
              <a:defRPr sz="2800" b="1">
                <a:latin typeface="Times New Roman"/>
              </a:defRPr>
            </a:pPr>
            <a:r>
              <a:rPr lang="en-US" dirty="0"/>
              <a:t>UML and Java Implementation</a:t>
            </a:r>
            <a:endParaRPr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9" name="TextBox 8">
            <a:extLst>
              <a:ext uri="{FF2B5EF4-FFF2-40B4-BE49-F238E27FC236}">
                <a16:creationId xmlns:a16="http://schemas.microsoft.com/office/drawing/2014/main" id="{899C09CC-06C5-8EC2-A7FE-35B55FF7B882}"/>
              </a:ext>
            </a:extLst>
          </p:cNvPr>
          <p:cNvSpPr txBox="1"/>
          <p:nvPr/>
        </p:nvSpPr>
        <p:spPr>
          <a:xfrm>
            <a:off x="248262" y="843677"/>
            <a:ext cx="5850195" cy="2308324"/>
          </a:xfrm>
          <a:prstGeom prst="rect">
            <a:avLst/>
          </a:prstGeom>
          <a:noFill/>
        </p:spPr>
        <p:txBody>
          <a:bodyPr wrap="square">
            <a:spAutoFit/>
          </a:bodyPr>
          <a:lstStyle/>
          <a:p>
            <a:r>
              <a:rPr lang="en-US" altLang="ja-JP" b="1" dirty="0"/>
              <a:t>class Manager extends Approver {   </a:t>
            </a:r>
          </a:p>
          <a:p>
            <a:r>
              <a:rPr lang="en-US" altLang="ja-JP" b="1" dirty="0"/>
              <a:t> </a:t>
            </a:r>
            <a:r>
              <a:rPr lang="en-US" altLang="ja-JP" dirty="0"/>
              <a:t>public void approve(double amount) {       </a:t>
            </a:r>
          </a:p>
          <a:p>
            <a:r>
              <a:rPr lang="en-US" altLang="ja-JP" dirty="0"/>
              <a:t> if(amount &gt; 1000000){</a:t>
            </a:r>
          </a:p>
          <a:p>
            <a:r>
              <a:rPr lang="en-US" altLang="ja-JP" dirty="0"/>
              <a:t>            </a:t>
            </a:r>
            <a:r>
              <a:rPr lang="en-US" altLang="ja-JP" dirty="0" err="1"/>
              <a:t>System.out.println</a:t>
            </a:r>
            <a:r>
              <a:rPr lang="en-US" altLang="ja-JP" dirty="0"/>
              <a:t>(            "Manager approved withdrawal of Tk. "            + amount);        }</a:t>
            </a:r>
          </a:p>
          <a:p>
            <a:r>
              <a:rPr lang="en-US" altLang="ja-JP" dirty="0"/>
              <a:t>        else {</a:t>
            </a:r>
          </a:p>
          <a:p>
            <a:r>
              <a:rPr lang="en-US" altLang="ja-JP" dirty="0"/>
              <a:t>            </a:t>
            </a:r>
            <a:r>
              <a:rPr lang="en-US" altLang="ja-JP" dirty="0" err="1"/>
              <a:t>System.out.println</a:t>
            </a:r>
            <a:r>
              <a:rPr lang="en-US" altLang="ja-JP" dirty="0"/>
              <a:t>(            "Withdrawal cannot be approved");        }    }}</a:t>
            </a:r>
            <a:endParaRPr lang="ja-JP" altLang="en-US" dirty="0"/>
          </a:p>
        </p:txBody>
      </p:sp>
      <p:sp>
        <p:nvSpPr>
          <p:cNvPr id="10" name="TextBox 9">
            <a:extLst>
              <a:ext uri="{FF2B5EF4-FFF2-40B4-BE49-F238E27FC236}">
                <a16:creationId xmlns:a16="http://schemas.microsoft.com/office/drawing/2014/main" id="{0C23F94F-D46D-ADB7-018F-39A6654375ED}"/>
              </a:ext>
            </a:extLst>
          </p:cNvPr>
          <p:cNvSpPr txBox="1"/>
          <p:nvPr/>
        </p:nvSpPr>
        <p:spPr>
          <a:xfrm>
            <a:off x="6096000" y="843677"/>
            <a:ext cx="4827639" cy="2862322"/>
          </a:xfrm>
          <a:prstGeom prst="rect">
            <a:avLst/>
          </a:prstGeom>
          <a:noFill/>
        </p:spPr>
        <p:txBody>
          <a:bodyPr wrap="square">
            <a:spAutoFit/>
          </a:bodyPr>
          <a:lstStyle/>
          <a:p>
            <a:r>
              <a:rPr lang="en-US" altLang="ja-JP" b="1" dirty="0"/>
              <a:t>public class </a:t>
            </a:r>
            <a:r>
              <a:rPr lang="en-US" altLang="ja-JP" b="1" dirty="0" err="1"/>
              <a:t>BankSystem</a:t>
            </a:r>
            <a:r>
              <a:rPr lang="en-US" altLang="ja-JP" b="1" dirty="0"/>
              <a:t> {    </a:t>
            </a:r>
          </a:p>
          <a:p>
            <a:r>
              <a:rPr lang="en-US" altLang="ja-JP" dirty="0"/>
              <a:t>public static void main(String </a:t>
            </a:r>
            <a:r>
              <a:rPr lang="en-US" altLang="ja-JP" dirty="0" err="1"/>
              <a:t>args</a:t>
            </a:r>
            <a:r>
              <a:rPr lang="en-US" altLang="ja-JP" dirty="0"/>
              <a:t>[]) {       </a:t>
            </a:r>
          </a:p>
          <a:p>
            <a:r>
              <a:rPr lang="en-US" altLang="ja-JP" dirty="0"/>
              <a:t> Approver cashier = new Cashier();        Approver senior = new </a:t>
            </a:r>
            <a:r>
              <a:rPr lang="en-US" altLang="ja-JP" dirty="0" err="1"/>
              <a:t>SeniorOfficer</a:t>
            </a:r>
            <a:r>
              <a:rPr lang="en-US" altLang="ja-JP" dirty="0"/>
              <a:t>();        Approver manager = new Manager();        // Create chain        </a:t>
            </a:r>
            <a:r>
              <a:rPr lang="en-US" altLang="ja-JP" dirty="0" err="1"/>
              <a:t>cashier.setNextApprover</a:t>
            </a:r>
            <a:r>
              <a:rPr lang="en-US" altLang="ja-JP" dirty="0"/>
              <a:t>(senior);        </a:t>
            </a:r>
            <a:r>
              <a:rPr lang="en-US" altLang="ja-JP" dirty="0" err="1"/>
              <a:t>senior.setNextApprover</a:t>
            </a:r>
            <a:r>
              <a:rPr lang="en-US" altLang="ja-JP" dirty="0"/>
              <a:t>(manager);        // Withdrawal requests        </a:t>
            </a:r>
            <a:r>
              <a:rPr lang="en-US" altLang="ja-JP" dirty="0" err="1"/>
              <a:t>cashier.approve</a:t>
            </a:r>
            <a:r>
              <a:rPr lang="en-US" altLang="ja-JP" dirty="0"/>
              <a:t>(5000);        </a:t>
            </a:r>
            <a:r>
              <a:rPr lang="en-US" altLang="ja-JP" dirty="0" err="1"/>
              <a:t>cashier.approve</a:t>
            </a:r>
            <a:r>
              <a:rPr lang="en-US" altLang="ja-JP" dirty="0"/>
              <a:t>(50000);        </a:t>
            </a:r>
            <a:r>
              <a:rPr lang="en-US" altLang="ja-JP" dirty="0" err="1"/>
              <a:t>cashier.approve</a:t>
            </a:r>
            <a:r>
              <a:rPr lang="en-US" altLang="ja-JP" dirty="0"/>
              <a:t>(5000000);    }}</a:t>
            </a:r>
            <a:endParaRPr lang="ja-JP" altLang="en-US" dirty="0"/>
          </a:p>
        </p:txBody>
      </p:sp>
      <p:sp>
        <p:nvSpPr>
          <p:cNvPr id="11" name="TextBox 10">
            <a:extLst>
              <a:ext uri="{FF2B5EF4-FFF2-40B4-BE49-F238E27FC236}">
                <a16:creationId xmlns:a16="http://schemas.microsoft.com/office/drawing/2014/main" id="{8D22C431-7229-2EC4-57D7-E62E5151D598}"/>
              </a:ext>
            </a:extLst>
          </p:cNvPr>
          <p:cNvSpPr txBox="1"/>
          <p:nvPr/>
        </p:nvSpPr>
        <p:spPr>
          <a:xfrm>
            <a:off x="147482" y="3152001"/>
            <a:ext cx="5717459" cy="923330"/>
          </a:xfrm>
          <a:prstGeom prst="rect">
            <a:avLst/>
          </a:prstGeom>
          <a:noFill/>
        </p:spPr>
        <p:txBody>
          <a:bodyPr wrap="square">
            <a:spAutoFit/>
          </a:bodyPr>
          <a:lstStyle/>
          <a:p>
            <a:r>
              <a:rPr lang="en-US" altLang="ja-JP" b="1" dirty="0"/>
              <a:t>Output</a:t>
            </a:r>
            <a:r>
              <a:rPr lang="en-US" altLang="ja-JP" dirty="0"/>
              <a:t>: Cashier approved withdrawal of Tk. 5000Senior Officer approved withdrawal of Tk. 50000Manager approved withdrawal of Tk. 5000000</a:t>
            </a:r>
            <a:endParaRPr lang="ja-JP" altLang="en-US" dirty="0"/>
          </a:p>
        </p:txBody>
      </p:sp>
      <p:graphicFrame>
        <p:nvGraphicFramePr>
          <p:cNvPr id="3" name="Table 2">
            <a:extLst>
              <a:ext uri="{FF2B5EF4-FFF2-40B4-BE49-F238E27FC236}">
                <a16:creationId xmlns:a16="http://schemas.microsoft.com/office/drawing/2014/main" id="{A2E5A965-D75F-4BA9-2EFB-E3D15359C781}"/>
              </a:ext>
            </a:extLst>
          </p:cNvPr>
          <p:cNvGraphicFramePr>
            <a:graphicFrameLocks noGrp="1"/>
          </p:cNvGraphicFramePr>
          <p:nvPr>
            <p:extLst>
              <p:ext uri="{D42A27DB-BD31-4B8C-83A1-F6EECF244321}">
                <p14:modId xmlns:p14="http://schemas.microsoft.com/office/powerpoint/2010/main" val="1205392732"/>
              </p:ext>
            </p:extLst>
          </p:nvPr>
        </p:nvGraphicFramePr>
        <p:xfrm>
          <a:off x="1981200" y="4286460"/>
          <a:ext cx="8229600" cy="2194560"/>
        </p:xfrm>
        <a:graphic>
          <a:graphicData uri="http://schemas.openxmlformats.org/drawingml/2006/table">
            <a:tbl>
              <a:tblPr>
                <a:tableStyleId>{69C7853C-536D-4A76-A0AE-DD22124D55A5}</a:tableStyleId>
              </a:tblPr>
              <a:tblGrid>
                <a:gridCol w="4114800">
                  <a:extLst>
                    <a:ext uri="{9D8B030D-6E8A-4147-A177-3AD203B41FA5}">
                      <a16:colId xmlns:a16="http://schemas.microsoft.com/office/drawing/2014/main" val="2204605164"/>
                    </a:ext>
                  </a:extLst>
                </a:gridCol>
                <a:gridCol w="4114800">
                  <a:extLst>
                    <a:ext uri="{9D8B030D-6E8A-4147-A177-3AD203B41FA5}">
                      <a16:colId xmlns:a16="http://schemas.microsoft.com/office/drawing/2014/main" val="922318061"/>
                    </a:ext>
                  </a:extLst>
                </a:gridCol>
              </a:tblGrid>
              <a:tr h="0">
                <a:tc>
                  <a:txBody>
                    <a:bodyPr/>
                    <a:lstStyle/>
                    <a:p>
                      <a:r>
                        <a:rPr lang="en-US" b="1" dirty="0">
                          <a:latin typeface="Times New Roman" panose="02020603050405020304" pitchFamily="18" charset="0"/>
                          <a:cs typeface="Times New Roman" panose="02020603050405020304" pitchFamily="18" charset="0"/>
                        </a:rPr>
                        <a:t>Real World Component</a:t>
                      </a:r>
                    </a:p>
                  </a:txBody>
                  <a:tcPr anchor="ctr"/>
                </a:tc>
                <a:tc>
                  <a:txBody>
                    <a:bodyPr/>
                    <a:lstStyle/>
                    <a:p>
                      <a:r>
                        <a:rPr lang="en-US" b="1" dirty="0">
                          <a:latin typeface="Times New Roman" panose="02020603050405020304" pitchFamily="18" charset="0"/>
                          <a:cs typeface="Times New Roman" panose="02020603050405020304" pitchFamily="18" charset="0"/>
                        </a:rPr>
                        <a:t>Design Pattern Component</a:t>
                      </a:r>
                    </a:p>
                  </a:txBody>
                  <a:tcPr anchor="ctr"/>
                </a:tc>
                <a:extLst>
                  <a:ext uri="{0D108BD9-81ED-4DB2-BD59-A6C34878D82A}">
                    <a16:rowId xmlns:a16="http://schemas.microsoft.com/office/drawing/2014/main" val="116564718"/>
                  </a:ext>
                </a:extLst>
              </a:tr>
              <a:tr h="0">
                <a:tc>
                  <a:txBody>
                    <a:bodyPr/>
                    <a:lstStyle/>
                    <a:p>
                      <a:r>
                        <a:rPr lang="en-US" dirty="0">
                          <a:latin typeface="Times New Roman" panose="02020603050405020304" pitchFamily="18" charset="0"/>
                          <a:cs typeface="Times New Roman" panose="02020603050405020304" pitchFamily="18" charset="0"/>
                        </a:rPr>
                        <a:t>Cashier</a:t>
                      </a:r>
                    </a:p>
                  </a:txBody>
                  <a:tcPr anchor="ctr"/>
                </a:tc>
                <a:tc>
                  <a:txBody>
                    <a:bodyPr/>
                    <a:lstStyle/>
                    <a:p>
                      <a:r>
                        <a:rPr lang="en-US">
                          <a:latin typeface="Times New Roman" panose="02020603050405020304" pitchFamily="18" charset="0"/>
                          <a:cs typeface="Times New Roman" panose="02020603050405020304" pitchFamily="18" charset="0"/>
                        </a:rPr>
                        <a:t>First Handler</a:t>
                      </a:r>
                    </a:p>
                  </a:txBody>
                  <a:tcPr anchor="ctr"/>
                </a:tc>
                <a:extLst>
                  <a:ext uri="{0D108BD9-81ED-4DB2-BD59-A6C34878D82A}">
                    <a16:rowId xmlns:a16="http://schemas.microsoft.com/office/drawing/2014/main" val="1448676296"/>
                  </a:ext>
                </a:extLst>
              </a:tr>
              <a:tr h="0">
                <a:tc>
                  <a:txBody>
                    <a:bodyPr/>
                    <a:lstStyle/>
                    <a:p>
                      <a:r>
                        <a:rPr lang="en-US" dirty="0">
                          <a:latin typeface="Times New Roman" panose="02020603050405020304" pitchFamily="18" charset="0"/>
                          <a:cs typeface="Times New Roman" panose="02020603050405020304" pitchFamily="18" charset="0"/>
                        </a:rPr>
                        <a:t>Senior Officer</a:t>
                      </a:r>
                    </a:p>
                  </a:txBody>
                  <a:tcPr anchor="ctr"/>
                </a:tc>
                <a:tc>
                  <a:txBody>
                    <a:bodyPr/>
                    <a:lstStyle/>
                    <a:p>
                      <a:r>
                        <a:rPr lang="en-US">
                          <a:latin typeface="Times New Roman" panose="02020603050405020304" pitchFamily="18" charset="0"/>
                          <a:cs typeface="Times New Roman" panose="02020603050405020304" pitchFamily="18" charset="0"/>
                        </a:rPr>
                        <a:t>Second Handler</a:t>
                      </a:r>
                    </a:p>
                  </a:txBody>
                  <a:tcPr anchor="ctr"/>
                </a:tc>
                <a:extLst>
                  <a:ext uri="{0D108BD9-81ED-4DB2-BD59-A6C34878D82A}">
                    <a16:rowId xmlns:a16="http://schemas.microsoft.com/office/drawing/2014/main" val="1055727440"/>
                  </a:ext>
                </a:extLst>
              </a:tr>
              <a:tr h="0">
                <a:tc>
                  <a:txBody>
                    <a:bodyPr/>
                    <a:lstStyle/>
                    <a:p>
                      <a:r>
                        <a:rPr lang="en-US">
                          <a:latin typeface="Times New Roman" panose="02020603050405020304" pitchFamily="18" charset="0"/>
                          <a:cs typeface="Times New Roman" panose="02020603050405020304" pitchFamily="18" charset="0"/>
                        </a:rPr>
                        <a:t>Manager</a:t>
                      </a:r>
                    </a:p>
                  </a:txBody>
                  <a:tcPr anchor="ctr"/>
                </a:tc>
                <a:tc>
                  <a:txBody>
                    <a:bodyPr/>
                    <a:lstStyle/>
                    <a:p>
                      <a:r>
                        <a:rPr lang="en-US" dirty="0">
                          <a:latin typeface="Times New Roman" panose="02020603050405020304" pitchFamily="18" charset="0"/>
                          <a:cs typeface="Times New Roman" panose="02020603050405020304" pitchFamily="18" charset="0"/>
                        </a:rPr>
                        <a:t>Final Handler</a:t>
                      </a:r>
                    </a:p>
                  </a:txBody>
                  <a:tcPr anchor="ctr"/>
                </a:tc>
                <a:extLst>
                  <a:ext uri="{0D108BD9-81ED-4DB2-BD59-A6C34878D82A}">
                    <a16:rowId xmlns:a16="http://schemas.microsoft.com/office/drawing/2014/main" val="356561744"/>
                  </a:ext>
                </a:extLst>
              </a:tr>
              <a:tr h="0">
                <a:tc>
                  <a:txBody>
                    <a:bodyPr/>
                    <a:lstStyle/>
                    <a:p>
                      <a:r>
                        <a:rPr lang="en-US">
                          <a:latin typeface="Times New Roman" panose="02020603050405020304" pitchFamily="18" charset="0"/>
                          <a:cs typeface="Times New Roman" panose="02020603050405020304" pitchFamily="18" charset="0"/>
                        </a:rPr>
                        <a:t>Withdrawal Request</a:t>
                      </a:r>
                    </a:p>
                  </a:txBody>
                  <a:tcPr anchor="ctr"/>
                </a:tc>
                <a:tc>
                  <a:txBody>
                    <a:bodyPr/>
                    <a:lstStyle/>
                    <a:p>
                      <a:r>
                        <a:rPr lang="en-US" dirty="0">
                          <a:latin typeface="Times New Roman" panose="02020603050405020304" pitchFamily="18" charset="0"/>
                          <a:cs typeface="Times New Roman" panose="02020603050405020304" pitchFamily="18" charset="0"/>
                        </a:rPr>
                        <a:t>Request Object</a:t>
                      </a:r>
                    </a:p>
                  </a:txBody>
                  <a:tcPr anchor="ctr"/>
                </a:tc>
                <a:extLst>
                  <a:ext uri="{0D108BD9-81ED-4DB2-BD59-A6C34878D82A}">
                    <a16:rowId xmlns:a16="http://schemas.microsoft.com/office/drawing/2014/main" val="3506163618"/>
                  </a:ext>
                </a:extLst>
              </a:tr>
              <a:tr h="0">
                <a:tc>
                  <a:txBody>
                    <a:bodyPr/>
                    <a:lstStyle/>
                    <a:p>
                      <a:r>
                        <a:rPr lang="en-US">
                          <a:latin typeface="Times New Roman" panose="02020603050405020304" pitchFamily="18" charset="0"/>
                          <a:cs typeface="Times New Roman" panose="02020603050405020304" pitchFamily="18" charset="0"/>
                        </a:rPr>
                        <a:t>Authorization Process</a:t>
                      </a:r>
                    </a:p>
                  </a:txBody>
                  <a:tcPr anchor="ctr"/>
                </a:tc>
                <a:tc>
                  <a:txBody>
                    <a:bodyPr/>
                    <a:lstStyle/>
                    <a:p>
                      <a:r>
                        <a:rPr lang="en-US" dirty="0">
                          <a:latin typeface="Times New Roman" panose="02020603050405020304" pitchFamily="18" charset="0"/>
                          <a:cs typeface="Times New Roman" panose="02020603050405020304" pitchFamily="18" charset="0"/>
                        </a:rPr>
                        <a:t>Chain of Responsibility</a:t>
                      </a:r>
                    </a:p>
                  </a:txBody>
                  <a:tcPr anchor="ctr"/>
                </a:tc>
                <a:extLst>
                  <a:ext uri="{0D108BD9-81ED-4DB2-BD59-A6C34878D82A}">
                    <a16:rowId xmlns:a16="http://schemas.microsoft.com/office/drawing/2014/main" val="2208867603"/>
                  </a:ext>
                </a:extLst>
              </a:tr>
            </a:tbl>
          </a:graphicData>
        </a:graphic>
      </p:graphicFrame>
    </p:spTree>
    <p:extLst>
      <p:ext uri="{BB962C8B-B14F-4D97-AF65-F5344CB8AC3E}">
        <p14:creationId xmlns:p14="http://schemas.microsoft.com/office/powerpoint/2010/main" val="4052248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5025158" cy="523220"/>
          </a:xfrm>
          <a:prstGeom prst="rect">
            <a:avLst/>
          </a:prstGeom>
          <a:noFill/>
        </p:spPr>
        <p:txBody>
          <a:bodyPr wrap="none">
            <a:spAutoFit/>
          </a:bodyPr>
          <a:lstStyle/>
          <a:p>
            <a:pPr>
              <a:defRPr sz="2800" b="1">
                <a:latin typeface="Times New Roman"/>
              </a:defRPr>
            </a:pPr>
            <a:r>
              <a:rPr lang="en-US" dirty="0"/>
              <a:t>UML and Java Implementation</a:t>
            </a:r>
            <a:endParaRPr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5" name="Rectangle 1">
            <a:extLst>
              <a:ext uri="{FF2B5EF4-FFF2-40B4-BE49-F238E27FC236}">
                <a16:creationId xmlns:a16="http://schemas.microsoft.com/office/drawing/2014/main" id="{EA949640-7A92-3DFC-F10C-EEC62D55E4D2}"/>
              </a:ext>
            </a:extLst>
          </p:cNvPr>
          <p:cNvSpPr>
            <a:spLocks noChangeArrowheads="1"/>
          </p:cNvSpPr>
          <p:nvPr/>
        </p:nvSpPr>
        <p:spPr bwMode="auto">
          <a:xfrm>
            <a:off x="334297" y="1244203"/>
            <a:ext cx="1111163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Chain of Responsibility is Appropriate?</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ja-JP" altLang="ja-JP"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Flexible authorization flow</a:t>
            </a: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bank introduces another authority, for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Cashier | Senior Officer | Assistant Manager | Manager</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can add a new handler without modifying existing classes.</a:t>
            </a:r>
            <a:endParaRPr kumimoji="0" lang="en-US"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endParaRPr lang="ja-JP" altLang="ja-JP" sz="2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buFontTx/>
              <a:buAutoNum type="arabicPeriod" startAt="2"/>
            </a:pPr>
            <a:r>
              <a:rPr lang="ja-JP" altLang="ja-JP" sz="2400" b="1" dirty="0">
                <a:latin typeface="Times New Roman" panose="02020603050405020304" pitchFamily="18" charset="0"/>
                <a:cs typeface="Times New Roman" panose="02020603050405020304" pitchFamily="18" charset="0"/>
              </a:rPr>
              <a:t>Loose coupling</a:t>
            </a:r>
            <a:r>
              <a:rPr lang="ja-JP" altLang="ja-JP" sz="24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pPr>
            <a:r>
              <a:rPr lang="ja-JP" altLang="ja-JP" sz="2400" dirty="0">
                <a:latin typeface="Times New Roman" panose="02020603050405020304" pitchFamily="18" charset="0"/>
                <a:cs typeface="Times New Roman" panose="02020603050405020304" pitchFamily="18" charset="0"/>
              </a:rPr>
              <a:t>The withdrawal request does not directly depend on Cashier, Senior Officer, or Manager.</a:t>
            </a:r>
          </a:p>
          <a:p>
            <a:pPr lvl="0" defTabSz="914400" eaLnBrk="0" fontAlgn="base" hangingPunct="0">
              <a:spcBef>
                <a:spcPct val="0"/>
              </a:spcBef>
              <a:spcAft>
                <a:spcPct val="0"/>
              </a:spcAft>
            </a:pPr>
            <a:endParaRPr lang="ja-JP" altLang="ja-JP" sz="2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buFontTx/>
              <a:buAutoNum type="arabicPeriod" startAt="3"/>
            </a:pPr>
            <a:r>
              <a:rPr lang="ja-JP" altLang="ja-JP" sz="2400" b="1" dirty="0">
                <a:latin typeface="Times New Roman" panose="02020603050405020304" pitchFamily="18" charset="0"/>
                <a:cs typeface="Times New Roman" panose="02020603050405020304" pitchFamily="18" charset="0"/>
              </a:rPr>
              <a:t>Follows Open/Closed Principle</a:t>
            </a:r>
            <a:r>
              <a:rPr lang="ja-JP" altLang="ja-JP" sz="24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pPr>
            <a:r>
              <a:rPr lang="ja-JP" altLang="ja-JP" sz="2400" dirty="0">
                <a:latin typeface="Times New Roman" panose="02020603050405020304" pitchFamily="18" charset="0"/>
                <a:cs typeface="Times New Roman" panose="02020603050405020304" pitchFamily="18" charset="0"/>
              </a:rPr>
              <a:t>New approval levels can be added without changing existing code.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2386FA32-1A3E-230F-BFB0-AFB17C0177C7}"/>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1785874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3308855" cy="523220"/>
          </a:xfrm>
          <a:prstGeom prst="rect">
            <a:avLst/>
          </a:prstGeom>
          <a:noFill/>
        </p:spPr>
        <p:txBody>
          <a:bodyPr wrap="none">
            <a:spAutoFit/>
          </a:bodyPr>
          <a:lstStyle/>
          <a:p>
            <a:pPr>
              <a:defRPr sz="2800" b="1">
                <a:latin typeface="Times New Roman"/>
              </a:defRPr>
            </a:pPr>
            <a:r>
              <a:rPr lang="en-US" dirty="0"/>
              <a:t>Problem -2 Scenario</a:t>
            </a:r>
            <a:endParaRPr dirty="0"/>
          </a:p>
        </p:txBody>
      </p:sp>
      <p:sp>
        <p:nvSpPr>
          <p:cNvPr id="3" name="TextBox 2"/>
          <p:cNvSpPr txBox="1"/>
          <p:nvPr/>
        </p:nvSpPr>
        <p:spPr>
          <a:xfrm>
            <a:off x="594360" y="914400"/>
            <a:ext cx="10972800" cy="3416320"/>
          </a:xfrm>
          <a:prstGeom prst="rect">
            <a:avLst/>
          </a:prstGeom>
          <a:noFill/>
        </p:spPr>
        <p:txBody>
          <a:bodyPr wrap="square">
            <a:spAutoFit/>
          </a:bodyPr>
          <a:lstStyle/>
          <a:p>
            <a:r>
              <a:rPr lang="en-US" altLang="ja-JP" b="1" dirty="0">
                <a:latin typeface="Times New Roman" panose="02020603050405020304" pitchFamily="18" charset="0"/>
                <a:cs typeface="Times New Roman" panose="02020603050405020304" pitchFamily="18" charset="0"/>
              </a:rPr>
              <a:t>Question 1: Dhaka Urban Management System (DUMS)</a:t>
            </a:r>
          </a:p>
          <a:p>
            <a:r>
              <a:rPr lang="en-US" altLang="ja-JP" b="1" dirty="0">
                <a:latin typeface="Times New Roman" panose="02020603050405020304" pitchFamily="18" charset="0"/>
                <a:cs typeface="Times New Roman" panose="02020603050405020304" pitchFamily="18" charset="0"/>
              </a:rPr>
              <a:t>Scenario: Smart Citizen Complaint Notification System</a:t>
            </a:r>
          </a:p>
          <a:p>
            <a:r>
              <a:rPr lang="en-US" altLang="ja-JP" dirty="0">
                <a:latin typeface="Times New Roman" panose="02020603050405020304" pitchFamily="18" charset="0"/>
                <a:cs typeface="Times New Roman" panose="02020603050405020304" pitchFamily="18" charset="0"/>
              </a:rPr>
              <a:t>The Dhaka Urban Management System receives thousands of citizen complaints every day regarding waste collection, traffic problems, water supply, and emergency services.</a:t>
            </a:r>
          </a:p>
          <a:p>
            <a:r>
              <a:rPr lang="en-US" altLang="ja-JP" dirty="0">
                <a:latin typeface="Times New Roman" panose="02020603050405020304" pitchFamily="18" charset="0"/>
                <a:cs typeface="Times New Roman" panose="02020603050405020304" pitchFamily="18" charset="0"/>
              </a:rPr>
              <a:t>When the status of a complaint changes, different users should automatically receive updates:</a:t>
            </a:r>
          </a:p>
          <a:p>
            <a:pPr marL="742950" lvl="1" indent="-285750">
              <a:buFont typeface="Wingdings" panose="05000000000000000000" pitchFamily="2" charset="2"/>
              <a:buChar char="Ø"/>
            </a:pPr>
            <a:r>
              <a:rPr lang="en-US" altLang="ja-JP" dirty="0">
                <a:latin typeface="Times New Roman" panose="02020603050405020304" pitchFamily="18" charset="0"/>
                <a:cs typeface="Times New Roman" panose="02020603050405020304" pitchFamily="18" charset="0"/>
              </a:rPr>
              <a:t>Citizen receives complaint status notification. </a:t>
            </a:r>
          </a:p>
          <a:p>
            <a:pPr marL="742950" lvl="1" indent="-285750">
              <a:buFont typeface="Wingdings" panose="05000000000000000000" pitchFamily="2" charset="2"/>
              <a:buChar char="Ø"/>
            </a:pPr>
            <a:r>
              <a:rPr lang="en-US" altLang="ja-JP" dirty="0">
                <a:latin typeface="Times New Roman" panose="02020603050405020304" pitchFamily="18" charset="0"/>
                <a:cs typeface="Times New Roman" panose="02020603050405020304" pitchFamily="18" charset="0"/>
              </a:rPr>
              <a:t>Department officer receives update information. </a:t>
            </a:r>
          </a:p>
          <a:p>
            <a:pPr marL="742950" lvl="1" indent="-285750">
              <a:buFont typeface="Wingdings" panose="05000000000000000000" pitchFamily="2" charset="2"/>
              <a:buChar char="Ø"/>
            </a:pPr>
            <a:r>
              <a:rPr lang="en-US" altLang="ja-JP" dirty="0">
                <a:latin typeface="Times New Roman" panose="02020603050405020304" pitchFamily="18" charset="0"/>
                <a:cs typeface="Times New Roman" panose="02020603050405020304" pitchFamily="18" charset="0"/>
              </a:rPr>
              <a:t>City administrator receives monitoring alerts. </a:t>
            </a:r>
          </a:p>
          <a:p>
            <a:r>
              <a:rPr lang="en-US" altLang="ja-JP" dirty="0">
                <a:latin typeface="Times New Roman" panose="02020603050405020304" pitchFamily="18" charset="0"/>
                <a:cs typeface="Times New Roman" panose="02020603050405020304" pitchFamily="18" charset="0"/>
              </a:rPr>
              <a:t>The complaint management system should notify all registered users automatically whenever the complaint status changes.</a:t>
            </a:r>
          </a:p>
          <a:p>
            <a:r>
              <a:rPr lang="en-US" altLang="ja-JP" b="1" dirty="0">
                <a:latin typeface="Times New Roman" panose="02020603050405020304" pitchFamily="18" charset="0"/>
                <a:cs typeface="Times New Roman" panose="02020603050405020304" pitchFamily="18" charset="0"/>
              </a:rPr>
              <a:t>Requirement:</a:t>
            </a:r>
          </a:p>
          <a:p>
            <a:r>
              <a:rPr lang="en-US" altLang="ja-JP" b="1" dirty="0">
                <a:latin typeface="Times New Roman" panose="02020603050405020304" pitchFamily="18" charset="0"/>
                <a:cs typeface="Times New Roman" panose="02020603050405020304" pitchFamily="18" charset="0"/>
              </a:rPr>
              <a:t>Implement this behavior using an appropriate software design pattern.</a:t>
            </a:r>
            <a:endParaRPr lang="en-US" altLang="ja-JP"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10" name="TextBox 9">
            <a:extLst>
              <a:ext uri="{FF2B5EF4-FFF2-40B4-BE49-F238E27FC236}">
                <a16:creationId xmlns:a16="http://schemas.microsoft.com/office/drawing/2014/main" id="{2A858E1F-B7D4-CFCB-22A2-66800B1E351F}"/>
              </a:ext>
            </a:extLst>
          </p:cNvPr>
          <p:cNvSpPr txBox="1"/>
          <p:nvPr/>
        </p:nvSpPr>
        <p:spPr>
          <a:xfrm>
            <a:off x="224790" y="4772045"/>
            <a:ext cx="11205210" cy="181588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Pattern: Observer Pattern</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Reason:</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Observer Pattern is suitable because:</a:t>
            </a:r>
          </a:p>
          <a:p>
            <a:pPr marL="742950" lvl="1" indent="-285750" defTabSz="914400" eaLnBrk="0" fontAlgn="base" hangingPunct="0">
              <a:spcBef>
                <a:spcPct val="0"/>
              </a:spcBef>
              <a:spcAft>
                <a:spcPct val="0"/>
              </a:spcAft>
              <a:buFont typeface="Wingdings" panose="05000000000000000000" pitchFamily="2" charset="2"/>
              <a:buChar char="Ø"/>
            </a:pPr>
            <a:r>
              <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object (</a:t>
            </a:r>
            <a:r>
              <a:rPr kumimoji="0" lang="ja-JP" altLang="ja-JP"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Complaint</a:t>
            </a:r>
            <a:r>
              <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changes its state. </a:t>
            </a:r>
          </a:p>
          <a:p>
            <a:pPr marL="742950" lvl="1" indent="-285750" defTabSz="914400" eaLnBrk="0" fontAlgn="base" hangingPunct="0">
              <a:spcBef>
                <a:spcPct val="0"/>
              </a:spcBef>
              <a:spcAft>
                <a:spcPct val="0"/>
              </a:spcAft>
              <a:buFont typeface="Wingdings" panose="05000000000000000000" pitchFamily="2" charset="2"/>
              <a:buChar char="Ø"/>
            </a:pPr>
            <a:r>
              <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dependent objects (</a:t>
            </a:r>
            <a:r>
              <a:rPr kumimoji="0" lang="ja-JP" altLang="ja-JP"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Citizen, Officer, Administrator</a:t>
            </a:r>
            <a:r>
              <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need automatic updates. </a:t>
            </a:r>
          </a:p>
          <a:p>
            <a:pPr marL="742950" lvl="1" indent="-285750" defTabSz="914400" eaLnBrk="0" fontAlgn="base" hangingPunct="0">
              <a:spcBef>
                <a:spcPct val="0"/>
              </a:spcBef>
              <a:spcAft>
                <a:spcPct val="0"/>
              </a:spcAft>
              <a:buFont typeface="Wingdings" panose="05000000000000000000" pitchFamily="2" charset="2"/>
              <a:buChar char="Ø"/>
            </a:pPr>
            <a:r>
              <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complaint system should not tightly depend on specific notification users.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50760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11465"/>
            <a:ext cx="7024039" cy="523220"/>
          </a:xfrm>
          <a:prstGeom prst="rect">
            <a:avLst/>
          </a:prstGeom>
          <a:noFill/>
        </p:spPr>
        <p:txBody>
          <a:bodyPr wrap="none">
            <a:spAutoFit/>
          </a:bodyPr>
          <a:lstStyle/>
          <a:p>
            <a:pPr>
              <a:defRPr sz="2800" b="1">
                <a:latin typeface="Times New Roman"/>
              </a:defRPr>
            </a:pPr>
            <a:r>
              <a:rPr lang="en-US" dirty="0"/>
              <a:t>Problem -2 : UML and Java Implementation</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pic>
        <p:nvPicPr>
          <p:cNvPr id="6" name="Picture 5">
            <a:extLst>
              <a:ext uri="{FF2B5EF4-FFF2-40B4-BE49-F238E27FC236}">
                <a16:creationId xmlns:a16="http://schemas.microsoft.com/office/drawing/2014/main" id="{BC4ACB5D-EE65-E0E1-B52E-C9B26CAFE4B2}"/>
              </a:ext>
            </a:extLst>
          </p:cNvPr>
          <p:cNvPicPr>
            <a:picLocks noChangeAspect="1"/>
          </p:cNvPicPr>
          <p:nvPr/>
        </p:nvPicPr>
        <p:blipFill>
          <a:blip r:embed="rId3"/>
          <a:stretch>
            <a:fillRect/>
          </a:stretch>
        </p:blipFill>
        <p:spPr>
          <a:xfrm>
            <a:off x="0" y="849515"/>
            <a:ext cx="5084633" cy="5158969"/>
          </a:xfrm>
          <a:prstGeom prst="rect">
            <a:avLst/>
          </a:prstGeom>
        </p:spPr>
      </p:pic>
      <p:sp>
        <p:nvSpPr>
          <p:cNvPr id="7" name="TextBox 6">
            <a:extLst>
              <a:ext uri="{FF2B5EF4-FFF2-40B4-BE49-F238E27FC236}">
                <a16:creationId xmlns:a16="http://schemas.microsoft.com/office/drawing/2014/main" id="{175400E8-D62E-D771-90E2-4AE4A7245BEE}"/>
              </a:ext>
            </a:extLst>
          </p:cNvPr>
          <p:cNvSpPr txBox="1"/>
          <p:nvPr/>
        </p:nvSpPr>
        <p:spPr>
          <a:xfrm>
            <a:off x="5501640" y="972234"/>
            <a:ext cx="4526280" cy="923330"/>
          </a:xfrm>
          <a:prstGeom prst="rect">
            <a:avLst/>
          </a:prstGeom>
          <a:noFill/>
        </p:spPr>
        <p:txBody>
          <a:bodyPr wrap="square" rtlCol="0">
            <a:spAutoFit/>
          </a:bodyPr>
          <a:lstStyle/>
          <a:p>
            <a:r>
              <a:rPr lang="en-US" altLang="ja-JP" b="1" dirty="0"/>
              <a:t>Observer Interface</a:t>
            </a:r>
            <a:endParaRPr kumimoji="1" lang="en-US" altLang="ja-JP" b="1" dirty="0">
              <a:latin typeface="Times New Roman" panose="02020603050405020304" pitchFamily="18" charset="0"/>
              <a:cs typeface="Times New Roman" panose="02020603050405020304" pitchFamily="18" charset="0"/>
            </a:endParaRPr>
          </a:p>
          <a:p>
            <a:r>
              <a:rPr kumimoji="1" lang="en-US" altLang="ja-JP" dirty="0">
                <a:latin typeface="Times New Roman" panose="02020603050405020304" pitchFamily="18" charset="0"/>
                <a:cs typeface="Times New Roman" panose="02020603050405020304" pitchFamily="18" charset="0"/>
              </a:rPr>
              <a:t>interface Observer {  </a:t>
            </a:r>
          </a:p>
          <a:p>
            <a:r>
              <a:rPr kumimoji="1" lang="en-US" altLang="ja-JP" dirty="0">
                <a:latin typeface="Times New Roman" panose="02020603050405020304" pitchFamily="18" charset="0"/>
                <a:cs typeface="Times New Roman" panose="02020603050405020304" pitchFamily="18" charset="0"/>
              </a:rPr>
              <a:t>  void update(String message);}</a:t>
            </a:r>
            <a:endParaRPr kumimoji="1" lang="ja-JP" alt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02D80C2-8B9D-1882-3B64-0F5B3F38D29A}"/>
              </a:ext>
            </a:extLst>
          </p:cNvPr>
          <p:cNvSpPr txBox="1"/>
          <p:nvPr/>
        </p:nvSpPr>
        <p:spPr>
          <a:xfrm>
            <a:off x="5364480" y="2377440"/>
            <a:ext cx="6720840" cy="2862322"/>
          </a:xfrm>
          <a:prstGeom prst="rect">
            <a:avLst/>
          </a:prstGeom>
          <a:noFill/>
        </p:spPr>
        <p:txBody>
          <a:bodyPr wrap="square" rtlCol="0">
            <a:spAutoFit/>
          </a:bodyPr>
          <a:lstStyle/>
          <a:p>
            <a:r>
              <a:rPr kumimoji="1" lang="en-US" altLang="ja-JP" b="1" dirty="0"/>
              <a:t>Concrete Observer: </a:t>
            </a:r>
          </a:p>
          <a:p>
            <a:r>
              <a:rPr kumimoji="1" lang="en-US" altLang="ja-JP" dirty="0"/>
              <a:t>class Citizen implements Observer {   </a:t>
            </a:r>
          </a:p>
          <a:p>
            <a:r>
              <a:rPr kumimoji="1" lang="en-US" altLang="ja-JP" dirty="0"/>
              <a:t> public void update(String message){     </a:t>
            </a:r>
          </a:p>
          <a:p>
            <a:r>
              <a:rPr kumimoji="1" lang="en-US" altLang="ja-JP" dirty="0"/>
              <a:t>   </a:t>
            </a:r>
            <a:r>
              <a:rPr kumimoji="1" lang="en-US" altLang="ja-JP" dirty="0" err="1"/>
              <a:t>System.out.println</a:t>
            </a:r>
            <a:r>
              <a:rPr kumimoji="1" lang="en-US" altLang="ja-JP" dirty="0"/>
              <a:t>(        "Citizen Notification: " + message);  </a:t>
            </a:r>
          </a:p>
          <a:p>
            <a:r>
              <a:rPr kumimoji="1" lang="en-US" altLang="ja-JP" dirty="0"/>
              <a:t>  }}</a:t>
            </a:r>
          </a:p>
          <a:p>
            <a:r>
              <a:rPr kumimoji="1" lang="en-US" altLang="ja-JP" b="1" dirty="0"/>
              <a:t>class Officer implements Observer </a:t>
            </a:r>
            <a:r>
              <a:rPr kumimoji="1" lang="en-US" altLang="ja-JP" dirty="0"/>
              <a:t>{    public void update(String message){        </a:t>
            </a:r>
            <a:r>
              <a:rPr kumimoji="1" lang="en-US" altLang="ja-JP" dirty="0" err="1"/>
              <a:t>System.out.println</a:t>
            </a:r>
            <a:r>
              <a:rPr kumimoji="1" lang="en-US" altLang="ja-JP" dirty="0"/>
              <a:t>(        "Officer Alert: " + message);    }}</a:t>
            </a:r>
          </a:p>
          <a:p>
            <a:r>
              <a:rPr kumimoji="1" lang="en-US" altLang="ja-JP" b="1" dirty="0"/>
              <a:t>class Administrator implements Observer </a:t>
            </a:r>
            <a:r>
              <a:rPr kumimoji="1" lang="en-US" altLang="ja-JP" dirty="0"/>
              <a:t>{    public void update(String message){        </a:t>
            </a:r>
            <a:r>
              <a:rPr kumimoji="1" lang="en-US" altLang="ja-JP" dirty="0" err="1"/>
              <a:t>System.out.println</a:t>
            </a:r>
            <a:r>
              <a:rPr kumimoji="1" lang="en-US" altLang="ja-JP" dirty="0"/>
              <a:t>(        "Admin Dashboard Update: " + message);    }}</a:t>
            </a:r>
            <a:endParaRPr kumimoji="1" lang="ja-JP" altLang="en-US" dirty="0"/>
          </a:p>
        </p:txBody>
      </p:sp>
    </p:spTree>
    <p:extLst>
      <p:ext uri="{BB962C8B-B14F-4D97-AF65-F5344CB8AC3E}">
        <p14:creationId xmlns:p14="http://schemas.microsoft.com/office/powerpoint/2010/main" val="12336742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11465"/>
            <a:ext cx="7024039" cy="523220"/>
          </a:xfrm>
          <a:prstGeom prst="rect">
            <a:avLst/>
          </a:prstGeom>
          <a:noFill/>
        </p:spPr>
        <p:txBody>
          <a:bodyPr wrap="none">
            <a:spAutoFit/>
          </a:bodyPr>
          <a:lstStyle/>
          <a:p>
            <a:pPr>
              <a:defRPr sz="2800" b="1">
                <a:latin typeface="Times New Roman"/>
              </a:defRPr>
            </a:pPr>
            <a:r>
              <a:rPr lang="en-US" dirty="0"/>
              <a:t>Problem -2 : UML and Java Implementation</a:t>
            </a:r>
            <a:endParaRPr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7" name="TextBox 6">
            <a:extLst>
              <a:ext uri="{FF2B5EF4-FFF2-40B4-BE49-F238E27FC236}">
                <a16:creationId xmlns:a16="http://schemas.microsoft.com/office/drawing/2014/main" id="{175400E8-D62E-D771-90E2-4AE4A7245BEE}"/>
              </a:ext>
            </a:extLst>
          </p:cNvPr>
          <p:cNvSpPr txBox="1"/>
          <p:nvPr/>
        </p:nvSpPr>
        <p:spPr>
          <a:xfrm>
            <a:off x="152400" y="760174"/>
            <a:ext cx="7178040" cy="2308324"/>
          </a:xfrm>
          <a:prstGeom prst="rect">
            <a:avLst/>
          </a:prstGeom>
          <a:noFill/>
        </p:spPr>
        <p:txBody>
          <a:bodyPr wrap="square" rtlCol="0">
            <a:spAutoFit/>
          </a:bodyPr>
          <a:lstStyle/>
          <a:p>
            <a:r>
              <a:rPr lang="en-US" altLang="ja-JP" b="1" dirty="0"/>
              <a:t>Subject Class</a:t>
            </a:r>
          </a:p>
          <a:p>
            <a:r>
              <a:rPr lang="en-US" altLang="ja-JP" dirty="0"/>
              <a:t>import </a:t>
            </a:r>
            <a:r>
              <a:rPr lang="en-US" altLang="ja-JP" dirty="0" err="1"/>
              <a:t>java.util</a:t>
            </a:r>
            <a:r>
              <a:rPr lang="en-US" altLang="ja-JP" dirty="0"/>
              <a:t>.*;</a:t>
            </a:r>
          </a:p>
          <a:p>
            <a:r>
              <a:rPr lang="en-US" altLang="ja-JP" dirty="0"/>
              <a:t>class Complaint {</a:t>
            </a:r>
          </a:p>
          <a:p>
            <a:r>
              <a:rPr lang="en-US" altLang="ja-JP" dirty="0" err="1"/>
              <a:t>ArrayList</a:t>
            </a:r>
            <a:r>
              <a:rPr lang="en-US" altLang="ja-JP" dirty="0"/>
              <a:t>&lt;Observer&gt; observers =new </a:t>
            </a:r>
            <a:r>
              <a:rPr lang="en-US" altLang="ja-JP" dirty="0" err="1"/>
              <a:t>ArrayList</a:t>
            </a:r>
            <a:r>
              <a:rPr lang="en-US" altLang="ja-JP" dirty="0"/>
              <a:t>&lt;&gt;();</a:t>
            </a:r>
          </a:p>
          <a:p>
            <a:r>
              <a:rPr lang="en-US" altLang="ja-JP" dirty="0"/>
              <a:t>public void </a:t>
            </a:r>
            <a:r>
              <a:rPr lang="en-US" altLang="ja-JP" dirty="0" err="1"/>
              <a:t>addObserver</a:t>
            </a:r>
            <a:r>
              <a:rPr lang="en-US" altLang="ja-JP" dirty="0"/>
              <a:t>(Observer o){   </a:t>
            </a:r>
          </a:p>
          <a:p>
            <a:r>
              <a:rPr lang="en-US" altLang="ja-JP" dirty="0"/>
              <a:t> </a:t>
            </a:r>
            <a:r>
              <a:rPr lang="en-US" altLang="ja-JP" dirty="0" err="1"/>
              <a:t>observers.add</a:t>
            </a:r>
            <a:r>
              <a:rPr lang="en-US" altLang="ja-JP" dirty="0"/>
              <a:t>(o);}</a:t>
            </a:r>
          </a:p>
          <a:p>
            <a:r>
              <a:rPr lang="en-US" altLang="ja-JP" dirty="0"/>
              <a:t>public void </a:t>
            </a:r>
            <a:r>
              <a:rPr lang="en-US" altLang="ja-JP" dirty="0" err="1"/>
              <a:t>changeStatus</a:t>
            </a:r>
            <a:r>
              <a:rPr lang="en-US" altLang="ja-JP" dirty="0"/>
              <a:t>(String status){    for(Observer o: observers){        </a:t>
            </a:r>
          </a:p>
          <a:p>
            <a:r>
              <a:rPr lang="en-US" altLang="ja-JP" dirty="0" err="1"/>
              <a:t>o.update</a:t>
            </a:r>
            <a:r>
              <a:rPr lang="en-US" altLang="ja-JP" dirty="0"/>
              <a:t>(        "Complaint status changed to "        + status);    }}}</a:t>
            </a:r>
            <a:endParaRPr kumimoji="1" lang="ja-JP" alt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DDC5BAB-80F0-567A-D7E4-0C48BCCC1CA0}"/>
              </a:ext>
            </a:extLst>
          </p:cNvPr>
          <p:cNvSpPr txBox="1"/>
          <p:nvPr/>
        </p:nvSpPr>
        <p:spPr>
          <a:xfrm>
            <a:off x="304800" y="3241396"/>
            <a:ext cx="7178040" cy="2308324"/>
          </a:xfrm>
          <a:prstGeom prst="rect">
            <a:avLst/>
          </a:prstGeom>
          <a:noFill/>
        </p:spPr>
        <p:txBody>
          <a:bodyPr wrap="square" rtlCol="0">
            <a:spAutoFit/>
          </a:bodyPr>
          <a:lstStyle/>
          <a:p>
            <a:r>
              <a:rPr lang="en-US" altLang="ja-JP" b="1" dirty="0"/>
              <a:t>Main Class</a:t>
            </a:r>
          </a:p>
          <a:p>
            <a:r>
              <a:rPr lang="en-US" altLang="ja-JP" dirty="0"/>
              <a:t>public class DUMS {</a:t>
            </a:r>
          </a:p>
          <a:p>
            <a:r>
              <a:rPr lang="en-US" altLang="ja-JP" dirty="0"/>
              <a:t>public static void main(String </a:t>
            </a:r>
            <a:r>
              <a:rPr lang="en-US" altLang="ja-JP" dirty="0" err="1"/>
              <a:t>args</a:t>
            </a:r>
            <a:r>
              <a:rPr lang="en-US" altLang="ja-JP" dirty="0"/>
              <a:t>[]){</a:t>
            </a:r>
          </a:p>
          <a:p>
            <a:r>
              <a:rPr lang="en-US" altLang="ja-JP" dirty="0"/>
              <a:t>Complaint complaint=new Complaint();</a:t>
            </a:r>
          </a:p>
          <a:p>
            <a:r>
              <a:rPr lang="en-US" altLang="ja-JP" dirty="0" err="1"/>
              <a:t>complaint.addObserver</a:t>
            </a:r>
            <a:r>
              <a:rPr lang="en-US" altLang="ja-JP" dirty="0"/>
              <a:t>(new Citizen());</a:t>
            </a:r>
          </a:p>
          <a:p>
            <a:r>
              <a:rPr lang="en-US" altLang="ja-JP" dirty="0" err="1"/>
              <a:t>complaint.addObserver</a:t>
            </a:r>
            <a:r>
              <a:rPr lang="en-US" altLang="ja-JP" dirty="0"/>
              <a:t>(new Officer());</a:t>
            </a:r>
          </a:p>
          <a:p>
            <a:r>
              <a:rPr lang="en-US" altLang="ja-JP" dirty="0" err="1"/>
              <a:t>complaint.addObserver</a:t>
            </a:r>
            <a:r>
              <a:rPr lang="en-US" altLang="ja-JP" dirty="0"/>
              <a:t>(new Administrator());</a:t>
            </a:r>
          </a:p>
          <a:p>
            <a:r>
              <a:rPr lang="en-US" altLang="ja-JP" dirty="0" err="1"/>
              <a:t>complaint.changeStatus</a:t>
            </a:r>
            <a:r>
              <a:rPr lang="en-US" altLang="ja-JP" dirty="0"/>
              <a:t>("Completed");}}</a:t>
            </a:r>
            <a:endParaRPr kumimoji="1" lang="ja-JP" alt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09EDFD4-19AE-E3A7-1BA9-4586472D3E73}"/>
              </a:ext>
            </a:extLst>
          </p:cNvPr>
          <p:cNvSpPr txBox="1"/>
          <p:nvPr/>
        </p:nvSpPr>
        <p:spPr>
          <a:xfrm>
            <a:off x="6979920" y="1037173"/>
            <a:ext cx="5059680" cy="1754326"/>
          </a:xfrm>
          <a:prstGeom prst="rect">
            <a:avLst/>
          </a:prstGeom>
          <a:noFill/>
        </p:spPr>
        <p:txBody>
          <a:bodyPr wrap="square" rtlCol="0">
            <a:spAutoFit/>
          </a:bodyPr>
          <a:lstStyle/>
          <a:p>
            <a:r>
              <a:rPr kumimoji="1" lang="en-US" altLang="ja-JP" b="1" dirty="0"/>
              <a:t>Citizen Notification:</a:t>
            </a:r>
          </a:p>
          <a:p>
            <a:r>
              <a:rPr kumimoji="1" lang="en-US" altLang="ja-JP" dirty="0"/>
              <a:t>Complaint status changed to </a:t>
            </a:r>
            <a:r>
              <a:rPr kumimoji="1" lang="en-US" altLang="ja-JP" dirty="0" err="1"/>
              <a:t>CompletedOfficer</a:t>
            </a:r>
            <a:r>
              <a:rPr kumimoji="1" lang="en-US" altLang="ja-JP" dirty="0"/>
              <a:t> Alert:</a:t>
            </a:r>
          </a:p>
          <a:p>
            <a:r>
              <a:rPr kumimoji="1" lang="en-US" altLang="ja-JP" dirty="0"/>
              <a:t>Complaint status changed to </a:t>
            </a:r>
            <a:r>
              <a:rPr kumimoji="1" lang="en-US" altLang="ja-JP" dirty="0" err="1"/>
              <a:t>CompletedAdmin</a:t>
            </a:r>
            <a:r>
              <a:rPr kumimoji="1" lang="en-US" altLang="ja-JP" dirty="0"/>
              <a:t> Dashboard Update:</a:t>
            </a:r>
          </a:p>
          <a:p>
            <a:r>
              <a:rPr kumimoji="1" lang="en-US" altLang="ja-JP" dirty="0"/>
              <a:t>Complaint status changed to Completed</a:t>
            </a:r>
            <a:endParaRPr kumimoji="1" lang="ja-JP" altLang="en-US" dirty="0"/>
          </a:p>
        </p:txBody>
      </p:sp>
    </p:spTree>
    <p:extLst>
      <p:ext uri="{BB962C8B-B14F-4D97-AF65-F5344CB8AC3E}">
        <p14:creationId xmlns:p14="http://schemas.microsoft.com/office/powerpoint/2010/main" val="26276666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3308855" cy="523220"/>
          </a:xfrm>
          <a:prstGeom prst="rect">
            <a:avLst/>
          </a:prstGeom>
          <a:noFill/>
        </p:spPr>
        <p:txBody>
          <a:bodyPr wrap="none">
            <a:spAutoFit/>
          </a:bodyPr>
          <a:lstStyle/>
          <a:p>
            <a:pPr>
              <a:defRPr sz="2800" b="1">
                <a:latin typeface="Times New Roman"/>
              </a:defRPr>
            </a:pPr>
            <a:r>
              <a:rPr lang="en-US" dirty="0"/>
              <a:t>Problem -3 Scenario</a:t>
            </a:r>
            <a:endParaRPr dirty="0"/>
          </a:p>
        </p:txBody>
      </p:sp>
      <p:sp>
        <p:nvSpPr>
          <p:cNvPr id="3" name="TextBox 2"/>
          <p:cNvSpPr txBox="1"/>
          <p:nvPr/>
        </p:nvSpPr>
        <p:spPr>
          <a:xfrm>
            <a:off x="594360" y="914400"/>
            <a:ext cx="10972800" cy="2862322"/>
          </a:xfrm>
          <a:prstGeom prst="rect">
            <a:avLst/>
          </a:prstGeom>
          <a:noFill/>
        </p:spPr>
        <p:txBody>
          <a:bodyPr wrap="square">
            <a:spAutoFit/>
          </a:bodyPr>
          <a:lstStyle/>
          <a:p>
            <a:r>
              <a:rPr lang="en-US" altLang="ja-JP" b="1" dirty="0"/>
              <a:t>Question 2: Agricultural Automation System (AAS)</a:t>
            </a:r>
          </a:p>
          <a:p>
            <a:r>
              <a:rPr lang="en-US" altLang="ja-JP" b="1" dirty="0"/>
              <a:t>Scenario: Intelligent Irrigation Strategy Selection</a:t>
            </a:r>
          </a:p>
          <a:p>
            <a:r>
              <a:rPr lang="en-US" altLang="ja-JP" dirty="0"/>
              <a:t>An Agricultural Automation System controls irrigation based on different farming conditions.</a:t>
            </a:r>
          </a:p>
          <a:p>
            <a:r>
              <a:rPr lang="en-US" altLang="ja-JP" dirty="0"/>
              <a:t>The farmer can select different irrigation strategies:</a:t>
            </a:r>
          </a:p>
          <a:p>
            <a:pPr>
              <a:buFont typeface="+mj-lt"/>
              <a:buAutoNum type="arabicPeriod"/>
            </a:pPr>
            <a:r>
              <a:rPr lang="en-US" altLang="ja-JP" dirty="0"/>
              <a:t>Normal irrigation </a:t>
            </a:r>
          </a:p>
          <a:p>
            <a:pPr>
              <a:buFont typeface="+mj-lt"/>
              <a:buAutoNum type="arabicPeriod"/>
            </a:pPr>
            <a:r>
              <a:rPr lang="en-US" altLang="ja-JP" dirty="0"/>
              <a:t>Water-saving irrigation </a:t>
            </a:r>
          </a:p>
          <a:p>
            <a:pPr>
              <a:buFont typeface="+mj-lt"/>
              <a:buAutoNum type="arabicPeriod"/>
            </a:pPr>
            <a:r>
              <a:rPr lang="en-US" altLang="ja-JP" dirty="0"/>
              <a:t>Emergency irrigation during drought </a:t>
            </a:r>
          </a:p>
          <a:p>
            <a:r>
              <a:rPr lang="en-US" altLang="ja-JP" dirty="0"/>
              <a:t>The system should allow changing irrigation algorithms without modifying the main irrigation controller.</a:t>
            </a:r>
          </a:p>
          <a:p>
            <a:r>
              <a:rPr lang="en-US" altLang="ja-JP" b="1" dirty="0"/>
              <a:t>Requirement:</a:t>
            </a:r>
          </a:p>
          <a:p>
            <a:r>
              <a:rPr lang="en-US" altLang="ja-JP" b="1" dirty="0"/>
              <a:t>Implement this behavior using an appropriate software design pattern.</a:t>
            </a:r>
            <a:endParaRPr lang="en-US" altLang="ja-JP"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10" name="TextBox 9">
            <a:extLst>
              <a:ext uri="{FF2B5EF4-FFF2-40B4-BE49-F238E27FC236}">
                <a16:creationId xmlns:a16="http://schemas.microsoft.com/office/drawing/2014/main" id="{2A858E1F-B7D4-CFCB-22A2-66800B1E351F}"/>
              </a:ext>
            </a:extLst>
          </p:cNvPr>
          <p:cNvSpPr txBox="1"/>
          <p:nvPr/>
        </p:nvSpPr>
        <p:spPr>
          <a:xfrm>
            <a:off x="361950" y="4321076"/>
            <a:ext cx="11205210" cy="2062103"/>
          </a:xfrm>
          <a:prstGeom prst="rect">
            <a:avLst/>
          </a:prstGeom>
          <a:noFill/>
        </p:spPr>
        <p:txBody>
          <a:bodyPr wrap="square">
            <a:spAutoFit/>
          </a:bodyPr>
          <a:lstStyle/>
          <a:p>
            <a:r>
              <a:rPr lang="en-US" altLang="ja-JP" sz="1600" b="1" dirty="0"/>
              <a:t>Solution</a:t>
            </a:r>
          </a:p>
          <a:p>
            <a:r>
              <a:rPr lang="en-US" altLang="ja-JP" sz="1600" b="1" dirty="0"/>
              <a:t>Design Pattern: Strategy Pattern</a:t>
            </a:r>
          </a:p>
          <a:p>
            <a:r>
              <a:rPr lang="en-US" altLang="ja-JP" sz="1600" b="1" dirty="0"/>
              <a:t>Reason:</a:t>
            </a:r>
          </a:p>
          <a:p>
            <a:r>
              <a:rPr lang="en-US" altLang="ja-JP" sz="1600" dirty="0"/>
              <a:t>Strategy Pattern is suitable because:</a:t>
            </a:r>
          </a:p>
          <a:p>
            <a:pPr marL="742950" lvl="1" indent="-285750">
              <a:buFont typeface="Wingdings" panose="05000000000000000000" pitchFamily="2" charset="2"/>
              <a:buChar char="Ø"/>
            </a:pPr>
            <a:r>
              <a:rPr lang="en-US" altLang="ja-JP" sz="1600" dirty="0"/>
              <a:t>Different irrigation algorithms exist. </a:t>
            </a:r>
          </a:p>
          <a:p>
            <a:pPr marL="742950" lvl="1" indent="-285750">
              <a:buFont typeface="Wingdings" panose="05000000000000000000" pitchFamily="2" charset="2"/>
              <a:buChar char="Ø"/>
            </a:pPr>
            <a:r>
              <a:rPr lang="en-US" altLang="ja-JP" sz="1600" dirty="0"/>
              <a:t>The algorithm can change dynamically. </a:t>
            </a:r>
          </a:p>
          <a:p>
            <a:pPr marL="742950" lvl="1" indent="-285750">
              <a:buFont typeface="Wingdings" panose="05000000000000000000" pitchFamily="2" charset="2"/>
              <a:buChar char="Ø"/>
            </a:pPr>
            <a:r>
              <a:rPr lang="en-US" altLang="ja-JP" sz="1600" dirty="0"/>
              <a:t>The irrigation controller does not need to know the internal implementation.</a:t>
            </a:r>
          </a:p>
          <a:p>
            <a:endParaRPr lang="en-US" altLang="ja-JP" sz="1600" b="1" dirty="0"/>
          </a:p>
        </p:txBody>
      </p:sp>
    </p:spTree>
    <p:extLst>
      <p:ext uri="{BB962C8B-B14F-4D97-AF65-F5344CB8AC3E}">
        <p14:creationId xmlns:p14="http://schemas.microsoft.com/office/powerpoint/2010/main" val="41074090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11465"/>
            <a:ext cx="7291740" cy="523220"/>
          </a:xfrm>
          <a:prstGeom prst="rect">
            <a:avLst/>
          </a:prstGeom>
          <a:noFill/>
        </p:spPr>
        <p:txBody>
          <a:bodyPr wrap="none">
            <a:spAutoFit/>
          </a:bodyPr>
          <a:lstStyle/>
          <a:p>
            <a:pPr>
              <a:defRPr sz="2800" b="1">
                <a:latin typeface="Times New Roman"/>
              </a:defRPr>
            </a:pPr>
            <a:r>
              <a:rPr lang="en-US" altLang="ja-JP" dirty="0"/>
              <a:t>UML and Java Implementation for Scenario-3</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7" name="TextBox 6">
            <a:extLst>
              <a:ext uri="{FF2B5EF4-FFF2-40B4-BE49-F238E27FC236}">
                <a16:creationId xmlns:a16="http://schemas.microsoft.com/office/drawing/2014/main" id="{175400E8-D62E-D771-90E2-4AE4A7245BEE}"/>
              </a:ext>
            </a:extLst>
          </p:cNvPr>
          <p:cNvSpPr txBox="1"/>
          <p:nvPr/>
        </p:nvSpPr>
        <p:spPr>
          <a:xfrm>
            <a:off x="5501640" y="972234"/>
            <a:ext cx="4526280" cy="646331"/>
          </a:xfrm>
          <a:prstGeom prst="rect">
            <a:avLst/>
          </a:prstGeom>
          <a:noFill/>
        </p:spPr>
        <p:txBody>
          <a:bodyPr wrap="square" rtlCol="0">
            <a:spAutoFit/>
          </a:bodyPr>
          <a:lstStyle/>
          <a:p>
            <a:r>
              <a:rPr lang="en-US" altLang="ja-JP" b="1" dirty="0"/>
              <a:t>interface </a:t>
            </a:r>
            <a:r>
              <a:rPr lang="en-US" altLang="ja-JP" b="1" dirty="0" err="1"/>
              <a:t>IrrigationStrategy</a:t>
            </a:r>
            <a:endParaRPr lang="en-US" altLang="ja-JP" b="1" dirty="0"/>
          </a:p>
          <a:p>
            <a:r>
              <a:rPr lang="en-US" altLang="ja-JP" b="1" dirty="0"/>
              <a:t>{void irrigate();}</a:t>
            </a:r>
            <a:endParaRPr kumimoji="1" lang="ja-JP" alt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02D80C2-8B9D-1882-3B64-0F5B3F38D29A}"/>
              </a:ext>
            </a:extLst>
          </p:cNvPr>
          <p:cNvSpPr txBox="1"/>
          <p:nvPr/>
        </p:nvSpPr>
        <p:spPr>
          <a:xfrm>
            <a:off x="5471160" y="1840874"/>
            <a:ext cx="6720840" cy="2585323"/>
          </a:xfrm>
          <a:prstGeom prst="rect">
            <a:avLst/>
          </a:prstGeom>
          <a:noFill/>
        </p:spPr>
        <p:txBody>
          <a:bodyPr wrap="square" rtlCol="0">
            <a:spAutoFit/>
          </a:bodyPr>
          <a:lstStyle/>
          <a:p>
            <a:r>
              <a:rPr kumimoji="1" lang="en-US" altLang="ja-JP" b="1" dirty="0"/>
              <a:t>class </a:t>
            </a:r>
            <a:r>
              <a:rPr kumimoji="1" lang="en-US" altLang="ja-JP" b="1" dirty="0" err="1"/>
              <a:t>NormalIrrigation</a:t>
            </a:r>
            <a:r>
              <a:rPr kumimoji="1" lang="en-US" altLang="ja-JP" b="1" dirty="0"/>
              <a:t> implements </a:t>
            </a:r>
            <a:r>
              <a:rPr kumimoji="1" lang="en-US" altLang="ja-JP" b="1" dirty="0" err="1"/>
              <a:t>IrrigationStrategy</a:t>
            </a:r>
            <a:r>
              <a:rPr kumimoji="1" lang="en-US" altLang="ja-JP" b="1" dirty="0"/>
              <a:t>{</a:t>
            </a:r>
          </a:p>
          <a:p>
            <a:r>
              <a:rPr kumimoji="1" lang="en-US" altLang="ja-JP" b="1" dirty="0"/>
              <a:t>public void irrigate(){</a:t>
            </a:r>
          </a:p>
          <a:p>
            <a:r>
              <a:rPr kumimoji="1" lang="en-US" altLang="ja-JP" b="1" dirty="0" err="1"/>
              <a:t>System.out.println</a:t>
            </a:r>
            <a:r>
              <a:rPr kumimoji="1" lang="en-US" altLang="ja-JP" b="1" dirty="0"/>
              <a:t>("Normal irrigation activated");}}</a:t>
            </a:r>
          </a:p>
          <a:p>
            <a:endParaRPr kumimoji="1" lang="en-US" altLang="ja-JP" b="1" dirty="0"/>
          </a:p>
          <a:p>
            <a:r>
              <a:rPr kumimoji="1" lang="en-US" altLang="ja-JP" dirty="0"/>
              <a:t>class </a:t>
            </a:r>
            <a:r>
              <a:rPr kumimoji="1" lang="en-US" altLang="ja-JP" dirty="0" err="1"/>
              <a:t>WaterSavingIrrigationimplements</a:t>
            </a:r>
            <a:r>
              <a:rPr kumimoji="1" lang="en-US" altLang="ja-JP" dirty="0"/>
              <a:t> </a:t>
            </a:r>
            <a:r>
              <a:rPr kumimoji="1" lang="en-US" altLang="ja-JP" dirty="0" err="1"/>
              <a:t>IrrigationStrategy</a:t>
            </a:r>
            <a:r>
              <a:rPr kumimoji="1" lang="en-US" altLang="ja-JP" dirty="0"/>
              <a:t>{public void irrigate(){</a:t>
            </a:r>
            <a:r>
              <a:rPr kumimoji="1" lang="en-US" altLang="ja-JP" dirty="0" err="1"/>
              <a:t>System.out.println</a:t>
            </a:r>
            <a:r>
              <a:rPr kumimoji="1" lang="en-US" altLang="ja-JP" dirty="0"/>
              <a:t>("Water saving irrigation activated");}}</a:t>
            </a:r>
          </a:p>
          <a:p>
            <a:endParaRPr kumimoji="1" lang="en-US" altLang="ja-JP" dirty="0"/>
          </a:p>
          <a:p>
            <a:r>
              <a:rPr kumimoji="1" lang="en-US" altLang="ja-JP" dirty="0"/>
              <a:t>class </a:t>
            </a:r>
            <a:r>
              <a:rPr kumimoji="1" lang="en-US" altLang="ja-JP" dirty="0" err="1"/>
              <a:t>EmergencyIrrigationimplements</a:t>
            </a:r>
            <a:r>
              <a:rPr kumimoji="1" lang="en-US" altLang="ja-JP" dirty="0"/>
              <a:t> </a:t>
            </a:r>
            <a:r>
              <a:rPr kumimoji="1" lang="en-US" altLang="ja-JP" dirty="0" err="1"/>
              <a:t>IrrigationStrategy</a:t>
            </a:r>
            <a:r>
              <a:rPr kumimoji="1" lang="en-US" altLang="ja-JP" dirty="0"/>
              <a:t>{public void irrigate(){</a:t>
            </a:r>
            <a:r>
              <a:rPr kumimoji="1" lang="en-US" altLang="ja-JP" dirty="0" err="1"/>
              <a:t>System.out.println</a:t>
            </a:r>
            <a:r>
              <a:rPr kumimoji="1" lang="en-US" altLang="ja-JP" dirty="0"/>
              <a:t>("Emergency irrigation activated");}}</a:t>
            </a:r>
            <a:endParaRPr kumimoji="1" lang="ja-JP" altLang="en-US" dirty="0"/>
          </a:p>
        </p:txBody>
      </p:sp>
      <p:pic>
        <p:nvPicPr>
          <p:cNvPr id="5" name="Picture 4">
            <a:extLst>
              <a:ext uri="{FF2B5EF4-FFF2-40B4-BE49-F238E27FC236}">
                <a16:creationId xmlns:a16="http://schemas.microsoft.com/office/drawing/2014/main" id="{B24B9FC6-9DA6-314D-D7C1-7F1BA02A07A7}"/>
              </a:ext>
            </a:extLst>
          </p:cNvPr>
          <p:cNvPicPr>
            <a:picLocks noChangeAspect="1"/>
          </p:cNvPicPr>
          <p:nvPr/>
        </p:nvPicPr>
        <p:blipFill>
          <a:blip r:embed="rId3"/>
          <a:stretch>
            <a:fillRect/>
          </a:stretch>
        </p:blipFill>
        <p:spPr>
          <a:xfrm>
            <a:off x="236104" y="898941"/>
            <a:ext cx="4964707" cy="4709379"/>
          </a:xfrm>
          <a:prstGeom prst="rect">
            <a:avLst/>
          </a:prstGeom>
        </p:spPr>
      </p:pic>
    </p:spTree>
    <p:extLst>
      <p:ext uri="{BB962C8B-B14F-4D97-AF65-F5344CB8AC3E}">
        <p14:creationId xmlns:p14="http://schemas.microsoft.com/office/powerpoint/2010/main" val="26091838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11465"/>
            <a:ext cx="7024039" cy="523220"/>
          </a:xfrm>
          <a:prstGeom prst="rect">
            <a:avLst/>
          </a:prstGeom>
          <a:noFill/>
        </p:spPr>
        <p:txBody>
          <a:bodyPr wrap="none">
            <a:spAutoFit/>
          </a:bodyPr>
          <a:lstStyle/>
          <a:p>
            <a:pPr>
              <a:defRPr sz="2800" b="1">
                <a:latin typeface="Times New Roman"/>
              </a:defRPr>
            </a:pPr>
            <a:r>
              <a:rPr lang="en-US" dirty="0"/>
              <a:t>Problem - 3: UML and Java Implementation</a:t>
            </a:r>
            <a:endParaRPr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7" name="TextBox 6">
            <a:extLst>
              <a:ext uri="{FF2B5EF4-FFF2-40B4-BE49-F238E27FC236}">
                <a16:creationId xmlns:a16="http://schemas.microsoft.com/office/drawing/2014/main" id="{175400E8-D62E-D771-90E2-4AE4A7245BEE}"/>
              </a:ext>
            </a:extLst>
          </p:cNvPr>
          <p:cNvSpPr txBox="1"/>
          <p:nvPr/>
        </p:nvSpPr>
        <p:spPr>
          <a:xfrm>
            <a:off x="152400" y="760174"/>
            <a:ext cx="5257800" cy="2031325"/>
          </a:xfrm>
          <a:prstGeom prst="rect">
            <a:avLst/>
          </a:prstGeom>
          <a:noFill/>
        </p:spPr>
        <p:txBody>
          <a:bodyPr wrap="square" rtlCol="0">
            <a:spAutoFit/>
          </a:bodyPr>
          <a:lstStyle/>
          <a:p>
            <a:r>
              <a:rPr lang="en-US" altLang="ja-JP" dirty="0"/>
              <a:t>Context class:</a:t>
            </a:r>
          </a:p>
          <a:p>
            <a:endParaRPr lang="en-US" altLang="ja-JP" dirty="0"/>
          </a:p>
          <a:p>
            <a:r>
              <a:rPr lang="en-US" altLang="ja-JP" dirty="0"/>
              <a:t>class </a:t>
            </a:r>
            <a:r>
              <a:rPr lang="en-US" altLang="ja-JP" dirty="0" err="1"/>
              <a:t>IrrigationController</a:t>
            </a:r>
            <a:r>
              <a:rPr lang="en-US" altLang="ja-JP" dirty="0"/>
              <a:t>{</a:t>
            </a:r>
          </a:p>
          <a:p>
            <a:r>
              <a:rPr lang="en-US" altLang="ja-JP" dirty="0"/>
              <a:t>private </a:t>
            </a:r>
            <a:r>
              <a:rPr lang="en-US" altLang="ja-JP" dirty="0" err="1"/>
              <a:t>IrrigationStrategy</a:t>
            </a:r>
            <a:r>
              <a:rPr lang="en-US" altLang="ja-JP" dirty="0"/>
              <a:t> strategy;</a:t>
            </a:r>
          </a:p>
          <a:p>
            <a:r>
              <a:rPr lang="en-US" altLang="ja-JP" dirty="0"/>
              <a:t>public void </a:t>
            </a:r>
            <a:r>
              <a:rPr lang="en-US" altLang="ja-JP" dirty="0" err="1"/>
              <a:t>setStrategy</a:t>
            </a:r>
            <a:r>
              <a:rPr lang="en-US" altLang="ja-JP" dirty="0"/>
              <a:t>(</a:t>
            </a:r>
            <a:r>
              <a:rPr lang="en-US" altLang="ja-JP" dirty="0" err="1"/>
              <a:t>IrrigationStrategy</a:t>
            </a:r>
            <a:r>
              <a:rPr lang="en-US" altLang="ja-JP" dirty="0"/>
              <a:t> strategy){</a:t>
            </a:r>
            <a:r>
              <a:rPr lang="en-US" altLang="ja-JP" dirty="0" err="1"/>
              <a:t>this.strategy</a:t>
            </a:r>
            <a:r>
              <a:rPr lang="en-US" altLang="ja-JP" dirty="0"/>
              <a:t>=strategy;}public void execute(){</a:t>
            </a:r>
          </a:p>
          <a:p>
            <a:r>
              <a:rPr lang="en-US" altLang="ja-JP" dirty="0" err="1"/>
              <a:t>strategy.irrigate</a:t>
            </a:r>
            <a:r>
              <a:rPr lang="en-US" altLang="ja-JP" dirty="0"/>
              <a:t>();}}</a:t>
            </a:r>
            <a:endParaRPr kumimoji="1" lang="ja-JP" alt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DDC5BAB-80F0-567A-D7E4-0C48BCCC1CA0}"/>
              </a:ext>
            </a:extLst>
          </p:cNvPr>
          <p:cNvSpPr txBox="1"/>
          <p:nvPr/>
        </p:nvSpPr>
        <p:spPr>
          <a:xfrm>
            <a:off x="304800" y="3304716"/>
            <a:ext cx="7178040" cy="1754326"/>
          </a:xfrm>
          <a:prstGeom prst="rect">
            <a:avLst/>
          </a:prstGeom>
          <a:noFill/>
        </p:spPr>
        <p:txBody>
          <a:bodyPr wrap="square" rtlCol="0">
            <a:spAutoFit/>
          </a:bodyPr>
          <a:lstStyle/>
          <a:p>
            <a:r>
              <a:rPr lang="en-US" altLang="ja-JP" b="1" dirty="0"/>
              <a:t>Main Class</a:t>
            </a:r>
          </a:p>
          <a:p>
            <a:r>
              <a:rPr lang="en-US" altLang="ja-JP" dirty="0"/>
              <a:t>public class </a:t>
            </a:r>
            <a:r>
              <a:rPr lang="en-US" altLang="ja-JP" dirty="0" err="1"/>
              <a:t>FarmSystem</a:t>
            </a:r>
            <a:r>
              <a:rPr lang="en-US" altLang="ja-JP" dirty="0"/>
              <a:t>{public static void main(String </a:t>
            </a:r>
            <a:r>
              <a:rPr lang="en-US" altLang="ja-JP" dirty="0" err="1"/>
              <a:t>args</a:t>
            </a:r>
            <a:r>
              <a:rPr lang="en-US" altLang="ja-JP" dirty="0"/>
              <a:t>[]){</a:t>
            </a:r>
            <a:r>
              <a:rPr lang="en-US" altLang="ja-JP" dirty="0" err="1"/>
              <a:t>IrrigationController</a:t>
            </a:r>
            <a:r>
              <a:rPr lang="en-US" altLang="ja-JP" dirty="0"/>
              <a:t> controller =new </a:t>
            </a:r>
            <a:r>
              <a:rPr lang="en-US" altLang="ja-JP" dirty="0" err="1"/>
              <a:t>IrrigationController</a:t>
            </a:r>
            <a:r>
              <a:rPr lang="en-US" altLang="ja-JP" dirty="0"/>
              <a:t>();</a:t>
            </a:r>
            <a:r>
              <a:rPr lang="en-US" altLang="ja-JP" dirty="0" err="1"/>
              <a:t>controller.setStrategy</a:t>
            </a:r>
            <a:r>
              <a:rPr lang="en-US" altLang="ja-JP" dirty="0"/>
              <a:t>(new </a:t>
            </a:r>
            <a:r>
              <a:rPr lang="en-US" altLang="ja-JP" dirty="0" err="1"/>
              <a:t>WaterSavingIrrigation</a:t>
            </a:r>
            <a:r>
              <a:rPr lang="en-US" altLang="ja-JP" dirty="0"/>
              <a:t>());</a:t>
            </a:r>
            <a:r>
              <a:rPr lang="en-US" altLang="ja-JP" dirty="0" err="1"/>
              <a:t>controller.execute</a:t>
            </a:r>
            <a:r>
              <a:rPr lang="en-US" altLang="ja-JP" dirty="0"/>
              <a:t>();</a:t>
            </a:r>
            <a:r>
              <a:rPr lang="en-US" altLang="ja-JP" dirty="0" err="1"/>
              <a:t>controller.setStrategy</a:t>
            </a:r>
            <a:r>
              <a:rPr lang="en-US" altLang="ja-JP" dirty="0"/>
              <a:t>(new </a:t>
            </a:r>
            <a:r>
              <a:rPr lang="en-US" altLang="ja-JP" dirty="0" err="1"/>
              <a:t>EmergencyIrrigation</a:t>
            </a:r>
            <a:r>
              <a:rPr lang="en-US" altLang="ja-JP" dirty="0"/>
              <a:t>());</a:t>
            </a:r>
            <a:r>
              <a:rPr lang="en-US" altLang="ja-JP" dirty="0" err="1"/>
              <a:t>controller.execute</a:t>
            </a:r>
            <a:r>
              <a:rPr lang="en-US" altLang="ja-JP" dirty="0"/>
              <a:t>();}}</a:t>
            </a:r>
            <a:endParaRPr kumimoji="1" lang="ja-JP" alt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09EDFD4-19AE-E3A7-1BA9-4586472D3E73}"/>
              </a:ext>
            </a:extLst>
          </p:cNvPr>
          <p:cNvSpPr txBox="1"/>
          <p:nvPr/>
        </p:nvSpPr>
        <p:spPr>
          <a:xfrm>
            <a:off x="6979920" y="1037173"/>
            <a:ext cx="5059680" cy="923330"/>
          </a:xfrm>
          <a:prstGeom prst="rect">
            <a:avLst/>
          </a:prstGeom>
          <a:noFill/>
        </p:spPr>
        <p:txBody>
          <a:bodyPr wrap="square" rtlCol="0">
            <a:spAutoFit/>
          </a:bodyPr>
          <a:lstStyle/>
          <a:p>
            <a:r>
              <a:rPr kumimoji="1" lang="en-US" altLang="ja-JP" b="1" dirty="0"/>
              <a:t>Citizen Notification:</a:t>
            </a:r>
          </a:p>
          <a:p>
            <a:r>
              <a:rPr kumimoji="1" lang="en-US" altLang="ja-JP" dirty="0"/>
              <a:t>Water saving irrigation </a:t>
            </a:r>
            <a:r>
              <a:rPr kumimoji="1" lang="en-US" altLang="ja-JP" dirty="0" err="1"/>
              <a:t>activatedEmergency</a:t>
            </a:r>
            <a:r>
              <a:rPr kumimoji="1" lang="en-US" altLang="ja-JP" dirty="0"/>
              <a:t> irrigation activated</a:t>
            </a:r>
            <a:endParaRPr kumimoji="1" lang="ja-JP" altLang="en-US" dirty="0"/>
          </a:p>
        </p:txBody>
      </p:sp>
    </p:spTree>
    <p:extLst>
      <p:ext uri="{BB962C8B-B14F-4D97-AF65-F5344CB8AC3E}">
        <p14:creationId xmlns:p14="http://schemas.microsoft.com/office/powerpoint/2010/main" val="11476408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3308855" cy="523220"/>
          </a:xfrm>
          <a:prstGeom prst="rect">
            <a:avLst/>
          </a:prstGeom>
          <a:noFill/>
        </p:spPr>
        <p:txBody>
          <a:bodyPr wrap="none">
            <a:spAutoFit/>
          </a:bodyPr>
          <a:lstStyle/>
          <a:p>
            <a:pPr>
              <a:defRPr sz="2800" b="1">
                <a:latin typeface="Times New Roman"/>
              </a:defRPr>
            </a:pPr>
            <a:r>
              <a:rPr lang="en-US" dirty="0"/>
              <a:t>Problem -4 Scenario</a:t>
            </a:r>
            <a:endParaRPr dirty="0"/>
          </a:p>
        </p:txBody>
      </p:sp>
      <p:sp>
        <p:nvSpPr>
          <p:cNvPr id="3" name="TextBox 2"/>
          <p:cNvSpPr txBox="1"/>
          <p:nvPr/>
        </p:nvSpPr>
        <p:spPr>
          <a:xfrm>
            <a:off x="594360" y="914400"/>
            <a:ext cx="10972800" cy="2585323"/>
          </a:xfrm>
          <a:prstGeom prst="rect">
            <a:avLst/>
          </a:prstGeom>
          <a:noFill/>
        </p:spPr>
        <p:txBody>
          <a:bodyPr wrap="square">
            <a:spAutoFit/>
          </a:bodyPr>
          <a:lstStyle/>
          <a:p>
            <a:r>
              <a:rPr lang="en-US" altLang="ja-JP" b="1" dirty="0"/>
              <a:t>Scenario: University Transport Approval System</a:t>
            </a:r>
          </a:p>
          <a:p>
            <a:r>
              <a:rPr lang="en-US" altLang="ja-JP" dirty="0"/>
              <a:t>A smart campus transportation system manages bus ticket approval.</a:t>
            </a:r>
          </a:p>
          <a:p>
            <a:r>
              <a:rPr lang="en-US" altLang="ja-JP" dirty="0"/>
              <a:t>Different transport requests require different approval levels:</a:t>
            </a:r>
          </a:p>
          <a:p>
            <a:pPr>
              <a:buFont typeface="Arial" panose="020B0604020202020204" pitchFamily="34" charset="0"/>
              <a:buChar char="•"/>
            </a:pPr>
            <a:r>
              <a:rPr lang="en-US" altLang="ja-JP" dirty="0"/>
              <a:t>Student transport request below 500 BDT → Transport Assistant approval </a:t>
            </a:r>
          </a:p>
          <a:p>
            <a:pPr>
              <a:buFont typeface="Arial" panose="020B0604020202020204" pitchFamily="34" charset="0"/>
              <a:buChar char="•"/>
            </a:pPr>
            <a:r>
              <a:rPr lang="en-US" altLang="ja-JP" dirty="0"/>
              <a:t>Request from 500 to 5000 BDT → Transport Manager approval </a:t>
            </a:r>
          </a:p>
          <a:p>
            <a:pPr>
              <a:buFont typeface="Arial" panose="020B0604020202020204" pitchFamily="34" charset="0"/>
              <a:buChar char="•"/>
            </a:pPr>
            <a:r>
              <a:rPr lang="en-US" altLang="ja-JP" dirty="0"/>
              <a:t>Request above 5000 BDT → University Administrator approval </a:t>
            </a:r>
          </a:p>
          <a:p>
            <a:r>
              <a:rPr lang="en-US" altLang="ja-JP" dirty="0"/>
              <a:t>The request should automatically move through the approval chain until the responsible authority handles it.</a:t>
            </a:r>
          </a:p>
          <a:p>
            <a:r>
              <a:rPr lang="en-US" altLang="ja-JP" b="1" dirty="0"/>
              <a:t>Requirement:</a:t>
            </a:r>
          </a:p>
          <a:p>
            <a:r>
              <a:rPr lang="en-US" altLang="ja-JP" b="1" dirty="0"/>
              <a:t>Implement this behavior using an appropriate software design pattern.</a:t>
            </a:r>
            <a:endParaRPr lang="en-US" altLang="ja-JP"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10" name="TextBox 9">
            <a:extLst>
              <a:ext uri="{FF2B5EF4-FFF2-40B4-BE49-F238E27FC236}">
                <a16:creationId xmlns:a16="http://schemas.microsoft.com/office/drawing/2014/main" id="{2A858E1F-B7D4-CFCB-22A2-66800B1E351F}"/>
              </a:ext>
            </a:extLst>
          </p:cNvPr>
          <p:cNvSpPr txBox="1"/>
          <p:nvPr/>
        </p:nvSpPr>
        <p:spPr>
          <a:xfrm>
            <a:off x="361950" y="4321076"/>
            <a:ext cx="11205210" cy="2308324"/>
          </a:xfrm>
          <a:prstGeom prst="rect">
            <a:avLst/>
          </a:prstGeom>
          <a:noFill/>
        </p:spPr>
        <p:txBody>
          <a:bodyPr wrap="square">
            <a:spAutoFit/>
          </a:bodyPr>
          <a:lstStyle/>
          <a:p>
            <a:r>
              <a:rPr lang="en-US" altLang="ja-JP" sz="1600" b="1" dirty="0"/>
              <a:t>Solution</a:t>
            </a:r>
          </a:p>
          <a:p>
            <a:r>
              <a:rPr lang="en-US" altLang="ja-JP" sz="1600" b="1" dirty="0"/>
              <a:t>Design Pattern: Chain of Responsibility Pattern</a:t>
            </a:r>
          </a:p>
          <a:p>
            <a:endParaRPr lang="en-US" altLang="ja-JP" sz="1600" b="1" dirty="0"/>
          </a:p>
          <a:p>
            <a:r>
              <a:rPr lang="en-US" altLang="ja-JP" sz="1600" b="1" dirty="0"/>
              <a:t>Reason:</a:t>
            </a:r>
          </a:p>
          <a:p>
            <a:r>
              <a:rPr lang="en-US" altLang="ja-JP" sz="1600" dirty="0"/>
              <a:t>The Chain of Responsibility pattern is suitable because:</a:t>
            </a:r>
          </a:p>
          <a:p>
            <a:pPr>
              <a:buFont typeface="Arial" panose="020B0604020202020204" pitchFamily="34" charset="0"/>
              <a:buChar char="•"/>
            </a:pPr>
            <a:r>
              <a:rPr lang="en-US" altLang="ja-JP" sz="1600" dirty="0"/>
              <a:t>Multiple approval levels exist. </a:t>
            </a:r>
          </a:p>
          <a:p>
            <a:pPr>
              <a:buFont typeface="Arial" panose="020B0604020202020204" pitchFamily="34" charset="0"/>
              <a:buChar char="•"/>
            </a:pPr>
            <a:r>
              <a:rPr lang="en-US" altLang="ja-JP" sz="1600" dirty="0"/>
              <a:t>Each handler decides whether it can process the request. </a:t>
            </a:r>
          </a:p>
          <a:p>
            <a:pPr>
              <a:buFont typeface="Arial" panose="020B0604020202020204" pitchFamily="34" charset="0"/>
              <a:buChar char="•"/>
            </a:pPr>
            <a:r>
              <a:rPr lang="en-US" altLang="ja-JP" sz="1600" dirty="0"/>
              <a:t>The request moves to the next authority if required.</a:t>
            </a:r>
          </a:p>
          <a:p>
            <a:endParaRPr lang="en-US" altLang="ja-JP" sz="1600" b="1" dirty="0"/>
          </a:p>
        </p:txBody>
      </p:sp>
    </p:spTree>
    <p:extLst>
      <p:ext uri="{BB962C8B-B14F-4D97-AF65-F5344CB8AC3E}">
        <p14:creationId xmlns:p14="http://schemas.microsoft.com/office/powerpoint/2010/main" val="37205112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11465"/>
            <a:ext cx="7291740" cy="523220"/>
          </a:xfrm>
          <a:prstGeom prst="rect">
            <a:avLst/>
          </a:prstGeom>
          <a:noFill/>
        </p:spPr>
        <p:txBody>
          <a:bodyPr wrap="none">
            <a:spAutoFit/>
          </a:bodyPr>
          <a:lstStyle/>
          <a:p>
            <a:pPr>
              <a:defRPr sz="2800" b="1">
                <a:latin typeface="Times New Roman"/>
              </a:defRPr>
            </a:pPr>
            <a:r>
              <a:rPr lang="en-US" altLang="ja-JP" dirty="0"/>
              <a:t>UML and Java Implementation for Scenario-4</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7" name="TextBox 6">
            <a:extLst>
              <a:ext uri="{FF2B5EF4-FFF2-40B4-BE49-F238E27FC236}">
                <a16:creationId xmlns:a16="http://schemas.microsoft.com/office/drawing/2014/main" id="{175400E8-D62E-D771-90E2-4AE4A7245BEE}"/>
              </a:ext>
            </a:extLst>
          </p:cNvPr>
          <p:cNvSpPr txBox="1"/>
          <p:nvPr/>
        </p:nvSpPr>
        <p:spPr>
          <a:xfrm>
            <a:off x="5166360" y="2007184"/>
            <a:ext cx="4526280" cy="4247317"/>
          </a:xfrm>
          <a:prstGeom prst="rect">
            <a:avLst/>
          </a:prstGeom>
          <a:noFill/>
        </p:spPr>
        <p:txBody>
          <a:bodyPr wrap="square" rtlCol="0">
            <a:spAutoFit/>
          </a:bodyPr>
          <a:lstStyle/>
          <a:p>
            <a:r>
              <a:rPr lang="en-US" altLang="ja-JP" dirty="0"/>
              <a:t>Transport Assistant: </a:t>
            </a:r>
          </a:p>
          <a:p>
            <a:r>
              <a:rPr lang="en-US" altLang="ja-JP" dirty="0"/>
              <a:t>class Assistant extends Approver{public void approve(double amount){if(amount&lt;500){</a:t>
            </a:r>
            <a:r>
              <a:rPr lang="en-US" altLang="ja-JP" dirty="0" err="1"/>
              <a:t>System.out.println</a:t>
            </a:r>
            <a:r>
              <a:rPr lang="en-US" altLang="ja-JP" dirty="0"/>
              <a:t>("Assistant approved request");}else{</a:t>
            </a:r>
            <a:r>
              <a:rPr lang="en-US" altLang="ja-JP" dirty="0" err="1"/>
              <a:t>next.approve</a:t>
            </a:r>
            <a:r>
              <a:rPr lang="en-US" altLang="ja-JP" dirty="0"/>
              <a:t>(amount);}}}</a:t>
            </a:r>
          </a:p>
          <a:p>
            <a:endParaRPr kumimoji="1" lang="en-US" altLang="ja-JP" dirty="0">
              <a:latin typeface="Times New Roman" panose="02020603050405020304" pitchFamily="18" charset="0"/>
              <a:cs typeface="Times New Roman" panose="02020603050405020304" pitchFamily="18" charset="0"/>
            </a:endParaRPr>
          </a:p>
          <a:p>
            <a:r>
              <a:rPr kumimoji="1" lang="en-US" altLang="ja-JP" dirty="0">
                <a:latin typeface="Times New Roman" panose="02020603050405020304" pitchFamily="18" charset="0"/>
                <a:cs typeface="Times New Roman" panose="02020603050405020304" pitchFamily="18" charset="0"/>
              </a:rPr>
              <a:t>Transport Manager:</a:t>
            </a:r>
          </a:p>
          <a:p>
            <a:r>
              <a:rPr kumimoji="1" lang="en-US" altLang="ja-JP" dirty="0">
                <a:latin typeface="Times New Roman" panose="02020603050405020304" pitchFamily="18" charset="0"/>
                <a:cs typeface="Times New Roman" panose="02020603050405020304" pitchFamily="18" charset="0"/>
              </a:rPr>
              <a:t>class Manager extends Approver{public void approve(double amount){if(amount&lt;=5000){</a:t>
            </a:r>
            <a:r>
              <a:rPr kumimoji="1" lang="en-US" altLang="ja-JP" dirty="0" err="1">
                <a:latin typeface="Times New Roman" panose="02020603050405020304" pitchFamily="18" charset="0"/>
                <a:cs typeface="Times New Roman" panose="02020603050405020304" pitchFamily="18" charset="0"/>
              </a:rPr>
              <a:t>System.out.println</a:t>
            </a:r>
            <a:r>
              <a:rPr kumimoji="1" lang="en-US" altLang="ja-JP" dirty="0">
                <a:latin typeface="Times New Roman" panose="02020603050405020304" pitchFamily="18" charset="0"/>
                <a:cs typeface="Times New Roman" panose="02020603050405020304" pitchFamily="18" charset="0"/>
              </a:rPr>
              <a:t>("Manager approved request");}else{</a:t>
            </a:r>
            <a:r>
              <a:rPr kumimoji="1" lang="en-US" altLang="ja-JP" dirty="0" err="1">
                <a:latin typeface="Times New Roman" panose="02020603050405020304" pitchFamily="18" charset="0"/>
                <a:cs typeface="Times New Roman" panose="02020603050405020304" pitchFamily="18" charset="0"/>
              </a:rPr>
              <a:t>next.approve</a:t>
            </a:r>
            <a:r>
              <a:rPr kumimoji="1" lang="en-US" altLang="ja-JP" dirty="0">
                <a:latin typeface="Times New Roman" panose="02020603050405020304" pitchFamily="18" charset="0"/>
                <a:cs typeface="Times New Roman" panose="02020603050405020304" pitchFamily="18" charset="0"/>
              </a:rPr>
              <a:t>(amount);}}}</a:t>
            </a:r>
          </a:p>
          <a:p>
            <a:endParaRPr kumimoji="1" lang="en-US" altLang="ja-JP" dirty="0">
              <a:latin typeface="Times New Roman" panose="02020603050405020304" pitchFamily="18" charset="0"/>
              <a:cs typeface="Times New Roman" panose="02020603050405020304" pitchFamily="18" charset="0"/>
            </a:endParaRPr>
          </a:p>
          <a:p>
            <a:endParaRPr kumimoji="1" lang="ja-JP" alt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02D80C2-8B9D-1882-3B64-0F5B3F38D29A}"/>
              </a:ext>
            </a:extLst>
          </p:cNvPr>
          <p:cNvSpPr txBox="1"/>
          <p:nvPr/>
        </p:nvSpPr>
        <p:spPr>
          <a:xfrm>
            <a:off x="5166360" y="1056043"/>
            <a:ext cx="6720840" cy="923330"/>
          </a:xfrm>
          <a:prstGeom prst="rect">
            <a:avLst/>
          </a:prstGeom>
          <a:noFill/>
        </p:spPr>
        <p:txBody>
          <a:bodyPr wrap="square" rtlCol="0">
            <a:spAutoFit/>
          </a:bodyPr>
          <a:lstStyle/>
          <a:p>
            <a:r>
              <a:rPr kumimoji="1" lang="en-US" altLang="ja-JP" b="1" dirty="0"/>
              <a:t>abstract class Approver{protected Approver </a:t>
            </a:r>
            <a:r>
              <a:rPr kumimoji="1" lang="en-US" altLang="ja-JP" b="1" dirty="0" err="1"/>
              <a:t>next;public</a:t>
            </a:r>
            <a:r>
              <a:rPr kumimoji="1" lang="en-US" altLang="ja-JP" b="1" dirty="0"/>
              <a:t> void </a:t>
            </a:r>
            <a:r>
              <a:rPr kumimoji="1" lang="en-US" altLang="ja-JP" b="1" dirty="0" err="1"/>
              <a:t>setNext</a:t>
            </a:r>
            <a:r>
              <a:rPr kumimoji="1" lang="en-US" altLang="ja-JP" b="1" dirty="0"/>
              <a:t>(Approver next){</a:t>
            </a:r>
            <a:r>
              <a:rPr kumimoji="1" lang="en-US" altLang="ja-JP" b="1" dirty="0" err="1"/>
              <a:t>this.next</a:t>
            </a:r>
            <a:r>
              <a:rPr kumimoji="1" lang="en-US" altLang="ja-JP" b="1" dirty="0"/>
              <a:t>=next;}public abstract void approve(double amount);}</a:t>
            </a:r>
            <a:endParaRPr kumimoji="1" lang="ja-JP" altLang="en-US" dirty="0"/>
          </a:p>
        </p:txBody>
      </p:sp>
      <p:pic>
        <p:nvPicPr>
          <p:cNvPr id="6" name="Picture 5">
            <a:extLst>
              <a:ext uri="{FF2B5EF4-FFF2-40B4-BE49-F238E27FC236}">
                <a16:creationId xmlns:a16="http://schemas.microsoft.com/office/drawing/2014/main" id="{FF98AF6F-4099-F4EA-9F3A-0B11A25547CF}"/>
              </a:ext>
            </a:extLst>
          </p:cNvPr>
          <p:cNvPicPr>
            <a:picLocks noChangeAspect="1"/>
          </p:cNvPicPr>
          <p:nvPr/>
        </p:nvPicPr>
        <p:blipFill>
          <a:blip r:embed="rId3"/>
          <a:stretch>
            <a:fillRect/>
          </a:stretch>
        </p:blipFill>
        <p:spPr>
          <a:xfrm>
            <a:off x="163751" y="972234"/>
            <a:ext cx="3661489" cy="4789289"/>
          </a:xfrm>
          <a:prstGeom prst="rect">
            <a:avLst/>
          </a:prstGeom>
        </p:spPr>
      </p:pic>
    </p:spTree>
    <p:extLst>
      <p:ext uri="{BB962C8B-B14F-4D97-AF65-F5344CB8AC3E}">
        <p14:creationId xmlns:p14="http://schemas.microsoft.com/office/powerpoint/2010/main" val="28983705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11465"/>
            <a:ext cx="7291740" cy="523220"/>
          </a:xfrm>
          <a:prstGeom prst="rect">
            <a:avLst/>
          </a:prstGeom>
          <a:noFill/>
        </p:spPr>
        <p:txBody>
          <a:bodyPr wrap="none">
            <a:spAutoFit/>
          </a:bodyPr>
          <a:lstStyle/>
          <a:p>
            <a:pPr>
              <a:defRPr sz="2800" b="1">
                <a:latin typeface="Times New Roman"/>
              </a:defRPr>
            </a:pPr>
            <a:r>
              <a:rPr lang="en-US" altLang="ja-JP" dirty="0"/>
              <a:t>UML and Java Implementation for Scenario-4</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
        <p:nvSpPr>
          <p:cNvPr id="7" name="TextBox 6">
            <a:extLst>
              <a:ext uri="{FF2B5EF4-FFF2-40B4-BE49-F238E27FC236}">
                <a16:creationId xmlns:a16="http://schemas.microsoft.com/office/drawing/2014/main" id="{175400E8-D62E-D771-90E2-4AE4A7245BEE}"/>
              </a:ext>
            </a:extLst>
          </p:cNvPr>
          <p:cNvSpPr txBox="1"/>
          <p:nvPr/>
        </p:nvSpPr>
        <p:spPr>
          <a:xfrm>
            <a:off x="609600" y="1056043"/>
            <a:ext cx="4526280" cy="4524315"/>
          </a:xfrm>
          <a:prstGeom prst="rect">
            <a:avLst/>
          </a:prstGeom>
          <a:noFill/>
        </p:spPr>
        <p:txBody>
          <a:bodyPr wrap="square" rtlCol="0">
            <a:spAutoFit/>
          </a:bodyPr>
          <a:lstStyle/>
          <a:p>
            <a:r>
              <a:rPr lang="en-US" altLang="ja-JP" dirty="0" err="1"/>
              <a:t>Adminstrator</a:t>
            </a:r>
            <a:r>
              <a:rPr lang="en-US" altLang="ja-JP" dirty="0"/>
              <a:t>:</a:t>
            </a:r>
          </a:p>
          <a:p>
            <a:endParaRPr kumimoji="1" lang="en-US" altLang="ja-JP" dirty="0">
              <a:latin typeface="Times New Roman" panose="02020603050405020304" pitchFamily="18" charset="0"/>
              <a:cs typeface="Times New Roman" panose="02020603050405020304" pitchFamily="18" charset="0"/>
            </a:endParaRPr>
          </a:p>
          <a:p>
            <a:r>
              <a:rPr kumimoji="1" lang="en-US" altLang="ja-JP" dirty="0">
                <a:latin typeface="Times New Roman" panose="02020603050405020304" pitchFamily="18" charset="0"/>
                <a:cs typeface="Times New Roman" panose="02020603050405020304" pitchFamily="18" charset="0"/>
              </a:rPr>
              <a:t>class Administrator extends Approver{public void approve(double amount){</a:t>
            </a:r>
            <a:r>
              <a:rPr kumimoji="1" lang="en-US" altLang="ja-JP" dirty="0" err="1">
                <a:latin typeface="Times New Roman" panose="02020603050405020304" pitchFamily="18" charset="0"/>
                <a:cs typeface="Times New Roman" panose="02020603050405020304" pitchFamily="18" charset="0"/>
              </a:rPr>
              <a:t>System.out.println</a:t>
            </a:r>
            <a:r>
              <a:rPr kumimoji="1" lang="en-US" altLang="ja-JP" dirty="0">
                <a:latin typeface="Times New Roman" panose="02020603050405020304" pitchFamily="18" charset="0"/>
                <a:cs typeface="Times New Roman" panose="02020603050405020304" pitchFamily="18" charset="0"/>
              </a:rPr>
              <a:t>("Administrator approved request");}}</a:t>
            </a:r>
          </a:p>
          <a:p>
            <a:endParaRPr kumimoji="1" lang="en-US" altLang="ja-JP" dirty="0">
              <a:latin typeface="Times New Roman" panose="02020603050405020304" pitchFamily="18" charset="0"/>
              <a:cs typeface="Times New Roman" panose="02020603050405020304" pitchFamily="18" charset="0"/>
            </a:endParaRPr>
          </a:p>
          <a:p>
            <a:r>
              <a:rPr kumimoji="1" lang="en-US" altLang="ja-JP" dirty="0">
                <a:latin typeface="Times New Roman" panose="02020603050405020304" pitchFamily="18" charset="0"/>
                <a:cs typeface="Times New Roman" panose="02020603050405020304" pitchFamily="18" charset="0"/>
              </a:rPr>
              <a:t>Main:</a:t>
            </a:r>
          </a:p>
          <a:p>
            <a:r>
              <a:rPr kumimoji="1" lang="en-US" altLang="ja-JP" dirty="0">
                <a:latin typeface="Times New Roman" panose="02020603050405020304" pitchFamily="18" charset="0"/>
                <a:cs typeface="Times New Roman" panose="02020603050405020304" pitchFamily="18" charset="0"/>
              </a:rPr>
              <a:t>public class </a:t>
            </a:r>
            <a:r>
              <a:rPr kumimoji="1" lang="en-US" altLang="ja-JP" dirty="0" err="1">
                <a:latin typeface="Times New Roman" panose="02020603050405020304" pitchFamily="18" charset="0"/>
                <a:cs typeface="Times New Roman" panose="02020603050405020304" pitchFamily="18" charset="0"/>
              </a:rPr>
              <a:t>CampusTransport</a:t>
            </a:r>
            <a:r>
              <a:rPr kumimoji="1" lang="en-US" altLang="ja-JP" dirty="0">
                <a:latin typeface="Times New Roman" panose="02020603050405020304" pitchFamily="18" charset="0"/>
                <a:cs typeface="Times New Roman" panose="02020603050405020304" pitchFamily="18" charset="0"/>
              </a:rPr>
              <a:t>{public static void main(String </a:t>
            </a:r>
            <a:r>
              <a:rPr kumimoji="1" lang="en-US" altLang="ja-JP" dirty="0" err="1">
                <a:latin typeface="Times New Roman" panose="02020603050405020304" pitchFamily="18" charset="0"/>
                <a:cs typeface="Times New Roman" panose="02020603050405020304" pitchFamily="18" charset="0"/>
              </a:rPr>
              <a:t>args</a:t>
            </a:r>
            <a:r>
              <a:rPr kumimoji="1" lang="en-US" altLang="ja-JP" dirty="0">
                <a:latin typeface="Times New Roman" panose="02020603050405020304" pitchFamily="18" charset="0"/>
                <a:cs typeface="Times New Roman" panose="02020603050405020304" pitchFamily="18" charset="0"/>
              </a:rPr>
              <a:t>[]){Approver assistant=new Assistant();Approver manager=new Manager();Approver admin=new Administrator();</a:t>
            </a:r>
            <a:r>
              <a:rPr kumimoji="1" lang="en-US" altLang="ja-JP" dirty="0" err="1">
                <a:latin typeface="Times New Roman" panose="02020603050405020304" pitchFamily="18" charset="0"/>
                <a:cs typeface="Times New Roman" panose="02020603050405020304" pitchFamily="18" charset="0"/>
              </a:rPr>
              <a:t>assistant.setNext</a:t>
            </a:r>
            <a:r>
              <a:rPr kumimoji="1" lang="en-US" altLang="ja-JP" dirty="0">
                <a:latin typeface="Times New Roman" panose="02020603050405020304" pitchFamily="18" charset="0"/>
                <a:cs typeface="Times New Roman" panose="02020603050405020304" pitchFamily="18" charset="0"/>
              </a:rPr>
              <a:t>(manager);</a:t>
            </a:r>
            <a:r>
              <a:rPr kumimoji="1" lang="en-US" altLang="ja-JP" dirty="0" err="1">
                <a:latin typeface="Times New Roman" panose="02020603050405020304" pitchFamily="18" charset="0"/>
                <a:cs typeface="Times New Roman" panose="02020603050405020304" pitchFamily="18" charset="0"/>
              </a:rPr>
              <a:t>manager.setNext</a:t>
            </a:r>
            <a:r>
              <a:rPr kumimoji="1" lang="en-US" altLang="ja-JP" dirty="0">
                <a:latin typeface="Times New Roman" panose="02020603050405020304" pitchFamily="18" charset="0"/>
                <a:cs typeface="Times New Roman" panose="02020603050405020304" pitchFamily="18" charset="0"/>
              </a:rPr>
              <a:t>(admin);</a:t>
            </a:r>
            <a:r>
              <a:rPr kumimoji="1" lang="en-US" altLang="ja-JP" dirty="0" err="1">
                <a:latin typeface="Times New Roman" panose="02020603050405020304" pitchFamily="18" charset="0"/>
                <a:cs typeface="Times New Roman" panose="02020603050405020304" pitchFamily="18" charset="0"/>
              </a:rPr>
              <a:t>assistant.approve</a:t>
            </a:r>
            <a:r>
              <a:rPr kumimoji="1" lang="en-US" altLang="ja-JP" dirty="0">
                <a:latin typeface="Times New Roman" panose="02020603050405020304" pitchFamily="18" charset="0"/>
                <a:cs typeface="Times New Roman" panose="02020603050405020304" pitchFamily="18" charset="0"/>
              </a:rPr>
              <a:t>(7000);}}</a:t>
            </a:r>
            <a:endParaRPr kumimoji="1" lang="ja-JP" alt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02D80C2-8B9D-1882-3B64-0F5B3F38D29A}"/>
              </a:ext>
            </a:extLst>
          </p:cNvPr>
          <p:cNvSpPr txBox="1"/>
          <p:nvPr/>
        </p:nvSpPr>
        <p:spPr>
          <a:xfrm>
            <a:off x="5166360" y="1056043"/>
            <a:ext cx="6720840" cy="646331"/>
          </a:xfrm>
          <a:prstGeom prst="rect">
            <a:avLst/>
          </a:prstGeom>
          <a:noFill/>
        </p:spPr>
        <p:txBody>
          <a:bodyPr wrap="square" rtlCol="0">
            <a:spAutoFit/>
          </a:bodyPr>
          <a:lstStyle/>
          <a:p>
            <a:r>
              <a:rPr kumimoji="1" lang="en-US" altLang="ja-JP" b="1" dirty="0"/>
              <a:t>Output:</a:t>
            </a:r>
          </a:p>
          <a:p>
            <a:r>
              <a:rPr kumimoji="1" lang="en-US" altLang="ja-JP" dirty="0"/>
              <a:t>Administrator approved request</a:t>
            </a:r>
            <a:endParaRPr kumimoji="1" lang="ja-JP" altLang="en-US" dirty="0"/>
          </a:p>
        </p:txBody>
      </p:sp>
    </p:spTree>
    <p:extLst>
      <p:ext uri="{BB962C8B-B14F-4D97-AF65-F5344CB8AC3E}">
        <p14:creationId xmlns:p14="http://schemas.microsoft.com/office/powerpoint/2010/main" val="1566161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C38803CB-FB06-B31A-28F8-7BAAB2E796FE}"/>
              </a:ext>
            </a:extLst>
          </p:cNvPr>
          <p:cNvGraphicFramePr>
            <a:graphicFrameLocks noGrp="1"/>
          </p:cNvGraphicFramePr>
          <p:nvPr>
            <p:extLst>
              <p:ext uri="{D42A27DB-BD31-4B8C-83A1-F6EECF244321}">
                <p14:modId xmlns:p14="http://schemas.microsoft.com/office/powerpoint/2010/main" val="170890139"/>
              </p:ext>
            </p:extLst>
          </p:nvPr>
        </p:nvGraphicFramePr>
        <p:xfrm>
          <a:off x="335280" y="365442"/>
          <a:ext cx="8229600" cy="2286000"/>
        </p:xfrm>
        <a:graphic>
          <a:graphicData uri="http://schemas.openxmlformats.org/drawingml/2006/table">
            <a:tbl>
              <a:tblPr>
                <a:tableStyleId>{B301B821-A1FF-4177-AEE7-76D212191A09}</a:tableStyleId>
              </a:tblPr>
              <a:tblGrid>
                <a:gridCol w="2743200">
                  <a:extLst>
                    <a:ext uri="{9D8B030D-6E8A-4147-A177-3AD203B41FA5}">
                      <a16:colId xmlns:a16="http://schemas.microsoft.com/office/drawing/2014/main" val="3065160710"/>
                    </a:ext>
                  </a:extLst>
                </a:gridCol>
                <a:gridCol w="2743200">
                  <a:extLst>
                    <a:ext uri="{9D8B030D-6E8A-4147-A177-3AD203B41FA5}">
                      <a16:colId xmlns:a16="http://schemas.microsoft.com/office/drawing/2014/main" val="1609244398"/>
                    </a:ext>
                  </a:extLst>
                </a:gridCol>
                <a:gridCol w="2743200">
                  <a:extLst>
                    <a:ext uri="{9D8B030D-6E8A-4147-A177-3AD203B41FA5}">
                      <a16:colId xmlns:a16="http://schemas.microsoft.com/office/drawing/2014/main" val="1504101623"/>
                    </a:ext>
                  </a:extLst>
                </a:gridCol>
              </a:tblGrid>
              <a:tr h="0">
                <a:tc>
                  <a:txBody>
                    <a:bodyPr/>
                    <a:lstStyle/>
                    <a:p>
                      <a:r>
                        <a:rPr lang="en-US"/>
                        <a:t>System</a:t>
                      </a:r>
                    </a:p>
                  </a:txBody>
                  <a:tcPr anchor="ctr"/>
                </a:tc>
                <a:tc>
                  <a:txBody>
                    <a:bodyPr/>
                    <a:lstStyle/>
                    <a:p>
                      <a:r>
                        <a:rPr lang="en-US"/>
                        <a:t>Scenario</a:t>
                      </a:r>
                    </a:p>
                  </a:txBody>
                  <a:tcPr anchor="ctr"/>
                </a:tc>
                <a:tc>
                  <a:txBody>
                    <a:bodyPr/>
                    <a:lstStyle/>
                    <a:p>
                      <a:r>
                        <a:rPr lang="en-US"/>
                        <a:t>Behavioral Pattern</a:t>
                      </a:r>
                    </a:p>
                  </a:txBody>
                  <a:tcPr anchor="ctr"/>
                </a:tc>
                <a:extLst>
                  <a:ext uri="{0D108BD9-81ED-4DB2-BD59-A6C34878D82A}">
                    <a16:rowId xmlns:a16="http://schemas.microsoft.com/office/drawing/2014/main" val="3285246885"/>
                  </a:ext>
                </a:extLst>
              </a:tr>
              <a:tr h="0">
                <a:tc>
                  <a:txBody>
                    <a:bodyPr/>
                    <a:lstStyle/>
                    <a:p>
                      <a:r>
                        <a:rPr lang="en-US"/>
                        <a:t>Dhaka Urban Management System</a:t>
                      </a:r>
                    </a:p>
                  </a:txBody>
                  <a:tcPr anchor="ctr"/>
                </a:tc>
                <a:tc>
                  <a:txBody>
                    <a:bodyPr/>
                    <a:lstStyle/>
                    <a:p>
                      <a:r>
                        <a:rPr lang="en-US"/>
                        <a:t>Complaint status notification</a:t>
                      </a:r>
                    </a:p>
                  </a:txBody>
                  <a:tcPr anchor="ctr"/>
                </a:tc>
                <a:tc>
                  <a:txBody>
                    <a:bodyPr/>
                    <a:lstStyle/>
                    <a:p>
                      <a:r>
                        <a:rPr lang="en-US"/>
                        <a:t>Observer Pattern</a:t>
                      </a:r>
                    </a:p>
                  </a:txBody>
                  <a:tcPr anchor="ctr"/>
                </a:tc>
                <a:extLst>
                  <a:ext uri="{0D108BD9-81ED-4DB2-BD59-A6C34878D82A}">
                    <a16:rowId xmlns:a16="http://schemas.microsoft.com/office/drawing/2014/main" val="401627545"/>
                  </a:ext>
                </a:extLst>
              </a:tr>
              <a:tr h="0">
                <a:tc>
                  <a:txBody>
                    <a:bodyPr/>
                    <a:lstStyle/>
                    <a:p>
                      <a:r>
                        <a:rPr lang="en-US"/>
                        <a:t>Agricultural Automation System</a:t>
                      </a:r>
                    </a:p>
                  </a:txBody>
                  <a:tcPr anchor="ctr"/>
                </a:tc>
                <a:tc>
                  <a:txBody>
                    <a:bodyPr/>
                    <a:lstStyle/>
                    <a:p>
                      <a:r>
                        <a:rPr lang="en-US"/>
                        <a:t>Irrigation algorithm selection</a:t>
                      </a:r>
                    </a:p>
                  </a:txBody>
                  <a:tcPr anchor="ctr"/>
                </a:tc>
                <a:tc>
                  <a:txBody>
                    <a:bodyPr/>
                    <a:lstStyle/>
                    <a:p>
                      <a:r>
                        <a:rPr lang="en-US"/>
                        <a:t>Strategy Pattern</a:t>
                      </a:r>
                    </a:p>
                  </a:txBody>
                  <a:tcPr anchor="ctr"/>
                </a:tc>
                <a:extLst>
                  <a:ext uri="{0D108BD9-81ED-4DB2-BD59-A6C34878D82A}">
                    <a16:rowId xmlns:a16="http://schemas.microsoft.com/office/drawing/2014/main" val="3366622950"/>
                  </a:ext>
                </a:extLst>
              </a:tr>
              <a:tr h="0">
                <a:tc>
                  <a:txBody>
                    <a:bodyPr/>
                    <a:lstStyle/>
                    <a:p>
                      <a:r>
                        <a:rPr lang="en-US"/>
                        <a:t>Smart Campus Transportation System</a:t>
                      </a:r>
                    </a:p>
                  </a:txBody>
                  <a:tcPr anchor="ctr"/>
                </a:tc>
                <a:tc>
                  <a:txBody>
                    <a:bodyPr/>
                    <a:lstStyle/>
                    <a:p>
                      <a:r>
                        <a:rPr lang="en-US"/>
                        <a:t>Transport approval workflow</a:t>
                      </a:r>
                    </a:p>
                  </a:txBody>
                  <a:tcPr anchor="ctr"/>
                </a:tc>
                <a:tc>
                  <a:txBody>
                    <a:bodyPr/>
                    <a:lstStyle/>
                    <a:p>
                      <a:r>
                        <a:rPr lang="en-US" dirty="0"/>
                        <a:t>Chain of Responsibility Pattern</a:t>
                      </a:r>
                    </a:p>
                  </a:txBody>
                  <a:tcPr anchor="ctr"/>
                </a:tc>
                <a:extLst>
                  <a:ext uri="{0D108BD9-81ED-4DB2-BD59-A6C34878D82A}">
                    <a16:rowId xmlns:a16="http://schemas.microsoft.com/office/drawing/2014/main" val="3579093293"/>
                  </a:ext>
                </a:extLst>
              </a:tr>
            </a:tbl>
          </a:graphicData>
        </a:graphic>
      </p:graphicFrame>
      <p:sp>
        <p:nvSpPr>
          <p:cNvPr id="9" name="TextBox 8">
            <a:extLst>
              <a:ext uri="{FF2B5EF4-FFF2-40B4-BE49-F238E27FC236}">
                <a16:creationId xmlns:a16="http://schemas.microsoft.com/office/drawing/2014/main" id="{F8D1FB00-E37C-C2EB-813F-E1DE24225DD6}"/>
              </a:ext>
            </a:extLst>
          </p:cNvPr>
          <p:cNvSpPr txBox="1"/>
          <p:nvPr/>
        </p:nvSpPr>
        <p:spPr>
          <a:xfrm>
            <a:off x="182880" y="3089000"/>
            <a:ext cx="9860280" cy="1754326"/>
          </a:xfrm>
          <a:prstGeom prst="rect">
            <a:avLst/>
          </a:prstGeom>
          <a:noFill/>
        </p:spPr>
        <p:txBody>
          <a:bodyPr wrap="square">
            <a:spAutoFit/>
          </a:bodyPr>
          <a:lstStyle/>
          <a:p>
            <a:r>
              <a:rPr lang="en-US" altLang="ja-JP" dirty="0"/>
              <a:t>These three questions together cover three major behavioral patterns:</a:t>
            </a:r>
          </a:p>
          <a:p>
            <a:pPr>
              <a:buFont typeface="+mj-lt"/>
              <a:buAutoNum type="arabicPeriod"/>
            </a:pPr>
            <a:r>
              <a:rPr lang="en-US" altLang="ja-JP" b="1" dirty="0"/>
              <a:t>Observer → Object communication</a:t>
            </a:r>
            <a:r>
              <a:rPr lang="en-US" altLang="ja-JP" dirty="0"/>
              <a:t> </a:t>
            </a:r>
          </a:p>
          <a:p>
            <a:pPr>
              <a:buFont typeface="+mj-lt"/>
              <a:buAutoNum type="arabicPeriod"/>
            </a:pPr>
            <a:r>
              <a:rPr lang="en-US" altLang="ja-JP" b="1" dirty="0"/>
              <a:t>Strategy → Algorithm selection</a:t>
            </a:r>
            <a:r>
              <a:rPr lang="en-US" altLang="ja-JP" dirty="0"/>
              <a:t> </a:t>
            </a:r>
          </a:p>
          <a:p>
            <a:pPr>
              <a:buFont typeface="+mj-lt"/>
              <a:buAutoNum type="arabicPeriod"/>
            </a:pPr>
            <a:r>
              <a:rPr lang="en-US" altLang="ja-JP" b="1" dirty="0"/>
              <a:t>Chain of Responsibility → Request processing workflow</a:t>
            </a:r>
            <a:r>
              <a:rPr lang="en-US" altLang="ja-JP" dirty="0"/>
              <a:t> </a:t>
            </a:r>
          </a:p>
          <a:p>
            <a:r>
              <a:rPr lang="en-US" altLang="ja-JP" dirty="0"/>
              <a:t>They are appropriate for an Object-Oriented Design Pattern Lab exam because students can identify the pattern from the real-world scenario and implement it using Java.</a:t>
            </a:r>
          </a:p>
        </p:txBody>
      </p:sp>
    </p:spTree>
    <p:extLst>
      <p:ext uri="{BB962C8B-B14F-4D97-AF65-F5344CB8AC3E}">
        <p14:creationId xmlns:p14="http://schemas.microsoft.com/office/powerpoint/2010/main" val="4268302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3767313" cy="523220"/>
          </a:xfrm>
          <a:prstGeom prst="rect">
            <a:avLst/>
          </a:prstGeom>
          <a:noFill/>
        </p:spPr>
        <p:txBody>
          <a:bodyPr wrap="none">
            <a:spAutoFit/>
          </a:bodyPr>
          <a:lstStyle/>
          <a:p>
            <a:pPr>
              <a:defRPr sz="2800" b="1">
                <a:latin typeface="Times New Roman"/>
              </a:defRPr>
            </a:pPr>
            <a:r>
              <a:rPr lang="en-US" dirty="0"/>
              <a:t>Other Pattern Scenario</a:t>
            </a:r>
            <a:endParaRPr dirty="0"/>
          </a:p>
        </p:txBody>
      </p:sp>
      <p:sp>
        <p:nvSpPr>
          <p:cNvPr id="3" name="TextBox 2"/>
          <p:cNvSpPr txBox="1"/>
          <p:nvPr/>
        </p:nvSpPr>
        <p:spPr>
          <a:xfrm>
            <a:off x="228600" y="914400"/>
            <a:ext cx="10972800" cy="5078313"/>
          </a:xfrm>
          <a:prstGeom prst="rect">
            <a:avLst/>
          </a:prstGeom>
          <a:noFill/>
        </p:spPr>
        <p:txBody>
          <a:bodyPr wrap="square">
            <a:spAutoFit/>
          </a:bodyPr>
          <a:lstStyle/>
          <a:p>
            <a:r>
              <a:rPr lang="en-US" altLang="ja-JP" b="1" dirty="0"/>
              <a:t>Observer </a:t>
            </a:r>
            <a:r>
              <a:rPr lang="en-US" altLang="ja-JP" b="1" dirty="0" err="1"/>
              <a:t>Patttern</a:t>
            </a:r>
            <a:r>
              <a:rPr lang="en-US" altLang="ja-JP" b="1" dirty="0"/>
              <a:t> Scenario:</a:t>
            </a:r>
          </a:p>
          <a:p>
            <a:r>
              <a:rPr lang="en-US" altLang="ja-JP" dirty="0"/>
              <a:t>In the Dhaka Urban Management System, citizens can submit complaints regarding waste collection, traffic problems, water supply, and emergency services.</a:t>
            </a:r>
          </a:p>
          <a:p>
            <a:r>
              <a:rPr lang="en-US" altLang="ja-JP" dirty="0"/>
              <a:t>Whenever the complaint status changes (e.g., Submitted → Processing → Completed), multiple users should automatically receive updates:</a:t>
            </a:r>
          </a:p>
          <a:p>
            <a:pPr>
              <a:buFont typeface="Arial" panose="020B0604020202020204" pitchFamily="34" charset="0"/>
              <a:buChar char="•"/>
            </a:pPr>
            <a:r>
              <a:rPr lang="en-US" altLang="ja-JP" dirty="0"/>
              <a:t>Citizen receives notification about complaint progress. </a:t>
            </a:r>
          </a:p>
          <a:p>
            <a:pPr>
              <a:buFont typeface="Arial" panose="020B0604020202020204" pitchFamily="34" charset="0"/>
              <a:buChar char="•"/>
            </a:pPr>
            <a:r>
              <a:rPr lang="en-US" altLang="ja-JP" dirty="0"/>
              <a:t>Responsible department officer receives task updates. </a:t>
            </a:r>
          </a:p>
          <a:p>
            <a:pPr>
              <a:buFont typeface="Arial" panose="020B0604020202020204" pitchFamily="34" charset="0"/>
              <a:buChar char="•"/>
            </a:pPr>
            <a:r>
              <a:rPr lang="en-US" altLang="ja-JP" dirty="0"/>
              <a:t>City administrator receives monitoring information. </a:t>
            </a:r>
          </a:p>
          <a:p>
            <a:r>
              <a:rPr lang="en-US" altLang="ja-JP" dirty="0"/>
              <a:t>The complaint management system should notify all registered users automatically without modifying the complaint class whenever a new type of user is added.</a:t>
            </a:r>
          </a:p>
          <a:p>
            <a:r>
              <a:rPr lang="en-US" altLang="ja-JP" b="1" dirty="0"/>
              <a:t>Requirement:</a:t>
            </a:r>
          </a:p>
          <a:p>
            <a:r>
              <a:rPr lang="en-US" altLang="ja-JP" b="1" dirty="0"/>
              <a:t>What problem does the Observer Design Pattern solve? Explain how the Observer Pattern can be applied in the Dhaka Urban Management System. Draw the supporting UML diagram and implement the solution.</a:t>
            </a:r>
          </a:p>
          <a:p>
            <a:r>
              <a:rPr lang="en-US" altLang="ja-JP" b="1" dirty="0"/>
              <a:t>Expected Pattern: Observer Pattern</a:t>
            </a:r>
            <a:endParaRPr lang="en-US" altLang="ja-JP" dirty="0"/>
          </a:p>
          <a:p>
            <a:r>
              <a:rPr lang="en-US" altLang="ja-JP" b="1" dirty="0"/>
              <a:t>Concept:</a:t>
            </a:r>
          </a:p>
          <a:p>
            <a:r>
              <a:rPr lang="en-US" altLang="ja-JP" dirty="0"/>
              <a:t>One object (Subject) maintains a list of dependent objects (Observers) and automatically notifies them when its state changes.</a:t>
            </a:r>
          </a:p>
          <a:p>
            <a:endParaRPr lang="en-US" altLang="ja-JP"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Tree>
    <p:extLst>
      <p:ext uri="{BB962C8B-B14F-4D97-AF65-F5344CB8AC3E}">
        <p14:creationId xmlns:p14="http://schemas.microsoft.com/office/powerpoint/2010/main" val="3734222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3767313" cy="523220"/>
          </a:xfrm>
          <a:prstGeom prst="rect">
            <a:avLst/>
          </a:prstGeom>
          <a:noFill/>
        </p:spPr>
        <p:txBody>
          <a:bodyPr wrap="none">
            <a:spAutoFit/>
          </a:bodyPr>
          <a:lstStyle/>
          <a:p>
            <a:pPr>
              <a:defRPr sz="2800" b="1">
                <a:latin typeface="Times New Roman"/>
              </a:defRPr>
            </a:pPr>
            <a:r>
              <a:rPr lang="en-US" dirty="0"/>
              <a:t>Other Pattern Scenario</a:t>
            </a:r>
            <a:endParaRPr dirty="0"/>
          </a:p>
        </p:txBody>
      </p:sp>
      <p:sp>
        <p:nvSpPr>
          <p:cNvPr id="3" name="TextBox 2"/>
          <p:cNvSpPr txBox="1"/>
          <p:nvPr/>
        </p:nvSpPr>
        <p:spPr>
          <a:xfrm>
            <a:off x="228600" y="914400"/>
            <a:ext cx="10972800" cy="3693319"/>
          </a:xfrm>
          <a:prstGeom prst="rect">
            <a:avLst/>
          </a:prstGeom>
          <a:noFill/>
        </p:spPr>
        <p:txBody>
          <a:bodyPr wrap="square">
            <a:spAutoFit/>
          </a:bodyPr>
          <a:lstStyle/>
          <a:p>
            <a:r>
              <a:rPr lang="en-US" altLang="ja-JP" b="1" dirty="0"/>
              <a:t>Strategy Pattern </a:t>
            </a:r>
          </a:p>
          <a:p>
            <a:r>
              <a:rPr lang="en-US" altLang="ja-JP" b="1" dirty="0"/>
              <a:t>Agricultural Automation System (AAS)</a:t>
            </a:r>
          </a:p>
          <a:p>
            <a:r>
              <a:rPr lang="en-US" altLang="ja-JP" b="1" dirty="0" err="1"/>
              <a:t>Scenario:An</a:t>
            </a:r>
            <a:r>
              <a:rPr lang="en-US" altLang="ja-JP" b="1" dirty="0"/>
              <a:t> Agricultural Automation System controls irrigation based on different farming </a:t>
            </a:r>
            <a:r>
              <a:rPr lang="en-US" altLang="ja-JP" b="1" dirty="0" err="1"/>
              <a:t>conditions.The</a:t>
            </a:r>
            <a:r>
              <a:rPr lang="en-US" altLang="ja-JP" b="1" dirty="0"/>
              <a:t> irrigation controller supports different irrigation </a:t>
            </a:r>
            <a:r>
              <a:rPr lang="en-US" altLang="ja-JP" b="1" dirty="0" err="1"/>
              <a:t>strategies:Normal</a:t>
            </a:r>
            <a:r>
              <a:rPr lang="en-US" altLang="ja-JP" b="1" dirty="0"/>
              <a:t> irrigation during regular weather </a:t>
            </a:r>
            <a:r>
              <a:rPr lang="en-US" altLang="ja-JP" b="1" dirty="0" err="1"/>
              <a:t>conditions.Water</a:t>
            </a:r>
            <a:r>
              <a:rPr lang="en-US" altLang="ja-JP" b="1" dirty="0"/>
              <a:t>-saving irrigation during water </a:t>
            </a:r>
            <a:r>
              <a:rPr lang="en-US" altLang="ja-JP" b="1" dirty="0" err="1"/>
              <a:t>shortage.Emergency</a:t>
            </a:r>
            <a:r>
              <a:rPr lang="en-US" altLang="ja-JP" b="1" dirty="0"/>
              <a:t> irrigation during drought </a:t>
            </a:r>
            <a:r>
              <a:rPr lang="en-US" altLang="ja-JP" b="1" dirty="0" err="1"/>
              <a:t>situations.The</a:t>
            </a:r>
            <a:r>
              <a:rPr lang="en-US" altLang="ja-JP" b="1" dirty="0"/>
              <a:t> system should allow farmers to change the irrigation strategy dynamically without modifying the irrigation controller </a:t>
            </a:r>
            <a:r>
              <a:rPr lang="en-US" altLang="ja-JP" b="1" dirty="0" err="1"/>
              <a:t>code.Requirement:What</a:t>
            </a:r>
            <a:r>
              <a:rPr lang="en-US" altLang="ja-JP" b="1" dirty="0"/>
              <a:t> problem does the Strategy Design Pattern solve? Explain how the Strategy Pattern can be used for dynamic irrigation decision-making in the Agricultural Automation System. Draw the supporting UML diagram and implement the solution.</a:t>
            </a:r>
          </a:p>
          <a:p>
            <a:endParaRPr lang="en-US" altLang="ja-JP" b="1" dirty="0"/>
          </a:p>
          <a:p>
            <a:r>
              <a:rPr lang="en-US" altLang="ja-JP" b="1" dirty="0"/>
              <a:t>Expected </a:t>
            </a:r>
            <a:r>
              <a:rPr lang="en-US" altLang="ja-JP" b="1" dirty="0" err="1"/>
              <a:t>Pattern:Strategy</a:t>
            </a:r>
            <a:r>
              <a:rPr lang="en-US" altLang="ja-JP" b="1" dirty="0"/>
              <a:t> Pattern</a:t>
            </a:r>
          </a:p>
          <a:p>
            <a:endParaRPr lang="en-US" altLang="ja-JP" b="1" dirty="0"/>
          </a:p>
          <a:p>
            <a:r>
              <a:rPr lang="en-US" altLang="ja-JP" b="1" dirty="0" err="1"/>
              <a:t>Concept:Encapsulates</a:t>
            </a:r>
            <a:r>
              <a:rPr lang="en-US" altLang="ja-JP" b="1" dirty="0"/>
              <a:t> different algorithms and allows them to be exchanged at runtime.</a:t>
            </a:r>
            <a:endParaRPr lang="en-US" altLang="ja-JP"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Tree>
    <p:extLst>
      <p:ext uri="{BB962C8B-B14F-4D97-AF65-F5344CB8AC3E}">
        <p14:creationId xmlns:p14="http://schemas.microsoft.com/office/powerpoint/2010/main" val="1776496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3767313" cy="523220"/>
          </a:xfrm>
          <a:prstGeom prst="rect">
            <a:avLst/>
          </a:prstGeom>
          <a:noFill/>
        </p:spPr>
        <p:txBody>
          <a:bodyPr wrap="none">
            <a:spAutoFit/>
          </a:bodyPr>
          <a:lstStyle/>
          <a:p>
            <a:pPr>
              <a:defRPr sz="2800" b="1">
                <a:latin typeface="Times New Roman"/>
              </a:defRPr>
            </a:pPr>
            <a:r>
              <a:rPr lang="en-US" dirty="0"/>
              <a:t>Other Pattern Scenario</a:t>
            </a:r>
            <a:endParaRPr dirty="0"/>
          </a:p>
        </p:txBody>
      </p:sp>
      <p:sp>
        <p:nvSpPr>
          <p:cNvPr id="3" name="TextBox 2"/>
          <p:cNvSpPr txBox="1"/>
          <p:nvPr/>
        </p:nvSpPr>
        <p:spPr>
          <a:xfrm>
            <a:off x="228600" y="914400"/>
            <a:ext cx="10972800" cy="4247317"/>
          </a:xfrm>
          <a:prstGeom prst="rect">
            <a:avLst/>
          </a:prstGeom>
          <a:noFill/>
        </p:spPr>
        <p:txBody>
          <a:bodyPr wrap="square">
            <a:spAutoFit/>
          </a:bodyPr>
          <a:lstStyle/>
          <a:p>
            <a:r>
              <a:rPr lang="en-US" altLang="ja-JP" b="1" dirty="0"/>
              <a:t>Command Pattern</a:t>
            </a:r>
          </a:p>
          <a:p>
            <a:endParaRPr lang="en-US" altLang="ja-JP" b="1" dirty="0"/>
          </a:p>
          <a:p>
            <a:r>
              <a:rPr lang="en-US" altLang="ja-JP" b="1" dirty="0"/>
              <a:t>Smart Food Management System</a:t>
            </a:r>
          </a:p>
          <a:p>
            <a:endParaRPr lang="en-US" altLang="ja-JP" b="1" dirty="0"/>
          </a:p>
          <a:p>
            <a:r>
              <a:rPr lang="en-US" altLang="ja-JP" b="1" dirty="0" err="1"/>
              <a:t>Scenario:A</a:t>
            </a:r>
            <a:r>
              <a:rPr lang="en-US" altLang="ja-JP" b="1" dirty="0"/>
              <a:t> Smart Food Management System provides an online food ordering </a:t>
            </a:r>
            <a:r>
              <a:rPr lang="en-US" altLang="ja-JP" b="1" dirty="0" err="1"/>
              <a:t>service.Customers</a:t>
            </a:r>
            <a:r>
              <a:rPr lang="en-US" altLang="ja-JP" b="1" dirty="0"/>
              <a:t> can perform different </a:t>
            </a:r>
            <a:r>
              <a:rPr lang="en-US" altLang="ja-JP" b="1" dirty="0" err="1"/>
              <a:t>actions:Place</a:t>
            </a:r>
            <a:r>
              <a:rPr lang="en-US" altLang="ja-JP" b="1" dirty="0"/>
              <a:t> food </a:t>
            </a:r>
            <a:r>
              <a:rPr lang="en-US" altLang="ja-JP" b="1" dirty="0" err="1"/>
              <a:t>order.Cancel</a:t>
            </a:r>
            <a:r>
              <a:rPr lang="en-US" altLang="ja-JP" b="1" dirty="0"/>
              <a:t> </a:t>
            </a:r>
            <a:r>
              <a:rPr lang="en-US" altLang="ja-JP" b="1" dirty="0" err="1"/>
              <a:t>order.Modify</a:t>
            </a:r>
            <a:r>
              <a:rPr lang="en-US" altLang="ja-JP" b="1" dirty="0"/>
              <a:t> </a:t>
            </a:r>
            <a:r>
              <a:rPr lang="en-US" altLang="ja-JP" b="1" dirty="0" err="1"/>
              <a:t>order.Track</a:t>
            </a:r>
            <a:r>
              <a:rPr lang="en-US" altLang="ja-JP" b="1" dirty="0"/>
              <a:t> </a:t>
            </a:r>
            <a:r>
              <a:rPr lang="en-US" altLang="ja-JP" b="1" dirty="0" err="1"/>
              <a:t>delivery.The</a:t>
            </a:r>
            <a:r>
              <a:rPr lang="en-US" altLang="ja-JP" b="1" dirty="0"/>
              <a:t> system should store customer requests so that previous operations can be logged, cancelled, or executed </a:t>
            </a:r>
            <a:r>
              <a:rPr lang="en-US" altLang="ja-JP" b="1" dirty="0" err="1"/>
              <a:t>later.The</a:t>
            </a:r>
            <a:r>
              <a:rPr lang="en-US" altLang="ja-JP" b="1" dirty="0"/>
              <a:t> ordering system should allow different commands without directly coupling the customer interface with restaurant </a:t>
            </a:r>
            <a:r>
              <a:rPr lang="en-US" altLang="ja-JP" b="1" dirty="0" err="1"/>
              <a:t>operations.Requirement:What</a:t>
            </a:r>
            <a:r>
              <a:rPr lang="en-US" altLang="ja-JP" b="1" dirty="0"/>
              <a:t> problem does the Command Design Pattern solve? Explain how the Command Pattern can be applied in the Smart Food Management System for handling customer orders. Draw the supporting UML diagram and implement the solution.</a:t>
            </a:r>
          </a:p>
          <a:p>
            <a:endParaRPr lang="en-US" altLang="ja-JP" b="1" dirty="0"/>
          </a:p>
          <a:p>
            <a:r>
              <a:rPr lang="en-US" altLang="ja-JP" b="1" dirty="0"/>
              <a:t>Expected </a:t>
            </a:r>
            <a:r>
              <a:rPr lang="en-US" altLang="ja-JP" b="1" dirty="0" err="1"/>
              <a:t>Pattern:Command</a:t>
            </a:r>
            <a:r>
              <a:rPr lang="en-US" altLang="ja-JP" b="1" dirty="0"/>
              <a:t> Pattern</a:t>
            </a:r>
          </a:p>
          <a:p>
            <a:endParaRPr lang="en-US" altLang="ja-JP" b="1" dirty="0"/>
          </a:p>
          <a:p>
            <a:r>
              <a:rPr lang="en-US" altLang="ja-JP" b="1" dirty="0" err="1"/>
              <a:t>Concept:Encapsulates</a:t>
            </a:r>
            <a:r>
              <a:rPr lang="en-US" altLang="ja-JP" b="1" dirty="0"/>
              <a:t> a request as an object, allowing operations to be stored, queued, logged, or undone.</a:t>
            </a:r>
            <a:endParaRPr lang="en-US" altLang="ja-JP"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Tree>
    <p:extLst>
      <p:ext uri="{BB962C8B-B14F-4D97-AF65-F5344CB8AC3E}">
        <p14:creationId xmlns:p14="http://schemas.microsoft.com/office/powerpoint/2010/main" val="29717525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3767313" cy="523220"/>
          </a:xfrm>
          <a:prstGeom prst="rect">
            <a:avLst/>
          </a:prstGeom>
          <a:noFill/>
        </p:spPr>
        <p:txBody>
          <a:bodyPr wrap="none">
            <a:spAutoFit/>
          </a:bodyPr>
          <a:lstStyle/>
          <a:p>
            <a:pPr>
              <a:defRPr sz="2800" b="1">
                <a:latin typeface="Times New Roman"/>
              </a:defRPr>
            </a:pPr>
            <a:r>
              <a:rPr lang="en-US" dirty="0"/>
              <a:t>Other Pattern Scenario</a:t>
            </a:r>
            <a:endParaRPr dirty="0"/>
          </a:p>
        </p:txBody>
      </p:sp>
      <p:sp>
        <p:nvSpPr>
          <p:cNvPr id="3" name="TextBox 2"/>
          <p:cNvSpPr txBox="1"/>
          <p:nvPr/>
        </p:nvSpPr>
        <p:spPr>
          <a:xfrm>
            <a:off x="228600" y="914400"/>
            <a:ext cx="10972800" cy="3416320"/>
          </a:xfrm>
          <a:prstGeom prst="rect">
            <a:avLst/>
          </a:prstGeom>
          <a:noFill/>
        </p:spPr>
        <p:txBody>
          <a:bodyPr wrap="square">
            <a:spAutoFit/>
          </a:bodyPr>
          <a:lstStyle/>
          <a:p>
            <a:r>
              <a:rPr lang="en-US" altLang="ja-JP" b="1" dirty="0"/>
              <a:t>State Pattern</a:t>
            </a:r>
          </a:p>
          <a:p>
            <a:r>
              <a:rPr lang="en-US" altLang="ja-JP" b="1" dirty="0"/>
              <a:t>Smart Traffic Management System (DUMS Module)</a:t>
            </a:r>
          </a:p>
          <a:p>
            <a:r>
              <a:rPr lang="en-US" altLang="ja-JP" b="1" dirty="0" err="1"/>
              <a:t>Scenario:A</a:t>
            </a:r>
            <a:r>
              <a:rPr lang="en-US" altLang="ja-JP" b="1" dirty="0"/>
              <a:t> Smart Traffic Management System controls traffic signals at different road </a:t>
            </a:r>
            <a:r>
              <a:rPr lang="en-US" altLang="ja-JP" b="1" dirty="0" err="1"/>
              <a:t>intersections.A</a:t>
            </a:r>
            <a:r>
              <a:rPr lang="en-US" altLang="ja-JP" b="1" dirty="0"/>
              <a:t> traffic signal changes its behavior depending on its current </a:t>
            </a:r>
            <a:r>
              <a:rPr lang="en-US" altLang="ja-JP" b="1" dirty="0" err="1"/>
              <a:t>state:Green</a:t>
            </a:r>
            <a:r>
              <a:rPr lang="en-US" altLang="ja-JP" b="1" dirty="0"/>
              <a:t> State → Allow vehicles to </a:t>
            </a:r>
            <a:r>
              <a:rPr lang="en-US" altLang="ja-JP" b="1" dirty="0" err="1"/>
              <a:t>move.Yellow</a:t>
            </a:r>
            <a:r>
              <a:rPr lang="en-US" altLang="ja-JP" b="1" dirty="0"/>
              <a:t> State → Prepare vehicles to </a:t>
            </a:r>
            <a:r>
              <a:rPr lang="en-US" altLang="ja-JP" b="1" dirty="0" err="1"/>
              <a:t>stop.Red</a:t>
            </a:r>
            <a:r>
              <a:rPr lang="en-US" altLang="ja-JP" b="1" dirty="0"/>
              <a:t> State → Stop </a:t>
            </a:r>
            <a:r>
              <a:rPr lang="en-US" altLang="ja-JP" b="1" dirty="0" err="1"/>
              <a:t>vehicles.The</a:t>
            </a:r>
            <a:r>
              <a:rPr lang="en-US" altLang="ja-JP" b="1" dirty="0"/>
              <a:t> behavior of the traffic light should change automatically when its internal state changes without using complex conditional </a:t>
            </a:r>
            <a:r>
              <a:rPr lang="en-US" altLang="ja-JP" b="1" dirty="0" err="1"/>
              <a:t>statements.Requirement:What</a:t>
            </a:r>
            <a:r>
              <a:rPr lang="en-US" altLang="ja-JP" b="1" dirty="0"/>
              <a:t> problem does the State Design Pattern solve? Explain how the State Pattern can be used to model traffic signal behavior in the Smart Traffic Management System. Draw the supporting UML diagram and implement the solution.</a:t>
            </a:r>
          </a:p>
          <a:p>
            <a:endParaRPr lang="en-US" altLang="ja-JP" b="1" dirty="0"/>
          </a:p>
          <a:p>
            <a:r>
              <a:rPr lang="en-US" altLang="ja-JP" b="1" dirty="0"/>
              <a:t>Expected </a:t>
            </a:r>
            <a:r>
              <a:rPr lang="en-US" altLang="ja-JP" b="1" dirty="0" err="1"/>
              <a:t>Pattern:State</a:t>
            </a:r>
            <a:r>
              <a:rPr lang="en-US" altLang="ja-JP" b="1" dirty="0"/>
              <a:t> Pattern</a:t>
            </a:r>
          </a:p>
          <a:p>
            <a:endParaRPr lang="en-US" altLang="ja-JP" b="1" dirty="0"/>
          </a:p>
          <a:p>
            <a:r>
              <a:rPr lang="en-US" altLang="ja-JP" b="1" dirty="0" err="1"/>
              <a:t>Concept:Allows</a:t>
            </a:r>
            <a:r>
              <a:rPr lang="en-US" altLang="ja-JP" b="1" dirty="0"/>
              <a:t> an object to change its behavior when its internal state changes.</a:t>
            </a:r>
            <a:endParaRPr lang="en-US" altLang="ja-JP"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Tree>
    <p:extLst>
      <p:ext uri="{BB962C8B-B14F-4D97-AF65-F5344CB8AC3E}">
        <p14:creationId xmlns:p14="http://schemas.microsoft.com/office/powerpoint/2010/main" val="2365359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3767313" cy="523220"/>
          </a:xfrm>
          <a:prstGeom prst="rect">
            <a:avLst/>
          </a:prstGeom>
          <a:noFill/>
        </p:spPr>
        <p:txBody>
          <a:bodyPr wrap="none">
            <a:spAutoFit/>
          </a:bodyPr>
          <a:lstStyle/>
          <a:p>
            <a:pPr>
              <a:defRPr sz="2800" b="1">
                <a:latin typeface="Times New Roman"/>
              </a:defRPr>
            </a:pPr>
            <a:r>
              <a:rPr lang="en-US" dirty="0"/>
              <a:t>Other Pattern Scenario</a:t>
            </a:r>
            <a:endParaRPr dirty="0"/>
          </a:p>
        </p:txBody>
      </p:sp>
      <p:sp>
        <p:nvSpPr>
          <p:cNvPr id="3" name="TextBox 2"/>
          <p:cNvSpPr txBox="1"/>
          <p:nvPr/>
        </p:nvSpPr>
        <p:spPr>
          <a:xfrm>
            <a:off x="228600" y="914400"/>
            <a:ext cx="10972800" cy="3139321"/>
          </a:xfrm>
          <a:prstGeom prst="rect">
            <a:avLst/>
          </a:prstGeom>
          <a:noFill/>
        </p:spPr>
        <p:txBody>
          <a:bodyPr wrap="square">
            <a:spAutoFit/>
          </a:bodyPr>
          <a:lstStyle/>
          <a:p>
            <a:r>
              <a:rPr lang="en-US" altLang="ja-JP" b="1" dirty="0"/>
              <a:t>Adapter Pattern</a:t>
            </a:r>
          </a:p>
          <a:p>
            <a:endParaRPr lang="en-US" altLang="ja-JP" b="1" dirty="0"/>
          </a:p>
          <a:p>
            <a:r>
              <a:rPr lang="en-US" altLang="ja-JP" b="1" dirty="0"/>
              <a:t>Agricultural Automation System</a:t>
            </a:r>
          </a:p>
          <a:p>
            <a:endParaRPr lang="en-US" altLang="ja-JP" b="1" dirty="0"/>
          </a:p>
          <a:p>
            <a:r>
              <a:rPr lang="en-US" altLang="ja-JP" b="1" dirty="0" err="1"/>
              <a:t>Scenario:A</a:t>
            </a:r>
            <a:r>
              <a:rPr lang="en-US" altLang="ja-JP" b="1" dirty="0"/>
              <a:t> Smart Agricultural Automation System uses an existing irrigation controller that accepts data from a standard soil moisture </a:t>
            </a:r>
            <a:r>
              <a:rPr lang="en-US" altLang="ja-JP" b="1" dirty="0" err="1"/>
              <a:t>sensor.A</a:t>
            </a:r>
            <a:r>
              <a:rPr lang="en-US" altLang="ja-JP" b="1" dirty="0"/>
              <a:t> newly purchased IoT soil sensor provides moisture information using a different interface. The existing irrigation controller cannot directly communicate with this new sensor.</a:t>
            </a:r>
          </a:p>
          <a:p>
            <a:endParaRPr lang="en-US" altLang="ja-JP" b="1" dirty="0"/>
          </a:p>
          <a:p>
            <a:r>
              <a:rPr lang="en-US" altLang="ja-JP" b="1" dirty="0" err="1"/>
              <a:t>Requirement:What</a:t>
            </a:r>
            <a:r>
              <a:rPr lang="en-US" altLang="ja-JP" b="1" dirty="0"/>
              <a:t> problem does the Adapter Design Pattern solve? Explain how the Adapter Pattern can integrate the new IoT soil sensor without modifying the existing irrigation controller. Draw the supporting UML diagram and implement the solution.</a:t>
            </a:r>
            <a:endParaRPr lang="en-US" altLang="ja-JP"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Tree>
    <p:extLst>
      <p:ext uri="{BB962C8B-B14F-4D97-AF65-F5344CB8AC3E}">
        <p14:creationId xmlns:p14="http://schemas.microsoft.com/office/powerpoint/2010/main" val="23672575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2789546" cy="523220"/>
          </a:xfrm>
          <a:prstGeom prst="rect">
            <a:avLst/>
          </a:prstGeom>
          <a:noFill/>
        </p:spPr>
        <p:txBody>
          <a:bodyPr wrap="none">
            <a:spAutoFit/>
          </a:bodyPr>
          <a:lstStyle/>
          <a:p>
            <a:pPr>
              <a:defRPr sz="2800" b="1">
                <a:latin typeface="Times New Roman"/>
              </a:defRPr>
            </a:pPr>
            <a:r>
              <a:rPr lang="en-US" dirty="0"/>
              <a:t>Sample Question</a:t>
            </a:r>
            <a:endParaRPr dirty="0"/>
          </a:p>
        </p:txBody>
      </p:sp>
      <p:sp>
        <p:nvSpPr>
          <p:cNvPr id="3" name="TextBox 2"/>
          <p:cNvSpPr txBox="1"/>
          <p:nvPr/>
        </p:nvSpPr>
        <p:spPr>
          <a:xfrm>
            <a:off x="228600" y="914400"/>
            <a:ext cx="10972800" cy="2031325"/>
          </a:xfrm>
          <a:prstGeom prst="rect">
            <a:avLst/>
          </a:prstGeom>
          <a:noFill/>
        </p:spPr>
        <p:txBody>
          <a:bodyPr wrap="square">
            <a:spAutoFit/>
          </a:bodyPr>
          <a:lstStyle/>
          <a:p>
            <a:r>
              <a:rPr lang="en-US" altLang="ja-JP" dirty="0"/>
              <a:t>What problem does Adapter design pattern solve? Explain with an example and draw supporting UML diagram. </a:t>
            </a:r>
          </a:p>
          <a:p>
            <a:r>
              <a:rPr lang="en-US" altLang="ja-JP" dirty="0"/>
              <a:t> Suppose You are designing a system for money withdrawal from bank account using check with the following authorization scenario:</a:t>
            </a:r>
          </a:p>
          <a:p>
            <a:pPr>
              <a:buFont typeface="Arial" panose="020B0604020202020204" pitchFamily="34" charset="0"/>
              <a:buChar char="•"/>
            </a:pPr>
            <a:r>
              <a:rPr lang="en-US" altLang="ja-JP" dirty="0"/>
              <a:t>For Tk. &lt; 10,000 only cashier's authorization is sufficient to withdraw money from account. </a:t>
            </a:r>
          </a:p>
          <a:p>
            <a:pPr>
              <a:buFont typeface="Arial" panose="020B0604020202020204" pitchFamily="34" charset="0"/>
              <a:buChar char="•"/>
            </a:pPr>
            <a:r>
              <a:rPr lang="en-US" altLang="ja-JP" dirty="0"/>
              <a:t>For Tk. 10,000 to 10,00,000 authorization from both cashier and senior officer is needed. </a:t>
            </a:r>
          </a:p>
          <a:p>
            <a:pPr>
              <a:buFont typeface="Arial" panose="020B0604020202020204" pitchFamily="34" charset="0"/>
              <a:buChar char="•"/>
            </a:pPr>
            <a:r>
              <a:rPr lang="en-US" altLang="ja-JP" dirty="0"/>
              <a:t>For Tk &gt; 10,00,000 authorization from Senior officer and Manager is needed. </a:t>
            </a:r>
          </a:p>
          <a:p>
            <a:r>
              <a:rPr lang="en-US" altLang="ja-JP" b="1" dirty="0"/>
              <a:t>Implement this </a:t>
            </a:r>
            <a:r>
              <a:rPr lang="en-US" altLang="ja-JP" b="1" dirty="0" err="1"/>
              <a:t>behaviour</a:t>
            </a:r>
            <a:r>
              <a:rPr lang="en-US" altLang="ja-JP" b="1" dirty="0"/>
              <a:t> using appropriate software design pattern.</a:t>
            </a:r>
            <a:r>
              <a:rPr lang="en-US" altLang="ja-JP" dirty="0"/>
              <a:t> </a:t>
            </a:r>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spTree>
    <p:extLst>
      <p:ext uri="{BB962C8B-B14F-4D97-AF65-F5344CB8AC3E}">
        <p14:creationId xmlns:p14="http://schemas.microsoft.com/office/powerpoint/2010/main" val="19181682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2789546" cy="523220"/>
          </a:xfrm>
          <a:prstGeom prst="rect">
            <a:avLst/>
          </a:prstGeom>
          <a:noFill/>
        </p:spPr>
        <p:txBody>
          <a:bodyPr wrap="none">
            <a:spAutoFit/>
          </a:bodyPr>
          <a:lstStyle/>
          <a:p>
            <a:pPr>
              <a:defRPr sz="2800" b="1">
                <a:latin typeface="Times New Roman"/>
              </a:defRPr>
            </a:pPr>
            <a:r>
              <a:rPr lang="en-US" dirty="0"/>
              <a:t>Sample </a:t>
            </a:r>
            <a:r>
              <a:rPr lang="en-US" dirty="0" err="1"/>
              <a:t>Quesiton</a:t>
            </a:r>
            <a:endParaRPr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graphicFrame>
        <p:nvGraphicFramePr>
          <p:cNvPr id="6" name="Table 5">
            <a:extLst>
              <a:ext uri="{FF2B5EF4-FFF2-40B4-BE49-F238E27FC236}">
                <a16:creationId xmlns:a16="http://schemas.microsoft.com/office/drawing/2014/main" id="{2329FA97-A6B8-7046-DA97-829A8907A0E9}"/>
              </a:ext>
            </a:extLst>
          </p:cNvPr>
          <p:cNvGraphicFramePr>
            <a:graphicFrameLocks noGrp="1"/>
          </p:cNvGraphicFramePr>
          <p:nvPr>
            <p:extLst>
              <p:ext uri="{D42A27DB-BD31-4B8C-83A1-F6EECF244321}">
                <p14:modId xmlns:p14="http://schemas.microsoft.com/office/powerpoint/2010/main" val="1738507595"/>
              </p:ext>
            </p:extLst>
          </p:nvPr>
        </p:nvGraphicFramePr>
        <p:xfrm>
          <a:off x="42365" y="1375905"/>
          <a:ext cx="3921433" cy="4672882"/>
        </p:xfrm>
        <a:graphic>
          <a:graphicData uri="http://schemas.openxmlformats.org/drawingml/2006/table">
            <a:tbl>
              <a:tblPr/>
              <a:tblGrid>
                <a:gridCol w="628215">
                  <a:extLst>
                    <a:ext uri="{9D8B030D-6E8A-4147-A177-3AD203B41FA5}">
                      <a16:colId xmlns:a16="http://schemas.microsoft.com/office/drawing/2014/main" val="1242269093"/>
                    </a:ext>
                  </a:extLst>
                </a:gridCol>
                <a:gridCol w="3293218">
                  <a:extLst>
                    <a:ext uri="{9D8B030D-6E8A-4147-A177-3AD203B41FA5}">
                      <a16:colId xmlns:a16="http://schemas.microsoft.com/office/drawing/2014/main" val="3604926331"/>
                    </a:ext>
                  </a:extLst>
                </a:gridCol>
              </a:tblGrid>
              <a:tr h="153885">
                <a:tc>
                  <a:txBody>
                    <a:bodyPr/>
                    <a:lstStyle/>
                    <a:p>
                      <a:r>
                        <a:rPr lang="en-US" sz="1000"/>
                        <a:t>Bloom's Level</a:t>
                      </a:r>
                    </a:p>
                  </a:txBody>
                  <a:tcPr marL="52627" marR="52627" marT="26314" marB="26314" anchor="ctr">
                    <a:lnL>
                      <a:noFill/>
                    </a:lnL>
                    <a:lnR>
                      <a:noFill/>
                    </a:lnR>
                    <a:lnT>
                      <a:noFill/>
                    </a:lnT>
                    <a:lnB>
                      <a:noFill/>
                    </a:lnB>
                    <a:noFill/>
                  </a:tcPr>
                </a:tc>
                <a:tc>
                  <a:txBody>
                    <a:bodyPr/>
                    <a:lstStyle/>
                    <a:p>
                      <a:r>
                        <a:rPr lang="en-US" sz="1000"/>
                        <a:t>Question</a:t>
                      </a:r>
                    </a:p>
                  </a:txBody>
                  <a:tcPr marL="52627" marR="52627" marT="26314" marB="26314" anchor="ctr">
                    <a:lnL>
                      <a:noFill/>
                    </a:lnL>
                    <a:lnR>
                      <a:noFill/>
                    </a:lnR>
                    <a:lnT>
                      <a:noFill/>
                    </a:lnT>
                    <a:lnB>
                      <a:noFill/>
                    </a:lnB>
                    <a:noFill/>
                  </a:tcPr>
                </a:tc>
                <a:extLst>
                  <a:ext uri="{0D108BD9-81ED-4DB2-BD59-A6C34878D82A}">
                    <a16:rowId xmlns:a16="http://schemas.microsoft.com/office/drawing/2014/main" val="1835973477"/>
                  </a:ext>
                </a:extLst>
              </a:tr>
              <a:tr h="526275">
                <a:tc>
                  <a:txBody>
                    <a:bodyPr/>
                    <a:lstStyle/>
                    <a:p>
                      <a:r>
                        <a:rPr lang="en-US" sz="1000" b="1"/>
                        <a:t>Remember</a:t>
                      </a:r>
                      <a:endParaRPr lang="en-US" sz="1000"/>
                    </a:p>
                  </a:txBody>
                  <a:tcPr marL="52627" marR="52627" marT="26314" marB="26314" anchor="ctr">
                    <a:lnL>
                      <a:noFill/>
                    </a:lnL>
                    <a:lnR>
                      <a:noFill/>
                    </a:lnR>
                    <a:lnT>
                      <a:noFill/>
                    </a:lnT>
                    <a:lnB>
                      <a:noFill/>
                    </a:lnB>
                    <a:noFill/>
                  </a:tcPr>
                </a:tc>
                <a:tc>
                  <a:txBody>
                    <a:bodyPr/>
                    <a:lstStyle/>
                    <a:p>
                      <a:r>
                        <a:rPr lang="en-US" sz="1000"/>
                        <a:t>1. What is a behavioural design pattern? Name five behavioural patterns discussed in Module 2.</a:t>
                      </a:r>
                    </a:p>
                  </a:txBody>
                  <a:tcPr marL="52627" marR="52627" marT="26314" marB="26314" anchor="ctr">
                    <a:lnL>
                      <a:noFill/>
                    </a:lnL>
                    <a:lnR>
                      <a:noFill/>
                    </a:lnR>
                    <a:lnT>
                      <a:noFill/>
                    </a:lnT>
                    <a:lnB>
                      <a:noFill/>
                    </a:lnB>
                    <a:noFill/>
                  </a:tcPr>
                </a:tc>
                <a:extLst>
                  <a:ext uri="{0D108BD9-81ED-4DB2-BD59-A6C34878D82A}">
                    <a16:rowId xmlns:a16="http://schemas.microsoft.com/office/drawing/2014/main" val="3008389527"/>
                  </a:ext>
                </a:extLst>
              </a:tr>
              <a:tr h="368392">
                <a:tc>
                  <a:txBody>
                    <a:bodyPr/>
                    <a:lstStyle/>
                    <a:p>
                      <a:r>
                        <a:rPr lang="en-US" sz="1000" b="1"/>
                        <a:t>Understand</a:t>
                      </a:r>
                      <a:endParaRPr lang="en-US" sz="1000"/>
                    </a:p>
                  </a:txBody>
                  <a:tcPr marL="52627" marR="52627" marT="26314" marB="26314" anchor="ctr">
                    <a:lnL>
                      <a:noFill/>
                    </a:lnL>
                    <a:lnR>
                      <a:noFill/>
                    </a:lnR>
                    <a:lnT>
                      <a:noFill/>
                    </a:lnT>
                    <a:lnB>
                      <a:noFill/>
                    </a:lnB>
                    <a:noFill/>
                  </a:tcPr>
                </a:tc>
                <a:tc>
                  <a:txBody>
                    <a:bodyPr/>
                    <a:lstStyle/>
                    <a:p>
                      <a:r>
                        <a:rPr lang="en-US" sz="1000"/>
                        <a:t>2. Explain the main purpose of the Template Method Pattern.</a:t>
                      </a:r>
                    </a:p>
                  </a:txBody>
                  <a:tcPr marL="52627" marR="52627" marT="26314" marB="26314" anchor="ctr">
                    <a:lnL>
                      <a:noFill/>
                    </a:lnL>
                    <a:lnR>
                      <a:noFill/>
                    </a:lnR>
                    <a:lnT>
                      <a:noFill/>
                    </a:lnT>
                    <a:lnB>
                      <a:noFill/>
                    </a:lnB>
                    <a:noFill/>
                  </a:tcPr>
                </a:tc>
                <a:extLst>
                  <a:ext uri="{0D108BD9-81ED-4DB2-BD59-A6C34878D82A}">
                    <a16:rowId xmlns:a16="http://schemas.microsoft.com/office/drawing/2014/main" val="2559021833"/>
                  </a:ext>
                </a:extLst>
              </a:tr>
              <a:tr h="526275">
                <a:tc>
                  <a:txBody>
                    <a:bodyPr/>
                    <a:lstStyle/>
                    <a:p>
                      <a:r>
                        <a:rPr lang="en-US" sz="1000" b="1"/>
                        <a:t>Understand</a:t>
                      </a:r>
                      <a:endParaRPr lang="en-US" sz="1000"/>
                    </a:p>
                  </a:txBody>
                  <a:tcPr marL="52627" marR="52627" marT="26314" marB="26314" anchor="ctr">
                    <a:lnL>
                      <a:noFill/>
                    </a:lnL>
                    <a:lnR>
                      <a:noFill/>
                    </a:lnR>
                    <a:lnT>
                      <a:noFill/>
                    </a:lnT>
                    <a:lnB>
                      <a:noFill/>
                    </a:lnB>
                    <a:noFill/>
                  </a:tcPr>
                </a:tc>
                <a:tc>
                  <a:txBody>
                    <a:bodyPr/>
                    <a:lstStyle/>
                    <a:p>
                      <a:r>
                        <a:rPr lang="en-US" sz="1000" dirty="0"/>
                        <a:t>3. Explain how the Chain of Responsibility Pattern processes a request through multiple handlers.</a:t>
                      </a:r>
                    </a:p>
                  </a:txBody>
                  <a:tcPr marL="52627" marR="52627" marT="26314" marB="26314" anchor="ctr">
                    <a:lnL>
                      <a:noFill/>
                    </a:lnL>
                    <a:lnR>
                      <a:noFill/>
                    </a:lnR>
                    <a:lnT>
                      <a:noFill/>
                    </a:lnT>
                    <a:lnB>
                      <a:noFill/>
                    </a:lnB>
                    <a:noFill/>
                  </a:tcPr>
                </a:tc>
                <a:extLst>
                  <a:ext uri="{0D108BD9-81ED-4DB2-BD59-A6C34878D82A}">
                    <a16:rowId xmlns:a16="http://schemas.microsoft.com/office/drawing/2014/main" val="3509858947"/>
                  </a:ext>
                </a:extLst>
              </a:tr>
              <a:tr h="842040">
                <a:tc>
                  <a:txBody>
                    <a:bodyPr/>
                    <a:lstStyle/>
                    <a:p>
                      <a:r>
                        <a:rPr lang="en-US" sz="1000" b="1"/>
                        <a:t>Apply</a:t>
                      </a:r>
                      <a:endParaRPr lang="en-US" sz="1000"/>
                    </a:p>
                  </a:txBody>
                  <a:tcPr marL="52627" marR="52627" marT="26314" marB="26314" anchor="ctr">
                    <a:lnL>
                      <a:noFill/>
                    </a:lnL>
                    <a:lnR>
                      <a:noFill/>
                    </a:lnR>
                    <a:lnT>
                      <a:noFill/>
                    </a:lnT>
                    <a:lnB>
                      <a:noFill/>
                    </a:lnB>
                    <a:noFill/>
                  </a:tcPr>
                </a:tc>
                <a:tc>
                  <a:txBody>
                    <a:bodyPr/>
                    <a:lstStyle/>
                    <a:p>
                      <a:r>
                        <a:rPr lang="en-US" sz="1000" dirty="0"/>
                        <a:t>4. Design a university complaint-handling process using the Chain of Responsibility Pattern, where complaints may be handled by a Class Teacher, Department Chairman, Dean, or Vice Chancellor.</a:t>
                      </a:r>
                    </a:p>
                  </a:txBody>
                  <a:tcPr marL="52627" marR="52627" marT="26314" marB="26314" anchor="ctr">
                    <a:lnL>
                      <a:noFill/>
                    </a:lnL>
                    <a:lnR>
                      <a:noFill/>
                    </a:lnR>
                    <a:lnT>
                      <a:noFill/>
                    </a:lnT>
                    <a:lnB>
                      <a:noFill/>
                    </a:lnB>
                    <a:noFill/>
                  </a:tcPr>
                </a:tc>
                <a:extLst>
                  <a:ext uri="{0D108BD9-81ED-4DB2-BD59-A6C34878D82A}">
                    <a16:rowId xmlns:a16="http://schemas.microsoft.com/office/drawing/2014/main" val="664886558"/>
                  </a:ext>
                </a:extLst>
              </a:tr>
              <a:tr h="842040">
                <a:tc>
                  <a:txBody>
                    <a:bodyPr/>
                    <a:lstStyle/>
                    <a:p>
                      <a:r>
                        <a:rPr lang="en-US" sz="1000" b="1"/>
                        <a:t>Analyze</a:t>
                      </a:r>
                      <a:endParaRPr lang="en-US" sz="1000"/>
                    </a:p>
                  </a:txBody>
                  <a:tcPr marL="52627" marR="52627" marT="26314" marB="26314" anchor="ctr">
                    <a:lnL>
                      <a:noFill/>
                    </a:lnL>
                    <a:lnR>
                      <a:noFill/>
                    </a:lnR>
                    <a:lnT>
                      <a:noFill/>
                    </a:lnT>
                    <a:lnB>
                      <a:noFill/>
                    </a:lnB>
                    <a:noFill/>
                  </a:tcPr>
                </a:tc>
                <a:tc>
                  <a:txBody>
                    <a:bodyPr/>
                    <a:lstStyle/>
                    <a:p>
                      <a:r>
                        <a:rPr lang="en-US" sz="1000"/>
                        <a:t>5. Analyze a program containing a large number of if-else statements to determine an object's behavior based on its current state. Explain how the State Pattern could improve the design.</a:t>
                      </a:r>
                    </a:p>
                  </a:txBody>
                  <a:tcPr marL="52627" marR="52627" marT="26314" marB="26314" anchor="ctr">
                    <a:lnL>
                      <a:noFill/>
                    </a:lnL>
                    <a:lnR>
                      <a:noFill/>
                    </a:lnR>
                    <a:lnT>
                      <a:noFill/>
                    </a:lnT>
                    <a:lnB>
                      <a:noFill/>
                    </a:lnB>
                    <a:noFill/>
                  </a:tcPr>
                </a:tc>
                <a:extLst>
                  <a:ext uri="{0D108BD9-81ED-4DB2-BD59-A6C34878D82A}">
                    <a16:rowId xmlns:a16="http://schemas.microsoft.com/office/drawing/2014/main" val="1480084523"/>
                  </a:ext>
                </a:extLst>
              </a:tr>
              <a:tr h="526275">
                <a:tc>
                  <a:txBody>
                    <a:bodyPr/>
                    <a:lstStyle/>
                    <a:p>
                      <a:r>
                        <a:rPr lang="en-US" sz="1000" b="1"/>
                        <a:t>Evaluate</a:t>
                      </a:r>
                      <a:endParaRPr lang="en-US" sz="1000"/>
                    </a:p>
                  </a:txBody>
                  <a:tcPr marL="52627" marR="52627" marT="26314" marB="26314" anchor="ctr">
                    <a:lnL>
                      <a:noFill/>
                    </a:lnL>
                    <a:lnR>
                      <a:noFill/>
                    </a:lnR>
                    <a:lnT>
                      <a:noFill/>
                    </a:lnT>
                    <a:lnB>
                      <a:noFill/>
                    </a:lnB>
                    <a:noFill/>
                  </a:tcPr>
                </a:tc>
                <a:tc>
                  <a:txBody>
                    <a:bodyPr/>
                    <a:lstStyle/>
                    <a:p>
                      <a:r>
                        <a:rPr lang="en-US" sz="1000"/>
                        <a:t>6. Evaluate the advantages and disadvantages of using the State Pattern instead of a large switch statement.</a:t>
                      </a:r>
                    </a:p>
                  </a:txBody>
                  <a:tcPr marL="52627" marR="52627" marT="26314" marB="26314" anchor="ctr">
                    <a:lnL>
                      <a:noFill/>
                    </a:lnL>
                    <a:lnR>
                      <a:noFill/>
                    </a:lnR>
                    <a:lnT>
                      <a:noFill/>
                    </a:lnT>
                    <a:lnB>
                      <a:noFill/>
                    </a:lnB>
                    <a:noFill/>
                  </a:tcPr>
                </a:tc>
                <a:extLst>
                  <a:ext uri="{0D108BD9-81ED-4DB2-BD59-A6C34878D82A}">
                    <a16:rowId xmlns:a16="http://schemas.microsoft.com/office/drawing/2014/main" val="2424396102"/>
                  </a:ext>
                </a:extLst>
              </a:tr>
              <a:tr h="684157">
                <a:tc>
                  <a:txBody>
                    <a:bodyPr/>
                    <a:lstStyle/>
                    <a:p>
                      <a:r>
                        <a:rPr lang="en-US" sz="1000" b="1"/>
                        <a:t>Create</a:t>
                      </a:r>
                      <a:endParaRPr lang="en-US" sz="1000"/>
                    </a:p>
                  </a:txBody>
                  <a:tcPr marL="52627" marR="52627" marT="26314" marB="26314" anchor="ctr">
                    <a:lnL>
                      <a:noFill/>
                    </a:lnL>
                    <a:lnR>
                      <a:noFill/>
                    </a:lnR>
                    <a:lnT>
                      <a:noFill/>
                    </a:lnT>
                    <a:lnB>
                      <a:noFill/>
                    </a:lnB>
                    <a:noFill/>
                  </a:tcPr>
                </a:tc>
                <a:tc>
                  <a:txBody>
                    <a:bodyPr/>
                    <a:lstStyle/>
                    <a:p>
                      <a:r>
                        <a:rPr lang="en-US" sz="1000" dirty="0"/>
                        <a:t>7. Design a Java-based online order system using the State Pattern with Pending, Paid, Shipped, and Delivered states.</a:t>
                      </a:r>
                    </a:p>
                  </a:txBody>
                  <a:tcPr marL="52627" marR="52627" marT="26314" marB="26314" anchor="ctr">
                    <a:lnL>
                      <a:noFill/>
                    </a:lnL>
                    <a:lnR>
                      <a:noFill/>
                    </a:lnR>
                    <a:lnT>
                      <a:noFill/>
                    </a:lnT>
                    <a:lnB>
                      <a:noFill/>
                    </a:lnB>
                    <a:noFill/>
                  </a:tcPr>
                </a:tc>
                <a:extLst>
                  <a:ext uri="{0D108BD9-81ED-4DB2-BD59-A6C34878D82A}">
                    <a16:rowId xmlns:a16="http://schemas.microsoft.com/office/drawing/2014/main" val="780062849"/>
                  </a:ext>
                </a:extLst>
              </a:tr>
            </a:tbl>
          </a:graphicData>
        </a:graphic>
      </p:graphicFrame>
      <p:graphicFrame>
        <p:nvGraphicFramePr>
          <p:cNvPr id="7" name="Table 6">
            <a:extLst>
              <a:ext uri="{FF2B5EF4-FFF2-40B4-BE49-F238E27FC236}">
                <a16:creationId xmlns:a16="http://schemas.microsoft.com/office/drawing/2014/main" id="{4AE32517-7E0B-9F80-D28C-4CD2EE8CB643}"/>
              </a:ext>
            </a:extLst>
          </p:cNvPr>
          <p:cNvGraphicFramePr>
            <a:graphicFrameLocks noGrp="1"/>
          </p:cNvGraphicFramePr>
          <p:nvPr>
            <p:extLst>
              <p:ext uri="{D42A27DB-BD31-4B8C-83A1-F6EECF244321}">
                <p14:modId xmlns:p14="http://schemas.microsoft.com/office/powerpoint/2010/main" val="953701575"/>
              </p:ext>
            </p:extLst>
          </p:nvPr>
        </p:nvGraphicFramePr>
        <p:xfrm>
          <a:off x="4090940" y="1348827"/>
          <a:ext cx="4226745" cy="4691519"/>
        </p:xfrm>
        <a:graphic>
          <a:graphicData uri="http://schemas.openxmlformats.org/drawingml/2006/table">
            <a:tbl>
              <a:tblPr/>
              <a:tblGrid>
                <a:gridCol w="636112">
                  <a:extLst>
                    <a:ext uri="{9D8B030D-6E8A-4147-A177-3AD203B41FA5}">
                      <a16:colId xmlns:a16="http://schemas.microsoft.com/office/drawing/2014/main" val="4230647892"/>
                    </a:ext>
                  </a:extLst>
                </a:gridCol>
                <a:gridCol w="3590633">
                  <a:extLst>
                    <a:ext uri="{9D8B030D-6E8A-4147-A177-3AD203B41FA5}">
                      <a16:colId xmlns:a16="http://schemas.microsoft.com/office/drawing/2014/main" val="4098372599"/>
                    </a:ext>
                  </a:extLst>
                </a:gridCol>
              </a:tblGrid>
              <a:tr h="226298">
                <a:tc>
                  <a:txBody>
                    <a:bodyPr/>
                    <a:lstStyle/>
                    <a:p>
                      <a:r>
                        <a:rPr lang="en-US" sz="1100"/>
                        <a:t>Bloom's Level</a:t>
                      </a:r>
                    </a:p>
                  </a:txBody>
                  <a:tcPr marL="56575" marR="56575" marT="28287" marB="28287" anchor="ctr">
                    <a:lnL>
                      <a:noFill/>
                    </a:lnL>
                    <a:lnR>
                      <a:noFill/>
                    </a:lnR>
                    <a:lnT>
                      <a:noFill/>
                    </a:lnT>
                    <a:lnB>
                      <a:noFill/>
                    </a:lnB>
                    <a:noFill/>
                  </a:tcPr>
                </a:tc>
                <a:tc>
                  <a:txBody>
                    <a:bodyPr/>
                    <a:lstStyle/>
                    <a:p>
                      <a:r>
                        <a:rPr lang="en-US" sz="1100"/>
                        <a:t>Question</a:t>
                      </a:r>
                    </a:p>
                  </a:txBody>
                  <a:tcPr marL="56575" marR="56575" marT="28287" marB="28287" anchor="ctr">
                    <a:lnL>
                      <a:noFill/>
                    </a:lnL>
                    <a:lnR>
                      <a:noFill/>
                    </a:lnR>
                    <a:lnT>
                      <a:noFill/>
                    </a:lnT>
                    <a:lnB>
                      <a:noFill/>
                    </a:lnB>
                    <a:noFill/>
                  </a:tcPr>
                </a:tc>
                <a:extLst>
                  <a:ext uri="{0D108BD9-81ED-4DB2-BD59-A6C34878D82A}">
                    <a16:rowId xmlns:a16="http://schemas.microsoft.com/office/drawing/2014/main" val="3561447678"/>
                  </a:ext>
                </a:extLst>
              </a:tr>
              <a:tr h="396022">
                <a:tc>
                  <a:txBody>
                    <a:bodyPr/>
                    <a:lstStyle/>
                    <a:p>
                      <a:r>
                        <a:rPr lang="en-US" sz="1100" b="1"/>
                        <a:t>Remember</a:t>
                      </a:r>
                      <a:endParaRPr lang="en-US" sz="1100"/>
                    </a:p>
                  </a:txBody>
                  <a:tcPr marL="56575" marR="56575" marT="28287" marB="28287" anchor="ctr">
                    <a:lnL>
                      <a:noFill/>
                    </a:lnL>
                    <a:lnR>
                      <a:noFill/>
                    </a:lnR>
                    <a:lnT>
                      <a:noFill/>
                    </a:lnT>
                    <a:lnB>
                      <a:noFill/>
                    </a:lnB>
                    <a:noFill/>
                  </a:tcPr>
                </a:tc>
                <a:tc>
                  <a:txBody>
                    <a:bodyPr/>
                    <a:lstStyle/>
                    <a:p>
                      <a:r>
                        <a:rPr lang="en-US" sz="1100" dirty="0"/>
                        <a:t>1. Define the Command Pattern and identify its main components.</a:t>
                      </a:r>
                    </a:p>
                  </a:txBody>
                  <a:tcPr marL="56575" marR="56575" marT="28287" marB="28287" anchor="ctr">
                    <a:lnL>
                      <a:noFill/>
                    </a:lnL>
                    <a:lnR>
                      <a:noFill/>
                    </a:lnR>
                    <a:lnT>
                      <a:noFill/>
                    </a:lnT>
                    <a:lnB>
                      <a:noFill/>
                    </a:lnB>
                    <a:noFill/>
                  </a:tcPr>
                </a:tc>
                <a:extLst>
                  <a:ext uri="{0D108BD9-81ED-4DB2-BD59-A6C34878D82A}">
                    <a16:rowId xmlns:a16="http://schemas.microsoft.com/office/drawing/2014/main" val="4150924115"/>
                  </a:ext>
                </a:extLst>
              </a:tr>
              <a:tr h="565745">
                <a:tc>
                  <a:txBody>
                    <a:bodyPr/>
                    <a:lstStyle/>
                    <a:p>
                      <a:r>
                        <a:rPr lang="en-US" sz="1100" b="1"/>
                        <a:t>Understand</a:t>
                      </a:r>
                      <a:endParaRPr lang="en-US" sz="1100"/>
                    </a:p>
                  </a:txBody>
                  <a:tcPr marL="56575" marR="56575" marT="28287" marB="28287" anchor="ctr">
                    <a:lnL>
                      <a:noFill/>
                    </a:lnL>
                    <a:lnR>
                      <a:noFill/>
                    </a:lnR>
                    <a:lnT>
                      <a:noFill/>
                    </a:lnT>
                    <a:lnB>
                      <a:noFill/>
                    </a:lnB>
                    <a:noFill/>
                  </a:tcPr>
                </a:tc>
                <a:tc>
                  <a:txBody>
                    <a:bodyPr/>
                    <a:lstStyle/>
                    <a:p>
                      <a:r>
                        <a:rPr lang="en-US" sz="1100"/>
                        <a:t>2. Explain the purpose of the Command Pattern and how it encapsulates a request as an object.</a:t>
                      </a:r>
                    </a:p>
                  </a:txBody>
                  <a:tcPr marL="56575" marR="56575" marT="28287" marB="28287" anchor="ctr">
                    <a:lnL>
                      <a:noFill/>
                    </a:lnL>
                    <a:lnR>
                      <a:noFill/>
                    </a:lnR>
                    <a:lnT>
                      <a:noFill/>
                    </a:lnT>
                    <a:lnB>
                      <a:noFill/>
                    </a:lnB>
                    <a:noFill/>
                  </a:tcPr>
                </a:tc>
                <a:extLst>
                  <a:ext uri="{0D108BD9-81ED-4DB2-BD59-A6C34878D82A}">
                    <a16:rowId xmlns:a16="http://schemas.microsoft.com/office/drawing/2014/main" val="804692766"/>
                  </a:ext>
                </a:extLst>
              </a:tr>
              <a:tr h="396022">
                <a:tc>
                  <a:txBody>
                    <a:bodyPr/>
                    <a:lstStyle/>
                    <a:p>
                      <a:r>
                        <a:rPr lang="en-US" sz="1100" b="1"/>
                        <a:t>Understand</a:t>
                      </a:r>
                      <a:endParaRPr lang="en-US" sz="1100"/>
                    </a:p>
                  </a:txBody>
                  <a:tcPr marL="56575" marR="56575" marT="28287" marB="28287" anchor="ctr">
                    <a:lnL>
                      <a:noFill/>
                    </a:lnL>
                    <a:lnR>
                      <a:noFill/>
                    </a:lnR>
                    <a:lnT>
                      <a:noFill/>
                    </a:lnT>
                    <a:lnB>
                      <a:noFill/>
                    </a:lnB>
                    <a:noFill/>
                  </a:tcPr>
                </a:tc>
                <a:tc>
                  <a:txBody>
                    <a:bodyPr/>
                    <a:lstStyle/>
                    <a:p>
                      <a:r>
                        <a:rPr lang="en-US" sz="1100"/>
                        <a:t>3. Explain how the Command Pattern can support undo and redo operations.</a:t>
                      </a:r>
                    </a:p>
                  </a:txBody>
                  <a:tcPr marL="56575" marR="56575" marT="28287" marB="28287" anchor="ctr">
                    <a:lnL>
                      <a:noFill/>
                    </a:lnL>
                    <a:lnR>
                      <a:noFill/>
                    </a:lnR>
                    <a:lnT>
                      <a:noFill/>
                    </a:lnT>
                    <a:lnB>
                      <a:noFill/>
                    </a:lnB>
                    <a:noFill/>
                  </a:tcPr>
                </a:tc>
                <a:extLst>
                  <a:ext uri="{0D108BD9-81ED-4DB2-BD59-A6C34878D82A}">
                    <a16:rowId xmlns:a16="http://schemas.microsoft.com/office/drawing/2014/main" val="1871775057"/>
                  </a:ext>
                </a:extLst>
              </a:tr>
              <a:tr h="735469">
                <a:tc>
                  <a:txBody>
                    <a:bodyPr/>
                    <a:lstStyle/>
                    <a:p>
                      <a:r>
                        <a:rPr lang="en-US" sz="1100" b="1"/>
                        <a:t>Apply</a:t>
                      </a:r>
                      <a:endParaRPr lang="en-US" sz="1100"/>
                    </a:p>
                  </a:txBody>
                  <a:tcPr marL="56575" marR="56575" marT="28287" marB="28287" anchor="ctr">
                    <a:lnL>
                      <a:noFill/>
                    </a:lnL>
                    <a:lnR>
                      <a:noFill/>
                    </a:lnR>
                    <a:lnT>
                      <a:noFill/>
                    </a:lnT>
                    <a:lnB>
                      <a:noFill/>
                    </a:lnB>
                    <a:noFill/>
                  </a:tcPr>
                </a:tc>
                <a:tc>
                  <a:txBody>
                    <a:bodyPr/>
                    <a:lstStyle/>
                    <a:p>
                      <a:r>
                        <a:rPr lang="en-US" sz="1100" dirty="0"/>
                        <a:t>4. Apply the Command Pattern to a text editor that supports Copy, Paste, Delete, and Undo operations. Identify the Command, Invoker, and Receiver.</a:t>
                      </a:r>
                    </a:p>
                  </a:txBody>
                  <a:tcPr marL="56575" marR="56575" marT="28287" marB="28287" anchor="ctr">
                    <a:lnL>
                      <a:noFill/>
                    </a:lnL>
                    <a:lnR>
                      <a:noFill/>
                    </a:lnR>
                    <a:lnT>
                      <a:noFill/>
                    </a:lnT>
                    <a:lnB>
                      <a:noFill/>
                    </a:lnB>
                    <a:noFill/>
                  </a:tcPr>
                </a:tc>
                <a:extLst>
                  <a:ext uri="{0D108BD9-81ED-4DB2-BD59-A6C34878D82A}">
                    <a16:rowId xmlns:a16="http://schemas.microsoft.com/office/drawing/2014/main" val="2115736172"/>
                  </a:ext>
                </a:extLst>
              </a:tr>
              <a:tr h="735469">
                <a:tc>
                  <a:txBody>
                    <a:bodyPr/>
                    <a:lstStyle/>
                    <a:p>
                      <a:r>
                        <a:rPr lang="en-US" sz="1100" b="1"/>
                        <a:t>Analyze</a:t>
                      </a:r>
                      <a:endParaRPr lang="en-US" sz="1100"/>
                    </a:p>
                  </a:txBody>
                  <a:tcPr marL="56575" marR="56575" marT="28287" marB="28287" anchor="ctr">
                    <a:lnL>
                      <a:noFill/>
                    </a:lnL>
                    <a:lnR>
                      <a:noFill/>
                    </a:lnR>
                    <a:lnT>
                      <a:noFill/>
                    </a:lnT>
                    <a:lnB>
                      <a:noFill/>
                    </a:lnB>
                    <a:noFill/>
                  </a:tcPr>
                </a:tc>
                <a:tc>
                  <a:txBody>
                    <a:bodyPr/>
                    <a:lstStyle/>
                    <a:p>
                      <a:r>
                        <a:rPr lang="en-US" sz="1100"/>
                        <a:t>5. Analyze how the Command Pattern reduces coupling between a graphical user-interface button and the object that performs the actual operation.</a:t>
                      </a:r>
                    </a:p>
                  </a:txBody>
                  <a:tcPr marL="56575" marR="56575" marT="28287" marB="28287" anchor="ctr">
                    <a:lnL>
                      <a:noFill/>
                    </a:lnL>
                    <a:lnR>
                      <a:noFill/>
                    </a:lnR>
                    <a:lnT>
                      <a:noFill/>
                    </a:lnT>
                    <a:lnB>
                      <a:noFill/>
                    </a:lnB>
                    <a:noFill/>
                  </a:tcPr>
                </a:tc>
                <a:extLst>
                  <a:ext uri="{0D108BD9-81ED-4DB2-BD59-A6C34878D82A}">
                    <a16:rowId xmlns:a16="http://schemas.microsoft.com/office/drawing/2014/main" val="2008847190"/>
                  </a:ext>
                </a:extLst>
              </a:tr>
              <a:tr h="565745">
                <a:tc>
                  <a:txBody>
                    <a:bodyPr/>
                    <a:lstStyle/>
                    <a:p>
                      <a:r>
                        <a:rPr lang="en-US" sz="1100" b="1"/>
                        <a:t>Evaluate</a:t>
                      </a:r>
                      <a:endParaRPr lang="en-US" sz="1100"/>
                    </a:p>
                  </a:txBody>
                  <a:tcPr marL="56575" marR="56575" marT="28287" marB="28287" anchor="ctr">
                    <a:lnL>
                      <a:noFill/>
                    </a:lnL>
                    <a:lnR>
                      <a:noFill/>
                    </a:lnR>
                    <a:lnT>
                      <a:noFill/>
                    </a:lnT>
                    <a:lnB>
                      <a:noFill/>
                    </a:lnB>
                    <a:noFill/>
                  </a:tcPr>
                </a:tc>
                <a:tc>
                  <a:txBody>
                    <a:bodyPr/>
                    <a:lstStyle/>
                    <a:p>
                      <a:r>
                        <a:rPr lang="en-US" sz="1100"/>
                        <a:t>6. Evaluate the benefits of using the Command Pattern for queueing, logging, scheduling, and undo/redo operations.</a:t>
                      </a:r>
                    </a:p>
                  </a:txBody>
                  <a:tcPr marL="56575" marR="56575" marT="28287" marB="28287" anchor="ctr">
                    <a:lnL>
                      <a:noFill/>
                    </a:lnL>
                    <a:lnR>
                      <a:noFill/>
                    </a:lnR>
                    <a:lnT>
                      <a:noFill/>
                    </a:lnT>
                    <a:lnB>
                      <a:noFill/>
                    </a:lnB>
                    <a:noFill/>
                  </a:tcPr>
                </a:tc>
                <a:extLst>
                  <a:ext uri="{0D108BD9-81ED-4DB2-BD59-A6C34878D82A}">
                    <a16:rowId xmlns:a16="http://schemas.microsoft.com/office/drawing/2014/main" val="3091131337"/>
                  </a:ext>
                </a:extLst>
              </a:tr>
              <a:tr h="905193">
                <a:tc>
                  <a:txBody>
                    <a:bodyPr/>
                    <a:lstStyle/>
                    <a:p>
                      <a:r>
                        <a:rPr lang="en-US" sz="1100" b="1"/>
                        <a:t>Create</a:t>
                      </a:r>
                      <a:endParaRPr lang="en-US" sz="1100"/>
                    </a:p>
                  </a:txBody>
                  <a:tcPr marL="56575" marR="56575" marT="28287" marB="28287" anchor="ctr">
                    <a:lnL>
                      <a:noFill/>
                    </a:lnL>
                    <a:lnR>
                      <a:noFill/>
                    </a:lnR>
                    <a:lnT>
                      <a:noFill/>
                    </a:lnT>
                    <a:lnB>
                      <a:noFill/>
                    </a:lnB>
                    <a:noFill/>
                  </a:tcPr>
                </a:tc>
                <a:tc>
                  <a:txBody>
                    <a:bodyPr/>
                    <a:lstStyle/>
                    <a:p>
                      <a:r>
                        <a:rPr lang="en-US" sz="1100" dirty="0"/>
                        <a:t>7. Design a Java-based remote-control system using the Command Pattern where different buttons can execute different commands such as </a:t>
                      </a:r>
                      <a:r>
                        <a:rPr lang="en-US" sz="1100" dirty="0" err="1"/>
                        <a:t>LightOn</a:t>
                      </a:r>
                      <a:r>
                        <a:rPr lang="en-US" sz="1100" dirty="0"/>
                        <a:t>, </a:t>
                      </a:r>
                      <a:r>
                        <a:rPr lang="en-US" sz="1100" dirty="0" err="1"/>
                        <a:t>LightOff</a:t>
                      </a:r>
                      <a:r>
                        <a:rPr lang="en-US" sz="1100" dirty="0"/>
                        <a:t>, and </a:t>
                      </a:r>
                      <a:r>
                        <a:rPr lang="en-US" sz="1100" dirty="0" err="1"/>
                        <a:t>FanOn</a:t>
                      </a:r>
                      <a:r>
                        <a:rPr lang="en-US" sz="1100" dirty="0"/>
                        <a:t>.</a:t>
                      </a:r>
                    </a:p>
                  </a:txBody>
                  <a:tcPr marL="56575" marR="56575" marT="28287" marB="28287" anchor="ctr">
                    <a:lnL>
                      <a:noFill/>
                    </a:lnL>
                    <a:lnR>
                      <a:noFill/>
                    </a:lnR>
                    <a:lnT>
                      <a:noFill/>
                    </a:lnT>
                    <a:lnB>
                      <a:noFill/>
                    </a:lnB>
                    <a:noFill/>
                  </a:tcPr>
                </a:tc>
                <a:extLst>
                  <a:ext uri="{0D108BD9-81ED-4DB2-BD59-A6C34878D82A}">
                    <a16:rowId xmlns:a16="http://schemas.microsoft.com/office/drawing/2014/main" val="2172265477"/>
                  </a:ext>
                </a:extLst>
              </a:tr>
            </a:tbl>
          </a:graphicData>
        </a:graphic>
      </p:graphicFrame>
      <p:graphicFrame>
        <p:nvGraphicFramePr>
          <p:cNvPr id="8" name="Table 7">
            <a:extLst>
              <a:ext uri="{FF2B5EF4-FFF2-40B4-BE49-F238E27FC236}">
                <a16:creationId xmlns:a16="http://schemas.microsoft.com/office/drawing/2014/main" id="{B345D009-8AA9-4401-ADEC-BD59DE3859B5}"/>
              </a:ext>
            </a:extLst>
          </p:cNvPr>
          <p:cNvGraphicFramePr>
            <a:graphicFrameLocks noGrp="1"/>
          </p:cNvGraphicFramePr>
          <p:nvPr>
            <p:extLst>
              <p:ext uri="{D42A27DB-BD31-4B8C-83A1-F6EECF244321}">
                <p14:modId xmlns:p14="http://schemas.microsoft.com/office/powerpoint/2010/main" val="3533087857"/>
              </p:ext>
            </p:extLst>
          </p:nvPr>
        </p:nvGraphicFramePr>
        <p:xfrm>
          <a:off x="8444827" y="1286934"/>
          <a:ext cx="3573505" cy="4691519"/>
        </p:xfrm>
        <a:graphic>
          <a:graphicData uri="http://schemas.openxmlformats.org/drawingml/2006/table">
            <a:tbl>
              <a:tblPr/>
              <a:tblGrid>
                <a:gridCol w="858564">
                  <a:extLst>
                    <a:ext uri="{9D8B030D-6E8A-4147-A177-3AD203B41FA5}">
                      <a16:colId xmlns:a16="http://schemas.microsoft.com/office/drawing/2014/main" val="3759416188"/>
                    </a:ext>
                  </a:extLst>
                </a:gridCol>
                <a:gridCol w="2714941">
                  <a:extLst>
                    <a:ext uri="{9D8B030D-6E8A-4147-A177-3AD203B41FA5}">
                      <a16:colId xmlns:a16="http://schemas.microsoft.com/office/drawing/2014/main" val="3975808064"/>
                    </a:ext>
                  </a:extLst>
                </a:gridCol>
              </a:tblGrid>
              <a:tr h="226298">
                <a:tc>
                  <a:txBody>
                    <a:bodyPr/>
                    <a:lstStyle/>
                    <a:p>
                      <a:r>
                        <a:rPr lang="en-US" sz="1100"/>
                        <a:t>Bloom's Level</a:t>
                      </a:r>
                    </a:p>
                  </a:txBody>
                  <a:tcPr marL="56575" marR="56575" marT="28287" marB="28287" anchor="ctr">
                    <a:lnL>
                      <a:noFill/>
                    </a:lnL>
                    <a:lnR>
                      <a:noFill/>
                    </a:lnR>
                    <a:lnT>
                      <a:noFill/>
                    </a:lnT>
                    <a:lnB>
                      <a:noFill/>
                    </a:lnB>
                    <a:noFill/>
                  </a:tcPr>
                </a:tc>
                <a:tc>
                  <a:txBody>
                    <a:bodyPr/>
                    <a:lstStyle/>
                    <a:p>
                      <a:r>
                        <a:rPr lang="en-US" sz="1100"/>
                        <a:t>Question</a:t>
                      </a:r>
                    </a:p>
                  </a:txBody>
                  <a:tcPr marL="56575" marR="56575" marT="28287" marB="28287" anchor="ctr">
                    <a:lnL>
                      <a:noFill/>
                    </a:lnL>
                    <a:lnR>
                      <a:noFill/>
                    </a:lnR>
                    <a:lnT>
                      <a:noFill/>
                    </a:lnT>
                    <a:lnB>
                      <a:noFill/>
                    </a:lnB>
                    <a:noFill/>
                  </a:tcPr>
                </a:tc>
                <a:extLst>
                  <a:ext uri="{0D108BD9-81ED-4DB2-BD59-A6C34878D82A}">
                    <a16:rowId xmlns:a16="http://schemas.microsoft.com/office/drawing/2014/main" val="1351387503"/>
                  </a:ext>
                </a:extLst>
              </a:tr>
              <a:tr h="396022">
                <a:tc>
                  <a:txBody>
                    <a:bodyPr/>
                    <a:lstStyle/>
                    <a:p>
                      <a:r>
                        <a:rPr lang="en-US" sz="1100" b="1"/>
                        <a:t>Remember</a:t>
                      </a:r>
                      <a:endParaRPr lang="en-US" sz="1100"/>
                    </a:p>
                  </a:txBody>
                  <a:tcPr marL="56575" marR="56575" marT="28287" marB="28287" anchor="ctr">
                    <a:lnL>
                      <a:noFill/>
                    </a:lnL>
                    <a:lnR>
                      <a:noFill/>
                    </a:lnR>
                    <a:lnT>
                      <a:noFill/>
                    </a:lnT>
                    <a:lnB>
                      <a:noFill/>
                    </a:lnB>
                    <a:noFill/>
                  </a:tcPr>
                </a:tc>
                <a:tc>
                  <a:txBody>
                    <a:bodyPr/>
                    <a:lstStyle/>
                    <a:p>
                      <a:r>
                        <a:rPr lang="en-US" sz="1100"/>
                        <a:t>1. Define the Command Pattern and identify its main components.</a:t>
                      </a:r>
                    </a:p>
                  </a:txBody>
                  <a:tcPr marL="56575" marR="56575" marT="28287" marB="28287" anchor="ctr">
                    <a:lnL>
                      <a:noFill/>
                    </a:lnL>
                    <a:lnR>
                      <a:noFill/>
                    </a:lnR>
                    <a:lnT>
                      <a:noFill/>
                    </a:lnT>
                    <a:lnB>
                      <a:noFill/>
                    </a:lnB>
                    <a:noFill/>
                  </a:tcPr>
                </a:tc>
                <a:extLst>
                  <a:ext uri="{0D108BD9-81ED-4DB2-BD59-A6C34878D82A}">
                    <a16:rowId xmlns:a16="http://schemas.microsoft.com/office/drawing/2014/main" val="2857494767"/>
                  </a:ext>
                </a:extLst>
              </a:tr>
              <a:tr h="565745">
                <a:tc>
                  <a:txBody>
                    <a:bodyPr/>
                    <a:lstStyle/>
                    <a:p>
                      <a:r>
                        <a:rPr lang="en-US" sz="1100" b="1"/>
                        <a:t>Understand</a:t>
                      </a:r>
                      <a:endParaRPr lang="en-US" sz="1100"/>
                    </a:p>
                  </a:txBody>
                  <a:tcPr marL="56575" marR="56575" marT="28287" marB="28287" anchor="ctr">
                    <a:lnL>
                      <a:noFill/>
                    </a:lnL>
                    <a:lnR>
                      <a:noFill/>
                    </a:lnR>
                    <a:lnT>
                      <a:noFill/>
                    </a:lnT>
                    <a:lnB>
                      <a:noFill/>
                    </a:lnB>
                    <a:noFill/>
                  </a:tcPr>
                </a:tc>
                <a:tc>
                  <a:txBody>
                    <a:bodyPr/>
                    <a:lstStyle/>
                    <a:p>
                      <a:r>
                        <a:rPr lang="en-US" sz="1100"/>
                        <a:t>2. Explain the purpose of the Command Pattern and how it encapsulates a request as an object.</a:t>
                      </a:r>
                    </a:p>
                  </a:txBody>
                  <a:tcPr marL="56575" marR="56575" marT="28287" marB="28287" anchor="ctr">
                    <a:lnL>
                      <a:noFill/>
                    </a:lnL>
                    <a:lnR>
                      <a:noFill/>
                    </a:lnR>
                    <a:lnT>
                      <a:noFill/>
                    </a:lnT>
                    <a:lnB>
                      <a:noFill/>
                    </a:lnB>
                    <a:noFill/>
                  </a:tcPr>
                </a:tc>
                <a:extLst>
                  <a:ext uri="{0D108BD9-81ED-4DB2-BD59-A6C34878D82A}">
                    <a16:rowId xmlns:a16="http://schemas.microsoft.com/office/drawing/2014/main" val="4086652506"/>
                  </a:ext>
                </a:extLst>
              </a:tr>
              <a:tr h="396022">
                <a:tc>
                  <a:txBody>
                    <a:bodyPr/>
                    <a:lstStyle/>
                    <a:p>
                      <a:r>
                        <a:rPr lang="en-US" sz="1100" b="1"/>
                        <a:t>Understand</a:t>
                      </a:r>
                      <a:endParaRPr lang="en-US" sz="1100"/>
                    </a:p>
                  </a:txBody>
                  <a:tcPr marL="56575" marR="56575" marT="28287" marB="28287" anchor="ctr">
                    <a:lnL>
                      <a:noFill/>
                    </a:lnL>
                    <a:lnR>
                      <a:noFill/>
                    </a:lnR>
                    <a:lnT>
                      <a:noFill/>
                    </a:lnT>
                    <a:lnB>
                      <a:noFill/>
                    </a:lnB>
                    <a:noFill/>
                  </a:tcPr>
                </a:tc>
                <a:tc>
                  <a:txBody>
                    <a:bodyPr/>
                    <a:lstStyle/>
                    <a:p>
                      <a:r>
                        <a:rPr lang="en-US" sz="1100"/>
                        <a:t>3. Explain how the Command Pattern can support undo and redo operations.</a:t>
                      </a:r>
                    </a:p>
                  </a:txBody>
                  <a:tcPr marL="56575" marR="56575" marT="28287" marB="28287" anchor="ctr">
                    <a:lnL>
                      <a:noFill/>
                    </a:lnL>
                    <a:lnR>
                      <a:noFill/>
                    </a:lnR>
                    <a:lnT>
                      <a:noFill/>
                    </a:lnT>
                    <a:lnB>
                      <a:noFill/>
                    </a:lnB>
                    <a:noFill/>
                  </a:tcPr>
                </a:tc>
                <a:extLst>
                  <a:ext uri="{0D108BD9-81ED-4DB2-BD59-A6C34878D82A}">
                    <a16:rowId xmlns:a16="http://schemas.microsoft.com/office/drawing/2014/main" val="3746235285"/>
                  </a:ext>
                </a:extLst>
              </a:tr>
              <a:tr h="735469">
                <a:tc>
                  <a:txBody>
                    <a:bodyPr/>
                    <a:lstStyle/>
                    <a:p>
                      <a:r>
                        <a:rPr lang="en-US" sz="1100" b="1"/>
                        <a:t>Apply</a:t>
                      </a:r>
                      <a:endParaRPr lang="en-US" sz="1100"/>
                    </a:p>
                  </a:txBody>
                  <a:tcPr marL="56575" marR="56575" marT="28287" marB="28287" anchor="ctr">
                    <a:lnL>
                      <a:noFill/>
                    </a:lnL>
                    <a:lnR>
                      <a:noFill/>
                    </a:lnR>
                    <a:lnT>
                      <a:noFill/>
                    </a:lnT>
                    <a:lnB>
                      <a:noFill/>
                    </a:lnB>
                    <a:noFill/>
                  </a:tcPr>
                </a:tc>
                <a:tc>
                  <a:txBody>
                    <a:bodyPr/>
                    <a:lstStyle/>
                    <a:p>
                      <a:r>
                        <a:rPr lang="en-US" sz="1100"/>
                        <a:t>4. Apply the Command Pattern to a text editor that supports Copy, Paste, Delete, and Undo operations. Identify the Command, Invoker, and Receiver.</a:t>
                      </a:r>
                    </a:p>
                  </a:txBody>
                  <a:tcPr marL="56575" marR="56575" marT="28287" marB="28287" anchor="ctr">
                    <a:lnL>
                      <a:noFill/>
                    </a:lnL>
                    <a:lnR>
                      <a:noFill/>
                    </a:lnR>
                    <a:lnT>
                      <a:noFill/>
                    </a:lnT>
                    <a:lnB>
                      <a:noFill/>
                    </a:lnB>
                    <a:noFill/>
                  </a:tcPr>
                </a:tc>
                <a:extLst>
                  <a:ext uri="{0D108BD9-81ED-4DB2-BD59-A6C34878D82A}">
                    <a16:rowId xmlns:a16="http://schemas.microsoft.com/office/drawing/2014/main" val="1183640529"/>
                  </a:ext>
                </a:extLst>
              </a:tr>
              <a:tr h="735469">
                <a:tc>
                  <a:txBody>
                    <a:bodyPr/>
                    <a:lstStyle/>
                    <a:p>
                      <a:r>
                        <a:rPr lang="en-US" sz="1100" b="1"/>
                        <a:t>Analyze</a:t>
                      </a:r>
                      <a:endParaRPr lang="en-US" sz="1100"/>
                    </a:p>
                  </a:txBody>
                  <a:tcPr marL="56575" marR="56575" marT="28287" marB="28287" anchor="ctr">
                    <a:lnL>
                      <a:noFill/>
                    </a:lnL>
                    <a:lnR>
                      <a:noFill/>
                    </a:lnR>
                    <a:lnT>
                      <a:noFill/>
                    </a:lnT>
                    <a:lnB>
                      <a:noFill/>
                    </a:lnB>
                    <a:noFill/>
                  </a:tcPr>
                </a:tc>
                <a:tc>
                  <a:txBody>
                    <a:bodyPr/>
                    <a:lstStyle/>
                    <a:p>
                      <a:r>
                        <a:rPr lang="en-US" sz="1100"/>
                        <a:t>5. Analyze how the Command Pattern reduces coupling between a graphical user-interface button and the object that performs the actual operation.</a:t>
                      </a:r>
                    </a:p>
                  </a:txBody>
                  <a:tcPr marL="56575" marR="56575" marT="28287" marB="28287" anchor="ctr">
                    <a:lnL>
                      <a:noFill/>
                    </a:lnL>
                    <a:lnR>
                      <a:noFill/>
                    </a:lnR>
                    <a:lnT>
                      <a:noFill/>
                    </a:lnT>
                    <a:lnB>
                      <a:noFill/>
                    </a:lnB>
                    <a:noFill/>
                  </a:tcPr>
                </a:tc>
                <a:extLst>
                  <a:ext uri="{0D108BD9-81ED-4DB2-BD59-A6C34878D82A}">
                    <a16:rowId xmlns:a16="http://schemas.microsoft.com/office/drawing/2014/main" val="185323593"/>
                  </a:ext>
                </a:extLst>
              </a:tr>
              <a:tr h="565745">
                <a:tc>
                  <a:txBody>
                    <a:bodyPr/>
                    <a:lstStyle/>
                    <a:p>
                      <a:r>
                        <a:rPr lang="en-US" sz="1100" b="1"/>
                        <a:t>Evaluate</a:t>
                      </a:r>
                      <a:endParaRPr lang="en-US" sz="1100"/>
                    </a:p>
                  </a:txBody>
                  <a:tcPr marL="56575" marR="56575" marT="28287" marB="28287" anchor="ctr">
                    <a:lnL>
                      <a:noFill/>
                    </a:lnL>
                    <a:lnR>
                      <a:noFill/>
                    </a:lnR>
                    <a:lnT>
                      <a:noFill/>
                    </a:lnT>
                    <a:lnB>
                      <a:noFill/>
                    </a:lnB>
                    <a:noFill/>
                  </a:tcPr>
                </a:tc>
                <a:tc>
                  <a:txBody>
                    <a:bodyPr/>
                    <a:lstStyle/>
                    <a:p>
                      <a:r>
                        <a:rPr lang="en-US" sz="1100"/>
                        <a:t>6. Evaluate the benefits of using the Command Pattern for queueing, logging, scheduling, and undo/redo operations.</a:t>
                      </a:r>
                    </a:p>
                  </a:txBody>
                  <a:tcPr marL="56575" marR="56575" marT="28287" marB="28287" anchor="ctr">
                    <a:lnL>
                      <a:noFill/>
                    </a:lnL>
                    <a:lnR>
                      <a:noFill/>
                    </a:lnR>
                    <a:lnT>
                      <a:noFill/>
                    </a:lnT>
                    <a:lnB>
                      <a:noFill/>
                    </a:lnB>
                    <a:noFill/>
                  </a:tcPr>
                </a:tc>
                <a:extLst>
                  <a:ext uri="{0D108BD9-81ED-4DB2-BD59-A6C34878D82A}">
                    <a16:rowId xmlns:a16="http://schemas.microsoft.com/office/drawing/2014/main" val="2172816963"/>
                  </a:ext>
                </a:extLst>
              </a:tr>
              <a:tr h="905193">
                <a:tc>
                  <a:txBody>
                    <a:bodyPr/>
                    <a:lstStyle/>
                    <a:p>
                      <a:r>
                        <a:rPr lang="en-US" sz="1100" b="1"/>
                        <a:t>Create</a:t>
                      </a:r>
                      <a:endParaRPr lang="en-US" sz="1100"/>
                    </a:p>
                  </a:txBody>
                  <a:tcPr marL="56575" marR="56575" marT="28287" marB="28287" anchor="ctr">
                    <a:lnL>
                      <a:noFill/>
                    </a:lnL>
                    <a:lnR>
                      <a:noFill/>
                    </a:lnR>
                    <a:lnT>
                      <a:noFill/>
                    </a:lnT>
                    <a:lnB>
                      <a:noFill/>
                    </a:lnB>
                    <a:noFill/>
                  </a:tcPr>
                </a:tc>
                <a:tc>
                  <a:txBody>
                    <a:bodyPr/>
                    <a:lstStyle/>
                    <a:p>
                      <a:r>
                        <a:rPr lang="en-US" sz="1100" dirty="0"/>
                        <a:t>7. Design a Java-based remote-control system using the Command Pattern where different buttons can execute different commands such as </a:t>
                      </a:r>
                      <a:r>
                        <a:rPr lang="en-US" sz="1100" dirty="0" err="1"/>
                        <a:t>LightOn</a:t>
                      </a:r>
                      <a:r>
                        <a:rPr lang="en-US" sz="1100" dirty="0"/>
                        <a:t>, </a:t>
                      </a:r>
                      <a:r>
                        <a:rPr lang="en-US" sz="1100" dirty="0" err="1"/>
                        <a:t>LightOff</a:t>
                      </a:r>
                      <a:r>
                        <a:rPr lang="en-US" sz="1100" dirty="0"/>
                        <a:t>, and </a:t>
                      </a:r>
                      <a:r>
                        <a:rPr lang="en-US" sz="1100" dirty="0" err="1"/>
                        <a:t>FanOn</a:t>
                      </a:r>
                      <a:r>
                        <a:rPr lang="en-US" sz="1100" dirty="0"/>
                        <a:t>.</a:t>
                      </a:r>
                    </a:p>
                  </a:txBody>
                  <a:tcPr marL="56575" marR="56575" marT="28287" marB="28287" anchor="ctr">
                    <a:lnL>
                      <a:noFill/>
                    </a:lnL>
                    <a:lnR>
                      <a:noFill/>
                    </a:lnR>
                    <a:lnT>
                      <a:noFill/>
                    </a:lnT>
                    <a:lnB>
                      <a:noFill/>
                    </a:lnB>
                    <a:noFill/>
                  </a:tcPr>
                </a:tc>
                <a:extLst>
                  <a:ext uri="{0D108BD9-81ED-4DB2-BD59-A6C34878D82A}">
                    <a16:rowId xmlns:a16="http://schemas.microsoft.com/office/drawing/2014/main" val="3898258604"/>
                  </a:ext>
                </a:extLst>
              </a:tr>
            </a:tbl>
          </a:graphicData>
        </a:graphic>
      </p:graphicFrame>
    </p:spTree>
    <p:extLst>
      <p:ext uri="{BB962C8B-B14F-4D97-AF65-F5344CB8AC3E}">
        <p14:creationId xmlns:p14="http://schemas.microsoft.com/office/powerpoint/2010/main" val="6627530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2789546" cy="523220"/>
          </a:xfrm>
          <a:prstGeom prst="rect">
            <a:avLst/>
          </a:prstGeom>
          <a:noFill/>
        </p:spPr>
        <p:txBody>
          <a:bodyPr wrap="none">
            <a:spAutoFit/>
          </a:bodyPr>
          <a:lstStyle/>
          <a:p>
            <a:pPr>
              <a:defRPr sz="2800" b="1">
                <a:latin typeface="Times New Roman"/>
              </a:defRPr>
            </a:pPr>
            <a:r>
              <a:rPr lang="en-US" dirty="0"/>
              <a:t>Sample </a:t>
            </a:r>
            <a:r>
              <a:rPr lang="en-US" dirty="0" err="1"/>
              <a:t>Quesiton</a:t>
            </a:r>
            <a:endParaRPr dirty="0"/>
          </a:p>
        </p:txBody>
      </p:sp>
      <p:sp>
        <p:nvSpPr>
          <p:cNvPr id="4" name="TextBox 3"/>
          <p:cNvSpPr txBox="1"/>
          <p:nvPr/>
        </p:nvSpPr>
        <p:spPr>
          <a:xfrm>
            <a:off x="10972800" y="6446520"/>
            <a:ext cx="457200" cy="182880"/>
          </a:xfrm>
          <a:prstGeom prst="rect">
            <a:avLst/>
          </a:prstGeom>
          <a:noFill/>
        </p:spPr>
        <p:txBody>
          <a:bodyPr wrap="none">
            <a:spAutoFit/>
          </a:bodyPr>
          <a:lstStyle/>
          <a:p>
            <a:pPr algn="r">
              <a:defRPr sz="1000">
                <a:latin typeface="Times New Roman"/>
              </a:defRPr>
            </a:pPr>
            <a:r>
              <a:t>19</a:t>
            </a:r>
          </a:p>
        </p:txBody>
      </p:sp>
      <p:graphicFrame>
        <p:nvGraphicFramePr>
          <p:cNvPr id="3" name="Table 2">
            <a:extLst>
              <a:ext uri="{FF2B5EF4-FFF2-40B4-BE49-F238E27FC236}">
                <a16:creationId xmlns:a16="http://schemas.microsoft.com/office/drawing/2014/main" id="{3B94DDC9-BE24-D78F-7BCE-5610A891404A}"/>
              </a:ext>
            </a:extLst>
          </p:cNvPr>
          <p:cNvGraphicFramePr>
            <a:graphicFrameLocks noGrp="1"/>
          </p:cNvGraphicFramePr>
          <p:nvPr>
            <p:extLst>
              <p:ext uri="{D42A27DB-BD31-4B8C-83A1-F6EECF244321}">
                <p14:modId xmlns:p14="http://schemas.microsoft.com/office/powerpoint/2010/main" val="2009038097"/>
              </p:ext>
            </p:extLst>
          </p:nvPr>
        </p:nvGraphicFramePr>
        <p:xfrm>
          <a:off x="144187" y="1513115"/>
          <a:ext cx="3878334" cy="4672881"/>
        </p:xfrm>
        <a:graphic>
          <a:graphicData uri="http://schemas.openxmlformats.org/drawingml/2006/table">
            <a:tbl>
              <a:tblPr/>
              <a:tblGrid>
                <a:gridCol w="680583">
                  <a:extLst>
                    <a:ext uri="{9D8B030D-6E8A-4147-A177-3AD203B41FA5}">
                      <a16:colId xmlns:a16="http://schemas.microsoft.com/office/drawing/2014/main" val="4134556865"/>
                    </a:ext>
                  </a:extLst>
                </a:gridCol>
                <a:gridCol w="3197751">
                  <a:extLst>
                    <a:ext uri="{9D8B030D-6E8A-4147-A177-3AD203B41FA5}">
                      <a16:colId xmlns:a16="http://schemas.microsoft.com/office/drawing/2014/main" val="4154896088"/>
                    </a:ext>
                  </a:extLst>
                </a:gridCol>
              </a:tblGrid>
              <a:tr h="210510">
                <a:tc>
                  <a:txBody>
                    <a:bodyPr/>
                    <a:lstStyle/>
                    <a:p>
                      <a:r>
                        <a:rPr lang="en-US" sz="1000"/>
                        <a:t>Bloom's Level</a:t>
                      </a:r>
                    </a:p>
                  </a:txBody>
                  <a:tcPr marL="52627" marR="52627" marT="26314" marB="26314" anchor="ctr">
                    <a:lnL>
                      <a:noFill/>
                    </a:lnL>
                    <a:lnR>
                      <a:noFill/>
                    </a:lnR>
                    <a:lnT>
                      <a:noFill/>
                    </a:lnT>
                    <a:lnB>
                      <a:noFill/>
                    </a:lnB>
                    <a:noFill/>
                  </a:tcPr>
                </a:tc>
                <a:tc>
                  <a:txBody>
                    <a:bodyPr/>
                    <a:lstStyle/>
                    <a:p>
                      <a:r>
                        <a:rPr lang="en-US" sz="1000"/>
                        <a:t>Question</a:t>
                      </a:r>
                    </a:p>
                  </a:txBody>
                  <a:tcPr marL="52627" marR="52627" marT="26314" marB="26314" anchor="ctr">
                    <a:lnL>
                      <a:noFill/>
                    </a:lnL>
                    <a:lnR>
                      <a:noFill/>
                    </a:lnR>
                    <a:lnT>
                      <a:noFill/>
                    </a:lnT>
                    <a:lnB>
                      <a:noFill/>
                    </a:lnB>
                    <a:noFill/>
                  </a:tcPr>
                </a:tc>
                <a:extLst>
                  <a:ext uri="{0D108BD9-81ED-4DB2-BD59-A6C34878D82A}">
                    <a16:rowId xmlns:a16="http://schemas.microsoft.com/office/drawing/2014/main" val="3401853746"/>
                  </a:ext>
                </a:extLst>
              </a:tr>
              <a:tr h="368392">
                <a:tc>
                  <a:txBody>
                    <a:bodyPr/>
                    <a:lstStyle/>
                    <a:p>
                      <a:r>
                        <a:rPr lang="en-US" sz="1000" b="1"/>
                        <a:t>Remember</a:t>
                      </a:r>
                      <a:endParaRPr lang="en-US" sz="1000"/>
                    </a:p>
                  </a:txBody>
                  <a:tcPr marL="52627" marR="52627" marT="26314" marB="26314" anchor="ctr">
                    <a:lnL>
                      <a:noFill/>
                    </a:lnL>
                    <a:lnR>
                      <a:noFill/>
                    </a:lnR>
                    <a:lnT>
                      <a:noFill/>
                    </a:lnT>
                    <a:lnB>
                      <a:noFill/>
                    </a:lnB>
                    <a:noFill/>
                  </a:tcPr>
                </a:tc>
                <a:tc>
                  <a:txBody>
                    <a:bodyPr/>
                    <a:lstStyle/>
                    <a:p>
                      <a:r>
                        <a:rPr lang="en-US" sz="1000"/>
                        <a:t>1. Name five behavioural design patterns discussed in Module 2.</a:t>
                      </a:r>
                    </a:p>
                  </a:txBody>
                  <a:tcPr marL="52627" marR="52627" marT="26314" marB="26314" anchor="ctr">
                    <a:lnL>
                      <a:noFill/>
                    </a:lnL>
                    <a:lnR>
                      <a:noFill/>
                    </a:lnR>
                    <a:lnT>
                      <a:noFill/>
                    </a:lnT>
                    <a:lnB>
                      <a:noFill/>
                    </a:lnB>
                    <a:noFill/>
                  </a:tcPr>
                </a:tc>
                <a:extLst>
                  <a:ext uri="{0D108BD9-81ED-4DB2-BD59-A6C34878D82A}">
                    <a16:rowId xmlns:a16="http://schemas.microsoft.com/office/drawing/2014/main" val="808881981"/>
                  </a:ext>
                </a:extLst>
              </a:tr>
              <a:tr h="368392">
                <a:tc>
                  <a:txBody>
                    <a:bodyPr/>
                    <a:lstStyle/>
                    <a:p>
                      <a:r>
                        <a:rPr lang="en-US" sz="1000" b="1"/>
                        <a:t>Understand</a:t>
                      </a:r>
                      <a:endParaRPr lang="en-US" sz="1000"/>
                    </a:p>
                  </a:txBody>
                  <a:tcPr marL="52627" marR="52627" marT="26314" marB="26314" anchor="ctr">
                    <a:lnL>
                      <a:noFill/>
                    </a:lnL>
                    <a:lnR>
                      <a:noFill/>
                    </a:lnR>
                    <a:lnT>
                      <a:noFill/>
                    </a:lnT>
                    <a:lnB>
                      <a:noFill/>
                    </a:lnB>
                    <a:noFill/>
                  </a:tcPr>
                </a:tc>
                <a:tc>
                  <a:txBody>
                    <a:bodyPr/>
                    <a:lstStyle/>
                    <a:p>
                      <a:r>
                        <a:rPr lang="en-US" sz="1000"/>
                        <a:t>2. Explain the main idea of the Template Method Pattern.</a:t>
                      </a:r>
                    </a:p>
                  </a:txBody>
                  <a:tcPr marL="52627" marR="52627" marT="26314" marB="26314" anchor="ctr">
                    <a:lnL>
                      <a:noFill/>
                    </a:lnL>
                    <a:lnR>
                      <a:noFill/>
                    </a:lnR>
                    <a:lnT>
                      <a:noFill/>
                    </a:lnT>
                    <a:lnB>
                      <a:noFill/>
                    </a:lnB>
                    <a:noFill/>
                  </a:tcPr>
                </a:tc>
                <a:extLst>
                  <a:ext uri="{0D108BD9-81ED-4DB2-BD59-A6C34878D82A}">
                    <a16:rowId xmlns:a16="http://schemas.microsoft.com/office/drawing/2014/main" val="1527614314"/>
                  </a:ext>
                </a:extLst>
              </a:tr>
              <a:tr h="526275">
                <a:tc>
                  <a:txBody>
                    <a:bodyPr/>
                    <a:lstStyle/>
                    <a:p>
                      <a:r>
                        <a:rPr lang="en-US" sz="1000" b="1"/>
                        <a:t>Understand</a:t>
                      </a:r>
                      <a:endParaRPr lang="en-US" sz="1000"/>
                    </a:p>
                  </a:txBody>
                  <a:tcPr marL="52627" marR="52627" marT="26314" marB="26314" anchor="ctr">
                    <a:lnL>
                      <a:noFill/>
                    </a:lnL>
                    <a:lnR>
                      <a:noFill/>
                    </a:lnR>
                    <a:lnT>
                      <a:noFill/>
                    </a:lnT>
                    <a:lnB>
                      <a:noFill/>
                    </a:lnB>
                    <a:noFill/>
                  </a:tcPr>
                </a:tc>
                <a:tc>
                  <a:txBody>
                    <a:bodyPr/>
                    <a:lstStyle/>
                    <a:p>
                      <a:r>
                        <a:rPr lang="en-US" sz="1000"/>
                        <a:t>3. Explain why the Chain of Responsibility Pattern reduces coupling between a request sender and request receiver.</a:t>
                      </a:r>
                    </a:p>
                  </a:txBody>
                  <a:tcPr marL="52627" marR="52627" marT="26314" marB="26314" anchor="ctr">
                    <a:lnL>
                      <a:noFill/>
                    </a:lnL>
                    <a:lnR>
                      <a:noFill/>
                    </a:lnR>
                    <a:lnT>
                      <a:noFill/>
                    </a:lnT>
                    <a:lnB>
                      <a:noFill/>
                    </a:lnB>
                    <a:noFill/>
                  </a:tcPr>
                </a:tc>
                <a:extLst>
                  <a:ext uri="{0D108BD9-81ED-4DB2-BD59-A6C34878D82A}">
                    <a16:rowId xmlns:a16="http://schemas.microsoft.com/office/drawing/2014/main" val="1263528424"/>
                  </a:ext>
                </a:extLst>
              </a:tr>
              <a:tr h="842040">
                <a:tc>
                  <a:txBody>
                    <a:bodyPr/>
                    <a:lstStyle/>
                    <a:p>
                      <a:r>
                        <a:rPr lang="en-US" sz="1000" b="1"/>
                        <a:t>Apply</a:t>
                      </a:r>
                      <a:endParaRPr lang="en-US" sz="1000"/>
                    </a:p>
                  </a:txBody>
                  <a:tcPr marL="52627" marR="52627" marT="26314" marB="26314" anchor="ctr">
                    <a:lnL>
                      <a:noFill/>
                    </a:lnL>
                    <a:lnR>
                      <a:noFill/>
                    </a:lnR>
                    <a:lnT>
                      <a:noFill/>
                    </a:lnT>
                    <a:lnB>
                      <a:noFill/>
                    </a:lnB>
                    <a:noFill/>
                  </a:tcPr>
                </a:tc>
                <a:tc>
                  <a:txBody>
                    <a:bodyPr/>
                    <a:lstStyle/>
                    <a:p>
                      <a:r>
                        <a:rPr lang="en-US" sz="1000" dirty="0"/>
                        <a:t>4. A university has several levels of approval: Teacher → Chairman → Dean → Vice Chancellor. Apply the Chain of Responsibility Pattern to this approval system.</a:t>
                      </a:r>
                    </a:p>
                  </a:txBody>
                  <a:tcPr marL="52627" marR="52627" marT="26314" marB="26314" anchor="ctr">
                    <a:lnL>
                      <a:noFill/>
                    </a:lnL>
                    <a:lnR>
                      <a:noFill/>
                    </a:lnR>
                    <a:lnT>
                      <a:noFill/>
                    </a:lnT>
                    <a:lnB>
                      <a:noFill/>
                    </a:lnB>
                    <a:noFill/>
                  </a:tcPr>
                </a:tc>
                <a:extLst>
                  <a:ext uri="{0D108BD9-81ED-4DB2-BD59-A6C34878D82A}">
                    <a16:rowId xmlns:a16="http://schemas.microsoft.com/office/drawing/2014/main" val="39509710"/>
                  </a:ext>
                </a:extLst>
              </a:tr>
              <a:tr h="842040">
                <a:tc>
                  <a:txBody>
                    <a:bodyPr/>
                    <a:lstStyle/>
                    <a:p>
                      <a:r>
                        <a:rPr lang="en-US" sz="1000" b="1"/>
                        <a:t>Analyze</a:t>
                      </a:r>
                      <a:endParaRPr lang="en-US" sz="1000"/>
                    </a:p>
                  </a:txBody>
                  <a:tcPr marL="52627" marR="52627" marT="26314" marB="26314" anchor="ctr">
                    <a:lnL>
                      <a:noFill/>
                    </a:lnL>
                    <a:lnR>
                      <a:noFill/>
                    </a:lnR>
                    <a:lnT>
                      <a:noFill/>
                    </a:lnT>
                    <a:lnB>
                      <a:noFill/>
                    </a:lnB>
                    <a:noFill/>
                  </a:tcPr>
                </a:tc>
                <a:tc>
                  <a:txBody>
                    <a:bodyPr/>
                    <a:lstStyle/>
                    <a:p>
                      <a:r>
                        <a:rPr lang="en-US" sz="1000"/>
                        <a:t>5. Analyze a program where an object's behavior is controlled by a large switch statement based on its current state. Identify the problem and explain how the State Pattern could improve it.</a:t>
                      </a:r>
                    </a:p>
                  </a:txBody>
                  <a:tcPr marL="52627" marR="52627" marT="26314" marB="26314" anchor="ctr">
                    <a:lnL>
                      <a:noFill/>
                    </a:lnL>
                    <a:lnR>
                      <a:noFill/>
                    </a:lnR>
                    <a:lnT>
                      <a:noFill/>
                    </a:lnT>
                    <a:lnB>
                      <a:noFill/>
                    </a:lnB>
                    <a:noFill/>
                  </a:tcPr>
                </a:tc>
                <a:extLst>
                  <a:ext uri="{0D108BD9-81ED-4DB2-BD59-A6C34878D82A}">
                    <a16:rowId xmlns:a16="http://schemas.microsoft.com/office/drawing/2014/main" val="417090118"/>
                  </a:ext>
                </a:extLst>
              </a:tr>
              <a:tr h="684157">
                <a:tc>
                  <a:txBody>
                    <a:bodyPr/>
                    <a:lstStyle/>
                    <a:p>
                      <a:r>
                        <a:rPr lang="en-US" sz="1000" b="1"/>
                        <a:t>Evaluate</a:t>
                      </a:r>
                      <a:endParaRPr lang="en-US" sz="1000"/>
                    </a:p>
                  </a:txBody>
                  <a:tcPr marL="52627" marR="52627" marT="26314" marB="26314" anchor="ctr">
                    <a:lnL>
                      <a:noFill/>
                    </a:lnL>
                    <a:lnR>
                      <a:noFill/>
                    </a:lnR>
                    <a:lnT>
                      <a:noFill/>
                    </a:lnT>
                    <a:lnB>
                      <a:noFill/>
                    </a:lnB>
                    <a:noFill/>
                  </a:tcPr>
                </a:tc>
                <a:tc>
                  <a:txBody>
                    <a:bodyPr/>
                    <a:lstStyle/>
                    <a:p>
                      <a:r>
                        <a:rPr lang="en-US" sz="1000"/>
                        <a:t>6. Evaluate the advantages and disadvantages of using the Chain of Responsibility Pattern when many handlers are present in the chain.</a:t>
                      </a:r>
                    </a:p>
                  </a:txBody>
                  <a:tcPr marL="52627" marR="52627" marT="26314" marB="26314" anchor="ctr">
                    <a:lnL>
                      <a:noFill/>
                    </a:lnL>
                    <a:lnR>
                      <a:noFill/>
                    </a:lnR>
                    <a:lnT>
                      <a:noFill/>
                    </a:lnT>
                    <a:lnB>
                      <a:noFill/>
                    </a:lnB>
                    <a:noFill/>
                  </a:tcPr>
                </a:tc>
                <a:extLst>
                  <a:ext uri="{0D108BD9-81ED-4DB2-BD59-A6C34878D82A}">
                    <a16:rowId xmlns:a16="http://schemas.microsoft.com/office/drawing/2014/main" val="1793518120"/>
                  </a:ext>
                </a:extLst>
              </a:tr>
              <a:tr h="684157">
                <a:tc>
                  <a:txBody>
                    <a:bodyPr/>
                    <a:lstStyle/>
                    <a:p>
                      <a:r>
                        <a:rPr lang="en-US" sz="1000" b="1"/>
                        <a:t>Create</a:t>
                      </a:r>
                      <a:endParaRPr lang="en-US" sz="1000"/>
                    </a:p>
                  </a:txBody>
                  <a:tcPr marL="52627" marR="52627" marT="26314" marB="26314" anchor="ctr">
                    <a:lnL>
                      <a:noFill/>
                    </a:lnL>
                    <a:lnR>
                      <a:noFill/>
                    </a:lnR>
                    <a:lnT>
                      <a:noFill/>
                    </a:lnT>
                    <a:lnB>
                      <a:noFill/>
                    </a:lnB>
                    <a:noFill/>
                  </a:tcPr>
                </a:tc>
                <a:tc>
                  <a:txBody>
                    <a:bodyPr/>
                    <a:lstStyle/>
                    <a:p>
                      <a:r>
                        <a:rPr lang="en-US" sz="1000" dirty="0"/>
                        <a:t>7. Design a Java-based customer-support system using the Chain of Responsibility Pattern with different support levels such as Level 1, Level 2, and Level 3 support.</a:t>
                      </a:r>
                    </a:p>
                  </a:txBody>
                  <a:tcPr marL="52627" marR="52627" marT="26314" marB="26314" anchor="ctr">
                    <a:lnL>
                      <a:noFill/>
                    </a:lnL>
                    <a:lnR>
                      <a:noFill/>
                    </a:lnR>
                    <a:lnT>
                      <a:noFill/>
                    </a:lnT>
                    <a:lnB>
                      <a:noFill/>
                    </a:lnB>
                    <a:noFill/>
                  </a:tcPr>
                </a:tc>
                <a:extLst>
                  <a:ext uri="{0D108BD9-81ED-4DB2-BD59-A6C34878D82A}">
                    <a16:rowId xmlns:a16="http://schemas.microsoft.com/office/drawing/2014/main" val="2868853805"/>
                  </a:ext>
                </a:extLst>
              </a:tr>
            </a:tbl>
          </a:graphicData>
        </a:graphic>
      </p:graphicFrame>
      <p:graphicFrame>
        <p:nvGraphicFramePr>
          <p:cNvPr id="5" name="Table 4">
            <a:extLst>
              <a:ext uri="{FF2B5EF4-FFF2-40B4-BE49-F238E27FC236}">
                <a16:creationId xmlns:a16="http://schemas.microsoft.com/office/drawing/2014/main" id="{07AA794B-2724-3F5B-B505-3B4EB4184996}"/>
              </a:ext>
            </a:extLst>
          </p:cNvPr>
          <p:cNvGraphicFramePr>
            <a:graphicFrameLocks noGrp="1"/>
          </p:cNvGraphicFramePr>
          <p:nvPr>
            <p:extLst>
              <p:ext uri="{D42A27DB-BD31-4B8C-83A1-F6EECF244321}">
                <p14:modId xmlns:p14="http://schemas.microsoft.com/office/powerpoint/2010/main" val="510386335"/>
              </p:ext>
            </p:extLst>
          </p:nvPr>
        </p:nvGraphicFramePr>
        <p:xfrm>
          <a:off x="4074509" y="1560353"/>
          <a:ext cx="3735641" cy="4672880"/>
        </p:xfrm>
        <a:graphic>
          <a:graphicData uri="http://schemas.openxmlformats.org/drawingml/2006/table">
            <a:tbl>
              <a:tblPr/>
              <a:tblGrid>
                <a:gridCol w="749161">
                  <a:extLst>
                    <a:ext uri="{9D8B030D-6E8A-4147-A177-3AD203B41FA5}">
                      <a16:colId xmlns:a16="http://schemas.microsoft.com/office/drawing/2014/main" val="417432300"/>
                    </a:ext>
                  </a:extLst>
                </a:gridCol>
                <a:gridCol w="2986480">
                  <a:extLst>
                    <a:ext uri="{9D8B030D-6E8A-4147-A177-3AD203B41FA5}">
                      <a16:colId xmlns:a16="http://schemas.microsoft.com/office/drawing/2014/main" val="1178416114"/>
                    </a:ext>
                  </a:extLst>
                </a:gridCol>
              </a:tblGrid>
              <a:tr h="210510">
                <a:tc>
                  <a:txBody>
                    <a:bodyPr/>
                    <a:lstStyle/>
                    <a:p>
                      <a:r>
                        <a:rPr lang="en-US" sz="1000"/>
                        <a:t>Bloom's Level</a:t>
                      </a:r>
                    </a:p>
                  </a:txBody>
                  <a:tcPr marL="52627" marR="52627" marT="26314" marB="26314" anchor="ctr">
                    <a:lnL>
                      <a:noFill/>
                    </a:lnL>
                    <a:lnR>
                      <a:noFill/>
                    </a:lnR>
                    <a:lnT>
                      <a:noFill/>
                    </a:lnT>
                    <a:lnB>
                      <a:noFill/>
                    </a:lnB>
                    <a:noFill/>
                  </a:tcPr>
                </a:tc>
                <a:tc>
                  <a:txBody>
                    <a:bodyPr/>
                    <a:lstStyle/>
                    <a:p>
                      <a:r>
                        <a:rPr lang="en-US" sz="1000"/>
                        <a:t>Question</a:t>
                      </a:r>
                    </a:p>
                  </a:txBody>
                  <a:tcPr marL="52627" marR="52627" marT="26314" marB="26314" anchor="ctr">
                    <a:lnL>
                      <a:noFill/>
                    </a:lnL>
                    <a:lnR>
                      <a:noFill/>
                    </a:lnR>
                    <a:lnT>
                      <a:noFill/>
                    </a:lnT>
                    <a:lnB>
                      <a:noFill/>
                    </a:lnB>
                    <a:noFill/>
                  </a:tcPr>
                </a:tc>
                <a:extLst>
                  <a:ext uri="{0D108BD9-81ED-4DB2-BD59-A6C34878D82A}">
                    <a16:rowId xmlns:a16="http://schemas.microsoft.com/office/drawing/2014/main" val="2662958868"/>
                  </a:ext>
                </a:extLst>
              </a:tr>
              <a:tr h="368392">
                <a:tc>
                  <a:txBody>
                    <a:bodyPr/>
                    <a:lstStyle/>
                    <a:p>
                      <a:r>
                        <a:rPr lang="en-US" sz="1000" b="1"/>
                        <a:t>Remember</a:t>
                      </a:r>
                      <a:endParaRPr lang="en-US" sz="1000"/>
                    </a:p>
                  </a:txBody>
                  <a:tcPr marL="52627" marR="52627" marT="26314" marB="26314" anchor="ctr">
                    <a:lnL>
                      <a:noFill/>
                    </a:lnL>
                    <a:lnR>
                      <a:noFill/>
                    </a:lnR>
                    <a:lnT>
                      <a:noFill/>
                    </a:lnT>
                    <a:lnB>
                      <a:noFill/>
                    </a:lnB>
                    <a:noFill/>
                  </a:tcPr>
                </a:tc>
                <a:tc>
                  <a:txBody>
                    <a:bodyPr/>
                    <a:lstStyle/>
                    <a:p>
                      <a:r>
                        <a:rPr lang="en-US" sz="1000"/>
                        <a:t>1. What is the Command Pattern? Name its major participants.</a:t>
                      </a:r>
                    </a:p>
                  </a:txBody>
                  <a:tcPr marL="52627" marR="52627" marT="26314" marB="26314" anchor="ctr">
                    <a:lnL>
                      <a:noFill/>
                    </a:lnL>
                    <a:lnR>
                      <a:noFill/>
                    </a:lnR>
                    <a:lnT>
                      <a:noFill/>
                    </a:lnT>
                    <a:lnB>
                      <a:noFill/>
                    </a:lnB>
                    <a:noFill/>
                  </a:tcPr>
                </a:tc>
                <a:extLst>
                  <a:ext uri="{0D108BD9-81ED-4DB2-BD59-A6C34878D82A}">
                    <a16:rowId xmlns:a16="http://schemas.microsoft.com/office/drawing/2014/main" val="3118811519"/>
                  </a:ext>
                </a:extLst>
              </a:tr>
              <a:tr h="368392">
                <a:tc>
                  <a:txBody>
                    <a:bodyPr/>
                    <a:lstStyle/>
                    <a:p>
                      <a:r>
                        <a:rPr lang="en-US" sz="1000" b="1"/>
                        <a:t>Understand</a:t>
                      </a:r>
                      <a:endParaRPr lang="en-US" sz="1000"/>
                    </a:p>
                  </a:txBody>
                  <a:tcPr marL="52627" marR="52627" marT="26314" marB="26314" anchor="ctr">
                    <a:lnL>
                      <a:noFill/>
                    </a:lnL>
                    <a:lnR>
                      <a:noFill/>
                    </a:lnR>
                    <a:lnT>
                      <a:noFill/>
                    </a:lnT>
                    <a:lnB>
                      <a:noFill/>
                    </a:lnB>
                    <a:noFill/>
                  </a:tcPr>
                </a:tc>
                <a:tc>
                  <a:txBody>
                    <a:bodyPr/>
                    <a:lstStyle/>
                    <a:p>
                      <a:r>
                        <a:rPr lang="en-US" sz="1000"/>
                        <a:t>2. Explain how the Command Pattern encapsulates a request as an object.</a:t>
                      </a:r>
                    </a:p>
                  </a:txBody>
                  <a:tcPr marL="52627" marR="52627" marT="26314" marB="26314" anchor="ctr">
                    <a:lnL>
                      <a:noFill/>
                    </a:lnL>
                    <a:lnR>
                      <a:noFill/>
                    </a:lnR>
                    <a:lnT>
                      <a:noFill/>
                    </a:lnT>
                    <a:lnB>
                      <a:noFill/>
                    </a:lnB>
                    <a:noFill/>
                  </a:tcPr>
                </a:tc>
                <a:extLst>
                  <a:ext uri="{0D108BD9-81ED-4DB2-BD59-A6C34878D82A}">
                    <a16:rowId xmlns:a16="http://schemas.microsoft.com/office/drawing/2014/main" val="2794841678"/>
                  </a:ext>
                </a:extLst>
              </a:tr>
              <a:tr h="526275">
                <a:tc>
                  <a:txBody>
                    <a:bodyPr/>
                    <a:lstStyle/>
                    <a:p>
                      <a:r>
                        <a:rPr lang="en-US" sz="1000" b="1"/>
                        <a:t>Understand</a:t>
                      </a:r>
                      <a:endParaRPr lang="en-US" sz="1000"/>
                    </a:p>
                  </a:txBody>
                  <a:tcPr marL="52627" marR="52627" marT="26314" marB="26314" anchor="ctr">
                    <a:lnL>
                      <a:noFill/>
                    </a:lnL>
                    <a:lnR>
                      <a:noFill/>
                    </a:lnR>
                    <a:lnT>
                      <a:noFill/>
                    </a:lnT>
                    <a:lnB>
                      <a:noFill/>
                    </a:lnB>
                    <a:noFill/>
                  </a:tcPr>
                </a:tc>
                <a:tc>
                  <a:txBody>
                    <a:bodyPr/>
                    <a:lstStyle/>
                    <a:p>
                      <a:r>
                        <a:rPr lang="en-US" sz="1000"/>
                        <a:t>3. Explain how the Command Pattern can support command queueing and scheduling.</a:t>
                      </a:r>
                    </a:p>
                  </a:txBody>
                  <a:tcPr marL="52627" marR="52627" marT="26314" marB="26314" anchor="ctr">
                    <a:lnL>
                      <a:noFill/>
                    </a:lnL>
                    <a:lnR>
                      <a:noFill/>
                    </a:lnR>
                    <a:lnT>
                      <a:noFill/>
                    </a:lnT>
                    <a:lnB>
                      <a:noFill/>
                    </a:lnB>
                    <a:noFill/>
                  </a:tcPr>
                </a:tc>
                <a:extLst>
                  <a:ext uri="{0D108BD9-81ED-4DB2-BD59-A6C34878D82A}">
                    <a16:rowId xmlns:a16="http://schemas.microsoft.com/office/drawing/2014/main" val="2730846394"/>
                  </a:ext>
                </a:extLst>
              </a:tr>
              <a:tr h="684157">
                <a:tc>
                  <a:txBody>
                    <a:bodyPr/>
                    <a:lstStyle/>
                    <a:p>
                      <a:r>
                        <a:rPr lang="en-US" sz="1000" b="1"/>
                        <a:t>Apply</a:t>
                      </a:r>
                      <a:endParaRPr lang="en-US" sz="1000"/>
                    </a:p>
                  </a:txBody>
                  <a:tcPr marL="52627" marR="52627" marT="26314" marB="26314" anchor="ctr">
                    <a:lnL>
                      <a:noFill/>
                    </a:lnL>
                    <a:lnR>
                      <a:noFill/>
                    </a:lnR>
                    <a:lnT>
                      <a:noFill/>
                    </a:lnT>
                    <a:lnB>
                      <a:noFill/>
                    </a:lnB>
                    <a:noFill/>
                  </a:tcPr>
                </a:tc>
                <a:tc>
                  <a:txBody>
                    <a:bodyPr/>
                    <a:lstStyle/>
                    <a:p>
                      <a:r>
                        <a:rPr lang="en-US" sz="1000"/>
                        <a:t>4. Apply the Command Pattern to a text editor that provides Copy, Paste, Delete, and Undo operations. Identify the Client, Command, Invoker, and Receiver.</a:t>
                      </a:r>
                    </a:p>
                  </a:txBody>
                  <a:tcPr marL="52627" marR="52627" marT="26314" marB="26314" anchor="ctr">
                    <a:lnL>
                      <a:noFill/>
                    </a:lnL>
                    <a:lnR>
                      <a:noFill/>
                    </a:lnR>
                    <a:lnT>
                      <a:noFill/>
                    </a:lnT>
                    <a:lnB>
                      <a:noFill/>
                    </a:lnB>
                    <a:noFill/>
                  </a:tcPr>
                </a:tc>
                <a:extLst>
                  <a:ext uri="{0D108BD9-81ED-4DB2-BD59-A6C34878D82A}">
                    <a16:rowId xmlns:a16="http://schemas.microsoft.com/office/drawing/2014/main" val="3082340435"/>
                  </a:ext>
                </a:extLst>
              </a:tr>
              <a:tr h="999922">
                <a:tc>
                  <a:txBody>
                    <a:bodyPr/>
                    <a:lstStyle/>
                    <a:p>
                      <a:r>
                        <a:rPr lang="en-US" sz="1000" b="1"/>
                        <a:t>Analyze</a:t>
                      </a:r>
                      <a:endParaRPr lang="en-US" sz="1000"/>
                    </a:p>
                  </a:txBody>
                  <a:tcPr marL="52627" marR="52627" marT="26314" marB="26314" anchor="ctr">
                    <a:lnL>
                      <a:noFill/>
                    </a:lnL>
                    <a:lnR>
                      <a:noFill/>
                    </a:lnR>
                    <a:lnT>
                      <a:noFill/>
                    </a:lnT>
                    <a:lnB>
                      <a:noFill/>
                    </a:lnB>
                    <a:noFill/>
                  </a:tcPr>
                </a:tc>
                <a:tc>
                  <a:txBody>
                    <a:bodyPr/>
                    <a:lstStyle/>
                    <a:p>
                      <a:r>
                        <a:rPr lang="en-US" sz="1000"/>
                        <a:t>5. Analyze a GUI application in which every button directly contains the application logic for performing its operation. Explain the coupling problem and how the Command Pattern can solve it.</a:t>
                      </a:r>
                    </a:p>
                  </a:txBody>
                  <a:tcPr marL="52627" marR="52627" marT="26314" marB="26314" anchor="ctr">
                    <a:lnL>
                      <a:noFill/>
                    </a:lnL>
                    <a:lnR>
                      <a:noFill/>
                    </a:lnR>
                    <a:lnT>
                      <a:noFill/>
                    </a:lnT>
                    <a:lnB>
                      <a:noFill/>
                    </a:lnB>
                    <a:noFill/>
                  </a:tcPr>
                </a:tc>
                <a:extLst>
                  <a:ext uri="{0D108BD9-81ED-4DB2-BD59-A6C34878D82A}">
                    <a16:rowId xmlns:a16="http://schemas.microsoft.com/office/drawing/2014/main" val="401496489"/>
                  </a:ext>
                </a:extLst>
              </a:tr>
              <a:tr h="684157">
                <a:tc>
                  <a:txBody>
                    <a:bodyPr/>
                    <a:lstStyle/>
                    <a:p>
                      <a:r>
                        <a:rPr lang="en-US" sz="1000" b="1"/>
                        <a:t>Evaluate</a:t>
                      </a:r>
                      <a:endParaRPr lang="en-US" sz="1000"/>
                    </a:p>
                  </a:txBody>
                  <a:tcPr marL="52627" marR="52627" marT="26314" marB="26314" anchor="ctr">
                    <a:lnL>
                      <a:noFill/>
                    </a:lnL>
                    <a:lnR>
                      <a:noFill/>
                    </a:lnR>
                    <a:lnT>
                      <a:noFill/>
                    </a:lnT>
                    <a:lnB>
                      <a:noFill/>
                    </a:lnB>
                    <a:noFill/>
                  </a:tcPr>
                </a:tc>
                <a:tc>
                  <a:txBody>
                    <a:bodyPr/>
                    <a:lstStyle/>
                    <a:p>
                      <a:r>
                        <a:rPr lang="en-US" sz="1000"/>
                        <a:t>6. Evaluate whether the Command Pattern is appropriate for implementing an undo/redo mechanism. Explain your reasoning.</a:t>
                      </a:r>
                    </a:p>
                  </a:txBody>
                  <a:tcPr marL="52627" marR="52627" marT="26314" marB="26314" anchor="ctr">
                    <a:lnL>
                      <a:noFill/>
                    </a:lnL>
                    <a:lnR>
                      <a:noFill/>
                    </a:lnR>
                    <a:lnT>
                      <a:noFill/>
                    </a:lnT>
                    <a:lnB>
                      <a:noFill/>
                    </a:lnB>
                    <a:noFill/>
                  </a:tcPr>
                </a:tc>
                <a:extLst>
                  <a:ext uri="{0D108BD9-81ED-4DB2-BD59-A6C34878D82A}">
                    <a16:rowId xmlns:a16="http://schemas.microsoft.com/office/drawing/2014/main" val="3506315375"/>
                  </a:ext>
                </a:extLst>
              </a:tr>
              <a:tr h="684157">
                <a:tc>
                  <a:txBody>
                    <a:bodyPr/>
                    <a:lstStyle/>
                    <a:p>
                      <a:r>
                        <a:rPr lang="en-US" sz="1000" b="1"/>
                        <a:t>Create</a:t>
                      </a:r>
                      <a:endParaRPr lang="en-US" sz="1000"/>
                    </a:p>
                  </a:txBody>
                  <a:tcPr marL="52627" marR="52627" marT="26314" marB="26314" anchor="ctr">
                    <a:lnL>
                      <a:noFill/>
                    </a:lnL>
                    <a:lnR>
                      <a:noFill/>
                    </a:lnR>
                    <a:lnT>
                      <a:noFill/>
                    </a:lnT>
                    <a:lnB>
                      <a:noFill/>
                    </a:lnB>
                    <a:noFill/>
                  </a:tcPr>
                </a:tc>
                <a:tc>
                  <a:txBody>
                    <a:bodyPr/>
                    <a:lstStyle/>
                    <a:p>
                      <a:r>
                        <a:rPr lang="en-US" sz="1000" dirty="0"/>
                        <a:t>7. Create a Java-based restaurant ordering system using the Command Pattern where orders can be created, queued, executed, and cancelled.</a:t>
                      </a:r>
                    </a:p>
                  </a:txBody>
                  <a:tcPr marL="52627" marR="52627" marT="26314" marB="26314" anchor="ctr">
                    <a:lnL>
                      <a:noFill/>
                    </a:lnL>
                    <a:lnR>
                      <a:noFill/>
                    </a:lnR>
                    <a:lnT>
                      <a:noFill/>
                    </a:lnT>
                    <a:lnB>
                      <a:noFill/>
                    </a:lnB>
                    <a:noFill/>
                  </a:tcPr>
                </a:tc>
                <a:extLst>
                  <a:ext uri="{0D108BD9-81ED-4DB2-BD59-A6C34878D82A}">
                    <a16:rowId xmlns:a16="http://schemas.microsoft.com/office/drawing/2014/main" val="3343796265"/>
                  </a:ext>
                </a:extLst>
              </a:tr>
            </a:tbl>
          </a:graphicData>
        </a:graphic>
      </p:graphicFrame>
      <p:graphicFrame>
        <p:nvGraphicFramePr>
          <p:cNvPr id="9" name="Table 8">
            <a:extLst>
              <a:ext uri="{FF2B5EF4-FFF2-40B4-BE49-F238E27FC236}">
                <a16:creationId xmlns:a16="http://schemas.microsoft.com/office/drawing/2014/main" id="{179C9922-4036-A252-7016-2FCD367110F9}"/>
              </a:ext>
            </a:extLst>
          </p:cNvPr>
          <p:cNvGraphicFramePr>
            <a:graphicFrameLocks noGrp="1"/>
          </p:cNvGraphicFramePr>
          <p:nvPr>
            <p:extLst>
              <p:ext uri="{D42A27DB-BD31-4B8C-83A1-F6EECF244321}">
                <p14:modId xmlns:p14="http://schemas.microsoft.com/office/powerpoint/2010/main" val="3238927748"/>
              </p:ext>
            </p:extLst>
          </p:nvPr>
        </p:nvGraphicFramePr>
        <p:xfrm>
          <a:off x="7894040" y="1457586"/>
          <a:ext cx="4060272" cy="4678204"/>
        </p:xfrm>
        <a:graphic>
          <a:graphicData uri="http://schemas.openxmlformats.org/drawingml/2006/table">
            <a:tbl>
              <a:tblPr/>
              <a:tblGrid>
                <a:gridCol w="807479">
                  <a:extLst>
                    <a:ext uri="{9D8B030D-6E8A-4147-A177-3AD203B41FA5}">
                      <a16:colId xmlns:a16="http://schemas.microsoft.com/office/drawing/2014/main" val="1093527566"/>
                    </a:ext>
                  </a:extLst>
                </a:gridCol>
                <a:gridCol w="3252793">
                  <a:extLst>
                    <a:ext uri="{9D8B030D-6E8A-4147-A177-3AD203B41FA5}">
                      <a16:colId xmlns:a16="http://schemas.microsoft.com/office/drawing/2014/main" val="2528317199"/>
                    </a:ext>
                  </a:extLst>
                </a:gridCol>
              </a:tblGrid>
              <a:tr h="203414">
                <a:tc>
                  <a:txBody>
                    <a:bodyPr/>
                    <a:lstStyle/>
                    <a:p>
                      <a:r>
                        <a:rPr lang="en-US" sz="1000"/>
                        <a:t>Bloom's Level</a:t>
                      </a:r>
                    </a:p>
                  </a:txBody>
                  <a:tcPr marL="50854" marR="50854" marT="25427" marB="25427" anchor="ctr">
                    <a:lnL>
                      <a:noFill/>
                    </a:lnL>
                    <a:lnR>
                      <a:noFill/>
                    </a:lnR>
                    <a:lnT>
                      <a:noFill/>
                    </a:lnT>
                    <a:lnB>
                      <a:noFill/>
                    </a:lnB>
                    <a:noFill/>
                  </a:tcPr>
                </a:tc>
                <a:tc>
                  <a:txBody>
                    <a:bodyPr/>
                    <a:lstStyle/>
                    <a:p>
                      <a:r>
                        <a:rPr lang="en-US" sz="1000"/>
                        <a:t>Question</a:t>
                      </a:r>
                    </a:p>
                  </a:txBody>
                  <a:tcPr marL="50854" marR="50854" marT="25427" marB="25427" anchor="ctr">
                    <a:lnL>
                      <a:noFill/>
                    </a:lnL>
                    <a:lnR>
                      <a:noFill/>
                    </a:lnR>
                    <a:lnT>
                      <a:noFill/>
                    </a:lnT>
                    <a:lnB>
                      <a:noFill/>
                    </a:lnB>
                    <a:noFill/>
                  </a:tcPr>
                </a:tc>
                <a:extLst>
                  <a:ext uri="{0D108BD9-81ED-4DB2-BD59-A6C34878D82A}">
                    <a16:rowId xmlns:a16="http://schemas.microsoft.com/office/drawing/2014/main" val="2586581597"/>
                  </a:ext>
                </a:extLst>
              </a:tr>
              <a:tr h="355975">
                <a:tc>
                  <a:txBody>
                    <a:bodyPr/>
                    <a:lstStyle/>
                    <a:p>
                      <a:r>
                        <a:rPr lang="en-US" sz="1000" b="1"/>
                        <a:t>Remember</a:t>
                      </a:r>
                      <a:endParaRPr lang="en-US" sz="1000"/>
                    </a:p>
                  </a:txBody>
                  <a:tcPr marL="50854" marR="50854" marT="25427" marB="25427" anchor="ctr">
                    <a:lnL>
                      <a:noFill/>
                    </a:lnL>
                    <a:lnR>
                      <a:noFill/>
                    </a:lnR>
                    <a:lnT>
                      <a:noFill/>
                    </a:lnT>
                    <a:lnB>
                      <a:noFill/>
                    </a:lnB>
                    <a:noFill/>
                  </a:tcPr>
                </a:tc>
                <a:tc>
                  <a:txBody>
                    <a:bodyPr/>
                    <a:lstStyle/>
                    <a:p>
                      <a:r>
                        <a:rPr lang="en-US" sz="1000"/>
                        <a:t>1. Define the Observer Pattern and identify the Subject and Observer.</a:t>
                      </a:r>
                    </a:p>
                  </a:txBody>
                  <a:tcPr marL="50854" marR="50854" marT="25427" marB="25427" anchor="ctr">
                    <a:lnL>
                      <a:noFill/>
                    </a:lnL>
                    <a:lnR>
                      <a:noFill/>
                    </a:lnR>
                    <a:lnT>
                      <a:noFill/>
                    </a:lnT>
                    <a:lnB>
                      <a:noFill/>
                    </a:lnB>
                    <a:noFill/>
                  </a:tcPr>
                </a:tc>
                <a:extLst>
                  <a:ext uri="{0D108BD9-81ED-4DB2-BD59-A6C34878D82A}">
                    <a16:rowId xmlns:a16="http://schemas.microsoft.com/office/drawing/2014/main" val="3810196266"/>
                  </a:ext>
                </a:extLst>
              </a:tr>
              <a:tr h="355975">
                <a:tc>
                  <a:txBody>
                    <a:bodyPr/>
                    <a:lstStyle/>
                    <a:p>
                      <a:r>
                        <a:rPr lang="en-US" sz="1000" b="1"/>
                        <a:t>Understand</a:t>
                      </a:r>
                      <a:endParaRPr lang="en-US" sz="1000"/>
                    </a:p>
                  </a:txBody>
                  <a:tcPr marL="50854" marR="50854" marT="25427" marB="25427" anchor="ctr">
                    <a:lnL>
                      <a:noFill/>
                    </a:lnL>
                    <a:lnR>
                      <a:noFill/>
                    </a:lnR>
                    <a:lnT>
                      <a:noFill/>
                    </a:lnT>
                    <a:lnB>
                      <a:noFill/>
                    </a:lnB>
                    <a:noFill/>
                  </a:tcPr>
                </a:tc>
                <a:tc>
                  <a:txBody>
                    <a:bodyPr/>
                    <a:lstStyle/>
                    <a:p>
                      <a:r>
                        <a:rPr lang="en-US" sz="1000"/>
                        <a:t>2. Explain the one-to-many relationship used by the Observer Pattern.</a:t>
                      </a:r>
                    </a:p>
                  </a:txBody>
                  <a:tcPr marL="50854" marR="50854" marT="25427" marB="25427" anchor="ctr">
                    <a:lnL>
                      <a:noFill/>
                    </a:lnL>
                    <a:lnR>
                      <a:noFill/>
                    </a:lnR>
                    <a:lnT>
                      <a:noFill/>
                    </a:lnT>
                    <a:lnB>
                      <a:noFill/>
                    </a:lnB>
                    <a:noFill/>
                  </a:tcPr>
                </a:tc>
                <a:extLst>
                  <a:ext uri="{0D108BD9-81ED-4DB2-BD59-A6C34878D82A}">
                    <a16:rowId xmlns:a16="http://schemas.microsoft.com/office/drawing/2014/main" val="2358820500"/>
                  </a:ext>
                </a:extLst>
              </a:tr>
              <a:tr h="508535">
                <a:tc>
                  <a:txBody>
                    <a:bodyPr/>
                    <a:lstStyle/>
                    <a:p>
                      <a:r>
                        <a:rPr lang="en-US" sz="1000" b="1"/>
                        <a:t>Understand</a:t>
                      </a:r>
                      <a:endParaRPr lang="en-US" sz="1000"/>
                    </a:p>
                  </a:txBody>
                  <a:tcPr marL="50854" marR="50854" marT="25427" marB="25427" anchor="ctr">
                    <a:lnL>
                      <a:noFill/>
                    </a:lnL>
                    <a:lnR>
                      <a:noFill/>
                    </a:lnR>
                    <a:lnT>
                      <a:noFill/>
                    </a:lnT>
                    <a:lnB>
                      <a:noFill/>
                    </a:lnB>
                    <a:noFill/>
                  </a:tcPr>
                </a:tc>
                <a:tc>
                  <a:txBody>
                    <a:bodyPr/>
                    <a:lstStyle/>
                    <a:p>
                      <a:r>
                        <a:rPr lang="en-US" sz="1000"/>
                        <a:t>3. Explain how the Observer Pattern reduces direct dependency between a subject and its dependent objects.</a:t>
                      </a:r>
                    </a:p>
                  </a:txBody>
                  <a:tcPr marL="50854" marR="50854" marT="25427" marB="25427" anchor="ctr">
                    <a:lnL>
                      <a:noFill/>
                    </a:lnL>
                    <a:lnR>
                      <a:noFill/>
                    </a:lnR>
                    <a:lnT>
                      <a:noFill/>
                    </a:lnT>
                    <a:lnB>
                      <a:noFill/>
                    </a:lnB>
                    <a:noFill/>
                  </a:tcPr>
                </a:tc>
                <a:extLst>
                  <a:ext uri="{0D108BD9-81ED-4DB2-BD59-A6C34878D82A}">
                    <a16:rowId xmlns:a16="http://schemas.microsoft.com/office/drawing/2014/main" val="3894269014"/>
                  </a:ext>
                </a:extLst>
              </a:tr>
              <a:tr h="661096">
                <a:tc>
                  <a:txBody>
                    <a:bodyPr/>
                    <a:lstStyle/>
                    <a:p>
                      <a:r>
                        <a:rPr lang="en-US" sz="1000" b="1"/>
                        <a:t>Apply</a:t>
                      </a:r>
                      <a:endParaRPr lang="en-US" sz="1000"/>
                    </a:p>
                  </a:txBody>
                  <a:tcPr marL="50854" marR="50854" marT="25427" marB="25427" anchor="ctr">
                    <a:lnL>
                      <a:noFill/>
                    </a:lnL>
                    <a:lnR>
                      <a:noFill/>
                    </a:lnR>
                    <a:lnT>
                      <a:noFill/>
                    </a:lnT>
                    <a:lnB>
                      <a:noFill/>
                    </a:lnB>
                    <a:noFill/>
                  </a:tcPr>
                </a:tc>
                <a:tc>
                  <a:txBody>
                    <a:bodyPr/>
                    <a:lstStyle/>
                    <a:p>
                      <a:r>
                        <a:rPr lang="en-US" sz="1000"/>
                        <a:t>4. Apply the Observer Pattern to an online news system where multiple users receive notifications whenever a new article is published.</a:t>
                      </a:r>
                    </a:p>
                  </a:txBody>
                  <a:tcPr marL="50854" marR="50854" marT="25427" marB="25427" anchor="ctr">
                    <a:lnL>
                      <a:noFill/>
                    </a:lnL>
                    <a:lnR>
                      <a:noFill/>
                    </a:lnR>
                    <a:lnT>
                      <a:noFill/>
                    </a:lnT>
                    <a:lnB>
                      <a:noFill/>
                    </a:lnB>
                    <a:noFill/>
                  </a:tcPr>
                </a:tc>
                <a:extLst>
                  <a:ext uri="{0D108BD9-81ED-4DB2-BD59-A6C34878D82A}">
                    <a16:rowId xmlns:a16="http://schemas.microsoft.com/office/drawing/2014/main" val="4183897967"/>
                  </a:ext>
                </a:extLst>
              </a:tr>
              <a:tr h="966217">
                <a:tc>
                  <a:txBody>
                    <a:bodyPr/>
                    <a:lstStyle/>
                    <a:p>
                      <a:r>
                        <a:rPr lang="en-US" sz="1000" b="1"/>
                        <a:t>Analyze</a:t>
                      </a:r>
                      <a:endParaRPr lang="en-US" sz="1000"/>
                    </a:p>
                  </a:txBody>
                  <a:tcPr marL="50854" marR="50854" marT="25427" marB="25427" anchor="ctr">
                    <a:lnL>
                      <a:noFill/>
                    </a:lnL>
                    <a:lnR>
                      <a:noFill/>
                    </a:lnR>
                    <a:lnT>
                      <a:noFill/>
                    </a:lnT>
                    <a:lnB>
                      <a:noFill/>
                    </a:lnB>
                    <a:noFill/>
                  </a:tcPr>
                </a:tc>
                <a:tc>
                  <a:txBody>
                    <a:bodyPr/>
                    <a:lstStyle/>
                    <a:p>
                      <a:r>
                        <a:rPr lang="en-US" sz="1000"/>
                        <a:t>5. Analyze a weather-monitoring system where the weather station directly calls update methods on every display component. Explain the design problems and suggest how the Observer Pattern could improve the system.</a:t>
                      </a:r>
                    </a:p>
                  </a:txBody>
                  <a:tcPr marL="50854" marR="50854" marT="25427" marB="25427" anchor="ctr">
                    <a:lnL>
                      <a:noFill/>
                    </a:lnL>
                    <a:lnR>
                      <a:noFill/>
                    </a:lnR>
                    <a:lnT>
                      <a:noFill/>
                    </a:lnT>
                    <a:lnB>
                      <a:noFill/>
                    </a:lnB>
                    <a:noFill/>
                  </a:tcPr>
                </a:tc>
                <a:extLst>
                  <a:ext uri="{0D108BD9-81ED-4DB2-BD59-A6C34878D82A}">
                    <a16:rowId xmlns:a16="http://schemas.microsoft.com/office/drawing/2014/main" val="2681959495"/>
                  </a:ext>
                </a:extLst>
              </a:tr>
              <a:tr h="661096">
                <a:tc>
                  <a:txBody>
                    <a:bodyPr/>
                    <a:lstStyle/>
                    <a:p>
                      <a:r>
                        <a:rPr lang="en-US" sz="1000" b="1"/>
                        <a:t>Evaluate</a:t>
                      </a:r>
                      <a:endParaRPr lang="en-US" sz="1000"/>
                    </a:p>
                  </a:txBody>
                  <a:tcPr marL="50854" marR="50854" marT="25427" marB="25427" anchor="ctr">
                    <a:lnL>
                      <a:noFill/>
                    </a:lnL>
                    <a:lnR>
                      <a:noFill/>
                    </a:lnR>
                    <a:lnT>
                      <a:noFill/>
                    </a:lnT>
                    <a:lnB>
                      <a:noFill/>
                    </a:lnB>
                    <a:noFill/>
                  </a:tcPr>
                </a:tc>
                <a:tc>
                  <a:txBody>
                    <a:bodyPr/>
                    <a:lstStyle/>
                    <a:p>
                      <a:r>
                        <a:rPr lang="en-US" sz="1000"/>
                        <a:t>6. Compare the Observer Pattern with manually notifying every dependent object. Evaluate the advantages of using the Observer Pattern.</a:t>
                      </a:r>
                    </a:p>
                  </a:txBody>
                  <a:tcPr marL="50854" marR="50854" marT="25427" marB="25427" anchor="ctr">
                    <a:lnL>
                      <a:noFill/>
                    </a:lnL>
                    <a:lnR>
                      <a:noFill/>
                    </a:lnR>
                    <a:lnT>
                      <a:noFill/>
                    </a:lnT>
                    <a:lnB>
                      <a:noFill/>
                    </a:lnB>
                    <a:noFill/>
                  </a:tcPr>
                </a:tc>
                <a:extLst>
                  <a:ext uri="{0D108BD9-81ED-4DB2-BD59-A6C34878D82A}">
                    <a16:rowId xmlns:a16="http://schemas.microsoft.com/office/drawing/2014/main" val="3157556849"/>
                  </a:ext>
                </a:extLst>
              </a:tr>
              <a:tr h="813656">
                <a:tc>
                  <a:txBody>
                    <a:bodyPr/>
                    <a:lstStyle/>
                    <a:p>
                      <a:r>
                        <a:rPr lang="en-US" sz="1000" b="1"/>
                        <a:t>Create</a:t>
                      </a:r>
                      <a:endParaRPr lang="en-US" sz="1000"/>
                    </a:p>
                  </a:txBody>
                  <a:tcPr marL="50854" marR="50854" marT="25427" marB="25427" anchor="ctr">
                    <a:lnL>
                      <a:noFill/>
                    </a:lnL>
                    <a:lnR>
                      <a:noFill/>
                    </a:lnR>
                    <a:lnT>
                      <a:noFill/>
                    </a:lnT>
                    <a:lnB>
                      <a:noFill/>
                    </a:lnB>
                    <a:noFill/>
                  </a:tcPr>
                </a:tc>
                <a:tc>
                  <a:txBody>
                    <a:bodyPr/>
                    <a:lstStyle/>
                    <a:p>
                      <a:r>
                        <a:rPr lang="en-US" sz="1000" dirty="0"/>
                        <a:t>7. Design a Java-based stock-price monitoring system using the Observer Pattern. Include a </a:t>
                      </a:r>
                      <a:r>
                        <a:rPr lang="en-US" sz="1000" dirty="0" err="1"/>
                        <a:t>StockMarket</a:t>
                      </a:r>
                      <a:r>
                        <a:rPr lang="en-US" sz="1000" dirty="0"/>
                        <a:t> Subject and at least three different Observer classes.</a:t>
                      </a:r>
                    </a:p>
                  </a:txBody>
                  <a:tcPr marL="50854" marR="50854" marT="25427" marB="25427" anchor="ctr">
                    <a:lnL>
                      <a:noFill/>
                    </a:lnL>
                    <a:lnR>
                      <a:noFill/>
                    </a:lnR>
                    <a:lnT>
                      <a:noFill/>
                    </a:lnT>
                    <a:lnB>
                      <a:noFill/>
                    </a:lnB>
                    <a:noFill/>
                  </a:tcPr>
                </a:tc>
                <a:extLst>
                  <a:ext uri="{0D108BD9-81ED-4DB2-BD59-A6C34878D82A}">
                    <a16:rowId xmlns:a16="http://schemas.microsoft.com/office/drawing/2014/main" val="3318096480"/>
                  </a:ext>
                </a:extLst>
              </a:tr>
            </a:tbl>
          </a:graphicData>
        </a:graphic>
      </p:graphicFrame>
    </p:spTree>
    <p:extLst>
      <p:ext uri="{BB962C8B-B14F-4D97-AF65-F5344CB8AC3E}">
        <p14:creationId xmlns:p14="http://schemas.microsoft.com/office/powerpoint/2010/main" val="4185012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TotalTime>
  <Words>6537</Words>
  <Application>Microsoft Office PowerPoint</Application>
  <PresentationFormat>Widescreen</PresentationFormat>
  <Paragraphs>695</Paragraphs>
  <Slides>51</Slides>
  <Notes>18</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游ゴシック</vt: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generated using python-pptx</dc:description>
  <cp:lastModifiedBy>Abu Saleh Musa  Miah</cp:lastModifiedBy>
  <cp:revision>27</cp:revision>
  <dcterms:created xsi:type="dcterms:W3CDTF">2013-01-27T09:14:16Z</dcterms:created>
  <dcterms:modified xsi:type="dcterms:W3CDTF">2026-08-28T04:30:36Z</dcterms:modified>
  <cp:category/>
</cp:coreProperties>
</file>