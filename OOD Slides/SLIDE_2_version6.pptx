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413" r:id="rId4"/>
    <p:sldId id="336" r:id="rId5"/>
    <p:sldId id="378" r:id="rId6"/>
    <p:sldId id="397" r:id="rId7"/>
    <p:sldId id="415" r:id="rId8"/>
    <p:sldId id="398" r:id="rId9"/>
    <p:sldId id="414" r:id="rId10"/>
    <p:sldId id="416" r:id="rId11"/>
    <p:sldId id="399" r:id="rId12"/>
    <p:sldId id="380" r:id="rId13"/>
    <p:sldId id="417" r:id="rId14"/>
    <p:sldId id="381" r:id="rId15"/>
    <p:sldId id="379" r:id="rId16"/>
    <p:sldId id="382" r:id="rId17"/>
    <p:sldId id="377" r:id="rId18"/>
    <p:sldId id="401" r:id="rId19"/>
    <p:sldId id="402" r:id="rId20"/>
    <p:sldId id="400" r:id="rId21"/>
    <p:sldId id="404" r:id="rId22"/>
    <p:sldId id="403" r:id="rId23"/>
    <p:sldId id="418" r:id="rId24"/>
    <p:sldId id="383" r:id="rId25"/>
    <p:sldId id="369" r:id="rId26"/>
    <p:sldId id="387" r:id="rId27"/>
    <p:sldId id="386" r:id="rId28"/>
    <p:sldId id="405" r:id="rId29"/>
    <p:sldId id="406" r:id="rId30"/>
    <p:sldId id="407" r:id="rId31"/>
    <p:sldId id="408" r:id="rId32"/>
    <p:sldId id="371" r:id="rId33"/>
    <p:sldId id="419" r:id="rId34"/>
    <p:sldId id="388" r:id="rId35"/>
    <p:sldId id="389" r:id="rId36"/>
    <p:sldId id="372" r:id="rId37"/>
    <p:sldId id="409" r:id="rId38"/>
    <p:sldId id="410" r:id="rId39"/>
    <p:sldId id="411" r:id="rId40"/>
    <p:sldId id="412" r:id="rId41"/>
    <p:sldId id="373" r:id="rId42"/>
    <p:sldId id="420" r:id="rId43"/>
    <p:sldId id="384" r:id="rId44"/>
    <p:sldId id="390" r:id="rId45"/>
    <p:sldId id="391" r:id="rId46"/>
    <p:sldId id="374" r:id="rId47"/>
    <p:sldId id="392" r:id="rId48"/>
    <p:sldId id="375" r:id="rId49"/>
    <p:sldId id="421" r:id="rId50"/>
    <p:sldId id="376" r:id="rId51"/>
    <p:sldId id="393" r:id="rId52"/>
    <p:sldId id="394" r:id="rId53"/>
    <p:sldId id="395" r:id="rId54"/>
    <p:sldId id="385" r:id="rId55"/>
    <p:sldId id="295" r:id="rId56"/>
    <p:sldId id="298" r:id="rId57"/>
    <p:sldId id="396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87843" autoAdjust="0"/>
  </p:normalViewPr>
  <p:slideViewPr>
    <p:cSldViewPr>
      <p:cViewPr varScale="1">
        <p:scale>
          <a:sx n="72" d="100"/>
          <a:sy n="72" d="100"/>
        </p:scale>
        <p:origin x="176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4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2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B0601-F296-42D9-A69B-4895C0FEFABA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11DCF-9C25-4121-98B8-1A71B48A3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82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b="1" dirty="0"/>
              <a:t>Object-Oriented Analysis and Design:</a:t>
            </a:r>
            <a:r>
              <a:rPr lang="en-US" altLang="ja-JP" dirty="0"/>
              <a:t> Good software design begins before coding. After establishing the initial software requirements, design practices involve two main activities: conceptual design and technical design, importance of design and object-oriented thinking, and how to design software using techniques like CRC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56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A8297-253D-6E5B-656C-F6F6BED2A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67804E-DDE9-DBB9-23F2-B6B9EE172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896F1-20D3-1D32-0521-140CA737C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BEC07-F27E-97E5-90B6-240CF7F12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23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28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05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87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5DFE1-4B22-82A3-0B82-1D75F5440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D802F-AA28-7506-DD09-A83207BFE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F1FA6-4D45-14C9-803F-254F2259A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550A4-1D4B-0ED9-8132-8F40A8C82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00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17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B9A44-5AF6-9CE4-45C2-6BE247A13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E47FC-0ACF-0048-8389-175E2DC1D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74159A-3CFB-E3CC-C72B-DFDF718EA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65E7F-B7DC-EF5D-301A-793A4C632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48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27F3F-3D31-C666-2C83-88CE7ED9E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38856-53B4-11FD-3621-1C8A773EC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E6CFB-1115-B333-E2C6-945F7C5D2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56860-F4F3-E802-7B8C-6F355DA91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52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 time, the system evolves — e.g., adding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yield prediction models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(control), new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disease detection sensors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(entity), or a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 for farmers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(boundary)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165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A </a:t>
            </a:r>
            <a:r>
              <a:rPr lang="en-US" altLang="ja-JP" b="1" dirty="0"/>
              <a:t>programming paradigm</a:t>
            </a:r>
            <a:r>
              <a:rPr lang="en-US" altLang="ja-JP" dirty="0"/>
              <a:t> is a </a:t>
            </a:r>
            <a:r>
              <a:rPr lang="en-US" altLang="ja-JP" b="1" dirty="0"/>
              <a:t>style of programming</a:t>
            </a:r>
            <a:r>
              <a:rPr lang="en-US" altLang="ja-JP" dirty="0"/>
              <a:t> that defines </a:t>
            </a:r>
            <a:r>
              <a:rPr lang="en-US" altLang="ja-JP" i="1" dirty="0"/>
              <a:t>how code is structured and how problems are solved</a:t>
            </a:r>
            <a:r>
              <a:rPr lang="en-US" altLang="ja-JP" dirty="0"/>
              <a:t>. Different paradigms provide different ways of thinking: </a:t>
            </a:r>
            <a:r>
              <a:rPr lang="en-US" altLang="ja-JP" i="1" dirty="0"/>
              <a:t>step-by-step (imperative)</a:t>
            </a:r>
            <a:r>
              <a:rPr lang="en-US" altLang="ja-JP" dirty="0"/>
              <a:t>, </a:t>
            </a:r>
            <a:r>
              <a:rPr lang="en-US" altLang="ja-JP" i="1" dirty="0"/>
              <a:t>by describing results (declarative)</a:t>
            </a:r>
            <a:r>
              <a:rPr lang="en-US" altLang="ja-JP" dirty="0"/>
              <a:t>, </a:t>
            </a:r>
            <a:r>
              <a:rPr lang="en-US" altLang="ja-JP" i="1" dirty="0"/>
              <a:t>with objects (OOP)</a:t>
            </a:r>
            <a:r>
              <a:rPr lang="en-US" altLang="ja-JP" dirty="0"/>
              <a:t>, </a:t>
            </a:r>
            <a:r>
              <a:rPr lang="en-US" altLang="ja-JP" i="1" dirty="0"/>
              <a:t>with pure functions (functional)</a:t>
            </a:r>
            <a:r>
              <a:rPr lang="en-US" altLang="ja-JP" dirty="0"/>
              <a:t>, or </a:t>
            </a:r>
            <a:r>
              <a:rPr lang="en-US" altLang="ja-JP" i="1" dirty="0"/>
              <a:t>with rules (logic)</a:t>
            </a:r>
            <a:r>
              <a:rPr lang="en-US" altLang="ja-JP" dirty="0"/>
              <a:t>. </a:t>
            </a:r>
            <a:r>
              <a:rPr lang="en-US" altLang="ja-JP" b="1" dirty="0"/>
              <a:t>Meaning of Programming Paradigms</a:t>
            </a:r>
          </a:p>
          <a:p>
            <a:r>
              <a:rPr lang="en-US" altLang="ja-JP" dirty="0"/>
              <a:t>A </a:t>
            </a:r>
            <a:r>
              <a:rPr lang="en-US" altLang="ja-JP" b="1" dirty="0"/>
              <a:t>programming paradigm</a:t>
            </a:r>
            <a:r>
              <a:rPr lang="en-US" altLang="ja-JP" dirty="0"/>
              <a:t> is a </a:t>
            </a:r>
            <a:r>
              <a:rPr lang="en-US" altLang="ja-JP" b="1" dirty="0"/>
              <a:t>style, approach, or way of thinking</a:t>
            </a:r>
            <a:r>
              <a:rPr lang="en-US" altLang="ja-JP" dirty="0"/>
              <a:t> about how to write and organize computer programs.</a:t>
            </a:r>
            <a:br>
              <a:rPr lang="en-US" altLang="ja-JP" dirty="0"/>
            </a:br>
            <a:r>
              <a:rPr lang="en-US" altLang="ja-JP" dirty="0"/>
              <a:t>It defines </a:t>
            </a:r>
            <a:r>
              <a:rPr lang="en-US" altLang="ja-JP" b="1" dirty="0"/>
              <a:t>how problems are solved</a:t>
            </a:r>
            <a:r>
              <a:rPr lang="en-US" altLang="ja-JP" dirty="0"/>
              <a:t> and </a:t>
            </a:r>
            <a:r>
              <a:rPr lang="en-US" altLang="ja-JP" b="1" dirty="0"/>
              <a:t>how solutions are structured in code</a:t>
            </a:r>
            <a:r>
              <a:rPr lang="en-US" altLang="ja-JP" dirty="0"/>
              <a:t>.</a:t>
            </a:r>
          </a:p>
          <a:p>
            <a:r>
              <a:rPr lang="en-US" altLang="ja-JP" dirty="0"/>
              <a:t>Different paradigms give different rules, concepts, and tools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How data is represented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How instructions are executed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How programs are structured (e.g., functions, objects, rules, flows)</a:t>
            </a:r>
          </a:p>
          <a:p>
            <a:r>
              <a:rPr lang="en-US" altLang="ja-JP" dirty="0"/>
              <a:t>Think of paradigms as </a:t>
            </a:r>
            <a:r>
              <a:rPr lang="en-US" altLang="ja-JP" b="1" dirty="0"/>
              <a:t>“mindsets” or “philosophies” of programming</a:t>
            </a:r>
            <a:r>
              <a:rPr lang="en-US" altLang="ja-JP" dirty="0"/>
              <a:t>. Just like in human languages, different paradigms offer different grammar and expressions to describe solutions.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48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6AAF9-6339-92F3-6F7D-4B256EFF9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19C11-5F9D-E459-C2BB-BD2830647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D27DA-3C5F-5D47-89E7-4850A9463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A </a:t>
            </a:r>
            <a:r>
              <a:rPr lang="en-US" altLang="ja-JP" b="1" dirty="0"/>
              <a:t>programming paradigm</a:t>
            </a:r>
            <a:r>
              <a:rPr lang="en-US" altLang="ja-JP" dirty="0"/>
              <a:t> is a </a:t>
            </a:r>
            <a:r>
              <a:rPr lang="en-US" altLang="ja-JP" b="1" dirty="0"/>
              <a:t>style of programming</a:t>
            </a:r>
            <a:r>
              <a:rPr lang="en-US" altLang="ja-JP" dirty="0"/>
              <a:t> that defines </a:t>
            </a:r>
            <a:r>
              <a:rPr lang="en-US" altLang="ja-JP" i="1" dirty="0"/>
              <a:t>how code is structured and how problems are solved</a:t>
            </a:r>
            <a:r>
              <a:rPr lang="en-US" altLang="ja-JP" dirty="0"/>
              <a:t>. Different paradigms provide different ways of thinking: </a:t>
            </a:r>
            <a:r>
              <a:rPr lang="en-US" altLang="ja-JP" i="1" dirty="0"/>
              <a:t>step-by-step (imperative)</a:t>
            </a:r>
            <a:r>
              <a:rPr lang="en-US" altLang="ja-JP" dirty="0"/>
              <a:t>, </a:t>
            </a:r>
            <a:r>
              <a:rPr lang="en-US" altLang="ja-JP" i="1" dirty="0"/>
              <a:t>by describing results (declarative)</a:t>
            </a:r>
            <a:r>
              <a:rPr lang="en-US" altLang="ja-JP" dirty="0"/>
              <a:t>, </a:t>
            </a:r>
            <a:r>
              <a:rPr lang="en-US" altLang="ja-JP" i="1" dirty="0"/>
              <a:t>with objects (OOP)</a:t>
            </a:r>
            <a:r>
              <a:rPr lang="en-US" altLang="ja-JP" dirty="0"/>
              <a:t>, </a:t>
            </a:r>
            <a:r>
              <a:rPr lang="en-US" altLang="ja-JP" i="1" dirty="0"/>
              <a:t>with pure functions (functional)</a:t>
            </a:r>
            <a:r>
              <a:rPr lang="en-US" altLang="ja-JP" dirty="0"/>
              <a:t>, or </a:t>
            </a:r>
            <a:r>
              <a:rPr lang="en-US" altLang="ja-JP" i="1" dirty="0"/>
              <a:t>with rules (logic)</a:t>
            </a:r>
            <a:r>
              <a:rPr lang="en-US" altLang="ja-JP" dirty="0"/>
              <a:t>. </a:t>
            </a:r>
            <a:r>
              <a:rPr lang="en-US" altLang="ja-JP" b="1" dirty="0"/>
              <a:t>Meaning of Programming Paradigms</a:t>
            </a:r>
          </a:p>
          <a:p>
            <a:r>
              <a:rPr lang="en-US" altLang="ja-JP" dirty="0"/>
              <a:t>A </a:t>
            </a:r>
            <a:r>
              <a:rPr lang="en-US" altLang="ja-JP" b="1" dirty="0"/>
              <a:t>programming paradigm</a:t>
            </a:r>
            <a:r>
              <a:rPr lang="en-US" altLang="ja-JP" dirty="0"/>
              <a:t> is a </a:t>
            </a:r>
            <a:r>
              <a:rPr lang="en-US" altLang="ja-JP" b="1" dirty="0"/>
              <a:t>style, approach, or way of thinking</a:t>
            </a:r>
            <a:r>
              <a:rPr lang="en-US" altLang="ja-JP" dirty="0"/>
              <a:t> about how to write and organize computer programs.</a:t>
            </a:r>
            <a:br>
              <a:rPr lang="en-US" altLang="ja-JP" dirty="0"/>
            </a:br>
            <a:r>
              <a:rPr lang="en-US" altLang="ja-JP" dirty="0"/>
              <a:t>It defines </a:t>
            </a:r>
            <a:r>
              <a:rPr lang="en-US" altLang="ja-JP" b="1" dirty="0"/>
              <a:t>how problems are solved</a:t>
            </a:r>
            <a:r>
              <a:rPr lang="en-US" altLang="ja-JP" dirty="0"/>
              <a:t> and </a:t>
            </a:r>
            <a:r>
              <a:rPr lang="en-US" altLang="ja-JP" b="1" dirty="0"/>
              <a:t>how solutions are structured in code</a:t>
            </a:r>
            <a:r>
              <a:rPr lang="en-US" altLang="ja-JP" dirty="0"/>
              <a:t>.</a:t>
            </a:r>
          </a:p>
          <a:p>
            <a:r>
              <a:rPr lang="en-US" altLang="ja-JP" dirty="0"/>
              <a:t>Different paradigms give different rules, concepts, and tools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How data is represented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How instructions are executed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How programs are structured (e.g., functions, objects, rules, flows)</a:t>
            </a:r>
          </a:p>
          <a:p>
            <a:r>
              <a:rPr lang="en-US" altLang="ja-JP" dirty="0"/>
              <a:t>Think of paradigms as </a:t>
            </a:r>
            <a:r>
              <a:rPr lang="en-US" altLang="ja-JP" b="1" dirty="0"/>
              <a:t>“mindsets” or “philosophies” of programming</a:t>
            </a:r>
            <a:r>
              <a:rPr lang="en-US" altLang="ja-JP" dirty="0"/>
              <a:t>. Just like in human languages, different paradigms offer different grammar and expressions to describe solutions.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33182-F1B4-B8DD-07F9-20741B3D5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906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A </a:t>
            </a:r>
            <a:r>
              <a:rPr lang="en-US" altLang="ja-JP" b="1" dirty="0"/>
              <a:t>programming paradigm</a:t>
            </a:r>
            <a:r>
              <a:rPr lang="en-US" altLang="ja-JP" dirty="0"/>
              <a:t> is a </a:t>
            </a:r>
            <a:r>
              <a:rPr lang="en-US" altLang="ja-JP" b="1" dirty="0"/>
              <a:t>style of programming</a:t>
            </a:r>
            <a:r>
              <a:rPr lang="en-US" altLang="ja-JP" dirty="0"/>
              <a:t> that defines </a:t>
            </a:r>
            <a:r>
              <a:rPr lang="en-US" altLang="ja-JP" i="1" dirty="0"/>
              <a:t>how code is structured and how problems are solved</a:t>
            </a:r>
            <a:r>
              <a:rPr lang="en-US" altLang="ja-JP" dirty="0"/>
              <a:t>. Different paradigms provide different ways of thinking: </a:t>
            </a:r>
            <a:r>
              <a:rPr lang="en-US" altLang="ja-JP" i="1" dirty="0"/>
              <a:t>step-by-step (imperative)</a:t>
            </a:r>
            <a:r>
              <a:rPr lang="en-US" altLang="ja-JP" dirty="0"/>
              <a:t>, </a:t>
            </a:r>
            <a:r>
              <a:rPr lang="en-US" altLang="ja-JP" i="1" dirty="0"/>
              <a:t>by describing results (declarative)</a:t>
            </a:r>
            <a:r>
              <a:rPr lang="en-US" altLang="ja-JP" dirty="0"/>
              <a:t>, </a:t>
            </a:r>
            <a:r>
              <a:rPr lang="en-US" altLang="ja-JP" i="1" dirty="0"/>
              <a:t>with objects (OOP)</a:t>
            </a:r>
            <a:r>
              <a:rPr lang="en-US" altLang="ja-JP" dirty="0"/>
              <a:t>, </a:t>
            </a:r>
            <a:r>
              <a:rPr lang="en-US" altLang="ja-JP" i="1" dirty="0"/>
              <a:t>with pure functions (functional)</a:t>
            </a:r>
            <a:r>
              <a:rPr lang="en-US" altLang="ja-JP" dirty="0"/>
              <a:t>, or </a:t>
            </a:r>
            <a:r>
              <a:rPr lang="en-US" altLang="ja-JP" i="1" dirty="0"/>
              <a:t>with rules (logic)</a:t>
            </a:r>
            <a:r>
              <a:rPr lang="en-US" altLang="ja-JP" dirty="0"/>
              <a:t>. </a:t>
            </a:r>
            <a:r>
              <a:rPr lang="en-US" altLang="ja-JP" b="1" dirty="0"/>
              <a:t>Meaning of Programming Paradigms</a:t>
            </a:r>
          </a:p>
          <a:p>
            <a:r>
              <a:rPr lang="en-US" altLang="ja-JP" dirty="0"/>
              <a:t>A </a:t>
            </a:r>
            <a:r>
              <a:rPr lang="en-US" altLang="ja-JP" b="1" dirty="0"/>
              <a:t>programming paradigm</a:t>
            </a:r>
            <a:r>
              <a:rPr lang="en-US" altLang="ja-JP" dirty="0"/>
              <a:t> is a </a:t>
            </a:r>
            <a:r>
              <a:rPr lang="en-US" altLang="ja-JP" b="1" dirty="0"/>
              <a:t>style, approach, or way of thinking</a:t>
            </a:r>
            <a:r>
              <a:rPr lang="en-US" altLang="ja-JP" dirty="0"/>
              <a:t> about how to write and organize computer programs.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66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565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834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b="1" dirty="0"/>
              <a:t>PIC</a:t>
            </a:r>
            <a:r>
              <a:rPr lang="en-US" altLang="ja-JP" dirty="0"/>
              <a:t> → short for </a:t>
            </a:r>
            <a:r>
              <a:rPr lang="en-US" altLang="ja-JP" b="1" dirty="0"/>
              <a:t>PICTURE clause</a:t>
            </a:r>
            <a:r>
              <a:rPr lang="en-US" altLang="ja-JP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It describes the </a:t>
            </a:r>
            <a:r>
              <a:rPr lang="en-US" altLang="ja-JP" b="1" dirty="0"/>
              <a:t>format, size, and type</a:t>
            </a:r>
            <a:r>
              <a:rPr lang="en-US" altLang="ja-JP" dirty="0"/>
              <a:t> of a data item (field).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Think of it like a </a:t>
            </a:r>
            <a:r>
              <a:rPr lang="en-US" altLang="ja-JP" b="1" dirty="0"/>
              <a:t>data type + length specifier</a:t>
            </a:r>
            <a:r>
              <a:rPr lang="en-US" altLang="ja-JP" dirty="0"/>
              <a:t>.</a:t>
            </a:r>
          </a:p>
          <a:p>
            <a:r>
              <a:rPr lang="en-US" altLang="ja-JP" b="1" dirty="0"/>
              <a:t>9</a:t>
            </a:r>
            <a:r>
              <a:rPr lang="en-US" altLang="ja-JP" dirty="0"/>
              <a:t> → means a </a:t>
            </a:r>
            <a:r>
              <a:rPr lang="en-US" altLang="ja-JP" b="1" dirty="0"/>
              <a:t>numeric digit</a:t>
            </a:r>
            <a:r>
              <a:rPr lang="en-US" altLang="ja-JP" dirty="0"/>
              <a:t> (0–9).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Each 9 represents </a:t>
            </a:r>
            <a:r>
              <a:rPr lang="en-US" altLang="ja-JP" b="1" dirty="0"/>
              <a:t>one digit position</a:t>
            </a:r>
            <a:r>
              <a:rPr lang="en-US" altLang="ja-JP" dirty="0"/>
              <a:t>.</a:t>
            </a:r>
          </a:p>
          <a:p>
            <a:r>
              <a:rPr lang="en-US" altLang="ja-JP" b="1" dirty="0"/>
              <a:t>(4)</a:t>
            </a:r>
            <a:r>
              <a:rPr lang="en-US" altLang="ja-JP" dirty="0"/>
              <a:t> → means </a:t>
            </a:r>
            <a:r>
              <a:rPr lang="en-US" altLang="ja-JP" b="1" dirty="0"/>
              <a:t>repeat “9” four times</a:t>
            </a:r>
            <a:r>
              <a:rPr lang="en-US" altLang="ja-JP" dirty="0"/>
              <a:t> → so the field can hold </a:t>
            </a:r>
            <a:r>
              <a:rPr lang="en-US" altLang="ja-JP" b="1" dirty="0"/>
              <a:t>up to 4 digits</a:t>
            </a:r>
            <a:r>
              <a:rPr lang="en-US" altLang="ja-JP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Equivalent to writing 9999.</a:t>
            </a:r>
          </a:p>
          <a:p>
            <a:r>
              <a:rPr lang="en-US" altLang="ja-JP" b="1" dirty="0"/>
              <a:t>VALUE 120</a:t>
            </a:r>
            <a:r>
              <a:rPr lang="en-US" altLang="ja-JP" dirty="0"/>
              <a:t> → initializes the variable with the number 120.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115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b="1" dirty="0"/>
              <a:t>PIC</a:t>
            </a:r>
            <a:r>
              <a:rPr lang="en-US" altLang="ja-JP" dirty="0"/>
              <a:t> → short for </a:t>
            </a:r>
            <a:r>
              <a:rPr lang="en-US" altLang="ja-JP" b="1" dirty="0"/>
              <a:t>PICTURE clause</a:t>
            </a:r>
            <a:r>
              <a:rPr lang="en-US" altLang="ja-JP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It describes the </a:t>
            </a:r>
            <a:r>
              <a:rPr lang="en-US" altLang="ja-JP" b="1" dirty="0"/>
              <a:t>format, size, and type</a:t>
            </a:r>
            <a:r>
              <a:rPr lang="en-US" altLang="ja-JP" dirty="0"/>
              <a:t> of a data item (field).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Think of it like a </a:t>
            </a:r>
            <a:r>
              <a:rPr lang="en-US" altLang="ja-JP" b="1" dirty="0"/>
              <a:t>data type + length specifier</a:t>
            </a:r>
            <a:r>
              <a:rPr lang="en-US" altLang="ja-JP" dirty="0"/>
              <a:t>.</a:t>
            </a:r>
          </a:p>
          <a:p>
            <a:r>
              <a:rPr lang="en-US" altLang="ja-JP" b="1" dirty="0"/>
              <a:t>9</a:t>
            </a:r>
            <a:r>
              <a:rPr lang="en-US" altLang="ja-JP" dirty="0"/>
              <a:t> → means a </a:t>
            </a:r>
            <a:r>
              <a:rPr lang="en-US" altLang="ja-JP" b="1" dirty="0"/>
              <a:t>numeric digit</a:t>
            </a:r>
            <a:r>
              <a:rPr lang="en-US" altLang="ja-JP" dirty="0"/>
              <a:t> (0–9).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Each 9 represents </a:t>
            </a:r>
            <a:r>
              <a:rPr lang="en-US" altLang="ja-JP" b="1" dirty="0"/>
              <a:t>one digit position</a:t>
            </a:r>
            <a:r>
              <a:rPr lang="en-US" altLang="ja-JP" dirty="0"/>
              <a:t>.</a:t>
            </a:r>
          </a:p>
          <a:p>
            <a:r>
              <a:rPr lang="en-US" altLang="ja-JP" b="1" dirty="0"/>
              <a:t>(4)</a:t>
            </a:r>
            <a:r>
              <a:rPr lang="en-US" altLang="ja-JP" dirty="0"/>
              <a:t> → means </a:t>
            </a:r>
            <a:r>
              <a:rPr lang="en-US" altLang="ja-JP" b="1" dirty="0"/>
              <a:t>repeat “9” four times</a:t>
            </a:r>
            <a:r>
              <a:rPr lang="en-US" altLang="ja-JP" dirty="0"/>
              <a:t> → so the field can hold </a:t>
            </a:r>
            <a:r>
              <a:rPr lang="en-US" altLang="ja-JP" b="1" dirty="0"/>
              <a:t>up to 4 digits</a:t>
            </a:r>
            <a:r>
              <a:rPr lang="en-US" altLang="ja-JP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Equivalent to writing 9999.</a:t>
            </a:r>
          </a:p>
          <a:p>
            <a:r>
              <a:rPr lang="en-US" altLang="ja-JP" b="1" dirty="0"/>
              <a:t>VALUE 120</a:t>
            </a:r>
            <a:r>
              <a:rPr lang="en-US" altLang="ja-JP" dirty="0"/>
              <a:t> → initializes the variable with the number 120.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46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b="1" dirty="0"/>
              <a:t>PIC</a:t>
            </a:r>
            <a:r>
              <a:rPr lang="en-US" altLang="ja-JP" dirty="0"/>
              <a:t> → short for </a:t>
            </a:r>
            <a:r>
              <a:rPr lang="en-US" altLang="ja-JP" b="1" dirty="0"/>
              <a:t>PICTURE clause</a:t>
            </a:r>
            <a:r>
              <a:rPr lang="en-US" altLang="ja-JP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It describes the </a:t>
            </a:r>
            <a:r>
              <a:rPr lang="en-US" altLang="ja-JP" b="1" dirty="0"/>
              <a:t>format, size, and type</a:t>
            </a:r>
            <a:r>
              <a:rPr lang="en-US" altLang="ja-JP" dirty="0"/>
              <a:t> of a data item (field).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Think of it like a </a:t>
            </a:r>
            <a:r>
              <a:rPr lang="en-US" altLang="ja-JP" b="1" dirty="0"/>
              <a:t>data type + length specifier</a:t>
            </a:r>
            <a:r>
              <a:rPr lang="en-US" altLang="ja-JP" dirty="0"/>
              <a:t>.</a:t>
            </a:r>
          </a:p>
          <a:p>
            <a:r>
              <a:rPr lang="en-US" altLang="ja-JP" b="1" dirty="0"/>
              <a:t>9</a:t>
            </a:r>
            <a:r>
              <a:rPr lang="en-US" altLang="ja-JP" dirty="0"/>
              <a:t> → means a </a:t>
            </a:r>
            <a:r>
              <a:rPr lang="en-US" altLang="ja-JP" b="1" dirty="0"/>
              <a:t>numeric digit</a:t>
            </a:r>
            <a:r>
              <a:rPr lang="en-US" altLang="ja-JP" dirty="0"/>
              <a:t> (0–9).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Each 9 represents </a:t>
            </a:r>
            <a:r>
              <a:rPr lang="en-US" altLang="ja-JP" b="1" dirty="0"/>
              <a:t>one digit position</a:t>
            </a:r>
            <a:r>
              <a:rPr lang="en-US" altLang="ja-JP" dirty="0"/>
              <a:t>.</a:t>
            </a:r>
          </a:p>
          <a:p>
            <a:r>
              <a:rPr lang="en-US" altLang="ja-JP" b="1" dirty="0"/>
              <a:t>(4)</a:t>
            </a:r>
            <a:r>
              <a:rPr lang="en-US" altLang="ja-JP" dirty="0"/>
              <a:t> → means </a:t>
            </a:r>
            <a:r>
              <a:rPr lang="en-US" altLang="ja-JP" b="1" dirty="0"/>
              <a:t>repeat “9” four times</a:t>
            </a:r>
            <a:r>
              <a:rPr lang="en-US" altLang="ja-JP" dirty="0"/>
              <a:t> → so the field can hold </a:t>
            </a:r>
            <a:r>
              <a:rPr lang="en-US" altLang="ja-JP" b="1" dirty="0"/>
              <a:t>up to 4 digits</a:t>
            </a:r>
            <a:r>
              <a:rPr lang="en-US" altLang="ja-JP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/>
              <a:t>Equivalent to writing 9999.</a:t>
            </a:r>
          </a:p>
          <a:p>
            <a:r>
              <a:rPr lang="en-US" altLang="ja-JP" b="1" dirty="0"/>
              <a:t>VALUE 120</a:t>
            </a:r>
            <a:r>
              <a:rPr lang="en-US" altLang="ja-JP" dirty="0"/>
              <a:t> → initializes the variable with the number 120.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370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331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945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43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FCDCE-A413-C834-7459-304D87515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2C1DE-8F8A-CD49-3BD8-556CA0CAD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B3CEB-2520-63DA-5858-BB42DA34F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F1FEC-A2F6-839A-E875-E29B60E10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476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When you drive a car, you use the steering wheel, pedals, and gear shift (the 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interface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). You don't need to know about the exact mechanics of the internal combustion engine, the hydraulic brake system, or the transmission (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the implementation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). The car 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abstracts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these details away from you.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Software Example:</a:t>
            </a:r>
            <a:b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</a:b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In our bookstore, we don't need to model every single possible attribute of a book. We abstract away irrelevant details for our specific context.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Without Abstraction: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"A book is made of paper, glue, and ink, has a specific weight, was printed on a specific date at a specific factory, and has a slightly torn corner on page 43."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With Abstraction (for our system):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Book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is defined by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 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its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ISBN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title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author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price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 and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quantityInStock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 These are the essential attributes for managing an inventory and making sales.</a:t>
            </a:r>
          </a:p>
          <a:p>
            <a:endParaRPr kumimoji="1"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612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829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291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698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298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697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229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106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importantly, it restricts direct access to some of an object's components, which is a way of preventing accidental interference and misuse.</a:t>
            </a:r>
            <a:endParaRPr lang="en-US" altLang="ja-JP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0" lang="en-US" altLang="ja-JP" sz="1200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algn="just"/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Real-World Analogy: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 bank account. Your account balance (data) is bundled with operations like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deposit()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and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withdraw()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(methods). </a:t>
            </a:r>
            <a:endParaRPr kumimoji="0" lang="en-US" altLang="ja-JP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algn="just"/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We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 cannot directly change your balance; you 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must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use the methods. The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withdraw()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method 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encapsulates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the logic of checking if you have sufficient funds before updating the balance.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0" lang="en-US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Software Example:</a:t>
            </a:r>
            <a:b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In our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Book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class, we don't want some other part of the program to directly change the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price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to a negative number. That would break our system. We encapsulate the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price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attribute and provide a controlled method to change it.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995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EE270-2100-5C51-662A-96343BD7B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2514A-A9FD-F29F-F59D-8120D0DA2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0F691-1E54-8628-8AED-761BA8768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importantly, it restricts direct access to some of an object's components, which is a way of preventing accidental interference and misuse.</a:t>
            </a:r>
            <a:endParaRPr lang="en-US" altLang="ja-JP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0" lang="en-US" altLang="ja-JP" sz="1200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algn="just"/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Real-World Analogy: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 bank account. Your account balance (data) is bundled with operations like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deposit()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and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withdraw()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(methods). </a:t>
            </a:r>
            <a:endParaRPr kumimoji="0" lang="en-US" altLang="ja-JP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algn="just"/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We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 cannot directly change your balance; you 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must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use the methods. The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withdraw()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method 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encapsulates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the logic of checking if you have sufficient funds before updating the balance.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0" lang="en-US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Software Example:</a:t>
            </a:r>
            <a:b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In our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Book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class, we don't want some other part of the program to directly change the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price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to a negative number. That would break our system. We encapsulate the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price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attribute and provide a controlled method to change it.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21C78-6859-7DED-9D24-F01FFF8AD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888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importantly, it restricts direct access to some of an object's components, which is a way of preventing accidental interference and misuse.</a:t>
            </a:r>
            <a:endParaRPr lang="en-US" altLang="ja-JP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0" lang="en-US" altLang="ja-JP" sz="1200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algn="just"/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Real-World Analogy: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 bank account. Your account balance (data) is bundled with operations like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deposit()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and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withdraw()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(methods). </a:t>
            </a:r>
            <a:endParaRPr kumimoji="0" lang="en-US" altLang="ja-JP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algn="just"/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We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 cannot directly change your balance; you 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must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use the methods. The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withdraw()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method 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encapsulates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the logic of checking if you have sufficient funds before updating the balance.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0" lang="en-US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Software Example:</a:t>
            </a:r>
            <a:b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In our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Book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class, we don't want some other part of the program to directly change the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price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to a negative number. That would break our system. We encapsulate the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price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attribute and provide a controlled method to change it.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921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importantly, it restricts direct access to some of an object's components, which is a way of preventing accidental interference and misuse.</a:t>
            </a:r>
            <a:endParaRPr lang="en-US" altLang="ja-JP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0" lang="en-US" altLang="ja-JP" sz="1200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algn="just"/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Real-World Analogy: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 bank account. Your account balance (data) is bundled with operations like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deposit()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and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withdraw()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(methods). </a:t>
            </a:r>
            <a:endParaRPr kumimoji="0" lang="en-US" altLang="ja-JP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  <a:p>
            <a:pPr algn="just"/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We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 cannot directly change your balance; you 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must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use the methods. The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withdraw()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method 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encapsulates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the logic of checking if you have sufficient funds before updating the balance.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0" lang="en-US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Software Example:</a:t>
            </a:r>
            <a:b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In our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Book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class, we don't want some other part of the program to directly change the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price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to a negative number. That would break our system. We encapsulate the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price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attribute and provide a controlled method to change it.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723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996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7582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403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632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599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0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Building a house. We don't think of it as one monolithic object. You decompose it into subsystems: the foundation, the framing, the electrical system, the plumbing system, the roof. Each of these can be designed and worked on somewhat independently.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ja-JP" sz="20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Software Example: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Our "Online Bookstore" is not just a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Book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class. We need to decompose it into its core parts.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What are the main "things" in our system?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Book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Customer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ShoppingCart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Order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How do they relate? A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Customer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has a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ShoppingCart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 An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Order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contains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Book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</a:t>
            </a:r>
            <a:endParaRPr lang="ja-JP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99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1D8AA-AB8B-5C5F-FB18-28538EB92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622B9-53AB-AF02-8470-803AFB6F8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7AD3D-D858-37AC-CB18-1884B9D8C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0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Building a house. We don't think of it as one monolithic object. You decompose it into subsystems: the foundation, the framing, the electrical system, the plumbing system, the roof. Each of these can be designed and worked on somewhat independently.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ja-JP" sz="20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Software Example: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Our "Online Bookstore" is not just a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Book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class. We need to decompose it into its core parts.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What are the main "things" in our system?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Book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Customer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ShoppingCart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Order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How do they relate? A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Customer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has a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ShoppingCart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 An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Order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contains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Book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</a:t>
            </a:r>
            <a:endParaRPr lang="ja-JP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74DA2-4568-9A3A-419D-1C4EF6869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2148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0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Building a house. We don't think of it as one monolithic object. You decompose it into subsystems: the foundation, the framing, the electrical system, the plumbing system, the roof. Each of these can be designed and worked on somewhat independently.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ja-JP" sz="20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Software Example: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Our "Online Bookstore" is not just a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Book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class. We need to decompose it into its core parts.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What are the main "things" in our system?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Book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Customer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ShoppingCart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Order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How do they relate? A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Customer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has a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ShoppingCart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 An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Order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contains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Book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</a:t>
            </a:r>
            <a:endParaRPr lang="ja-JP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39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74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165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097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360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1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is the process of extracting common characteristics from two or more classes and combining them into a generalized superclass. This is implemented in code through </a:t>
            </a:r>
            <a:r>
              <a:rPr lang="en-US" altLang="ja-JP" sz="12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r>
              <a:rPr lang="en-US" altLang="ja-JP" sz="1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allowing a subclass (child) to inherit attributes and methods from a superclass (parent).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The concept of a "Vehicle." Cars, motorcycles, and trucks are all specific types of vehicles. They all share general properties like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make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model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year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 and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start()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 Instead of defining these properties for every type, we define them once in a general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Vehicle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class and have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Car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etc. inherit from it.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Software Example:</a:t>
            </a:r>
            <a:b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</a:b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In our bookstore, we might sell more than just physical books. We might also sell e-books and audiobooks. These are all "products," but they have slight differences.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What do they have in common?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product_id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title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author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price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What is different? A physical book has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weight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and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shipping_cost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 An e-book has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download_link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and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file_size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altLang="ja-JP" sz="14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kumimoji="1" lang="en-US" altLang="ja-JP" sz="14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kumimoji="1" lang="ja-JP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737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142A4-0539-9FEF-6C8F-CA83FB874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220B0-B8A6-3095-E6AB-6FCE6C06B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853E9-DD53-6C6E-53E1-4330AE47E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1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is the process of extracting common characteristics from two or more classes and combining them into a generalized superclass. This is implemented in code through </a:t>
            </a:r>
            <a:r>
              <a:rPr lang="en-US" altLang="ja-JP" sz="12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r>
              <a:rPr lang="en-US" altLang="ja-JP" sz="1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allowing a subclass (child) to inherit attributes and methods from a superclass (parent).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The concept of a "Vehicle." Cars, motorcycles, and trucks are all specific types of vehicles. They all share general properties like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make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model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year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 and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start()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 Instead of defining these properties for every type, we define them once in a general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Vehicle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class and have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Car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etc. inherit from it.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Software Example:</a:t>
            </a:r>
            <a:b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</a:b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In our bookstore, we might sell more than just physical books. We might also sell e-books and audiobooks. These are all "products," but they have slight differences.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What do they have in common?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product_id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title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author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price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What is different? A physical book has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weight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and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shipping_cost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 An e-book has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download_link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 and 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file_size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altLang="ja-JP" sz="14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kumimoji="1" lang="en-US" altLang="ja-JP" sz="14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kumimoji="1" lang="ja-JP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BA6E8-320B-890D-7A9F-4E9979377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1525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725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714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8943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782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1DCF-9C25-4121-98B8-1A71B48A30E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62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DC0B-53AB-4330-AE8C-6E35A04EA7DF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C66C1-0816-4392-B26F-F1E3C27050E5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B777-7103-40E6-B4B0-D9AE5D50EF20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2F743-7022-4A54-94CF-91C88B4154B4}" type="datetime1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8327E-E1D6-47F6-9CBC-6BF56420F2D2}" type="datetime1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1519F-84A1-44A9-8063-AFC3A21C5AE6}" type="datetime1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A6D2-1783-469D-ADBE-580CFE436622}" type="datetime1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317C-C926-4ED5-ABF3-17E77EA5FE40}" type="datetime1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070A4-FBD8-499E-8FF8-96684B46D6AA}" type="datetime1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D8FCD-9549-4EFF-9EB4-61EF12A5F552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4BF3-0685-4EBD-A8F7-34307A81705C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17B77-AD59-4769-B471-401FD9B81E84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" y="219456"/>
            <a:ext cx="8610600" cy="1828800"/>
          </a:xfrm>
        </p:spPr>
        <p:txBody>
          <a:bodyPr>
            <a:normAutofit/>
          </a:bodyPr>
          <a:lstStyle/>
          <a:p>
            <a:r>
              <a:rPr lang="en-US" altLang="ja-JP" b="1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ＭＳ Ｐゴシック" panose="020B0600070205080204" pitchFamily="50" charset="-128"/>
              </a:rPr>
              <a:t>P</a:t>
            </a:r>
            <a:r>
              <a:rPr lang="en-US" altLang="ja-JP" sz="4400" b="1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ＭＳ Ｐゴシック" panose="020B0600070205080204" pitchFamily="50" charset="-128"/>
              </a:rPr>
              <a:t>art A: Object-Oriented Design</a:t>
            </a:r>
            <a:br>
              <a:rPr lang="ja-JP" altLang="ja-JP" sz="44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ＭＳ Ｐゴシック" panose="020B0600070205080204" pitchFamily="50" charset="-128"/>
              </a:rPr>
            </a:br>
            <a:r>
              <a:rPr lang="en-US" dirty="0"/>
              <a:t>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963" y="6492875"/>
            <a:ext cx="2133600" cy="365125"/>
          </a:xfrm>
        </p:spPr>
        <p:txBody>
          <a:bodyPr/>
          <a:lstStyle/>
          <a:p>
            <a:pPr algn="ctr"/>
            <a:fld id="{47A386C0-51E2-4A59-9996-4063C503BDFB}" type="slidenum">
              <a:rPr lang="en-US" sz="1400" smtClean="0">
                <a:solidFill>
                  <a:schemeClr val="tx1"/>
                </a:solidFill>
              </a:rPr>
              <a:t>1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71F599-5F86-22A6-D4DC-2E5746F64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4628"/>
            <a:ext cx="9058656" cy="43879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A5C28F-DD78-81D3-A394-5E4139960EB3}"/>
              </a:ext>
            </a:extLst>
          </p:cNvPr>
          <p:cNvSpPr txBox="1"/>
          <p:nvPr/>
        </p:nvSpPr>
        <p:spPr>
          <a:xfrm>
            <a:off x="2160563" y="6019800"/>
            <a:ext cx="599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Abu Saleh Musa Miah (PhD)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662CD-BA1A-AFD1-D24F-03351FF25B4C}"/>
              </a:ext>
            </a:extLst>
          </p:cNvPr>
          <p:cNvSpPr txBox="1"/>
          <p:nvPr/>
        </p:nvSpPr>
        <p:spPr>
          <a:xfrm>
            <a:off x="568842" y="2611274"/>
            <a:ext cx="3200400" cy="230832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i="0" u="none" strike="noStrike" baseline="0" dirty="0">
                <a:solidFill>
                  <a:srgbClr val="323E4F"/>
                </a:solidFill>
                <a:latin typeface="AvenirNext-DemiBold"/>
              </a:rPr>
              <a:t>MODULE 2: OBJECT-ORIENTED MODELLING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99306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05" y="152400"/>
            <a:ext cx="9134622" cy="838200"/>
          </a:xfr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Presentation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295400"/>
            <a:ext cx="8686800" cy="4648200"/>
          </a:xfrm>
        </p:spPr>
        <p:txBody>
          <a:bodyPr>
            <a:normAutofit/>
          </a:bodyPr>
          <a:lstStyle/>
          <a:p>
            <a:pPr marL="457200" indent="-457200" algn="l">
              <a:buFont typeface="Wingdings" pitchFamily="2" charset="2"/>
              <a:buChar char="ü"/>
            </a:pPr>
            <a:r>
              <a:rPr lang="en-US" altLang="ja-JP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Creating Models in Design</a:t>
            </a:r>
          </a:p>
          <a:p>
            <a:pPr marL="457200" indent="-457200" algn="l">
              <a:buFont typeface="Wingdings" pitchFamily="2" charset="2"/>
              <a:buChar char="ü"/>
            </a:pPr>
            <a:r>
              <a:rPr lang="en-US" altLang="ja-JP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Major Design Principle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3246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874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2DD8-1D84-06AE-AEAC-19621762F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17C7-F44D-66CA-9852-0147553BF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Creating Models in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4ED51E-4181-2194-1D9A-3AB3EE89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FFCD2A-D542-3CC2-47B5-1A3397531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A67C20-4ABC-26FC-4881-8BF9FE53C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A6F3690F-C00E-52B4-0433-818F0030E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176144"/>
            <a:ext cx="897910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Objects in Design Models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Objects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focus on problem space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Objects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handle events &amp; coordinate actions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Objects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connect system to outside services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Models in Software Design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&amp; understand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process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&amp; break down complex problems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qualities: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reusability, flexibility, maintainability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 as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documentation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can map to skeletal code (e.g., Java)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Modelling Language (UML)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notation for software models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UML diagrams focus on different issues: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Models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describe object roles &amp; relationships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Analogy: like a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model in architecture</a:t>
            </a:r>
            <a:endParaRPr lang="en-US" altLang="ja-JP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FA5249-B250-424D-3E80-0CD27E46FD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88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Creating Models in Design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4C54B3BD-6A84-93C5-2804-E11E756A8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2" y="1216703"/>
            <a:ext cx="9271416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Don’t jump directly into coding → first understand requirements &amp; design properly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step bridges </a:t>
            </a: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→ product</a:t>
            </a:r>
            <a:endParaRPr kumimoji="0" lang="ja-JP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Iterative process → deals with </a:t>
            </a: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space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 space</a:t>
            </a:r>
            <a:endParaRPr kumimoji="0" lang="ja-JP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must be understandable for both </a:t>
            </a: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developers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(common terms)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Approach helps</a:t>
            </a:r>
            <a:r>
              <a:rPr lang="en-US" altLang="ja-JP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concepts as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(understood by both users &amp; developers)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for solving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problems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levels of design: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Design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identify key objects, break problem into parts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Design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refine object details (attributes &amp; behaviors) for implementation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ja-JP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177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Creating Models in Design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4C54B3BD-6A84-93C5-2804-E11E756A8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176144"/>
            <a:ext cx="897910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Objects in Design Models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Objects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focus on problem space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Objects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handle events &amp; coordinate actions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Objects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connect system to outside services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Models in Software Design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&amp; understand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process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&amp; break down complex problems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qualities: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reusability, flexibility, maintainability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 as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documentation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can map to skeletal code (e.g., Java)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Modelling Language (UML)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notation for software models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UML diagrams focus on different issues: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Models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describe object roles &amp; relationships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Analogy: like a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model in architecture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64734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8251"/>
            <a:ext cx="8534400" cy="553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Creating Models in Design: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E47DE2-870C-2061-64CC-73CAC2FE157B}"/>
              </a:ext>
            </a:extLst>
          </p:cNvPr>
          <p:cNvSpPr txBox="1"/>
          <p:nvPr/>
        </p:nvSpPr>
        <p:spPr>
          <a:xfrm>
            <a:off x="-13877" y="1017995"/>
            <a:ext cx="90553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These represent </a:t>
            </a:r>
            <a:r>
              <a:rPr lang="en-US" altLang="ja-JP" b="1" dirty="0"/>
              <a:t>things in the real world</a:t>
            </a:r>
            <a:r>
              <a:rPr lang="en-US" altLang="ja-JP" dirty="0"/>
              <a:t> that your system needs to keep track of.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b="1" dirty="0">
                <a:solidFill>
                  <a:srgbClr val="FF0000"/>
                </a:solidFill>
              </a:rPr>
              <a:t>House Management</a:t>
            </a:r>
            <a:r>
              <a:rPr lang="en-US" altLang="ja-JP" dirty="0">
                <a:solidFill>
                  <a:srgbClr val="FF0000"/>
                </a:solidFill>
              </a:rPr>
              <a:t> </a:t>
            </a:r>
            <a:r>
              <a:rPr lang="en-US" altLang="ja-JP" dirty="0"/>
              <a:t>→ </a:t>
            </a:r>
            <a:r>
              <a:rPr lang="en-US" altLang="ja-JP" i="1" dirty="0"/>
              <a:t>House</a:t>
            </a:r>
            <a:r>
              <a:rPr lang="en-US" altLang="ja-JP" dirty="0"/>
              <a:t>, </a:t>
            </a:r>
            <a:r>
              <a:rPr lang="en-US" altLang="ja-JP" i="1" dirty="0"/>
              <a:t>Resident</a:t>
            </a:r>
            <a:r>
              <a:rPr lang="en-US" altLang="ja-JP" dirty="0"/>
              <a:t>, </a:t>
            </a:r>
            <a:r>
              <a:rPr lang="en-US" altLang="ja-JP" i="1" dirty="0"/>
              <a:t>Water Bill</a:t>
            </a:r>
            <a:r>
              <a:rPr lang="en-US" altLang="ja-JP" dirty="0"/>
              <a:t>, </a:t>
            </a:r>
            <a:r>
              <a:rPr lang="en-US" altLang="ja-JP" i="1" dirty="0"/>
              <a:t>Electricity Bill</a:t>
            </a:r>
            <a:r>
              <a:rPr lang="en-US" altLang="ja-JP" dirty="0"/>
              <a:t>, </a:t>
            </a:r>
            <a:r>
              <a:rPr lang="en-US" altLang="ja-JP" i="1" dirty="0"/>
              <a:t>Maintenance Request</a:t>
            </a: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b="1" dirty="0">
                <a:solidFill>
                  <a:srgbClr val="FF0000"/>
                </a:solidFill>
              </a:rPr>
              <a:t>Garbage Management</a:t>
            </a:r>
            <a:r>
              <a:rPr lang="en-US" altLang="ja-JP" dirty="0">
                <a:solidFill>
                  <a:srgbClr val="FF0000"/>
                </a:solidFill>
              </a:rPr>
              <a:t> </a:t>
            </a:r>
            <a:r>
              <a:rPr lang="en-US" altLang="ja-JP" dirty="0"/>
              <a:t>→ </a:t>
            </a:r>
            <a:r>
              <a:rPr lang="en-US" altLang="ja-JP" i="1" dirty="0" err="1"/>
              <a:t>GarbageBin</a:t>
            </a:r>
            <a:r>
              <a:rPr lang="en-US" altLang="ja-JP" dirty="0"/>
              <a:t>, </a:t>
            </a:r>
            <a:r>
              <a:rPr lang="en-US" altLang="ja-JP" i="1" dirty="0" err="1"/>
              <a:t>WasteTruck</a:t>
            </a:r>
            <a:r>
              <a:rPr lang="en-US" altLang="ja-JP" dirty="0"/>
              <a:t>, </a:t>
            </a:r>
            <a:r>
              <a:rPr lang="en-US" altLang="ja-JP" i="1" dirty="0" err="1"/>
              <a:t>CollectionSchedule</a:t>
            </a:r>
            <a:r>
              <a:rPr lang="en-US" altLang="ja-JP" dirty="0"/>
              <a:t>, </a:t>
            </a:r>
            <a:r>
              <a:rPr lang="en-US" altLang="ja-JP" i="1" dirty="0" err="1"/>
              <a:t>DumpingSite</a:t>
            </a: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b="1" dirty="0">
                <a:solidFill>
                  <a:srgbClr val="FF0000"/>
                </a:solidFill>
              </a:rPr>
              <a:t>Traffic Management</a:t>
            </a:r>
            <a:r>
              <a:rPr lang="en-US" altLang="ja-JP" dirty="0">
                <a:solidFill>
                  <a:srgbClr val="FF0000"/>
                </a:solidFill>
              </a:rPr>
              <a:t> </a:t>
            </a:r>
            <a:r>
              <a:rPr lang="en-US" altLang="ja-JP" dirty="0"/>
              <a:t>→ </a:t>
            </a:r>
            <a:r>
              <a:rPr lang="en-US" altLang="ja-JP" i="1" dirty="0" err="1"/>
              <a:t>TrafficLight</a:t>
            </a:r>
            <a:r>
              <a:rPr lang="en-US" altLang="ja-JP" dirty="0"/>
              <a:t>, </a:t>
            </a:r>
            <a:r>
              <a:rPr lang="en-US" altLang="ja-JP" i="1" dirty="0"/>
              <a:t>Vehicle</a:t>
            </a:r>
            <a:r>
              <a:rPr lang="en-US" altLang="ja-JP" dirty="0"/>
              <a:t>, </a:t>
            </a:r>
            <a:r>
              <a:rPr lang="en-US" altLang="ja-JP" i="1" dirty="0" err="1"/>
              <a:t>RoadSegment</a:t>
            </a:r>
            <a:r>
              <a:rPr lang="en-US" altLang="ja-JP" dirty="0"/>
              <a:t>, </a:t>
            </a:r>
            <a:r>
              <a:rPr lang="en-US" altLang="ja-JP" i="1" dirty="0" err="1"/>
              <a:t>AccidentReport</a:t>
            </a:r>
            <a:r>
              <a:rPr lang="en-US" altLang="ja-JP" dirty="0"/>
              <a:t>, </a:t>
            </a:r>
            <a:r>
              <a:rPr lang="en-US" altLang="ja-JP" i="1" dirty="0" err="1"/>
              <a:t>CongestionLevel</a:t>
            </a:r>
            <a:endParaRPr lang="en-US" altLang="ja-JP" i="1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ja-JP" altLang="ja-JP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ja-JP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ja-JP" altLang="ja-JP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House(id, address, owner, status) or GarbageBin(id, location, capacity, lastCollectedTime) </a:t>
            </a:r>
            <a:endParaRPr lang="en-US" altLang="ja-JP" b="1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74462-2210-BEEE-0E7B-28E123DA928B}"/>
              </a:ext>
            </a:extLst>
          </p:cNvPr>
          <p:cNvSpPr txBox="1"/>
          <p:nvPr/>
        </p:nvSpPr>
        <p:spPr>
          <a:xfrm>
            <a:off x="-13877" y="648663"/>
            <a:ext cx="7852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rgbClr val="00B050"/>
                </a:solidFill>
              </a:rPr>
              <a:t>1. Entity Objects (core data objects from the problem space) </a:t>
            </a:r>
            <a:r>
              <a:rPr lang="en-US" altLang="ja-JP" sz="1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DUMS</a:t>
            </a:r>
            <a:endParaRPr lang="en-US" altLang="ja-JP" b="1" dirty="0">
              <a:solidFill>
                <a:srgbClr val="00B050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AF5B90B-DD94-F035-1E31-BA566E0DB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0" y="2704182"/>
            <a:ext cx="974110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Control Objects (coordinators, logic that controls the flow of events)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objects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requests, make decisions, and coordinate between entity objects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 Management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BillCalculator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MaintenanceManager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HouseAllocationController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Garbage Management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CollectionScheduler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RouteOptimizer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GarbageMonitoringController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Management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SignalController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TrafficFlowManager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EmergencyResponseCoordinator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ja-JP" altLang="ja-JP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CollectionScheduler checks all GarbageBin fill levels and sends a task to a WasteTruck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E56F9EEB-14CF-BCF4-38E0-986F7CF73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877" y="4433754"/>
            <a:ext cx="954198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Boundary Objects (interfaces connecting the system with external actors/services)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are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interaction points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users, devices, or external services.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 Management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ResidentAppUI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BillingPortal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SMSNotificationService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Garbage Management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TruckGPSInterface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Sensor in GarbageBin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CitizenComplaintPortal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Management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DriverMobileApp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CCTV Feed Interface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PoliceDashboard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TrafficL</a:t>
            </a:r>
            <a:r>
              <a:rPr kumimoji="0" lang="en-US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.HI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💡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CitizenComplaintPortal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lets residents report uncollected garbage, which is then sent to the CollectionScheduler.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EE4DC0-5C0E-9A77-C902-64E871948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C0170-A5BD-4EFD-3554-B522A9E27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53C3-D0BE-8E5B-F3EB-C8622CDC7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8251"/>
            <a:ext cx="8534400" cy="553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Creating Models in Design: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292C12-8481-421B-63CC-D75F4D94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5FC29-DE2F-36B7-8F6A-D9818398F756}"/>
              </a:ext>
            </a:extLst>
          </p:cNvPr>
          <p:cNvSpPr txBox="1"/>
          <p:nvPr/>
        </p:nvSpPr>
        <p:spPr>
          <a:xfrm>
            <a:off x="-13877" y="1017995"/>
            <a:ext cx="90553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These represent </a:t>
            </a:r>
            <a:r>
              <a:rPr lang="en-US" altLang="ja-JP" b="1" dirty="0"/>
              <a:t>things in the real world</a:t>
            </a:r>
            <a:r>
              <a:rPr lang="en-US" altLang="ja-JP" dirty="0"/>
              <a:t> that your system needs to keep track of.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b="1" dirty="0">
                <a:solidFill>
                  <a:srgbClr val="FF0000"/>
                </a:solidFill>
              </a:rPr>
              <a:t>House Management</a:t>
            </a:r>
            <a:r>
              <a:rPr lang="en-US" altLang="ja-JP" dirty="0">
                <a:solidFill>
                  <a:srgbClr val="FF0000"/>
                </a:solidFill>
              </a:rPr>
              <a:t> </a:t>
            </a:r>
            <a:r>
              <a:rPr lang="en-US" altLang="ja-JP" dirty="0"/>
              <a:t>→ </a:t>
            </a:r>
            <a:r>
              <a:rPr lang="en-US" altLang="ja-JP" i="1" dirty="0"/>
              <a:t>House</a:t>
            </a:r>
            <a:r>
              <a:rPr lang="en-US" altLang="ja-JP" dirty="0"/>
              <a:t>, </a:t>
            </a:r>
            <a:r>
              <a:rPr lang="en-US" altLang="ja-JP" i="1" dirty="0"/>
              <a:t>Resident</a:t>
            </a:r>
            <a:r>
              <a:rPr lang="en-US" altLang="ja-JP" dirty="0"/>
              <a:t>, </a:t>
            </a:r>
            <a:r>
              <a:rPr lang="en-US" altLang="ja-JP" i="1" dirty="0"/>
              <a:t>Water Bill</a:t>
            </a:r>
            <a:r>
              <a:rPr lang="en-US" altLang="ja-JP" dirty="0"/>
              <a:t>, </a:t>
            </a:r>
            <a:r>
              <a:rPr lang="en-US" altLang="ja-JP" i="1" dirty="0"/>
              <a:t>Electricity Bill</a:t>
            </a:r>
            <a:r>
              <a:rPr lang="en-US" altLang="ja-JP" dirty="0"/>
              <a:t>, </a:t>
            </a:r>
            <a:r>
              <a:rPr lang="en-US" altLang="ja-JP" i="1" dirty="0"/>
              <a:t>Maintenance Request</a:t>
            </a: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b="1" dirty="0">
                <a:solidFill>
                  <a:srgbClr val="FF0000"/>
                </a:solidFill>
              </a:rPr>
              <a:t>Garbage Management</a:t>
            </a:r>
            <a:r>
              <a:rPr lang="en-US" altLang="ja-JP" dirty="0">
                <a:solidFill>
                  <a:srgbClr val="FF0000"/>
                </a:solidFill>
              </a:rPr>
              <a:t> </a:t>
            </a:r>
            <a:r>
              <a:rPr lang="en-US" altLang="ja-JP" dirty="0"/>
              <a:t>→ </a:t>
            </a:r>
            <a:r>
              <a:rPr lang="en-US" altLang="ja-JP" i="1" dirty="0" err="1"/>
              <a:t>GarbageBin</a:t>
            </a:r>
            <a:r>
              <a:rPr lang="en-US" altLang="ja-JP" dirty="0"/>
              <a:t>, </a:t>
            </a:r>
            <a:r>
              <a:rPr lang="en-US" altLang="ja-JP" i="1" dirty="0" err="1"/>
              <a:t>WasteTruck</a:t>
            </a:r>
            <a:r>
              <a:rPr lang="en-US" altLang="ja-JP" dirty="0"/>
              <a:t>, </a:t>
            </a:r>
            <a:r>
              <a:rPr lang="en-US" altLang="ja-JP" i="1" dirty="0" err="1"/>
              <a:t>CollectionSchedule</a:t>
            </a:r>
            <a:r>
              <a:rPr lang="en-US" altLang="ja-JP" dirty="0"/>
              <a:t>, </a:t>
            </a:r>
            <a:r>
              <a:rPr lang="en-US" altLang="ja-JP" i="1" dirty="0" err="1"/>
              <a:t>DumpingSite</a:t>
            </a: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b="1" dirty="0">
                <a:solidFill>
                  <a:srgbClr val="FF0000"/>
                </a:solidFill>
              </a:rPr>
              <a:t>Traffic Management</a:t>
            </a:r>
            <a:r>
              <a:rPr lang="en-US" altLang="ja-JP" dirty="0">
                <a:solidFill>
                  <a:srgbClr val="FF0000"/>
                </a:solidFill>
              </a:rPr>
              <a:t> </a:t>
            </a:r>
            <a:r>
              <a:rPr lang="en-US" altLang="ja-JP" dirty="0"/>
              <a:t>→ </a:t>
            </a:r>
            <a:r>
              <a:rPr lang="en-US" altLang="ja-JP" i="1" dirty="0" err="1"/>
              <a:t>TrafficLight</a:t>
            </a:r>
            <a:r>
              <a:rPr lang="en-US" altLang="ja-JP" dirty="0"/>
              <a:t>, </a:t>
            </a:r>
            <a:r>
              <a:rPr lang="en-US" altLang="ja-JP" i="1" dirty="0"/>
              <a:t>Vehicle</a:t>
            </a:r>
            <a:r>
              <a:rPr lang="en-US" altLang="ja-JP" dirty="0"/>
              <a:t>, </a:t>
            </a:r>
            <a:r>
              <a:rPr lang="en-US" altLang="ja-JP" i="1" dirty="0" err="1"/>
              <a:t>RoadSegment</a:t>
            </a:r>
            <a:r>
              <a:rPr lang="en-US" altLang="ja-JP" dirty="0"/>
              <a:t>, </a:t>
            </a:r>
            <a:r>
              <a:rPr lang="en-US" altLang="ja-JP" i="1" dirty="0" err="1"/>
              <a:t>AccidentReport</a:t>
            </a:r>
            <a:r>
              <a:rPr lang="en-US" altLang="ja-JP" dirty="0"/>
              <a:t>, </a:t>
            </a:r>
            <a:r>
              <a:rPr lang="en-US" altLang="ja-JP" i="1" dirty="0" err="1"/>
              <a:t>CongestionLevel</a:t>
            </a:r>
            <a:endParaRPr lang="en-US" altLang="ja-JP" i="1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ja-JP" altLang="ja-JP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ja-JP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ja-JP" altLang="ja-JP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House(id, address, owner, status) or GarbageBin(id, location, capacity, lastCollectedTime) </a:t>
            </a:r>
            <a:endParaRPr lang="en-US" altLang="ja-JP" b="1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AA7B24-E715-EC74-43D7-CE21A2B5A20E}"/>
              </a:ext>
            </a:extLst>
          </p:cNvPr>
          <p:cNvSpPr txBox="1"/>
          <p:nvPr/>
        </p:nvSpPr>
        <p:spPr>
          <a:xfrm>
            <a:off x="-13877" y="648663"/>
            <a:ext cx="7852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rgbClr val="00B050"/>
                </a:solidFill>
              </a:rPr>
              <a:t>1. Entity Objects (core data objects from the problem space) </a:t>
            </a:r>
            <a:r>
              <a:rPr lang="en-US" altLang="ja-JP" sz="1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DUMS</a:t>
            </a:r>
            <a:endParaRPr lang="en-US" altLang="ja-JP" b="1" dirty="0">
              <a:solidFill>
                <a:srgbClr val="00B050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87DCDC6-6ABF-4052-0F86-385873316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0" y="2704182"/>
            <a:ext cx="974110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Control Objects (coordinators, logic that controls the flow of events)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objects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requests, make decisions, and coordinate between entity objects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 Management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BillCalculator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MaintenanceManager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HouseAllocationController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Garbage Management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CollectionScheduler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RouteOptimizer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GarbageMonitoringController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Management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SignalController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TrafficFlowManager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EmergencyResponseCoordinator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ja-JP" altLang="ja-JP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CollectionScheduler checks all GarbageBin fill levels and sends a task to a WasteTruck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417E13D2-B9C4-1E4D-628B-8C744611C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877" y="4433754"/>
            <a:ext cx="954198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Boundary Objects (interfaces connecting the system with external actors/services)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are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interaction points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users, devices, or external services.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 Management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ResidentAppUI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BillingPortal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SMSNotificationService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Garbage Management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TruckGPSInterface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Sensor in GarbageBin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CitizenComplaintPortal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Management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DriverMobileApp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CCTV Feed Interface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PoliceDashboard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TrafficL</a:t>
            </a:r>
            <a:r>
              <a:rPr kumimoji="0" lang="en-US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.HI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💡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CitizenComplaintPortal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lets residents report uncollected garbage, which is then sent to the CollectionScheduler.</a:t>
            </a:r>
          </a:p>
        </p:txBody>
      </p:sp>
    </p:spTree>
    <p:extLst>
      <p:ext uri="{BB962C8B-B14F-4D97-AF65-F5344CB8AC3E}">
        <p14:creationId xmlns:p14="http://schemas.microsoft.com/office/powerpoint/2010/main" val="3424614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8251"/>
            <a:ext cx="8534400" cy="553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Creating Models in Design: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74462-2210-BEEE-0E7B-28E123DA928B}"/>
              </a:ext>
            </a:extLst>
          </p:cNvPr>
          <p:cNvSpPr txBox="1"/>
          <p:nvPr/>
        </p:nvSpPr>
        <p:spPr>
          <a:xfrm>
            <a:off x="0" y="685800"/>
            <a:ext cx="908167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lang="en-US" altLang="ja-JP" sz="2000" b="1" dirty="0">
                <a:solidFill>
                  <a:srgbClr val="00B050"/>
                </a:solidFill>
              </a:rPr>
              <a:t>Iterative &amp; Continuous Design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 iteration: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define 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entity objects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House, GarbageBin, TrafficLight.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 iteration: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objects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BillCalculator, RouteOptimizer, SignalController to manage them.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Then: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refine 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boundary objects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mobile apps, web portals, and IoT sensors that connect the outside world to the system.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cycle continues — as Dhaka grows, new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metro stations), new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logic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AI-based traffic prediction), and new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boundary services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chatbot for citizens) can be added.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F1FEB3B-D48A-B109-6A04-9282B83DE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815477"/>
            <a:ext cx="9753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Entity Objects (real-world data and resources in the farm)  (AAS)</a:t>
            </a:r>
            <a:endParaRPr kumimoji="0" lang="en-US" altLang="ja-JP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represent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 being managed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farm: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(type, growth stage, health status)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Soil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(moisture level, pH, nutrient level)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IrrigationPump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(status, capacity)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WeatherData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(temperature, humidity, rainfall)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FertilizerTank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(amount, type)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PestData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(detection, severity)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💡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SoilSensor(id, location, moisture, phLevel)</a:t>
            </a:r>
          </a:p>
        </p:txBody>
      </p:sp>
    </p:spTree>
    <p:extLst>
      <p:ext uri="{BB962C8B-B14F-4D97-AF65-F5344CB8AC3E}">
        <p14:creationId xmlns:p14="http://schemas.microsoft.com/office/powerpoint/2010/main" val="528274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23746-D7E1-C7A9-ADB5-A0E52596A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17483-6B86-F0AF-DD6C-3B4AB83FF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8251"/>
            <a:ext cx="8534400" cy="553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Creating Models in Design: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C07F0E-4E48-5862-30BD-9EC1BE06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B69366-E1E8-7054-06DC-8130EE489C72}"/>
              </a:ext>
            </a:extLst>
          </p:cNvPr>
          <p:cNvSpPr txBox="1"/>
          <p:nvPr/>
        </p:nvSpPr>
        <p:spPr>
          <a:xfrm>
            <a:off x="0" y="685800"/>
            <a:ext cx="908167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lang="en-US" altLang="ja-JP" sz="2000" b="1" dirty="0">
                <a:solidFill>
                  <a:srgbClr val="00B050"/>
                </a:solidFill>
              </a:rPr>
              <a:t>Iterative &amp; Continuous Design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 iteration: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define 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entity objects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House, GarbageBin, TrafficLight.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 iteration: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objects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BillCalculator, RouteOptimizer, SignalController to manage them.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Then: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refine 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boundary objects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mobile apps, web portals, and IoT sensors that connect the outside world to the system.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cycle continues — as Dhaka grows, new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metro stations), new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logic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AI-based traffic prediction), and new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boundary services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chatbot for citizens) can be added.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278A736-2F5A-38F5-0DF2-91A1CAE6D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815477"/>
            <a:ext cx="9753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Entity Objects (real-world data and resources in the farm)  (AAS)</a:t>
            </a:r>
            <a:endParaRPr kumimoji="0" lang="en-US" altLang="ja-JP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represent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 being managed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farm: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(type, growth stage, health status)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Soil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(moisture level, pH, nutrient level)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IrrigationPump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(status, capacity)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WeatherData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(temperature, humidity, rainfall)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FertilizerTank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(amount, type)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PestData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(detection, severity)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💡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SoilSensor(id, location, moisture, phLevel)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6C7429-E708-5994-0F1C-BC183AE11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60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3D652-C112-F134-9FA2-292F85A48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1168-88F7-BCBB-955C-442E758F6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8251"/>
            <a:ext cx="8534400" cy="553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Creating Models in Design: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6CAEE2-334E-F08D-D6E4-3DF590BC8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7E72B-8532-77A5-D828-150541D0A071}"/>
              </a:ext>
            </a:extLst>
          </p:cNvPr>
          <p:cNvSpPr txBox="1"/>
          <p:nvPr/>
        </p:nvSpPr>
        <p:spPr>
          <a:xfrm>
            <a:off x="0" y="685800"/>
            <a:ext cx="908167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lang="en-US" altLang="ja-JP" sz="2000" b="1" dirty="0">
                <a:solidFill>
                  <a:srgbClr val="00B050"/>
                </a:solidFill>
              </a:rPr>
              <a:t>Iterative &amp; Continuous Design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 iteration: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define 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entity objects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House, GarbageBin, TrafficLight.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 iteration: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objects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BillCalculator, RouteOptimizer, SignalController to manage them.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Then: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refine 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boundary objects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mobile apps, web portals, and IoT sensors that connect the outside world to the system.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cycle continues — as Dhaka grows, new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metro stations), new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logic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AI-based traffic prediction), and new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boundary services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chatbot for citizens) can be added.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87816C3-DE9E-CDF1-F0F1-01638C5F6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815477"/>
            <a:ext cx="9753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Entity Objects (real-world data and resources in the farm)  (AAS)</a:t>
            </a:r>
            <a:endParaRPr kumimoji="0" lang="en-US" altLang="ja-JP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represent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 being managed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farm: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(type, growth stage, health status)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Soil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(moisture level, pH, nutrient level)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IrrigationPump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(status, capacity)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WeatherData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(temperature, humidity, rainfall)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FertilizerTank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(amount, type)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PestData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(detection, severity)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💡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SoilSensor(id, location, moisture, phLevel)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51A82E-2336-5732-2438-81E9A0D3C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210"/>
            <a:ext cx="9314385" cy="62095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9D8783D-A9DE-5FDD-25E4-859EC753CBE5}"/>
              </a:ext>
            </a:extLst>
          </p:cNvPr>
          <p:cNvSpPr/>
          <p:nvPr/>
        </p:nvSpPr>
        <p:spPr>
          <a:xfrm>
            <a:off x="7086600" y="685800"/>
            <a:ext cx="2147477" cy="5181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5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8251"/>
            <a:ext cx="8534400" cy="553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Creating Models in Design: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F1FEB3B-D48A-B109-6A04-9282B83DE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" y="630469"/>
            <a:ext cx="9753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Control Objects (decision-making and process logic)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coordinate farming tasks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rules, data, or AI models: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IrrigationController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decides when and how much to irrigate crops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FertilizerScheduler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calculates fertilizer requirements based on crop and soil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GreenhouseClimateController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controls fan, heater, and humidity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PestDetectionManager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triggers pesticide spraying if pest threshold is crossed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HarvestPlanner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determines best harvesting time based on crop maturity &amp; weather forecast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💡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IrrigationController reads SoilSensor data and activates IrrigationPump if moisture &lt; threshold.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843472E-9DDF-4BEE-F934-64517F7CB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3126940"/>
            <a:ext cx="91440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Boundary Objects (interfaces with users and external services)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allow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interaction between system, farmers, and external tools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FarmerMobileApp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lets farmer monitor crops, soil data, and irrigation status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WeatherAPIInterface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gets weather forecasts from an external service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DroneCameraInterface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captures crop health images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IoTSensorGateway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collects data from soil, water, and crop sensors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SMS/AlertService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sends alerts about irrigation, pest outbreak, or low fertilizer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💡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FarmerMobileApp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soil moisture levels and allows the farmer to manually override the IrrigationController.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392F248-B9EA-FD43-BF2E-233B77606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12263"/>
            <a:ext cx="998363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(Iterative &amp; Continuous Design)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 iteration: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(Crop, SoilSensor, IrrigationPump)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 iteration: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objects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(IrrigationController, PestDetectionManager) to manage entities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refine 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boundary objects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(FarmerApp, DroneInterface, WeatherAPI) for user/system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2977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78A85A-3CD1-94FB-9731-CE822699E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8851"/>
            <a:ext cx="9211002" cy="690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881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E4D2D-3F9A-A306-4CAE-5B4601A46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DAF4A-FE45-ED72-98CE-462993015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Evolution of Programming Languages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04D4FD-9717-5602-4D18-C390E4576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9D5E9F-5B53-3C15-63BF-56A2500A5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E1B0A9-CD10-5E9D-1D74-C5FAF489B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601D716-EBBB-BE63-50C8-4E113EF5F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1228762"/>
            <a:ext cx="8763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u"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 = </a:t>
            </a:r>
            <a:r>
              <a:rPr kumimoji="0" lang="en-US" altLang="ja-JP" sz="2000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ja-JP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for communicating thoughts and ideas with each other.</a:t>
            </a: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ystem for </a:t>
            </a: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communicating ideas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(speaking, writing, gestures, etc.)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Languages must </a:t>
            </a: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evolve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stay alive and useful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 evolve for: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Solving new problems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Offering more effective solutions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Supporting new data structures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ideas → shifts in </a:t>
            </a: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paradigms</a:t>
            </a:r>
            <a:endParaRPr kumimoji="0" lang="en-US" altLang="ja-JP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Top-Down Programming (Example)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strategy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solving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data-processing problems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processes → routines (starting from the “top”)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Expressed as a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of routines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in languages supporting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subroutines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ja-JP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82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Evolution of Programming Languages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EDA2C0B-F062-A54C-6E41-52DCCE2E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36174"/>
            <a:ext cx="8763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Study the History of Programming Paradigms?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Older systems still use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languages &amp; paradigms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≠ best solution for all problems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languages may: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on existing structures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older paradigms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history helps: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“old in new” paradigms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most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paradigm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problem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ja-JP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147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-20985"/>
            <a:ext cx="8534400" cy="7067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Evolution of Programming Languages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B20FE1-3982-5098-F3FF-7CB94DB72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919529"/>
              </p:ext>
            </p:extLst>
          </p:nvPr>
        </p:nvGraphicFramePr>
        <p:xfrm>
          <a:off x="82446" y="822960"/>
          <a:ext cx="8979108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318378745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982366465"/>
                    </a:ext>
                  </a:extLst>
                </a:gridCol>
                <a:gridCol w="3645108">
                  <a:extLst>
                    <a:ext uri="{9D8B030D-6E8A-4147-A177-3AD203B41FA5}">
                      <a16:colId xmlns:a16="http://schemas.microsoft.com/office/drawing/2014/main" val="3568287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ja-JP" sz="1800" b="0" i="0" u="none" strike="noStrike" baseline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</a:t>
                      </a:r>
                    </a:p>
                    <a:p>
                      <a:pPr algn="l"/>
                      <a:r>
                        <a:rPr lang="en-US" altLang="ja-JP" sz="1800" b="0" i="0" u="none" strike="noStrike" baseline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 and </a:t>
                      </a:r>
                    </a:p>
                    <a:p>
                      <a:pPr algn="l"/>
                      <a:r>
                        <a:rPr lang="en-US" altLang="ja-JP" sz="1800" b="0" i="0" u="none" strike="noStrike" baseline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</a:p>
                    <a:p>
                      <a:pPr algn="l"/>
                      <a:r>
                        <a:rPr lang="en-US" altLang="ja-JP" sz="1800" b="0" i="0" u="none" strike="noStrike" baseline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800" b="0" i="0" u="none" strike="noStrike" baseline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Solutions afforded</a:t>
                      </a:r>
                    </a:p>
                    <a:p>
                      <a:pPr algn="l"/>
                      <a:r>
                        <a:rPr lang="en-US" altLang="ja-JP" sz="1800" b="0" i="0" u="none" strike="noStrike" baseline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 Programming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800" dirty="0"/>
                        <a:t>Uncontrolled global data changes cause unpredictable errors, highlighting the need for better data management.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20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ja-JP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COBOL</a:t>
                      </a:r>
                    </a:p>
                    <a:p>
                      <a:r>
                        <a:rPr lang="en-US" altLang="ja-JP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Fortran </a:t>
                      </a:r>
                      <a:r>
                        <a:rPr lang="en-US" altLang="ja-JP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1960s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COBOL and Fortran employed a centralized global data model that stored information in a single shared memory location, reducing the overhead of passing individual copies through subroutines and enabling faster, more direct access on costly hardware.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Uncontrolled global data changes cause unpredictable errors, highlighting the need for better data management.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52840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r>
                        <a:rPr lang="en-US" altLang="ja-JP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Algol 68</a:t>
                      </a:r>
                    </a:p>
                    <a:p>
                      <a:r>
                        <a:rPr lang="en-US" altLang="ja-JP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Pascal </a:t>
                      </a:r>
                      <a:r>
                        <a:rPr lang="en-US" altLang="ja-JP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Early</a:t>
                      </a:r>
                    </a:p>
                    <a:p>
                      <a:r>
                        <a:rPr lang="en-US" altLang="ja-JP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1970s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b="1" dirty="0"/>
                        <a:t>Data Management in the 1960s</a:t>
                      </a:r>
                    </a:p>
                    <a:p>
                      <a:r>
                        <a:rPr lang="en-US" altLang="ja-JP" dirty="0"/>
                        <a:t>Global data widely used → changes caused issues for subroutines</a:t>
                      </a:r>
                    </a:p>
                    <a:p>
                      <a:r>
                        <a:rPr lang="en-US" altLang="ja-JP" dirty="0"/>
                        <a:t>Solution: </a:t>
                      </a:r>
                      <a:r>
                        <a:rPr lang="en-US" altLang="ja-JP" b="1" dirty="0"/>
                        <a:t>Scopes &amp; local variables</a:t>
                      </a:r>
                      <a:r>
                        <a:rPr lang="en-US" altLang="ja-JP" dirty="0"/>
                        <a:t> → each subroutine/procedure had its own data.    </a:t>
                      </a:r>
                      <a:r>
                        <a:rPr lang="en-US" altLang="ja-JP" b="1" dirty="0"/>
                        <a:t>Abstract Data Types (ADT)</a:t>
                      </a:r>
                    </a:p>
                    <a:p>
                      <a:r>
                        <a:rPr lang="en-US" altLang="ja-JP" dirty="0"/>
                        <a:t>Defined by programmer, not built into language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By the mid-1970s, cheaper computer processing and expensive human labor led to larger, more complex software, making single-file program maintenance difficult.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20535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C63E0899-4590-B388-6C26-5AAEE3A1F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693" y="3141563"/>
            <a:ext cx="1872375" cy="13978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DA4A49-5781-5BB9-D6AE-D7D95589D3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3131" y="5714915"/>
            <a:ext cx="2330937" cy="137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5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-20985"/>
            <a:ext cx="8534400" cy="7067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Evolution of Programming Languages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B20FE1-3982-5098-F3FF-7CB94DB72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737882"/>
              </p:ext>
            </p:extLst>
          </p:nvPr>
        </p:nvGraphicFramePr>
        <p:xfrm>
          <a:off x="82446" y="822960"/>
          <a:ext cx="8979108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954">
                  <a:extLst>
                    <a:ext uri="{9D8B030D-6E8A-4147-A177-3AD203B41FA5}">
                      <a16:colId xmlns:a16="http://schemas.microsoft.com/office/drawing/2014/main" val="2318378745"/>
                    </a:ext>
                  </a:extLst>
                </a:gridCol>
                <a:gridCol w="3740046">
                  <a:extLst>
                    <a:ext uri="{9D8B030D-6E8A-4147-A177-3AD203B41FA5}">
                      <a16:colId xmlns:a16="http://schemas.microsoft.com/office/drawing/2014/main" val="982366465"/>
                    </a:ext>
                  </a:extLst>
                </a:gridCol>
                <a:gridCol w="3645108">
                  <a:extLst>
                    <a:ext uri="{9D8B030D-6E8A-4147-A177-3AD203B41FA5}">
                      <a16:colId xmlns:a16="http://schemas.microsoft.com/office/drawing/2014/main" val="3568287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ja-JP" sz="1600" b="0" i="0" u="none" strike="noStrike" baseline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</a:t>
                      </a:r>
                    </a:p>
                    <a:p>
                      <a:pPr algn="l"/>
                      <a:r>
                        <a:rPr lang="en-US" altLang="ja-JP" sz="1600" b="0" i="0" u="none" strike="noStrike" baseline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 and </a:t>
                      </a:r>
                    </a:p>
                    <a:p>
                      <a:pPr algn="l"/>
                      <a:r>
                        <a:rPr lang="en-US" altLang="ja-JP" sz="1600" b="0" i="0" u="none" strike="noStrike" baseline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</a:p>
                    <a:p>
                      <a:pPr algn="l"/>
                      <a:r>
                        <a:rPr lang="en-US" altLang="ja-JP" sz="1600" b="0" i="0" u="none" strike="noStrike" baseline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</a:t>
                      </a:r>
                      <a:endParaRPr lang="en-US" altLang="ja-JP" sz="1600" b="0" i="0" u="none" strike="noStrike" baseline="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600" b="0" i="0" u="none" strike="noStrike" baseline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Solutions afforded</a:t>
                      </a:r>
                    </a:p>
                    <a:p>
                      <a:pPr algn="l"/>
                      <a:r>
                        <a:rPr lang="en-US" altLang="ja-JP" sz="1600" b="0" i="0" u="none" strike="noStrike" baseline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 Programming Language</a:t>
                      </a:r>
                      <a:endParaRPr lang="en-US" altLang="ja-JP" sz="1600" b="0" i="0" u="none" strike="noStrike" baseline="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/>
                        <a:t>Uncontrolled global data changes cause unpredictable errors, highlighting the need for better data management.</a:t>
                      </a:r>
                      <a:endParaRPr kumimoji="1" lang="ja-JP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20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ja-JP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Object-</a:t>
                      </a:r>
                    </a:p>
                    <a:p>
                      <a:r>
                        <a:rPr lang="en-US" altLang="ja-JP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Oriented</a:t>
                      </a:r>
                    </a:p>
                    <a:p>
                      <a:r>
                        <a:rPr lang="en-US" altLang="ja-JP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Programming</a:t>
                      </a:r>
                    </a:p>
                    <a:p>
                      <a:r>
                        <a:rPr lang="en-US" altLang="ja-JP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(Java, C++,</a:t>
                      </a:r>
                    </a:p>
                    <a:p>
                      <a:r>
                        <a:rPr lang="en-US" altLang="ja-JP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C#, etc.) </a:t>
                      </a:r>
                      <a:r>
                        <a:rPr lang="en-US" altLang="ja-JP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1980s</a:t>
                      </a:r>
                    </a:p>
                    <a:p>
                      <a:r>
                        <a:rPr lang="en-US" altLang="ja-JP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</a:p>
                    <a:p>
                      <a:r>
                        <a:rPr lang="en-US" altLang="ja-JP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present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b="1" dirty="0"/>
                        <a:t>Rise of Object-Oriented Design</a:t>
                      </a:r>
                    </a:p>
                    <a:p>
                      <a:r>
                        <a:rPr lang="en-US" altLang="ja-JP" dirty="0"/>
                        <a:t>Abstract data types improved program management, but </a:t>
                      </a:r>
                      <a:r>
                        <a:rPr lang="en-US" altLang="ja-JP" b="1" dirty="0"/>
                        <a:t>no inheritance existed</a:t>
                      </a:r>
                      <a:endParaRPr lang="en-US" altLang="ja-JP" dirty="0"/>
                    </a:p>
                    <a:p>
                      <a:r>
                        <a:rPr lang="en-US" altLang="ja-JP" dirty="0"/>
                        <a:t>Object-oriented design emerged to solve this limitation</a:t>
                      </a:r>
                    </a:p>
                    <a:p>
                      <a:r>
                        <a:rPr lang="en-US" altLang="ja-JP" b="1" dirty="0"/>
                        <a:t>Objectives of Object-Oriented Design: </a:t>
                      </a:r>
                      <a:r>
                        <a:rPr lang="en-US" altLang="ja-JP" dirty="0"/>
                        <a:t>Simplify writing abstract data types Structure systems around </a:t>
                      </a:r>
                      <a:r>
                        <a:rPr lang="en-US" altLang="ja-JP" b="1" dirty="0"/>
                        <a:t>classes</a:t>
                      </a:r>
                      <a:r>
                        <a:rPr lang="en-US" altLang="ja-JP" dirty="0"/>
                        <a:t> (abstract data types)</a:t>
                      </a:r>
                    </a:p>
                    <a:p>
                      <a:r>
                        <a:rPr lang="en-US" altLang="ja-JP" dirty="0"/>
                        <a:t>Enable </a:t>
                      </a:r>
                      <a:r>
                        <a:rPr lang="en-US" altLang="ja-JP" b="1" dirty="0"/>
                        <a:t>inheritance</a:t>
                      </a:r>
                      <a:r>
                        <a:rPr lang="en-US" altLang="ja-JP" dirty="0"/>
                        <a:t> → one data type can extend another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Object oriented programming is the</a:t>
                      </a:r>
                    </a:p>
                    <a:p>
                      <a:r>
                        <a:rPr lang="en-US" altLang="ja-JP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predominant </a:t>
                      </a:r>
                      <a:r>
                        <a:rPr lang="en-US" altLang="ja-JP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programming</a:t>
                      </a:r>
                    </a:p>
                    <a:p>
                      <a:r>
                        <a:rPr lang="en-US" altLang="ja-JP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paradigm </a:t>
                      </a:r>
                      <a:r>
                        <a:rPr lang="en-US" altLang="ja-JP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now.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52840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20535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B8E67749-3936-F8F1-188F-1E70B04BC1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975" y="2821564"/>
            <a:ext cx="2729394" cy="238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706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Evolution of Programming Languages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0040EFA3-CD39-973B-A680-1B6269C5F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46" y="1256414"/>
            <a:ext cx="882670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1. COBOL (Business-oriented, verbose English-like, 1960s)</a:t>
            </a:r>
          </a:p>
          <a:p>
            <a:r>
              <a:rPr lang="en-US" altLang="ja-JP" sz="2400" dirty="0"/>
              <a:t>Designed for </a:t>
            </a:r>
            <a:r>
              <a:rPr lang="en-US" altLang="ja-JP" sz="2400" b="1" dirty="0"/>
              <a:t>business data processing</a:t>
            </a:r>
            <a:r>
              <a:rPr lang="en-US" altLang="ja-JP" sz="2400" dirty="0"/>
              <a:t>. DUMS Code looks like English.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CA24E31-69CE-8810-FC98-A793C2FAD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793" y="2195565"/>
            <a:ext cx="882670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dirty="0"/>
              <a:t>IDENTIFICATION DIVISION.</a:t>
            </a:r>
          </a:p>
          <a:p>
            <a:r>
              <a:rPr lang="en-US" altLang="ja-JP" dirty="0"/>
              <a:t>PROGRAM-ID. GARBAGE-MANAGEMENT.</a:t>
            </a:r>
          </a:p>
          <a:p>
            <a:r>
              <a:rPr lang="en-US" altLang="ja-JP" dirty="0"/>
              <a:t>DATA DIVISION.</a:t>
            </a:r>
          </a:p>
          <a:p>
            <a:r>
              <a:rPr lang="en-US" altLang="ja-JP" dirty="0"/>
              <a:t>WORKING-STORAGE SECTION.</a:t>
            </a:r>
          </a:p>
          <a:p>
            <a:r>
              <a:rPr lang="en-US" altLang="ja-JP" dirty="0"/>
              <a:t>01 BIN1 PIC 9(4) VALUE 120.</a:t>
            </a:r>
          </a:p>
          <a:p>
            <a:r>
              <a:rPr lang="en-US" altLang="ja-JP" dirty="0"/>
              <a:t>01 BIN2 PIC 9(4) VALUE 150.</a:t>
            </a:r>
          </a:p>
          <a:p>
            <a:r>
              <a:rPr lang="en-US" altLang="ja-JP" dirty="0"/>
              <a:t>01 BIN3 PIC 9(4) VALUE 100.</a:t>
            </a:r>
          </a:p>
          <a:p>
            <a:r>
              <a:rPr lang="en-US" altLang="ja-JP" dirty="0"/>
              <a:t>01 TOTAL PIC 9(5).</a:t>
            </a:r>
          </a:p>
          <a:p>
            <a:endParaRPr lang="en-US" altLang="ja-JP" dirty="0"/>
          </a:p>
          <a:p>
            <a:r>
              <a:rPr lang="en-US" altLang="ja-JP" dirty="0"/>
              <a:t>PROCEDURE DIVISION.</a:t>
            </a:r>
          </a:p>
          <a:p>
            <a:r>
              <a:rPr lang="en-US" altLang="ja-JP" dirty="0"/>
              <a:t>    ADD BIN1 TO TOTAL.</a:t>
            </a:r>
          </a:p>
          <a:p>
            <a:r>
              <a:rPr lang="en-US" altLang="ja-JP" dirty="0"/>
              <a:t>    ADD BIN2 TO TOTAL.</a:t>
            </a:r>
          </a:p>
          <a:p>
            <a:r>
              <a:rPr lang="en-US" altLang="ja-JP" dirty="0"/>
              <a:t>    ADD BIN3 TO TOTAL.</a:t>
            </a:r>
          </a:p>
          <a:p>
            <a:r>
              <a:rPr lang="en-US" altLang="ja-JP" dirty="0"/>
              <a:t>    DISPLAY "TOTAL GARBAGE COLLECTED: " TOTAL.</a:t>
            </a:r>
          </a:p>
          <a:p>
            <a:r>
              <a:rPr lang="en-US" altLang="ja-JP" dirty="0"/>
              <a:t>    STOP RUN.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3A07B-B26F-7C1D-D3BB-50F21858074A}"/>
              </a:ext>
            </a:extLst>
          </p:cNvPr>
          <p:cNvSpPr txBox="1"/>
          <p:nvPr/>
        </p:nvSpPr>
        <p:spPr>
          <a:xfrm>
            <a:off x="6197223" y="2045329"/>
            <a:ext cx="30302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01 BIN1 PIC 9(4) VALUE 120.   *&gt; can store numbers like 45, 9999, 0</a:t>
            </a:r>
          </a:p>
          <a:p>
            <a:r>
              <a:rPr lang="ja-JP" altLang="en-US" dirty="0"/>
              <a:t>01 BIN2 PIC 9(2) VALUE 12.    *&gt; can store up to 2 digits (00–99)</a:t>
            </a:r>
          </a:p>
          <a:p>
            <a:r>
              <a:rPr lang="ja-JP" altLang="en-US" dirty="0"/>
              <a:t>01 BIN3 PIC X(10) VALUE "Dhaka". *&gt; X means alphanumeric, up to 10 chars</a:t>
            </a:r>
          </a:p>
        </p:txBody>
      </p:sp>
    </p:spTree>
    <p:extLst>
      <p:ext uri="{BB962C8B-B14F-4D97-AF65-F5344CB8AC3E}">
        <p14:creationId xmlns:p14="http://schemas.microsoft.com/office/powerpoint/2010/main" val="3702925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Evolution of Programming Languages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040EFA3-CD39-973B-A680-1B6269C5F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46" y="1269451"/>
            <a:ext cx="88267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2. ALGOL 68 (Algorithmic, structured programming)</a:t>
            </a:r>
            <a:r>
              <a:rPr lang="en-US" altLang="ja-JP" sz="2400" dirty="0">
                <a:solidFill>
                  <a:srgbClr val="00B050"/>
                </a:solidFill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3A07B-B26F-7C1D-D3BB-50F21858074A}"/>
              </a:ext>
            </a:extLst>
          </p:cNvPr>
          <p:cNvSpPr txBox="1"/>
          <p:nvPr/>
        </p:nvSpPr>
        <p:spPr>
          <a:xfrm>
            <a:off x="533400" y="1752600"/>
            <a:ext cx="3030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 dirty="0"/>
          </a:p>
          <a:p>
            <a:endParaRPr lang="ja-JP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4D01D6-A42E-90FB-D8AC-16DE062D5D09}"/>
              </a:ext>
            </a:extLst>
          </p:cNvPr>
          <p:cNvSpPr txBox="1"/>
          <p:nvPr/>
        </p:nvSpPr>
        <p:spPr>
          <a:xfrm>
            <a:off x="297169" y="1675726"/>
            <a:ext cx="86182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   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bin1 := 120, bin2 := 150, bin3 := 100;   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total := bin1 + bin2 + bin3;    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print(("TOTAL GARBAGE COLLECTED = ", total))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A19668-0B1B-3221-D8D4-4D5AEFED3D9D}"/>
              </a:ext>
            </a:extLst>
          </p:cNvPr>
          <p:cNvSpPr txBox="1"/>
          <p:nvPr/>
        </p:nvSpPr>
        <p:spPr>
          <a:xfrm>
            <a:off x="174595" y="4435416"/>
            <a:ext cx="45879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 PROGRAM GARBAGE</a:t>
            </a:r>
          </a:p>
          <a:p>
            <a:r>
              <a:rPr lang="ja-JP" altLang="en-US" dirty="0"/>
              <a:t>      INTEGER BIN1, BIN2, BIN3, TOTAL</a:t>
            </a:r>
          </a:p>
          <a:p>
            <a:r>
              <a:rPr lang="ja-JP" altLang="en-US" dirty="0"/>
              <a:t>      BIN1 = 120</a:t>
            </a:r>
          </a:p>
          <a:p>
            <a:r>
              <a:rPr lang="ja-JP" altLang="en-US" dirty="0"/>
              <a:t>      BIN2 = 150</a:t>
            </a:r>
          </a:p>
          <a:p>
            <a:r>
              <a:rPr lang="ja-JP" altLang="en-US" dirty="0"/>
              <a:t>      BIN3 = 100</a:t>
            </a:r>
          </a:p>
          <a:p>
            <a:r>
              <a:rPr lang="ja-JP" altLang="en-US" dirty="0"/>
              <a:t>      TOTAL = BIN1 + BIN2 + BIN3</a:t>
            </a:r>
          </a:p>
          <a:p>
            <a:r>
              <a:rPr lang="ja-JP" altLang="en-US" dirty="0"/>
              <a:t>      PRINT *, 'TOTAL GARBAGE COLLECTED = ', TOTAL</a:t>
            </a:r>
          </a:p>
          <a:p>
            <a:r>
              <a:rPr lang="ja-JP" altLang="en-US" dirty="0"/>
              <a:t>      END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094FD2CB-BBF8-438C-DC52-3B3D24B56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29" y="3650459"/>
            <a:ext cx="480880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3. FORTRAN (Scientific/Engineering, 1950s–1960s)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0D2CF9-4421-0092-D9D7-8450AD5342A9}"/>
              </a:ext>
            </a:extLst>
          </p:cNvPr>
          <p:cNvSpPr txBox="1"/>
          <p:nvPr/>
        </p:nvSpPr>
        <p:spPr>
          <a:xfrm>
            <a:off x="5029200" y="3707051"/>
            <a:ext cx="458794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program GarbageManagement;</a:t>
            </a:r>
          </a:p>
          <a:p>
            <a:r>
              <a:rPr lang="ja-JP" altLang="en-US" dirty="0"/>
              <a:t>var</a:t>
            </a:r>
          </a:p>
          <a:p>
            <a:r>
              <a:rPr lang="ja-JP" altLang="en-US" dirty="0"/>
              <a:t>    bin1, bin2, bin3, total: integer;</a:t>
            </a:r>
          </a:p>
          <a:p>
            <a:r>
              <a:rPr lang="ja-JP" altLang="en-US" dirty="0"/>
              <a:t>begin</a:t>
            </a:r>
          </a:p>
          <a:p>
            <a:r>
              <a:rPr lang="ja-JP" altLang="en-US" dirty="0"/>
              <a:t>    bin1 := 120;</a:t>
            </a:r>
          </a:p>
          <a:p>
            <a:r>
              <a:rPr lang="ja-JP" altLang="en-US" dirty="0"/>
              <a:t>    bin2 := 150;</a:t>
            </a:r>
          </a:p>
          <a:p>
            <a:r>
              <a:rPr lang="ja-JP" altLang="en-US" dirty="0"/>
              <a:t>    bin3 := 100;</a:t>
            </a:r>
          </a:p>
          <a:p>
            <a:r>
              <a:rPr lang="ja-JP" altLang="en-US" dirty="0"/>
              <a:t>    total := bin1 + bin2 + bin3;</a:t>
            </a:r>
          </a:p>
          <a:p>
            <a:r>
              <a:rPr lang="ja-JP" altLang="en-US" dirty="0"/>
              <a:t>    writeln('TOTAL GARBAGE COLLECTED = ', total);</a:t>
            </a:r>
          </a:p>
          <a:p>
            <a:r>
              <a:rPr lang="ja-JP" altLang="en-US" dirty="0"/>
              <a:t>end.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C4C79AAE-5A5D-96B2-3CC3-CDC7D8799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337" y="2918136"/>
            <a:ext cx="391166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4. Pascal (Teaching/Struct Programming, early 1970s)</a:t>
            </a:r>
          </a:p>
        </p:txBody>
      </p:sp>
    </p:spTree>
    <p:extLst>
      <p:ext uri="{BB962C8B-B14F-4D97-AF65-F5344CB8AC3E}">
        <p14:creationId xmlns:p14="http://schemas.microsoft.com/office/powerpoint/2010/main" val="2854716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Evolution of Programming Languages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0040EFA3-CD39-973B-A680-1B6269C5F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46" y="1269451"/>
            <a:ext cx="88267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3. JAVA</a:t>
            </a:r>
            <a:endParaRPr lang="en-US" altLang="ja-JP" sz="2400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3A07B-B26F-7C1D-D3BB-50F21858074A}"/>
              </a:ext>
            </a:extLst>
          </p:cNvPr>
          <p:cNvSpPr txBox="1"/>
          <p:nvPr/>
        </p:nvSpPr>
        <p:spPr>
          <a:xfrm>
            <a:off x="533400" y="1752600"/>
            <a:ext cx="3030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 dirty="0"/>
          </a:p>
          <a:p>
            <a:endParaRPr lang="ja-JP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C3C89-BA26-CEF9-A749-925B6A5B8D43}"/>
              </a:ext>
            </a:extLst>
          </p:cNvPr>
          <p:cNvSpPr txBox="1"/>
          <p:nvPr/>
        </p:nvSpPr>
        <p:spPr>
          <a:xfrm>
            <a:off x="992376" y="1689034"/>
            <a:ext cx="754202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GarbageBin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weight;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GarbageBin(int w) { weight = w; }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DhakaUrbanSystem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args)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GarbageBin b1 = new GarbageBin(120);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GarbageBin b2 = new GarbageBin(150);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GarbageBin b3 = new GarbageBin(100);</a:t>
            </a:r>
          </a:p>
          <a:p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total = b1.weight + b2.weight + b3.weight;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System.out.println("TOTAL GARBAGE COLLECTED = " + total);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1093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Evolution of Programming Languages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0040EFA3-CD39-973B-A680-1B6269C5F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46" y="1447800"/>
            <a:ext cx="8826708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COBOL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relies heavily on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data areas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(like 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WORKING-STORAGE SECTION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which makes large projects difficult to manage (hard to avoid conflicts).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ALGOL 68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introduced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 structure with scopes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(local vs global variables).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/ OOP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solves the “global data” problem by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inside objects (classes)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accessible through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(controlled access)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unwanted global data sharing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9873F7-FD51-D5D1-B1C2-10F42B81EF76}"/>
              </a:ext>
            </a:extLst>
          </p:cNvPr>
          <p:cNvSpPr txBox="1"/>
          <p:nvPr/>
        </p:nvSpPr>
        <p:spPr>
          <a:xfrm>
            <a:off x="133269" y="4108965"/>
            <a:ext cx="85341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COBOL → everything is global (messy in big systems).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ALGOL 68 → introduced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scopes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Java/OOP → goes further by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encapsulating data inside classes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restricting access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modifiers </a:t>
            </a:r>
          </a:p>
        </p:txBody>
      </p:sp>
    </p:spTree>
    <p:extLst>
      <p:ext uri="{BB962C8B-B14F-4D97-AF65-F5344CB8AC3E}">
        <p14:creationId xmlns:p14="http://schemas.microsoft.com/office/powerpoint/2010/main" val="3680278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69038"/>
            <a:ext cx="8534400" cy="609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Evolution of Programming Languages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040EFA3-CD39-973B-A680-1B6269C5F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152" y="1170801"/>
            <a:ext cx="8826708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kumimoji="0" lang="en-US" altLang="ja-JP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NumberSummer</a:t>
            </a: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  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 int[] numbers;   // data is private, not global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private int total;    // Constructor initializes numbers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kumimoji="0" lang="en-US" altLang="ja-JP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NumberSummer</a:t>
            </a: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(int[] </a:t>
            </a:r>
            <a:r>
              <a:rPr kumimoji="0" lang="en-US" altLang="ja-JP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nums</a:t>
            </a: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{   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numbers = </a:t>
            </a:r>
            <a:r>
              <a:rPr kumimoji="0" lang="en-US" altLang="ja-JP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nums</a:t>
            </a: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 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total = 0;    }    // Method to calculate sum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public int </a:t>
            </a:r>
            <a:r>
              <a:rPr kumimoji="0" lang="en-US" altLang="ja-JP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calculateSum</a:t>
            </a: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{   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for (int n : numbers) {       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total += n;        }    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return total;    }}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ja-JP" sz="20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Main {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main(String[] </a:t>
            </a:r>
            <a:r>
              <a:rPr kumimoji="0" lang="en-US" altLang="ja-JP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{   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int[] </a:t>
            </a:r>
            <a:r>
              <a:rPr kumimoji="0" lang="en-US" altLang="ja-JP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nums</a:t>
            </a: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{1,2,3,4,5,6,7,8,9,10};   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ja-JP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NumberSummer</a:t>
            </a: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summer = new </a:t>
            </a:r>
            <a:r>
              <a:rPr kumimoji="0" lang="en-US" altLang="ja-JP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NumberSummer</a:t>
            </a: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ja-JP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nums</a:t>
            </a: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       </a:t>
            </a:r>
            <a:r>
              <a:rPr kumimoji="0" lang="en-US" altLang="ja-JP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("Sum = " + </a:t>
            </a:r>
            <a:r>
              <a:rPr kumimoji="0" lang="en-US" altLang="ja-JP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summer.calculateSum</a:t>
            </a: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());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  <a:endParaRPr kumimoji="0" lang="ja-JP" altLang="ja-JP" sz="20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D626A9-C540-8978-0EA0-D251A09B73E8}"/>
              </a:ext>
            </a:extLst>
          </p:cNvPr>
          <p:cNvSpPr txBox="1"/>
          <p:nvPr/>
        </p:nvSpPr>
        <p:spPr>
          <a:xfrm>
            <a:off x="152400" y="801469"/>
            <a:ext cx="678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Sum of 10 Numbers in Java (OOP Encapsulation)</a:t>
            </a:r>
            <a:endParaRPr lang="ja-JP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963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Four Major Design Principles in OOP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0040EFA3-CD39-973B-A680-1B6269C5F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46" y="1388345"/>
            <a:ext cx="882670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models objects in a system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key principles: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Abstraction, Encapsulation, Decomposition, Generalization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274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09710-F05E-30F2-70D8-2D5E9B104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E8A1A-4504-3A09-FC0D-321E077C3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Four Major Design Principles in OOP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C310A9-3BBB-E34C-453D-8F0998797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A0D7EF-A0D9-9528-4258-E5B9DC53C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564A9C-7797-00FA-7951-2E67E5A06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7013575E-A943-596A-9C24-406A0A602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46" y="1388345"/>
            <a:ext cx="882670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models objects in a system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key principles: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Abstraction, Encapsulation, Decomposition, Generalization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F4A31-21B1-1F79-020A-4FBA96444F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82" y="0"/>
            <a:ext cx="8068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6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Abstraction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0040EFA3-CD39-973B-A680-1B6269C5F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31" y="1319702"/>
            <a:ext cx="8826708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ja-JP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Abstraction is the process of hiding complex implementation details and showing only the essential features of an object.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Simplifies complex concepts by focusing on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essential details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Ignores irrelevant characteristics → follows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 of least astonishment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via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objects are instances of a class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 matters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abstraction depends on software purpose (e.g., gamer vs. athlete)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Captures two main aspects: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attributes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age of a lion)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behaviors/responsibilities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hunting, eating, sleeping)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Simplifies class design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code more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focused, understandable, and maintainable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Adaptable when system purpose or problem changes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altLang="ja-JP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ja-JP" altLang="ja-JP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120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Abstraction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" y="1523999"/>
            <a:ext cx="8229600" cy="365125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altLang="ja-JP" sz="24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Hiding complex reality while exposing only essentials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25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0040EFA3-CD39-973B-A680-1B6269C5F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886147"/>
            <a:ext cx="8458200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Arial Unicode MS"/>
                <a:ea typeface="Menlo"/>
              </a:rPr>
              <a:t>// Abstract class example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rgbClr val="494949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abstract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class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Arial Unicode MS"/>
                <a:ea typeface="Menlo"/>
              </a:rPr>
              <a:t>Vehicle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{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abstract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void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Arial Unicode MS"/>
                <a:ea typeface="Menlo"/>
              </a:rPr>
              <a:t>startEngine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();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Arial Unicode MS"/>
                <a:ea typeface="Menlo"/>
              </a:rPr>
              <a:t>// Abstract method (no implementation)</a:t>
            </a:r>
            <a:endParaRPr kumimoji="0" lang="en-US" altLang="ja-JP" sz="2000" b="0" i="1" u="none" strike="noStrike" cap="none" normalizeH="0" baseline="0" dirty="0">
              <a:ln>
                <a:noFill/>
              </a:ln>
              <a:solidFill>
                <a:srgbClr val="A0A1A7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public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void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Arial Unicode MS"/>
                <a:ea typeface="Menlo"/>
              </a:rPr>
              <a:t>honk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()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{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Arial Unicode MS"/>
                <a:ea typeface="Menlo"/>
              </a:rPr>
              <a:t>// Concrete method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rgbClr val="494949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Arial Unicode MS"/>
                <a:ea typeface="Menlo"/>
              </a:rPr>
              <a:t>System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.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out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.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Arial Unicode MS"/>
                <a:ea typeface="Menlo"/>
              </a:rPr>
              <a:t>println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(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Arial Unicode MS"/>
                <a:ea typeface="Menlo"/>
              </a:rPr>
              <a:t>"Beep beep!"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);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}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}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rgbClr val="494949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rgbClr val="494949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class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Arial Unicode MS"/>
                <a:ea typeface="Menlo"/>
              </a:rPr>
              <a:t>Car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extends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Arial Unicode MS"/>
                <a:ea typeface="Menlo"/>
              </a:rPr>
              <a:t>Vehicle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{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@Override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void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Arial Unicode MS"/>
                <a:ea typeface="Menlo"/>
              </a:rPr>
              <a:t>startEngine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()</a:t>
            </a: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{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Arial Unicode MS"/>
                <a:ea typeface="Menlo"/>
              </a:rPr>
              <a:t>System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.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out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.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Arial Unicode MS"/>
                <a:ea typeface="Menlo"/>
              </a:rPr>
              <a:t>println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(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Arial Unicode MS"/>
                <a:ea typeface="Menlo"/>
              </a:rPr>
              <a:t>"Car engine started with key"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);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}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}</a:t>
            </a: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class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Arial Unicode MS"/>
                <a:ea typeface="Menlo"/>
              </a:rPr>
              <a:t>ElectricCar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extends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Arial Unicode MS"/>
                <a:ea typeface="Menlo"/>
              </a:rPr>
              <a:t>Vehicle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{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@Override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void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Arial Unicode MS"/>
                <a:ea typeface="Menlo"/>
              </a:rPr>
              <a:t>startEngine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()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rgbClr val="494949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{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Arial Unicode MS"/>
                <a:ea typeface="Menlo"/>
              </a:rPr>
              <a:t>System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.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out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.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Arial Unicode MS"/>
                <a:ea typeface="Menlo"/>
              </a:rPr>
              <a:t>println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(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Arial Unicode MS"/>
                <a:ea typeface="Menlo"/>
              </a:rPr>
              <a:t>"Electric car started with button"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);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}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}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897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Abstraction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26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AE54F5-2E8E-BDF7-062C-7123E0182ABB}"/>
              </a:ext>
            </a:extLst>
          </p:cNvPr>
          <p:cNvSpPr txBox="1"/>
          <p:nvPr/>
        </p:nvSpPr>
        <p:spPr>
          <a:xfrm>
            <a:off x="-22737" y="1371600"/>
            <a:ext cx="9145385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Simplifies complex concepts to essentials within a context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at the design level using </a:t>
            </a: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 class diagrams</a:t>
            </a:r>
            <a:endParaRPr kumimoji="0" lang="ja-JP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CRC cards capture components, later refined into classes or functions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concept/class represented as a </a:t>
            </a: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box with three sections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Name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same as Java class name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equivalent to Java’s member variables</a:t>
            </a:r>
          </a:p>
          <a:p>
            <a:pPr marL="1257300" marR="0" lvl="2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Format: &lt;variable name&gt; : &lt;variable type&gt;</a:t>
            </a:r>
          </a:p>
          <a:p>
            <a:pPr marL="1257300" marR="0" lvl="2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can be classes or primitives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equivalent to Java’s methods</a:t>
            </a:r>
          </a:p>
          <a:p>
            <a:pPr marL="1257300" marR="0" lvl="2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Format: &lt;method&gt;(&lt;parameter list&gt;) : &lt;return type&gt;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ja-JP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ja-JP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E8B3E8-51BF-8E40-C023-8241ABD66537}"/>
              </a:ext>
            </a:extLst>
          </p:cNvPr>
          <p:cNvSpPr txBox="1"/>
          <p:nvPr/>
        </p:nvSpPr>
        <p:spPr>
          <a:xfrm>
            <a:off x="-19493" y="5029200"/>
            <a:ext cx="46251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→ Java Class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→ Member Variables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→ Methods</a:t>
            </a:r>
          </a:p>
        </p:txBody>
      </p:sp>
    </p:spTree>
    <p:extLst>
      <p:ext uri="{BB962C8B-B14F-4D97-AF65-F5344CB8AC3E}">
        <p14:creationId xmlns:p14="http://schemas.microsoft.com/office/powerpoint/2010/main" val="3657511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Abstraction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27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CC6DE7-8454-969D-5762-64A9222596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9077"/>
          <a:stretch/>
        </p:blipFill>
        <p:spPr>
          <a:xfrm>
            <a:off x="78891" y="1417630"/>
            <a:ext cx="3083612" cy="171473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9DECC8-59A3-4717-F339-1E497C6BF4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2949"/>
          <a:stretch/>
        </p:blipFill>
        <p:spPr>
          <a:xfrm>
            <a:off x="93954" y="3647963"/>
            <a:ext cx="2971735" cy="166710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CA9B13A-69A9-667F-8075-F5FCC7DCD0FE}"/>
              </a:ext>
            </a:extLst>
          </p:cNvPr>
          <p:cNvSpPr txBox="1"/>
          <p:nvPr/>
        </p:nvSpPr>
        <p:spPr>
          <a:xfrm>
            <a:off x="104587" y="3152987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Variables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C63FDE-1E1A-43D4-40DF-6548127A90BA}"/>
              </a:ext>
            </a:extLst>
          </p:cNvPr>
          <p:cNvSpPr txBox="1"/>
          <p:nvPr/>
        </p:nvSpPr>
        <p:spPr>
          <a:xfrm>
            <a:off x="-76168" y="5408418"/>
            <a:ext cx="2971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Class Diagrams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B6C85A3C-7429-0596-F9C3-2F00E3332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2907" y="1272470"/>
            <a:ext cx="550569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Food Item (Grocery Store Context)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Name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Food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groceryID, name, manufacturer, expiryDate, price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isOnSale(date: Date): Boolean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kumimoji="0" lang="ja-JP" altLang="ja-JP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true/false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depending on sale status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ja-JP" altLang="ja-JP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92BA77-8B68-6318-BD7B-D7C1FAE04D87}"/>
              </a:ext>
            </a:extLst>
          </p:cNvPr>
          <p:cNvSpPr txBox="1"/>
          <p:nvPr/>
        </p:nvSpPr>
        <p:spPr>
          <a:xfrm>
            <a:off x="3942907" y="2909299"/>
            <a:ext cx="51691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 vs. Class Diagram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CRC: lists responsibilities together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Diagram: separates 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vs. operations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translation into code for programmers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1CF036-3FEA-AB68-3465-2E99817E1870}"/>
              </a:ext>
            </a:extLst>
          </p:cNvPr>
          <p:cNvSpPr txBox="1"/>
          <p:nvPr/>
        </p:nvSpPr>
        <p:spPr>
          <a:xfrm>
            <a:off x="4114800" y="4386627"/>
            <a:ext cx="623793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Food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String groceryID;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String name;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String manufacturer;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Date expiryDate;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double price;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boolean isOnSale(Date date)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Implementation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}}</a:t>
            </a:r>
          </a:p>
        </p:txBody>
      </p:sp>
    </p:spTree>
    <p:extLst>
      <p:ext uri="{BB962C8B-B14F-4D97-AF65-F5344CB8AC3E}">
        <p14:creationId xmlns:p14="http://schemas.microsoft.com/office/powerpoint/2010/main" val="242215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2" grpId="0"/>
      <p:bldP spid="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Abstraction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28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E54F5-2E8E-BDF7-062C-7123E0182ABB}"/>
              </a:ext>
            </a:extLst>
          </p:cNvPr>
          <p:cNvSpPr txBox="1"/>
          <p:nvPr/>
        </p:nvSpPr>
        <p:spPr>
          <a:xfrm>
            <a:off x="-22737" y="1371600"/>
            <a:ext cx="91453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lang="en-US" altLang="ja-JP" sz="2400" b="1" dirty="0">
                <a:solidFill>
                  <a:srgbClr val="00B050"/>
                </a:solidFill>
              </a:rPr>
              <a:t>Abstraction Example 1: Dhaka Urban Management System (DUMS)</a:t>
            </a:r>
            <a:endParaRPr kumimoji="0" lang="ja-JP" altLang="ja-JP" sz="24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4A1E8E-A622-B23B-1D3D-985B2272EF33}"/>
              </a:ext>
            </a:extLst>
          </p:cNvPr>
          <p:cNvSpPr txBox="1"/>
          <p:nvPr/>
        </p:nvSpPr>
        <p:spPr>
          <a:xfrm>
            <a:off x="213016" y="1933767"/>
            <a:ext cx="8624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dirty="0"/>
              <a:t>Suppose we want to model </a:t>
            </a:r>
            <a:r>
              <a:rPr lang="en-US" altLang="ja-JP" b="1" dirty="0"/>
              <a:t>Garbage Bins</a:t>
            </a:r>
            <a:r>
              <a:rPr lang="en-US" altLang="ja-JP" dirty="0"/>
              <a:t> in DUMS: We don’t need to care about </a:t>
            </a:r>
            <a:r>
              <a:rPr lang="en-US" altLang="ja-JP" i="1" dirty="0"/>
              <a:t>sensor chip design</a:t>
            </a:r>
            <a:r>
              <a:rPr lang="en-US" altLang="ja-JP" dirty="0"/>
              <a:t> or </a:t>
            </a:r>
            <a:r>
              <a:rPr lang="en-US" altLang="ja-JP" i="1" dirty="0"/>
              <a:t>truck engine details</a:t>
            </a:r>
            <a:r>
              <a:rPr lang="en-US" altLang="ja-JP" dirty="0"/>
              <a:t> → we just need </a:t>
            </a:r>
            <a:r>
              <a:rPr lang="en-US" altLang="ja-JP" b="1" dirty="0"/>
              <a:t>essential attributes and behaviors</a:t>
            </a:r>
            <a:r>
              <a:rPr lang="en-US" altLang="ja-JP" dirty="0"/>
              <a:t>.</a:t>
            </a:r>
            <a:endParaRPr lang="ja-JP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93C5BB-0FAB-4FAE-B747-AD731C128AA0}"/>
              </a:ext>
            </a:extLst>
          </p:cNvPr>
          <p:cNvSpPr txBox="1"/>
          <p:nvPr/>
        </p:nvSpPr>
        <p:spPr>
          <a:xfrm>
            <a:off x="182890" y="2846742"/>
            <a:ext cx="33912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 GarbageBin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Essential attributes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protected String location;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protected int capacity;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protected int currentLevel;</a:t>
            </a:r>
          </a:p>
          <a:p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Essential behaviors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abstract void collectGarbage();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abstract boolean isFull();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7CEB97-B93B-1BA8-B9A0-2248673B0ABE}"/>
              </a:ext>
            </a:extLst>
          </p:cNvPr>
          <p:cNvSpPr txBox="1"/>
          <p:nvPr/>
        </p:nvSpPr>
        <p:spPr>
          <a:xfrm>
            <a:off x="3721160" y="2701865"/>
            <a:ext cx="51941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Concrete class hides details of how collection works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SmartGarbageBin extends GarbageBin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@Override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collectGarbage()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currentLevel = 0; // reset after collection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System.out.println("Garbage collected at " + location);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@Override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boolean isFull()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currentLevel &gt;= capacity;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02D659-9CB3-B005-B3C6-55E30475ACC1}"/>
              </a:ext>
            </a:extLst>
          </p:cNvPr>
          <p:cNvSpPr txBox="1"/>
          <p:nvPr/>
        </p:nvSpPr>
        <p:spPr>
          <a:xfrm>
            <a:off x="-26198" y="5923164"/>
            <a:ext cx="93987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ja-JP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Abstraction here:</a:t>
            </a:r>
            <a:endParaRPr lang="en-US" altLang="ja-JP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behavior (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collectGarbage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Hides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sensors detect fullness, how trucks are dispatched, how waste is processed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0931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Abstraction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29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E54F5-2E8E-BDF7-062C-7123E0182ABB}"/>
              </a:ext>
            </a:extLst>
          </p:cNvPr>
          <p:cNvSpPr txBox="1"/>
          <p:nvPr/>
        </p:nvSpPr>
        <p:spPr>
          <a:xfrm>
            <a:off x="-22737" y="1371600"/>
            <a:ext cx="91453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lang="en-US" altLang="ja-JP" sz="2400" b="1" dirty="0">
                <a:solidFill>
                  <a:srgbClr val="00B050"/>
                </a:solidFill>
              </a:rPr>
              <a:t>Abstraction Example 2: Agricultural Automation System (AAS)</a:t>
            </a:r>
            <a:endParaRPr kumimoji="0" lang="ja-JP" altLang="ja-JP" sz="24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4A1E8E-A622-B23B-1D3D-985B2272EF33}"/>
              </a:ext>
            </a:extLst>
          </p:cNvPr>
          <p:cNvSpPr txBox="1"/>
          <p:nvPr/>
        </p:nvSpPr>
        <p:spPr>
          <a:xfrm>
            <a:off x="154537" y="1898233"/>
            <a:ext cx="8624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want to model an 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Irrigation System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93C5BB-0FAB-4FAE-B747-AD731C128AA0}"/>
              </a:ext>
            </a:extLst>
          </p:cNvPr>
          <p:cNvSpPr txBox="1"/>
          <p:nvPr/>
        </p:nvSpPr>
        <p:spPr>
          <a:xfrm>
            <a:off x="154537" y="2374994"/>
            <a:ext cx="33912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Abstract class for irrigation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IrrigationSystem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protected String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fieldId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protected int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waterLevel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Essential behaviors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abstract void irrigate();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abstract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needsIrrigation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7CEB97-B93B-1BA8-B9A0-2248673B0ABE}"/>
              </a:ext>
            </a:extLst>
          </p:cNvPr>
          <p:cNvSpPr txBox="1"/>
          <p:nvPr/>
        </p:nvSpPr>
        <p:spPr>
          <a:xfrm>
            <a:off x="3668064" y="2336045"/>
            <a:ext cx="51941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Implementation hides details of pump operation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SmartIrrigationSystem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IrrigationSystem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@Override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irrigate() {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waterLevel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100; // restore soil moisture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("Field " +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fieldId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irrigated.");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@Override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needsIrrigation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waterLevel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40; // below threshold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02D659-9CB3-B005-B3C6-55E30475ACC1}"/>
              </a:ext>
            </a:extLst>
          </p:cNvPr>
          <p:cNvSpPr txBox="1"/>
          <p:nvPr/>
        </p:nvSpPr>
        <p:spPr>
          <a:xfrm>
            <a:off x="-26198" y="5923164"/>
            <a:ext cx="93987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ja-JP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Abstraction here:</a:t>
            </a:r>
            <a:endParaRPr lang="en-US" altLang="ja-JP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fieldId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waterLevel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irrigate,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needsIrrigation.Hides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soil sensors measure moisture, how water is pumped, how scheduling is optimized..</a:t>
            </a:r>
          </a:p>
        </p:txBody>
      </p:sp>
    </p:spTree>
    <p:extLst>
      <p:ext uri="{BB962C8B-B14F-4D97-AF65-F5344CB8AC3E}">
        <p14:creationId xmlns:p14="http://schemas.microsoft.com/office/powerpoint/2010/main" val="13257357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Abstraction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30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E54F5-2E8E-BDF7-062C-7123E0182ABB}"/>
              </a:ext>
            </a:extLst>
          </p:cNvPr>
          <p:cNvSpPr txBox="1"/>
          <p:nvPr/>
        </p:nvSpPr>
        <p:spPr>
          <a:xfrm>
            <a:off x="-22737" y="1371600"/>
            <a:ext cx="914538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in Both Systems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design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Developers think only about key features.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If the </a:t>
            </a:r>
            <a:r>
              <a:rPr lang="en-US" altLang="ja-JP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garbage collection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or </a:t>
            </a:r>
            <a:r>
              <a:rPr lang="en-US" altLang="ja-JP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 mechanism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changes, we don’t touch the abstraction.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Can extend the system (e.g., add AI-based optimization) without changing high-level abstractions.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DUMS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abstraction means thinking of 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GarbageBin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only essential features (location, capacity, collect).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abstraction means thinking of </a:t>
            </a:r>
            <a:r>
              <a:rPr kumimoji="0" lang="ja-JP" altLang="ja-JP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IrrigationSystem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only essential features (field, water level, irrigate).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3506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57806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Abstraction Table: DUMS vs AAS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31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D5C069-D4F5-B6CC-1C4D-8D07744CF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61654"/>
              </p:ext>
            </p:extLst>
          </p:nvPr>
        </p:nvGraphicFramePr>
        <p:xfrm>
          <a:off x="381199" y="898736"/>
          <a:ext cx="8534201" cy="5959264"/>
        </p:xfrm>
        <a:graphic>
          <a:graphicData uri="http://schemas.openxmlformats.org/drawingml/2006/table">
            <a:tbl>
              <a:tblPr/>
              <a:tblGrid>
                <a:gridCol w="1777837">
                  <a:extLst>
                    <a:ext uri="{9D8B030D-6E8A-4147-A177-3AD203B41FA5}">
                      <a16:colId xmlns:a16="http://schemas.microsoft.com/office/drawing/2014/main" val="3156490960"/>
                    </a:ext>
                  </a:extLst>
                </a:gridCol>
                <a:gridCol w="1786165">
                  <a:extLst>
                    <a:ext uri="{9D8B030D-6E8A-4147-A177-3AD203B41FA5}">
                      <a16:colId xmlns:a16="http://schemas.microsoft.com/office/drawing/2014/main" val="501333670"/>
                    </a:ext>
                  </a:extLst>
                </a:gridCol>
                <a:gridCol w="2371427">
                  <a:extLst>
                    <a:ext uri="{9D8B030D-6E8A-4147-A177-3AD203B41FA5}">
                      <a16:colId xmlns:a16="http://schemas.microsoft.com/office/drawing/2014/main" val="2190741206"/>
                    </a:ext>
                  </a:extLst>
                </a:gridCol>
                <a:gridCol w="2598772">
                  <a:extLst>
                    <a:ext uri="{9D8B030D-6E8A-4147-A177-3AD203B41FA5}">
                      <a16:colId xmlns:a16="http://schemas.microsoft.com/office/drawing/2014/main" val="941660543"/>
                    </a:ext>
                  </a:extLst>
                </a:gridCol>
              </a:tblGrid>
              <a:tr h="472862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Essential Attributes (What it </a:t>
                      </a:r>
                      <a:r>
                        <a:rPr lang="en-US" sz="18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Essential Behaviors (What it </a:t>
                      </a:r>
                      <a:r>
                        <a:rPr lang="en-US" sz="18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</a:t>
                      </a: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518232"/>
                  </a:ext>
                </a:extLst>
              </a:tr>
              <a:tr h="878172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DUMS</a:t>
                      </a: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(Dhaka Urban Management System)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House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Address, Owner, Occupants, UtilityStatus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PayBill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RequestMaintenance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ReportIssue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535875"/>
                  </a:ext>
                </a:extLst>
              </a:tr>
              <a:tr h="472862">
                <a:tc>
                  <a:txBody>
                    <a:bodyPr/>
                    <a:lstStyle/>
                    <a:p>
                      <a:endParaRPr lang="ja-JP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GarbageBin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Location, Capacity, CurrentLevel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collectGarbage(), isFull(), sendAlert()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109339"/>
                  </a:ext>
                </a:extLst>
              </a:tr>
              <a:tr h="878172">
                <a:tc>
                  <a:txBody>
                    <a:bodyPr/>
                    <a:lstStyle/>
                    <a:p>
                      <a:endParaRPr lang="ja-JP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TrafficLight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Location, SignalState (Red/Green/Yellow), Timer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changeSignal(), detectTrafficFlow(), alertEmergency()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934014"/>
                  </a:ext>
                </a:extLst>
              </a:tr>
              <a:tr h="675517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AAS</a:t>
                      </a: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(Agricultural Automation System)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Soil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Location, MoistureLevel, pH, Nutrients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measureMoisture(), checkFertility()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585306"/>
                  </a:ext>
                </a:extLst>
              </a:tr>
              <a:tr h="472862">
                <a:tc>
                  <a:txBody>
                    <a:bodyPr/>
                    <a:lstStyle/>
                    <a:p>
                      <a:endParaRPr lang="ja-JP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Type, GrowthStage, HealthStatus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grow(), harvest(),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detectDisease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295197"/>
                  </a:ext>
                </a:extLst>
              </a:tr>
              <a:tr h="675517">
                <a:tc>
                  <a:txBody>
                    <a:bodyPr/>
                    <a:lstStyle/>
                    <a:p>
                      <a:endParaRPr lang="ja-JP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IrrigationSystem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FieldId, WaterLevel, Status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irrigate(),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needsIrrigation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scheduleWatering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421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926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Encapsulation in Object-Oriented Programming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76200" y="1333878"/>
            <a:ext cx="9067800" cy="5143122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altLang="ja-JP" sz="20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is the bundling of data (attributes) and the methods (functions) that operate on that data into a single unit (a class).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= bundling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(attributes)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(behaviors)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a class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Controls access to data:</a:t>
            </a:r>
          </a:p>
          <a:p>
            <a:pPr marL="800100" lvl="1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Expose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what is needed via interfaces</a:t>
            </a:r>
          </a:p>
          <a:p>
            <a:pPr marL="800100" lvl="1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Restrict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internal data/methods to the object itself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object has its own data values and behaviors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altLang="ja-JP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Encapsulation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altLang="ja-JP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&amp; Security</a:t>
            </a:r>
            <a:r>
              <a:rPr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protects sensitive data, prevents unintended changes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altLang="ja-JP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Changeable Implementation</a:t>
            </a:r>
            <a:r>
              <a:rPr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internal code can change without affecting the interface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altLang="ja-JP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 Box Concept</a:t>
            </a:r>
            <a:r>
              <a:rPr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users interact with the class through methods, without knowing internal details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altLang="ja-JP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Modularity &amp; Reusability</a:t>
            </a:r>
            <a:r>
              <a:rPr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simplifies code management, promotes modular design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altLang="ja-JP" sz="20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altLang="ja-JP" sz="20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altLang="ja-JP" sz="20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32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4A43D7-2F92-D620-0DF6-55E30D29A0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14" y="0"/>
            <a:ext cx="8190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93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EE180-1551-5319-11C2-81D39601D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F215-B7D6-A5D8-2053-4D6E93BA6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Encapsulation in Object-Oriented Programming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8D9F1F4-6F8C-9B5C-0C5A-9EE407951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" y="1333878"/>
            <a:ext cx="9067800" cy="5143122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altLang="ja-JP" sz="20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is the bundling of data (attributes) and the methods (functions) that operate on that data into a single unit (a class).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= bundling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(attributes)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(behaviors)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a class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Controls access to data:</a:t>
            </a:r>
          </a:p>
          <a:p>
            <a:pPr marL="800100" lvl="1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Expose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what is needed via interfaces</a:t>
            </a:r>
          </a:p>
          <a:p>
            <a:pPr marL="800100" lvl="1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Restrict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internal data/methods to the object itself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object has its own data values and behaviors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altLang="ja-JP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Encapsulation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altLang="ja-JP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&amp; Security</a:t>
            </a:r>
            <a:r>
              <a:rPr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protects sensitive data, prevents unintended changes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altLang="ja-JP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Changeable Implementation</a:t>
            </a:r>
            <a:r>
              <a:rPr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internal code can change without affecting the interface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altLang="ja-JP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 Box Concept</a:t>
            </a:r>
            <a:r>
              <a:rPr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users interact with the class through methods, without knowing internal details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altLang="ja-JP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Modularity &amp; Reusability</a:t>
            </a:r>
            <a:r>
              <a:rPr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simplifies code management, promotes modular design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altLang="ja-JP" sz="20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altLang="ja-JP" sz="20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altLang="ja-JP" sz="20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EC243D-CDF3-B8A9-38C4-AE5BF5CB9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33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5C4AD-180F-60A7-B9B0-E6E4D75D1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050F9C-3883-176C-94C8-1146FB54E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93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Encapsulation in Object-Oriented Programming UML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76200" y="1333878"/>
            <a:ext cx="9067800" cy="5143122"/>
          </a:xfrm>
        </p:spPr>
        <p:txBody>
          <a:bodyPr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Bundles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+ functions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a self-contained object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controlled access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data and functions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Restricts direct manipulation of internal data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Expressed in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 class diagrams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attributes + methods</a:t>
            </a: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ja-JP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in UML: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bundles attributes &amp; operations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Visibility indicators:</a:t>
            </a: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(public)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accessible from outside the class</a:t>
            </a: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(private)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accessible only within the class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Student class</a:t>
            </a: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Attributes: - gpa, - degreeProgram (private)</a:t>
            </a: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Methods: + getGPA(), + setGPA() (public)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altLang="ja-JP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Encapsulation</a:t>
            </a: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Controls </a:t>
            </a:r>
            <a:r>
              <a:rPr lang="en-US" altLang="ja-JP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data is accessed/modified</a:t>
            </a:r>
            <a:endParaRPr lang="en-US" altLang="ja-JP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</a:t>
            </a:r>
            <a:r>
              <a:rPr lang="en-US" altLang="ja-JP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unexpected direct changes</a:t>
            </a:r>
            <a:endParaRPr lang="en-US" altLang="ja-JP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Preserves </a:t>
            </a:r>
            <a:r>
              <a:rPr lang="en-US" altLang="ja-JP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  <a:endParaRPr lang="en-US" altLang="ja-JP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34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436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Encapsulation in Object-Oriented Programming UML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76200" y="1333878"/>
            <a:ext cx="9067800" cy="5143122"/>
          </a:xfrm>
        </p:spPr>
        <p:txBody>
          <a:bodyPr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Getter &amp; Setter Methods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Getter methods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retrieve private data</a:t>
            </a: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Format: get&lt;AttributeName&gt;()</a:t>
            </a: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getGPA()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Setter methods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safely update private data</a:t>
            </a: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Format: set&lt;AttributeName&gt;(value)</a:t>
            </a: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setGPA(double gpa)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approved access &amp; modification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F4C7D4-C831-D5F8-7B79-FAF90420B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907" y="1600200"/>
            <a:ext cx="2915057" cy="204816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8C0DA9-E0F1-0C5A-ABCB-C6BE5A6EE239}"/>
              </a:ext>
            </a:extLst>
          </p:cNvPr>
          <p:cNvSpPr txBox="1"/>
          <p:nvPr/>
        </p:nvSpPr>
        <p:spPr>
          <a:xfrm>
            <a:off x="5124880" y="3871137"/>
            <a:ext cx="4209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Class Diagram for Student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21D0A-2ACA-46C3-B05E-C00EFF503588}"/>
              </a:ext>
            </a:extLst>
          </p:cNvPr>
          <p:cNvSpPr txBox="1"/>
          <p:nvPr/>
        </p:nvSpPr>
        <p:spPr>
          <a:xfrm>
            <a:off x="4343400" y="4394990"/>
            <a:ext cx="4024423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setGPA(double gpa) {</a:t>
            </a: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(gpa &gt;= 0 &amp;&amp; gpa &lt;= 4.0) {  // validation</a:t>
            </a: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this.gpa = gpa;</a:t>
            </a: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CFE305-417F-C22B-9FD9-5FC1B50D3172}"/>
              </a:ext>
            </a:extLst>
          </p:cNvPr>
          <p:cNvSpPr txBox="1"/>
          <p:nvPr/>
        </p:nvSpPr>
        <p:spPr>
          <a:xfrm>
            <a:off x="76200" y="4055803"/>
            <a:ext cx="40244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Student {</a:t>
            </a: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Private attributes (hidden data)</a:t>
            </a: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double gpa;</a:t>
            </a: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String degreeProgram;</a:t>
            </a:r>
          </a:p>
          <a:p>
            <a:endParaRPr lang="ja-JP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Public methods (controlled access)</a:t>
            </a: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double getGPA() {</a:t>
            </a: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gpa;     }</a:t>
            </a:r>
          </a:p>
        </p:txBody>
      </p:sp>
    </p:spTree>
    <p:extLst>
      <p:ext uri="{BB962C8B-B14F-4D97-AF65-F5344CB8AC3E}">
        <p14:creationId xmlns:p14="http://schemas.microsoft.com/office/powerpoint/2010/main" val="1913063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Encapsulation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36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1E8ACC-EAB1-15B9-D617-615521528CEC}"/>
              </a:ext>
            </a:extLst>
          </p:cNvPr>
          <p:cNvSpPr txBox="1"/>
          <p:nvPr/>
        </p:nvSpPr>
        <p:spPr>
          <a:xfrm>
            <a:off x="0" y="1457201"/>
            <a:ext cx="91578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i="0" dirty="0">
                <a:solidFill>
                  <a:srgbClr val="404040"/>
                </a:solidFill>
                <a:effectLst/>
                <a:latin typeface="quote-cjk-patch"/>
              </a:rPr>
              <a:t>UML Visualization:</a:t>
            </a:r>
            <a:br>
              <a:rPr lang="en-US" altLang="ja-JP" sz="2000" dirty="0"/>
            </a:br>
            <a:r>
              <a:rPr lang="en-US" altLang="ja-JP" sz="2000" b="0" i="0" dirty="0">
                <a:solidFill>
                  <a:srgbClr val="404040"/>
                </a:solidFill>
                <a:effectLst/>
                <a:latin typeface="quote-cjk-patch"/>
              </a:rPr>
              <a:t>The full class diagram shows methods and their visibility.</a:t>
            </a:r>
            <a:endParaRPr kumimoji="1" lang="ja-JP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8DDAAA-EAB7-E7D3-C8F6-58F554747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124576"/>
            <a:ext cx="3067478" cy="3496163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44926788-8DFD-DB6F-2447-A5A55958F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781" y="5475997"/>
            <a:ext cx="2271823" cy="1015663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quote-cjk-patch"/>
              </a:rPr>
              <a:t>The 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 Unicode MS"/>
                <a:ea typeface="Menlo"/>
              </a:rPr>
              <a:t>-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quote-cjk-patch"/>
              </a:rPr>
              <a:t> 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quote-cjk-patch"/>
              </a:rPr>
              <a:t>denotes private (encapsulated) attributes, and 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 Unicode MS"/>
                <a:ea typeface="Menlo"/>
              </a:rPr>
              <a:t>+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quote-cjk-patch"/>
              </a:rPr>
              <a:t> </a:t>
            </a:r>
            <a:r>
              <a:rPr kumimoji="0" lang="ja-JP" altLang="ja-JP" sz="1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quote-cjk-patch"/>
              </a:rPr>
              <a:t>denotes public methods that form the interface.</a:t>
            </a:r>
            <a:r>
              <a:rPr kumimoji="0" lang="ja-JP" altLang="ja-JP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BE7FD8-F573-80F8-DF13-17752E6724B5}"/>
              </a:ext>
            </a:extLst>
          </p:cNvPr>
          <p:cNvSpPr txBox="1"/>
          <p:nvPr/>
        </p:nvSpPr>
        <p:spPr>
          <a:xfrm>
            <a:off x="490808" y="2165087"/>
            <a:ext cx="2819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------------------------</a:t>
            </a:r>
          </a:p>
          <a:p>
            <a:r>
              <a:rPr lang="ja-JP" altLang="en-US" dirty="0"/>
              <a:t>|       Student        |</a:t>
            </a:r>
          </a:p>
          <a:p>
            <a:r>
              <a:rPr lang="ja-JP" altLang="en-US" dirty="0"/>
              <a:t>------------------------</a:t>
            </a:r>
          </a:p>
          <a:p>
            <a:r>
              <a:rPr lang="ja-JP" altLang="en-US" dirty="0"/>
              <a:t>| - gpa: double        |</a:t>
            </a:r>
          </a:p>
          <a:p>
            <a:r>
              <a:rPr lang="ja-JP" altLang="en-US" dirty="0"/>
              <a:t>| - degreeProgram: String |</a:t>
            </a:r>
          </a:p>
          <a:p>
            <a:r>
              <a:rPr lang="ja-JP" altLang="en-US" dirty="0"/>
              <a:t>------------------------</a:t>
            </a:r>
          </a:p>
          <a:p>
            <a:r>
              <a:rPr lang="ja-JP" altLang="en-US" dirty="0"/>
              <a:t>| + getGPA(): double   |</a:t>
            </a:r>
          </a:p>
          <a:p>
            <a:r>
              <a:rPr lang="ja-JP" altLang="en-US" dirty="0"/>
              <a:t>| + setGPA(gpa): void  |</a:t>
            </a:r>
          </a:p>
          <a:p>
            <a:r>
              <a:rPr lang="ja-JP" altLang="en-US" dirty="0"/>
              <a:t>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353889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Encapsulation: </a:t>
            </a:r>
            <a:r>
              <a:rPr lang="en-US" altLang="ja-JP" sz="3600" b="1" dirty="0">
                <a:latin typeface="Times New Roman" pitchFamily="18" charset="0"/>
                <a:cs typeface="Times New Roman" pitchFamily="18" charset="0"/>
              </a:rPr>
              <a:t>DUMS-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Example 1: Garbage Collection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37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E0499B-10E2-0634-1C9E-9F67BDDAAAFB}"/>
              </a:ext>
            </a:extLst>
          </p:cNvPr>
          <p:cNvSpPr txBox="1"/>
          <p:nvPr/>
        </p:nvSpPr>
        <p:spPr>
          <a:xfrm>
            <a:off x="152400" y="1371600"/>
            <a:ext cx="4577316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GarbageBin {</a:t>
            </a:r>
          </a:p>
          <a:p>
            <a:r>
              <a:rPr lang="ja-JP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Private attributes (hidden data</a:t>
            </a:r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double fillLevel;    </a:t>
            </a:r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percentage (0–100)</a:t>
            </a:r>
            <a:endParaRPr lang="ja-JP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String location;</a:t>
            </a:r>
          </a:p>
          <a:p>
            <a:endParaRPr lang="ja-JP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Public methods (controlled access)</a:t>
            </a: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double getFillLevel() {</a:t>
            </a: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fillLevel;</a:t>
            </a:r>
          </a:p>
          <a:p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5E4C75-5B28-5B75-A30E-C5D030C5C510}"/>
              </a:ext>
            </a:extLst>
          </p:cNvPr>
          <p:cNvSpPr txBox="1"/>
          <p:nvPr/>
        </p:nvSpPr>
        <p:spPr>
          <a:xfrm>
            <a:off x="4554192" y="1066800"/>
            <a:ext cx="457731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updateFillLevel(double level)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(level &gt;= 0 &amp;&amp; level &lt;= 100)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this.fillLevel = level;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String getLocation()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location;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CF56CAA8-93BB-A7D5-2887-2675D44AA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48414"/>
            <a:ext cx="85642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role: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Prevents outsiders from setting fillLevel to invalid values (e.g., &gt;100%). Only controlled updates are allowed. </a:t>
            </a:r>
          </a:p>
        </p:txBody>
      </p:sp>
    </p:spTree>
    <p:extLst>
      <p:ext uri="{BB962C8B-B14F-4D97-AF65-F5344CB8AC3E}">
        <p14:creationId xmlns:p14="http://schemas.microsoft.com/office/powerpoint/2010/main" val="34043870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Encapsulation: DUMS-Example 2: Traffic Signal Management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38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E0499B-10E2-0634-1C9E-9F67BDDAAAFB}"/>
              </a:ext>
            </a:extLst>
          </p:cNvPr>
          <p:cNvSpPr txBox="1"/>
          <p:nvPr/>
        </p:nvSpPr>
        <p:spPr>
          <a:xfrm>
            <a:off x="152400" y="1371600"/>
            <a:ext cx="4577316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TrafficSignal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String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currentColor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</a:t>
            </a:r>
            <a:r>
              <a:rPr lang="en-US" altLang="ja-JP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"Red", "Yellow", "Green"</a:t>
            </a:r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int timer</a:t>
            </a:r>
            <a:r>
              <a:rPr lang="en-US" altLang="ja-JP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// seconds remaining</a:t>
            </a:r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String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getCurrentColor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currentColor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5E4C75-5B28-5B75-A30E-C5D030C5C510}"/>
              </a:ext>
            </a:extLst>
          </p:cNvPr>
          <p:cNvSpPr txBox="1"/>
          <p:nvPr/>
        </p:nvSpPr>
        <p:spPr>
          <a:xfrm>
            <a:off x="4493142" y="1387549"/>
            <a:ext cx="45773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void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changeSignal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color) {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color.equals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("Red") ||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color.equals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("Yellow") ||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color.equals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("Green")) {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this.currentColor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color;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CF56CAA8-93BB-A7D5-2887-2675D44AA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054" y="3839062"/>
            <a:ext cx="85642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role: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Restricts invalid signals (e.g., "Blue"). Ensures system integrity in city traffic management.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5699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Encapsulation: AAS-Example 1: Soil Sensor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39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E0499B-10E2-0634-1C9E-9F67BDDAAAFB}"/>
              </a:ext>
            </a:extLst>
          </p:cNvPr>
          <p:cNvSpPr txBox="1"/>
          <p:nvPr/>
        </p:nvSpPr>
        <p:spPr>
          <a:xfrm>
            <a:off x="152400" y="1371600"/>
            <a:ext cx="457731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SoilSensor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double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moistureLevel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// %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double pH;             // soil pH value</a:t>
            </a:r>
          </a:p>
          <a:p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double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getMoistureLevel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moistureLevel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setMoistureLevel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level) {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(level &gt;= 0 &amp;&amp; level &lt;= 100) {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this.moistureLevel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level;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5E4C75-5B28-5B75-A30E-C5D030C5C510}"/>
              </a:ext>
            </a:extLst>
          </p:cNvPr>
          <p:cNvSpPr txBox="1"/>
          <p:nvPr/>
        </p:nvSpPr>
        <p:spPr>
          <a:xfrm>
            <a:off x="4493142" y="1387549"/>
            <a:ext cx="45773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double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getPH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pH;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setPH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pH) {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(pH &gt;= 0 &amp;&amp; pH &lt;= 14) {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this.pH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pH;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CF56CAA8-93BB-A7D5-2887-2675D44AA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151113"/>
            <a:ext cx="85642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ja-JP" b="1" dirty="0"/>
              <a:t>Encapsulation role:</a:t>
            </a:r>
            <a:r>
              <a:rPr lang="en-US" altLang="ja-JP" dirty="0"/>
              <a:t> Protects against invalid sensor values (e.g., negative moisture, impossible pH &gt; 14).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2201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Encapsulation: AAS-Example-2 Irrigation Pump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40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E0499B-10E2-0634-1C9E-9F67BDDAAAFB}"/>
              </a:ext>
            </a:extLst>
          </p:cNvPr>
          <p:cNvSpPr txBox="1"/>
          <p:nvPr/>
        </p:nvSpPr>
        <p:spPr>
          <a:xfrm>
            <a:off x="152400" y="1371600"/>
            <a:ext cx="457731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IrrigationPump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isOn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int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flowRate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// liters/minute</a:t>
            </a:r>
          </a:p>
          <a:p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startPump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isOn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true;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stopPump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isOn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false;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5E4C75-5B28-5B75-A30E-C5D030C5C510}"/>
              </a:ext>
            </a:extLst>
          </p:cNvPr>
          <p:cNvSpPr txBox="1"/>
          <p:nvPr/>
        </p:nvSpPr>
        <p:spPr>
          <a:xfrm>
            <a:off x="4493142" y="1387549"/>
            <a:ext cx="45773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void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setFlowRate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rate) {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(rate &gt;= 0 &amp;&amp; rate &lt;= 100) {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this.flowRate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rate;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getPumpStatus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isOn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CF56CAA8-93BB-A7D5-2887-2675D44AA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029" y="4886689"/>
            <a:ext cx="856422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role: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Prevents unsafe flow rates and provides safe on/off control.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DUMS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encapsulation ensures </a:t>
            </a: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safety &amp; system consistency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garbage bins, traffic signals).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AAS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encapsulation ensures </a:t>
            </a: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safe automation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soil readings, irrigation controls).</a:t>
            </a:r>
          </a:p>
        </p:txBody>
      </p:sp>
    </p:spTree>
    <p:extLst>
      <p:ext uri="{BB962C8B-B14F-4D97-AF65-F5344CB8AC3E}">
        <p14:creationId xmlns:p14="http://schemas.microsoft.com/office/powerpoint/2010/main" val="27113513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Decomposition in Object-Oriented Design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41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1E8ACC-EAB1-15B9-D617-615521528CEC}"/>
              </a:ext>
            </a:extLst>
          </p:cNvPr>
          <p:cNvSpPr txBox="1"/>
          <p:nvPr/>
        </p:nvSpPr>
        <p:spPr>
          <a:xfrm>
            <a:off x="0" y="1293121"/>
            <a:ext cx="915787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Dividing a whole into smaller parts or combining parts to form a whole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Break problems into manageable pieces, each with a specific responsibility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 to Classes: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Each part can be represented by a </a:t>
            </a: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the whole object relates to its part classes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Similarity to Abstraction: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Focuses on essential characteristics of each part</a:t>
            </a:r>
          </a:p>
        </p:txBody>
      </p:sp>
    </p:spTree>
    <p:extLst>
      <p:ext uri="{BB962C8B-B14F-4D97-AF65-F5344CB8AC3E}">
        <p14:creationId xmlns:p14="http://schemas.microsoft.com/office/powerpoint/2010/main" val="9798928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64784-CCDB-6200-C059-C5469966E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3CD0-FE86-570F-FA7C-BC7B378B1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Decomposition in Object-Oriented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E39C67-9B69-1493-46C8-2289064FD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42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FE341-18D5-9507-2EBC-FD465F6AE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3D676C-D0F4-E742-B284-31FADF39C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079F7C-297B-0B89-9D4A-1C820062889C}"/>
              </a:ext>
            </a:extLst>
          </p:cNvPr>
          <p:cNvSpPr txBox="1"/>
          <p:nvPr/>
        </p:nvSpPr>
        <p:spPr>
          <a:xfrm>
            <a:off x="0" y="1293121"/>
            <a:ext cx="915787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Dividing a whole into smaller parts or combining parts to form a whole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Break problems into manageable pieces, each with a specific responsibility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 to Classes: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Each part can be represented by a </a:t>
            </a: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the whole object relates to its part classes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Similarity to Abstraction:</a:t>
            </a:r>
            <a:r>
              <a: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Focuses on essential characteristics of each part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C44C0-CB25-47CE-E423-FC9A4C43F6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31" y="-381000"/>
            <a:ext cx="8910052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841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Decomposition in Object-Oriented Design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43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1E8ACC-EAB1-15B9-D617-615521528CEC}"/>
              </a:ext>
            </a:extLst>
          </p:cNvPr>
          <p:cNvSpPr txBox="1"/>
          <p:nvPr/>
        </p:nvSpPr>
        <p:spPr>
          <a:xfrm>
            <a:off x="0" y="1293121"/>
            <a:ext cx="915787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of Parts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vs. Dynamic Parts: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Fixed: constant number of parts (e.g., oven with 4 burners)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Dynamic: number of parts can change over time (e.g., food items in a fridge)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 as Wholes: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part can itself be a whole with sub-parts (e.g., kitchen in a house)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Lifetimes: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parts share lifetime with the whole (e.g., fridge gauge)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parts have independent lifetimes (e.g., food items)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Parts: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 parts may be shared between wholes; others cannot</a:t>
            </a:r>
          </a:p>
        </p:txBody>
      </p:sp>
    </p:spTree>
    <p:extLst>
      <p:ext uri="{BB962C8B-B14F-4D97-AF65-F5344CB8AC3E}">
        <p14:creationId xmlns:p14="http://schemas.microsoft.com/office/powerpoint/2010/main" val="16137728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Decomposition in Design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44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1E8ACC-EAB1-15B9-D617-615521528CEC}"/>
              </a:ext>
            </a:extLst>
          </p:cNvPr>
          <p:cNvSpPr txBox="1"/>
          <p:nvPr/>
        </p:nvSpPr>
        <p:spPr>
          <a:xfrm>
            <a:off x="0" y="1319702"/>
            <a:ext cx="9157877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0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Divides a whole into parts (or combines parts into a whole)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0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organize system functionality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0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relationship types in UML: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Association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Composition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kumimoji="1" lang="en-US" altLang="ja-JP" sz="20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ja-JP" b="1" dirty="0"/>
              <a:t>Association (Loose Relationship)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dirty="0"/>
              <a:t>Objects interact but are </a:t>
            </a:r>
            <a:r>
              <a:rPr lang="en-US" altLang="ja-JP" b="1" dirty="0"/>
              <a:t>independent</a:t>
            </a: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dirty="0"/>
              <a:t>If one is destroyed, the other still exists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dirty="0"/>
              <a:t>Example: </a:t>
            </a:r>
            <a:r>
              <a:rPr lang="en-US" altLang="ja-JP" b="1" dirty="0"/>
              <a:t>Person ↔ Hotel</a:t>
            </a:r>
            <a:endParaRPr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ja-JP" dirty="0"/>
              <a:t>A person can interact with many hotels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ja-JP" dirty="0"/>
              <a:t>A hotel can interact with many people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dirty="0"/>
              <a:t>UML: straight line with </a:t>
            </a:r>
            <a:r>
              <a:rPr lang="en-US" altLang="ja-JP" b="1" dirty="0"/>
              <a:t>0..</a:t>
            </a:r>
            <a:r>
              <a:rPr lang="en-US" altLang="ja-JP" dirty="0"/>
              <a:t>* multiplicity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dirty="0"/>
              <a:t>Java Example: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C64645-5F15-1F20-485D-B4814FB4E76C}"/>
              </a:ext>
            </a:extLst>
          </p:cNvPr>
          <p:cNvSpPr txBox="1"/>
          <p:nvPr/>
        </p:nvSpPr>
        <p:spPr>
          <a:xfrm>
            <a:off x="4953000" y="3429000"/>
            <a:ext cx="46038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Student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play(Sport sport)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execute.play(sport);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F27185-FD42-7E09-F5C3-D462EA1A0A23}"/>
              </a:ext>
            </a:extLst>
          </p:cNvPr>
          <p:cNvSpPr txBox="1"/>
          <p:nvPr/>
        </p:nvSpPr>
        <p:spPr>
          <a:xfrm>
            <a:off x="5029200" y="4906328"/>
            <a:ext cx="4805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/>
              <a:t>Example: </a:t>
            </a:r>
            <a:r>
              <a:rPr lang="en-US" altLang="ja-JP" dirty="0"/>
              <a:t>Student and Sport: separate, but loosely connected</a:t>
            </a:r>
            <a:endParaRPr lang="ja-JP" alt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B86910-FF1C-CA97-4619-BF24ED2D34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4797" y="5486400"/>
            <a:ext cx="5190625" cy="138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542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Decomposition in Design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45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1E8ACC-EAB1-15B9-D617-615521528CEC}"/>
              </a:ext>
            </a:extLst>
          </p:cNvPr>
          <p:cNvSpPr txBox="1"/>
          <p:nvPr/>
        </p:nvSpPr>
        <p:spPr>
          <a:xfrm>
            <a:off x="0" y="1319702"/>
            <a:ext cx="91578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(Has-a Relationship, Weak)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 has parts, but 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 can exist independently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Airliner ↔ Crew Members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Airliner has a crew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Crew members exist even if not in airliner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UML: empty diamond (◊) at the whole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94A7D0-238E-79AB-6884-D0C007479A98}"/>
              </a:ext>
            </a:extLst>
          </p:cNvPr>
          <p:cNvSpPr txBox="1"/>
          <p:nvPr/>
        </p:nvSpPr>
        <p:spPr>
          <a:xfrm>
            <a:off x="76200" y="3506974"/>
            <a:ext cx="47509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Airliner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ArrayList&lt;CrewMember&gt; crew = new ArrayList&lt;&gt;();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add(CrewMember crewMember)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crew.add(crewMember);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2091DF-72A0-0734-574B-BA0502C3B38A}"/>
              </a:ext>
            </a:extLst>
          </p:cNvPr>
          <p:cNvSpPr txBox="1"/>
          <p:nvPr/>
        </p:nvSpPr>
        <p:spPr>
          <a:xfrm>
            <a:off x="0" y="5443847"/>
            <a:ext cx="541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/>
              <a:t>Example:</a:t>
            </a:r>
            <a:r>
              <a:rPr lang="en-US" altLang="ja-JP" dirty="0"/>
              <a:t> Airliner can have zero or more crew members</a:t>
            </a:r>
            <a:endParaRPr lang="ja-JP" alt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1C0F1D9-B0C8-00BF-5E13-271F14A057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453" y="5856156"/>
            <a:ext cx="3796178" cy="100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976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Decomposition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46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1E8ACC-EAB1-15B9-D617-615521528CEC}"/>
              </a:ext>
            </a:extLst>
          </p:cNvPr>
          <p:cNvSpPr txBox="1"/>
          <p:nvPr/>
        </p:nvSpPr>
        <p:spPr>
          <a:xfrm>
            <a:off x="152400" y="1365126"/>
            <a:ext cx="91578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4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 Visualization (Class Diagram with Relationships):</a:t>
            </a:r>
            <a:b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ja-JP" sz="24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the decomposed classes and their relationships.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859764-C4BC-DB2D-F896-FCFFE1965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758" y="2231588"/>
            <a:ext cx="6868484" cy="1867161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1C53AE72-CEC7-FCD3-8DD4-70BFBDB37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8" y="4134214"/>
            <a:ext cx="9067800" cy="646331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The diagram uses association (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has-a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), aggregation (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&lt;&gt;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), and multiplicities (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1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, 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*</a:t>
            </a:r>
            <a:r>
              <a:rPr kumimoji="0" lang="ja-JP" altLang="ja-JP" b="0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) to show how the decomposed parts relate.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73313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Composition (Strong Has-a Relationship)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47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98095-3550-0B88-7B43-2C55C916C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3" y="5181600"/>
            <a:ext cx="4786022" cy="12533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61F244-367A-6DD0-7884-70C9AAEFEB19}"/>
              </a:ext>
            </a:extLst>
          </p:cNvPr>
          <p:cNvSpPr txBox="1"/>
          <p:nvPr/>
        </p:nvSpPr>
        <p:spPr>
          <a:xfrm>
            <a:off x="4300" y="6394483"/>
            <a:ext cx="906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ja-JP" sz="1800" b="1" i="0" u="none" strike="noStrike" baseline="0" dirty="0">
                <a:latin typeface="AvenirNext-Regular"/>
              </a:rPr>
              <a:t>Example</a:t>
            </a:r>
            <a:r>
              <a:rPr lang="en-US" altLang="ja-JP" sz="1800" b="0" i="0" u="none" strike="noStrike" baseline="0" dirty="0">
                <a:latin typeface="AvenirNext-Regular"/>
              </a:rPr>
              <a:t>: Composition can be represented with a filled-in diamond using UML class diagrams</a:t>
            </a:r>
            <a:r>
              <a:rPr lang="en-US" altLang="ja-JP" dirty="0">
                <a:latin typeface="AvenirNext-Regular"/>
              </a:rPr>
              <a:t>.</a:t>
            </a:r>
            <a:endParaRPr lang="ja-JP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08DA8E-4B58-AD43-3BBB-7CBFE9701471}"/>
              </a:ext>
            </a:extLst>
          </p:cNvPr>
          <p:cNvSpPr txBox="1"/>
          <p:nvPr/>
        </p:nvSpPr>
        <p:spPr>
          <a:xfrm>
            <a:off x="0" y="1407054"/>
            <a:ext cx="92202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 (Strong Has-a Relationship)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Exclusive containment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parts (strongest form of decomposition)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 </a:t>
            </a: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exist without its parts</a:t>
            </a:r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whole is destroyed → parts are destroyed too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 are </a:t>
            </a: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tightly bound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accessed only through the whole</a:t>
            </a:r>
          </a:p>
          <a:p>
            <a:pPr lvl="1"/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House ↔ Room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made up of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House is removed, Rooms no longer exist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UML: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filled diamond (◆)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the whole (House)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Multiplicity: 1..* (House must have one or more Rooms)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3ECE30-D7CD-B580-393D-3BDC252A142D}"/>
              </a:ext>
            </a:extLst>
          </p:cNvPr>
          <p:cNvSpPr txBox="1"/>
          <p:nvPr/>
        </p:nvSpPr>
        <p:spPr>
          <a:xfrm>
            <a:off x="6629400" y="2916434"/>
            <a:ext cx="28052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/>
              <a:t>Example:</a:t>
            </a:r>
            <a:r>
              <a:rPr lang="en-US" altLang="ja-JP" dirty="0"/>
              <a:t> </a:t>
            </a:r>
          </a:p>
          <a:p>
            <a:r>
              <a:rPr lang="ja-JP" altLang="en-US" dirty="0"/>
              <a:t>public class House {</a:t>
            </a:r>
          </a:p>
          <a:p>
            <a:r>
              <a:rPr lang="ja-JP" altLang="en-US" dirty="0"/>
              <a:t>    private Room room;</a:t>
            </a:r>
          </a:p>
          <a:p>
            <a:endParaRPr lang="ja-JP" altLang="en-US" dirty="0"/>
          </a:p>
          <a:p>
            <a:r>
              <a:rPr lang="ja-JP" altLang="en-US" dirty="0"/>
              <a:t>    public House() {</a:t>
            </a:r>
          </a:p>
          <a:p>
            <a:r>
              <a:rPr lang="ja-JP" altLang="en-US" dirty="0"/>
              <a:t>        room = new Room();</a:t>
            </a:r>
          </a:p>
          <a:p>
            <a:r>
              <a:rPr lang="ja-JP" altLang="en-US" dirty="0"/>
              <a:t>    }</a:t>
            </a:r>
          </a:p>
          <a:p>
            <a:r>
              <a:rPr lang="ja-JP" altLang="en-US" dirty="0"/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A44DC-E506-3FA1-250A-5AA6B11249B7}"/>
              </a:ext>
            </a:extLst>
          </p:cNvPr>
          <p:cNvSpPr txBox="1"/>
          <p:nvPr/>
        </p:nvSpPr>
        <p:spPr>
          <a:xfrm>
            <a:off x="6167900" y="5069595"/>
            <a:ext cx="29761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ja-JP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Room object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when House is created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Room cannot exist independently → </a:t>
            </a:r>
            <a:r>
              <a:rPr kumimoji="0" lang="ja-JP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tightly coupled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2164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Generalization (Inheritance)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48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13F3A1A1-09AB-2D74-9C45-D06625DAE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19702"/>
            <a:ext cx="8839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Reduces redundancy by capturing shared characteristics in a </a:t>
            </a: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parent class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(superclass)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Mechanism: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Inheritance allows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child classes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(subclasses) to reuse attributes and behaviors from parent classes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Child classes can add specialized attributes or behaviors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prevents errors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software more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flexible, maintainable, and reusable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Changes in common code only need to be made in the superclass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easy expansion of software with new subclasses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8046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E533D-5F1C-1F27-E620-CBA0EB929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FFAB8-3403-7E1E-3F22-677B9DF40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Generalization (Inheritance)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C59BF1-F5FC-382F-7233-A20B694E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49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CE2141-5581-255A-E45E-94E1DCF93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38BE73-C2C9-D780-1A33-33AAB5280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FDBC655A-C38C-65DB-1127-4EA2F864A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19702"/>
            <a:ext cx="8839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Reduces redundancy by capturing shared characteristics in a </a:t>
            </a: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parent class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(superclass)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Mechanism: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Inheritance allows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child classes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(subclasses) to reuse attributes and behaviors from parent classes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Child classes can add specialized attributes or behaviors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prevents errors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software more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flexible, maintainable, and reusable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Changes in common code only need to be made in the superclass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easy expansion of software with new subclasses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61AC55-7AF0-B03E-32D7-8A95B60149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911"/>
            <a:ext cx="9144000" cy="609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038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Generalization (Inheritance)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50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1E8ACC-EAB1-15B9-D617-615521528CEC}"/>
              </a:ext>
            </a:extLst>
          </p:cNvPr>
          <p:cNvSpPr txBox="1"/>
          <p:nvPr/>
        </p:nvSpPr>
        <p:spPr>
          <a:xfrm>
            <a:off x="42619" y="1295400"/>
            <a:ext cx="50627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000" b="1" i="0" dirty="0">
                <a:solidFill>
                  <a:srgbClr val="404040"/>
                </a:solidFill>
                <a:effectLst/>
                <a:latin typeface="quote-cjk-patch"/>
              </a:rPr>
              <a:t>UML Visualization (Inheritance Hierarchy):</a:t>
            </a:r>
            <a:br>
              <a:rPr lang="en-US" altLang="ja-JP" sz="2000" dirty="0"/>
            </a:br>
            <a:r>
              <a:rPr lang="en-US" altLang="ja-JP" sz="2000" b="0" i="0" dirty="0">
                <a:solidFill>
                  <a:srgbClr val="404040"/>
                </a:solidFill>
                <a:effectLst/>
                <a:latin typeface="quote-cjk-patch"/>
              </a:rPr>
              <a:t>UML uses an arrow with a solid line to represent inheritance (generalization).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E80C93-8037-EB4C-DF79-01163F1A0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2915" y="1403241"/>
            <a:ext cx="3848467" cy="366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607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Generalization (Inheritance)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51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1E8ACC-EAB1-15B9-D617-615521528CEC}"/>
              </a:ext>
            </a:extLst>
          </p:cNvPr>
          <p:cNvSpPr txBox="1"/>
          <p:nvPr/>
        </p:nvSpPr>
        <p:spPr>
          <a:xfrm>
            <a:off x="42619" y="1295400"/>
            <a:ext cx="572474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Factors out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shared characteristics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a superclass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reuse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avoids redundancy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Subclasses inherit superclass’ attributes &amp; methods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Represented in UML with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solid line + arrow (↑)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arrowhead (top)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tail (bottom)</a:t>
            </a: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Animal ↔ Lion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Animal (generalized)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Attributes: #numberOfLegs, #name, etc.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Methods: walk(), run(), eat()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Declared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cannot be instantiated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Lion (specialized)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Inherits Animal’s attributes &amp; behaviours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Adds specialized behaviour → roar()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F62C51-880B-CA88-06D2-920CFAF0D2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4352" y="1197935"/>
            <a:ext cx="1387029" cy="3374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A13F3C-4400-4FB1-8D93-CF6CBAD984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359" y="2316379"/>
            <a:ext cx="2028882" cy="342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4426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Generalization (Inheritance)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52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1E8ACC-EAB1-15B9-D617-615521528CEC}"/>
              </a:ext>
            </a:extLst>
          </p:cNvPr>
          <p:cNvSpPr txBox="1"/>
          <p:nvPr/>
        </p:nvSpPr>
        <p:spPr>
          <a:xfrm>
            <a:off x="42618" y="1295400"/>
            <a:ext cx="767173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Constructors in Inheritance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Implicit constructor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auto-assigned defaults (0, null)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Explicit constructor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initialize attributes during object creation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Subclass must call superclass constructor using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super()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Overriding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Subclass can </a:t>
            </a: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redefine superclass methods</a:t>
            </a:r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void walk() {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kumimoji="0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("I'd rather nap"); } 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specialized </a:t>
            </a:r>
            <a:r>
              <a:rPr lang="en-US" altLang="ja-JP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keeping inheritance structure</a:t>
            </a: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Inheritance in Java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implementation inheritance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only (using extends)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superclass can have multiple subclasses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Subclasses can also be superclasses (multi-level inheritance)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0354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Generalization (Inheritance)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53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1E8ACC-EAB1-15B9-D617-615521528CEC}"/>
              </a:ext>
            </a:extLst>
          </p:cNvPr>
          <p:cNvSpPr txBox="1"/>
          <p:nvPr/>
        </p:nvSpPr>
        <p:spPr>
          <a:xfrm>
            <a:off x="30671" y="1247542"/>
            <a:ext cx="7671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 Inheritance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alternative to multiple inheritance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Declares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 signatures only</a:t>
            </a: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(no attributes or bodies)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keyword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UML: interface shown with «interface» + </a:t>
            </a: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dotted arrow (↑)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3EEADD-C888-511C-49FE-6E432D2B1324}"/>
              </a:ext>
            </a:extLst>
          </p:cNvPr>
          <p:cNvSpPr txBox="1"/>
          <p:nvPr/>
        </p:nvSpPr>
        <p:spPr>
          <a:xfrm>
            <a:off x="5005918" y="2886519"/>
            <a:ext cx="457731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interface IAnimal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move();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speak();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eat();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Lion implements IAnimal {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move() { … }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speak() { System.out.println("Roar!"); }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eat() { … }</a:t>
            </a:r>
          </a:p>
          <a:p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504172-9917-9AEE-0988-4CFCEEFC15A7}"/>
              </a:ext>
            </a:extLst>
          </p:cNvPr>
          <p:cNvSpPr txBox="1"/>
          <p:nvPr/>
        </p:nvSpPr>
        <p:spPr>
          <a:xfrm>
            <a:off x="4612523" y="6339407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Animal Inheritance 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74789E-DED1-E95A-0385-DD66FB37AA7D}"/>
              </a:ext>
            </a:extLst>
          </p:cNvPr>
          <p:cNvSpPr txBox="1"/>
          <p:nvPr/>
        </p:nvSpPr>
        <p:spPr>
          <a:xfrm>
            <a:off x="13942" y="3084153"/>
            <a:ext cx="496008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Lion behaves like a Lion </a:t>
            </a: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an IAnimal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interfaces can be implemented → no ambiguity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Interfaces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(same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different implementation)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 of type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ambiguity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 &amp; reuse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system design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1499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534400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Design Structure in Java and UML Class Diagrams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mtClean="0">
                <a:solidFill>
                  <a:schemeClr val="tx1"/>
                </a:solidFill>
              </a:rPr>
              <a:pPr algn="ctr"/>
              <a:t>54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61D28-FC46-53C7-B0B9-A7B1D9A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7" y="6088060"/>
            <a:ext cx="762000" cy="77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EE9EF-78D2-47FD-2FCF-64CC6FABA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203231" y="6300298"/>
            <a:ext cx="928277" cy="557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1E8ACC-EAB1-15B9-D617-615521528CEC}"/>
              </a:ext>
            </a:extLst>
          </p:cNvPr>
          <p:cNvSpPr txBox="1"/>
          <p:nvPr/>
        </p:nvSpPr>
        <p:spPr>
          <a:xfrm>
            <a:off x="42618" y="1295400"/>
            <a:ext cx="887278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Process: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Conceptual design → prototyping &amp; high-level simulation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design → detailed guidance for developers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Conceptual Tools: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CRC cards → easy communication with clients, focus on design without code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Tools: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 Class Diagrams → more detailed than CRC cards, easier conversion to code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ja-JP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OOP Principles: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ja-JP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Abstraction, Encapsulation, Decomposition, Generalization applied in Java and UML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7462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4293"/>
          </a:xfrm>
          <a:solidFill>
            <a:srgbClr val="00B0F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58003" y="838200"/>
            <a:ext cx="4413997" cy="4256897"/>
            <a:chOff x="2746935" y="988764"/>
            <a:chExt cx="5885329" cy="567586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46935" y="988764"/>
              <a:ext cx="5885329" cy="5675863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8" name="Rectangle 7"/>
            <p:cNvSpPr/>
            <p:nvPr/>
          </p:nvSpPr>
          <p:spPr>
            <a:xfrm>
              <a:off x="2877671" y="2743200"/>
              <a:ext cx="2380129" cy="242047"/>
            </a:xfrm>
            <a:prstGeom prst="rect">
              <a:avLst/>
            </a:prstGeom>
            <a:solidFill>
              <a:schemeClr val="accent2">
                <a:lumMod val="75000"/>
                <a:alpha val="37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979271" y="4005943"/>
              <a:ext cx="2710329" cy="304800"/>
            </a:xfrm>
            <a:prstGeom prst="rect">
              <a:avLst/>
            </a:prstGeom>
            <a:solidFill>
              <a:schemeClr val="accent2">
                <a:lumMod val="75000"/>
                <a:alpha val="37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79271" y="5282137"/>
              <a:ext cx="2811929" cy="262320"/>
            </a:xfrm>
            <a:prstGeom prst="rect">
              <a:avLst/>
            </a:prstGeom>
            <a:solidFill>
              <a:schemeClr val="accent2">
                <a:lumMod val="75000"/>
                <a:alpha val="37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052" y="838200"/>
            <a:ext cx="4596413" cy="21129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13" name="Rectangle 12"/>
          <p:cNvSpPr/>
          <p:nvPr/>
        </p:nvSpPr>
        <p:spPr>
          <a:xfrm>
            <a:off x="4935511" y="1780360"/>
            <a:ext cx="2032747" cy="634925"/>
          </a:xfrm>
          <a:prstGeom prst="rect">
            <a:avLst/>
          </a:prstGeom>
          <a:solidFill>
            <a:srgbClr val="FF0000">
              <a:alpha val="16000"/>
            </a:srgb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66458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5"/>
            <a:ext cx="7886700" cy="357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30136"/>
            <a:ext cx="7886700" cy="38598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Java’s access </a:t>
            </a:r>
            <a:r>
              <a:rPr lang="en-US" dirty="0" err="1"/>
              <a:t>specifiers</a:t>
            </a:r>
            <a:r>
              <a:rPr lang="en-US" dirty="0"/>
              <a:t> are </a:t>
            </a:r>
            <a:r>
              <a:rPr lang="en-US" b="1" dirty="0"/>
              <a:t>public</a:t>
            </a:r>
            <a:r>
              <a:rPr lang="en-US" dirty="0"/>
              <a:t>, </a:t>
            </a:r>
            <a:r>
              <a:rPr lang="en-US" b="1" dirty="0"/>
              <a:t>private</a:t>
            </a:r>
            <a:r>
              <a:rPr lang="en-US" dirty="0"/>
              <a:t>, and </a:t>
            </a:r>
            <a:r>
              <a:rPr lang="en-US" b="1" dirty="0"/>
              <a:t>protected</a:t>
            </a:r>
            <a:endParaRPr lang="en-US" dirty="0"/>
          </a:p>
          <a:p>
            <a:r>
              <a:rPr lang="en-US" dirty="0"/>
              <a:t>Java also defines a default access level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049" y="2522934"/>
            <a:ext cx="5452723" cy="286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15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64BEA0-AEC8-9856-58ED-1E84F4F9F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857500"/>
            <a:ext cx="8229600" cy="1143000"/>
          </a:xfrm>
        </p:spPr>
        <p:txBody>
          <a:bodyPr/>
          <a:lstStyle/>
          <a:p>
            <a:r>
              <a:rPr lang="en-US" altLang="ja-JP" dirty="0"/>
              <a:t>Thank You Q/A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19604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15738</TotalTime>
  <Words>8704</Words>
  <Application>Microsoft Office PowerPoint</Application>
  <PresentationFormat>On-screen Show (4:3)</PresentationFormat>
  <Paragraphs>1021</Paragraphs>
  <Slides>57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7" baseType="lpstr">
      <vt:lpstr>Arial Unicode MS</vt:lpstr>
      <vt:lpstr>AvenirNext-DemiBold</vt:lpstr>
      <vt:lpstr>AvenirNext-Regular</vt:lpstr>
      <vt:lpstr>ＭＳ Ｐゴシック</vt:lpstr>
      <vt:lpstr>quote-cjk-patch</vt:lpstr>
      <vt:lpstr>Arial</vt:lpstr>
      <vt:lpstr>Calibri</vt:lpstr>
      <vt:lpstr>Times New Roman</vt:lpstr>
      <vt:lpstr>Wingdings</vt:lpstr>
      <vt:lpstr>Office Theme</vt:lpstr>
      <vt:lpstr>Part A: Object-Oriented Design  </vt:lpstr>
      <vt:lpstr>Presentation Outline</vt:lpstr>
      <vt:lpstr>Creating Models in Design</vt:lpstr>
      <vt:lpstr>Creating Models in Design</vt:lpstr>
      <vt:lpstr>Creating Models in Design</vt:lpstr>
      <vt:lpstr>Creating Models in Design: Example</vt:lpstr>
      <vt:lpstr>Creating Models in Design: Example</vt:lpstr>
      <vt:lpstr>Creating Models in Design: Example</vt:lpstr>
      <vt:lpstr>Creating Models in Design: Example</vt:lpstr>
      <vt:lpstr>Creating Models in Design: Example</vt:lpstr>
      <vt:lpstr>Creating Models in Design: Example</vt:lpstr>
      <vt:lpstr>PowerPoint Presentation</vt:lpstr>
      <vt:lpstr>Evolution of Programming Languages</vt:lpstr>
      <vt:lpstr>Evolution of Programming Languages</vt:lpstr>
      <vt:lpstr>Evolution of Programming Languages</vt:lpstr>
      <vt:lpstr>Evolution of Programming Languages</vt:lpstr>
      <vt:lpstr>Evolution of Programming Languages</vt:lpstr>
      <vt:lpstr>Evolution of Programming Languages</vt:lpstr>
      <vt:lpstr>Evolution of Programming Languages</vt:lpstr>
      <vt:lpstr>Evolution of Programming Languages</vt:lpstr>
      <vt:lpstr>Evolution of Programming Languages</vt:lpstr>
      <vt:lpstr>Four Major Design Principles in OOP</vt:lpstr>
      <vt:lpstr>Four Major Design Principles in OOP</vt:lpstr>
      <vt:lpstr>Abstraction</vt:lpstr>
      <vt:lpstr>Abstraction</vt:lpstr>
      <vt:lpstr>Abstraction</vt:lpstr>
      <vt:lpstr>Abstraction</vt:lpstr>
      <vt:lpstr>Abstraction</vt:lpstr>
      <vt:lpstr>Abstraction</vt:lpstr>
      <vt:lpstr>Abstraction</vt:lpstr>
      <vt:lpstr>Abstraction Table: DUMS vs AAS</vt:lpstr>
      <vt:lpstr>Encapsulation in Object-Oriented Programming</vt:lpstr>
      <vt:lpstr>Encapsulation in Object-Oriented Programming</vt:lpstr>
      <vt:lpstr>Encapsulation in Object-Oriented Programming UML</vt:lpstr>
      <vt:lpstr>Encapsulation in Object-Oriented Programming UML</vt:lpstr>
      <vt:lpstr>Encapsulation</vt:lpstr>
      <vt:lpstr>Encapsulation: DUMS-Example 1: Garbage Collection</vt:lpstr>
      <vt:lpstr>Encapsulation: DUMS-Example 2: Traffic Signal Management</vt:lpstr>
      <vt:lpstr>Encapsulation: AAS-Example 1: Soil Sensor</vt:lpstr>
      <vt:lpstr>Encapsulation: AAS-Example-2 Irrigation Pump</vt:lpstr>
      <vt:lpstr>Decomposition in Object-Oriented Design</vt:lpstr>
      <vt:lpstr>Decomposition in Object-Oriented Design</vt:lpstr>
      <vt:lpstr>Decomposition in Object-Oriented Design</vt:lpstr>
      <vt:lpstr>Decomposition in Design</vt:lpstr>
      <vt:lpstr>Decomposition in Design</vt:lpstr>
      <vt:lpstr>Decomposition</vt:lpstr>
      <vt:lpstr>Composition (Strong Has-a Relationship)</vt:lpstr>
      <vt:lpstr>Generalization (Inheritance)</vt:lpstr>
      <vt:lpstr>Generalization (Inheritance)</vt:lpstr>
      <vt:lpstr>Generalization (Inheritance)</vt:lpstr>
      <vt:lpstr>Generalization (Inheritance)</vt:lpstr>
      <vt:lpstr>Generalization (Inheritance)</vt:lpstr>
      <vt:lpstr>Generalization (Inheritance)</vt:lpstr>
      <vt:lpstr>Design Structure in Java and UML Class Diagrams</vt:lpstr>
      <vt:lpstr>Example</vt:lpstr>
      <vt:lpstr>Access Control</vt:lpstr>
      <vt:lpstr>Thank You Q/A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 Imagery Classification Using TSM Dimensionality Reduction with Graph Fourier Transform(GFT)</dc:title>
  <dc:creator>Abid</dc:creator>
  <cp:lastModifiedBy>Abu Saleh Musa  Miah</cp:lastModifiedBy>
  <cp:revision>616</cp:revision>
  <dcterms:created xsi:type="dcterms:W3CDTF">2006-08-16T00:00:00Z</dcterms:created>
  <dcterms:modified xsi:type="dcterms:W3CDTF">2026-08-03T04:17:05Z</dcterms:modified>
</cp:coreProperties>
</file>